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2" r:id="rId3"/>
    <p:sldId id="257" r:id="rId4"/>
    <p:sldId id="263" r:id="rId5"/>
    <p:sldId id="258" r:id="rId6"/>
    <p:sldId id="264" r:id="rId7"/>
    <p:sldId id="265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08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86701-0965-49A0-ACD2-48D69889EF2D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D0C4A4-E686-4BCC-955B-866EF60E5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895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0C4A4-E686-4BCC-955B-866EF60E5AC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58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995E-C1D7-43E0-A0E5-7B60C3F494FD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04AE9-9FF8-4C6E-A4B8-09AE2846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301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995E-C1D7-43E0-A0E5-7B60C3F494FD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04AE9-9FF8-4C6E-A4B8-09AE2846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79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995E-C1D7-43E0-A0E5-7B60C3F494FD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04AE9-9FF8-4C6E-A4B8-09AE2846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8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995E-C1D7-43E0-A0E5-7B60C3F494FD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04AE9-9FF8-4C6E-A4B8-09AE2846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82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995E-C1D7-43E0-A0E5-7B60C3F494FD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04AE9-9FF8-4C6E-A4B8-09AE2846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391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995E-C1D7-43E0-A0E5-7B60C3F494FD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04AE9-9FF8-4C6E-A4B8-09AE2846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65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995E-C1D7-43E0-A0E5-7B60C3F494FD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04AE9-9FF8-4C6E-A4B8-09AE2846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97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995E-C1D7-43E0-A0E5-7B60C3F494FD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04AE9-9FF8-4C6E-A4B8-09AE2846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949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995E-C1D7-43E0-A0E5-7B60C3F494FD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04AE9-9FF8-4C6E-A4B8-09AE2846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08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995E-C1D7-43E0-A0E5-7B60C3F494FD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04AE9-9FF8-4C6E-A4B8-09AE2846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33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995E-C1D7-43E0-A0E5-7B60C3F494FD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04AE9-9FF8-4C6E-A4B8-09AE2846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01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A995E-C1D7-43E0-A0E5-7B60C3F494FD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04AE9-9FF8-4C6E-A4B8-09AE28466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82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mputerscience.gcse.guru/glossary/high-level-language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puterscience.gcse.guru/glossary/device-driver" TargetMode="External"/><Relationship Id="rId2" Type="http://schemas.openxmlformats.org/officeDocument/2006/relationships/hyperlink" Target="https://www.computerscience.gcse.guru/glossary/assembly-languag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011742" y="1244488"/>
            <a:ext cx="1926939" cy="583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2051860" y="2778168"/>
            <a:ext cx="828111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paradigms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concept of a programming language.</a:t>
            </a:r>
          </a:p>
        </p:txBody>
      </p:sp>
    </p:spTree>
    <p:extLst>
      <p:ext uri="{BB962C8B-B14F-4D97-AF65-F5344CB8AC3E}">
        <p14:creationId xmlns:p14="http://schemas.microsoft.com/office/powerpoint/2010/main" val="2044372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57834" y="1981217"/>
            <a:ext cx="1023769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program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set of instructions for a specific performer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programming language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formal language designed for writing programs (usually for computers).</a:t>
            </a:r>
          </a:p>
        </p:txBody>
      </p:sp>
    </p:spTree>
    <p:extLst>
      <p:ext uri="{BB962C8B-B14F-4D97-AF65-F5344CB8AC3E}">
        <p14:creationId xmlns:p14="http://schemas.microsoft.com/office/powerpoint/2010/main" val="1123165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237130" y="941311"/>
            <a:ext cx="99687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The </a:t>
            </a:r>
            <a:r>
              <a:rPr lang="en-US" sz="2400" b="1" dirty="0"/>
              <a:t>programming paradigm </a:t>
            </a:r>
            <a:r>
              <a:rPr lang="en-US" sz="2400" dirty="0"/>
              <a:t>is a set of ideas and concepts that define the style of writing computer programs (approach to programming).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32075" t="41338" r="32721" b="22562"/>
          <a:stretch/>
        </p:blipFill>
        <p:spPr>
          <a:xfrm>
            <a:off x="3002445" y="2293482"/>
            <a:ext cx="6693816" cy="386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98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933220" y="285980"/>
            <a:ext cx="70950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Areas of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</a:t>
            </a:r>
            <a:r>
              <a:rPr lang="kk-K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119539" y="1148617"/>
            <a:ext cx="5128327" cy="55659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endParaRPr lang="kk-KZ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of embedded devices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card programming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high-load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servers</a:t>
            </a:r>
            <a:endParaRPr lang="kk-KZ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 for working with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</a:t>
            </a:r>
            <a:endParaRPr lang="kk-KZ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Administration</a:t>
            </a:r>
            <a:endParaRPr lang="kk-KZ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graphical user interfaces </a:t>
            </a:r>
            <a:endParaRPr lang="kk-KZ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endParaRPr lang="kk-KZ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games </a:t>
            </a:r>
            <a:endParaRPr lang="kk-KZ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programming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533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25882" t="40893" r="45294" b="31394"/>
          <a:stretch/>
        </p:blipFill>
        <p:spPr>
          <a:xfrm>
            <a:off x="1658299" y="986117"/>
            <a:ext cx="9601372" cy="519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84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80562" y="867126"/>
            <a:ext cx="932329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High level languages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are written in a form that is close to our human language, enabling to programmer to just focus on the problem being solved.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380562" y="2876285"/>
            <a:ext cx="10327340" cy="232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Examples include: C++, Java, Pascal, Python, Visual Basic.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800"/>
              </a:spcAft>
            </a:pPr>
            <a:endParaRPr lang="kk-KZ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8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Easier to modify as it uses English like statements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8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Easier/faster to write code as it uses English like statements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8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Easier to debug during development due to English like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endParaRPr lang="kk-KZ" sz="24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8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Portable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 – not designed to run on just one type of machine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606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58588" y="302359"/>
            <a:ext cx="11170023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Roboto Condensed"/>
              </a:rPr>
              <a:t>Low Level Languages</a:t>
            </a:r>
          </a:p>
          <a:p>
            <a:r>
              <a:rPr lang="en-US" sz="2000" dirty="0">
                <a:solidFill>
                  <a:srgbClr val="000000"/>
                </a:solidFill>
                <a:latin typeface="Roboto Condensed"/>
              </a:rPr>
              <a:t>Low level languages are used to write programs that relate to the specific architecture and hardware of a particular type of computer.</a:t>
            </a:r>
          </a:p>
          <a:p>
            <a:endParaRPr lang="kk-KZ" sz="2000" b="1" dirty="0" smtClean="0">
              <a:solidFill>
                <a:srgbClr val="000000"/>
              </a:solidFill>
              <a:latin typeface="Roboto Condensed"/>
            </a:endParaRPr>
          </a:p>
          <a:p>
            <a:r>
              <a:rPr lang="en-US" sz="2000" b="1" dirty="0" smtClean="0">
                <a:solidFill>
                  <a:srgbClr val="000000"/>
                </a:solidFill>
                <a:latin typeface="Roboto Condensed"/>
              </a:rPr>
              <a:t>Examples </a:t>
            </a:r>
            <a:r>
              <a:rPr lang="en-US" sz="2000" b="1" dirty="0">
                <a:solidFill>
                  <a:srgbClr val="000000"/>
                </a:solidFill>
                <a:latin typeface="Roboto Condensed"/>
              </a:rPr>
              <a:t>of low level language:</a:t>
            </a:r>
            <a:endParaRPr lang="en-US" sz="2000" dirty="0">
              <a:solidFill>
                <a:srgbClr val="000000"/>
              </a:solidFill>
              <a:latin typeface="Roboto Condense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Roboto Condensed"/>
                <a:hlinkClick r:id="rId2"/>
              </a:rPr>
              <a:t>Assembly Language</a:t>
            </a:r>
            <a:endParaRPr lang="en-US" sz="2000" dirty="0">
              <a:solidFill>
                <a:srgbClr val="000000"/>
              </a:solidFill>
              <a:latin typeface="Roboto Condense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Roboto Condensed"/>
              </a:rPr>
              <a:t>Machine Code</a:t>
            </a:r>
          </a:p>
          <a:p>
            <a:r>
              <a:rPr lang="en-US" sz="2000" b="1" dirty="0">
                <a:solidFill>
                  <a:srgbClr val="000000"/>
                </a:solidFill>
                <a:latin typeface="Roboto Condensed"/>
              </a:rPr>
              <a:t>Assembly Language</a:t>
            </a:r>
          </a:p>
          <a:p>
            <a:r>
              <a:rPr lang="en-US" sz="2000" dirty="0">
                <a:solidFill>
                  <a:srgbClr val="000000"/>
                </a:solidFill>
                <a:latin typeface="Roboto Condensed"/>
              </a:rPr>
              <a:t>Few programmers write programs in low level assembly language, but it is still used for developing code for specialist hardware, such as </a:t>
            </a:r>
            <a:r>
              <a:rPr lang="en-US" sz="2000" dirty="0">
                <a:solidFill>
                  <a:srgbClr val="000000"/>
                </a:solidFill>
                <a:latin typeface="Roboto Condensed"/>
                <a:hlinkClick r:id="rId3"/>
              </a:rPr>
              <a:t>device drivers</a:t>
            </a:r>
            <a:r>
              <a:rPr lang="en-US" sz="2000" dirty="0">
                <a:solidFill>
                  <a:srgbClr val="000000"/>
                </a:solidFill>
                <a:latin typeface="Roboto Condensed"/>
              </a:rPr>
              <a:t>.</a:t>
            </a:r>
          </a:p>
          <a:p>
            <a:r>
              <a:rPr lang="en-US" sz="2000" dirty="0">
                <a:solidFill>
                  <a:srgbClr val="000000"/>
                </a:solidFill>
                <a:latin typeface="Roboto Condensed"/>
              </a:rPr>
              <a:t>It is easy distinguishable from a high level language as it contains few </a:t>
            </a:r>
            <a:r>
              <a:rPr lang="en-US" sz="2000" dirty="0" err="1">
                <a:solidFill>
                  <a:srgbClr val="000000"/>
                </a:solidFill>
                <a:latin typeface="Roboto Condensed"/>
              </a:rPr>
              <a:t>recognisable</a:t>
            </a:r>
            <a:r>
              <a:rPr lang="en-US" sz="2000" dirty="0">
                <a:solidFill>
                  <a:srgbClr val="000000"/>
                </a:solidFill>
                <a:latin typeface="Roboto Condensed"/>
              </a:rPr>
              <a:t> human words but plenty of mnemonic code.</a:t>
            </a:r>
          </a:p>
          <a:p>
            <a:r>
              <a:rPr lang="en-US" sz="2000" b="1" dirty="0">
                <a:solidFill>
                  <a:srgbClr val="000000"/>
                </a:solidFill>
                <a:latin typeface="Roboto Condensed"/>
              </a:rPr>
              <a:t>Advantages</a:t>
            </a:r>
            <a:endParaRPr lang="en-US" sz="2000" dirty="0">
              <a:solidFill>
                <a:srgbClr val="000000"/>
              </a:solidFill>
              <a:latin typeface="Roboto Condense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Roboto Condensed"/>
              </a:rPr>
              <a:t>Can make use of special hardware or special machine-dependent instructions (e.g. on the specific chip)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Roboto Condensed"/>
              </a:rPr>
              <a:t>Translated program requires less memory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Roboto Condensed"/>
              </a:rPr>
              <a:t>Write code that can be executed faster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Roboto Condensed"/>
              </a:rPr>
              <a:t>Total control over the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Roboto Condensed"/>
              </a:rPr>
              <a:t>Can work directly on memory locations</a:t>
            </a:r>
          </a:p>
          <a:p>
            <a:r>
              <a:rPr lang="en-US" sz="2000" b="1" dirty="0" smtClean="0">
                <a:solidFill>
                  <a:srgbClr val="000000"/>
                </a:solidFill>
                <a:latin typeface="Roboto Condensed"/>
              </a:rPr>
              <a:t>Machine </a:t>
            </a:r>
            <a:r>
              <a:rPr lang="en-US" sz="2000" b="1" dirty="0">
                <a:solidFill>
                  <a:srgbClr val="000000"/>
                </a:solidFill>
                <a:latin typeface="Roboto Condensed"/>
              </a:rPr>
              <a:t>Code</a:t>
            </a:r>
          </a:p>
          <a:p>
            <a:r>
              <a:rPr lang="en-US" sz="2000" dirty="0">
                <a:solidFill>
                  <a:srgbClr val="000000"/>
                </a:solidFill>
                <a:latin typeface="Roboto Condensed"/>
              </a:rPr>
              <a:t>Programmers rarely write in machine code (binary) as it is difficult to understand.</a:t>
            </a:r>
            <a:endParaRPr lang="en-US" sz="2000" b="0" i="0" dirty="0">
              <a:solidFill>
                <a:srgbClr val="000000"/>
              </a:solidFill>
              <a:effectLst/>
              <a:latin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35062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1848109" y="1590650"/>
            <a:ext cx="8208912" cy="4752464"/>
            <a:chOff x="467544" y="1772816"/>
            <a:chExt cx="8208912" cy="4752464"/>
          </a:xfrm>
        </p:grpSpPr>
        <p:sp>
          <p:nvSpPr>
            <p:cNvPr id="5" name="Text Box 26"/>
            <p:cNvSpPr txBox="1">
              <a:spLocks noChangeArrowheads="1"/>
            </p:cNvSpPr>
            <p:nvPr/>
          </p:nvSpPr>
          <p:spPr bwMode="auto">
            <a:xfrm>
              <a:off x="1403648" y="1772816"/>
              <a:ext cx="6192688" cy="1440160"/>
            </a:xfrm>
            <a:prstGeom prst="rect">
              <a:avLst/>
            </a:prstGeom>
            <a:gradFill>
              <a:gsLst>
                <a:gs pos="0">
                  <a:srgbClr val="FFEFD1"/>
                </a:gs>
                <a:gs pos="64999">
                  <a:srgbClr val="F0EBD5"/>
                </a:gs>
                <a:gs pos="100000">
                  <a:srgbClr val="D1C39F"/>
                </a:gs>
              </a:gsLst>
              <a:lin ang="5400000" scaled="0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 smtClean="0"/>
                <a:t>Translator</a:t>
              </a:r>
              <a:r>
                <a:rPr lang="en-US" sz="2400" dirty="0" smtClean="0"/>
                <a:t> is </a:t>
              </a:r>
              <a:r>
                <a:rPr lang="en-US" sz="2400" dirty="0"/>
                <a:t>a special program that converts program code from a particular programming language into machine code</a:t>
              </a:r>
              <a:endParaRPr lang="ru-RU" sz="2200" dirty="0">
                <a:latin typeface="Verdana" pitchFamily="34" charset="0"/>
              </a:endParaRPr>
            </a:p>
          </p:txBody>
        </p:sp>
        <p:sp>
          <p:nvSpPr>
            <p:cNvPr id="6" name="Text Box 24"/>
            <p:cNvSpPr txBox="1">
              <a:spLocks noChangeArrowheads="1"/>
            </p:cNvSpPr>
            <p:nvPr/>
          </p:nvSpPr>
          <p:spPr bwMode="auto">
            <a:xfrm>
              <a:off x="467544" y="4365104"/>
              <a:ext cx="3816424" cy="2160176"/>
            </a:xfrm>
            <a:prstGeom prst="rect">
              <a:avLst/>
            </a:prstGeom>
            <a:gradFill flip="none" rotWithShape="1">
              <a:gsLst>
                <a:gs pos="0">
                  <a:srgbClr val="5E9EFF"/>
                </a:gs>
                <a:gs pos="13000">
                  <a:srgbClr val="85C2FF"/>
                </a:gs>
                <a:gs pos="53000">
                  <a:srgbClr val="C4D6EB"/>
                </a:gs>
                <a:gs pos="100000">
                  <a:srgbClr val="FFEBFA"/>
                </a:gs>
              </a:gsLst>
              <a:lin ang="5400000" scaled="0"/>
              <a:tileRect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 smtClean="0"/>
                <a:t>Compiler</a:t>
              </a:r>
              <a:r>
                <a:rPr lang="en-US" sz="2400" dirty="0" smtClean="0"/>
                <a:t> </a:t>
              </a:r>
            </a:p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 smtClean="0"/>
                <a:t>Immediately </a:t>
              </a:r>
              <a:r>
                <a:rPr lang="en-US" sz="2400" dirty="0"/>
                <a:t>translates all program code into machine language. Creates an executable file.</a:t>
              </a:r>
              <a:endParaRPr kumimoji="0" lang="ru-RU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" name="Text Box 23"/>
            <p:cNvSpPr txBox="1">
              <a:spLocks noChangeArrowheads="1"/>
            </p:cNvSpPr>
            <p:nvPr/>
          </p:nvSpPr>
          <p:spPr bwMode="auto">
            <a:xfrm>
              <a:off x="4816342" y="4365104"/>
              <a:ext cx="3860114" cy="2160176"/>
            </a:xfrm>
            <a:prstGeom prst="rect">
              <a:avLst/>
            </a:prstGeom>
            <a:gradFill flip="none" rotWithShape="1">
              <a:gsLst>
                <a:gs pos="0">
                  <a:srgbClr val="DDEBCF"/>
                </a:gs>
                <a:gs pos="100000">
                  <a:srgbClr val="FFC000"/>
                </a:gs>
                <a:gs pos="100000">
                  <a:srgbClr val="156B13"/>
                </a:gs>
              </a:gsLst>
              <a:lin ang="16200000" scaled="1"/>
              <a:tileRect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 smtClean="0"/>
                <a:t>Interpreter </a:t>
              </a:r>
            </a:p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 smtClean="0"/>
                <a:t>Translates </a:t>
              </a:r>
              <a:r>
                <a:rPr lang="en-US" sz="2400" dirty="0"/>
                <a:t>the program code line by line. It interacts directly with the operating system.</a:t>
              </a:r>
              <a:endParaRPr kumimoji="0" lang="ru-RU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" name="Стрелка вниз 7"/>
            <p:cNvSpPr/>
            <p:nvPr/>
          </p:nvSpPr>
          <p:spPr>
            <a:xfrm>
              <a:off x="2123728" y="3212976"/>
              <a:ext cx="484632" cy="1152128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ru-RU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9" name="Стрелка вниз 8"/>
            <p:cNvSpPr/>
            <p:nvPr/>
          </p:nvSpPr>
          <p:spPr>
            <a:xfrm>
              <a:off x="6463632" y="3212976"/>
              <a:ext cx="484632" cy="1152128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ru-RU" dirty="0"/>
            </a:p>
          </p:txBody>
        </p:sp>
      </p:grpSp>
      <p:sp>
        <p:nvSpPr>
          <p:cNvPr id="10" name="Прямоугольник 9"/>
          <p:cNvSpPr/>
          <p:nvPr/>
        </p:nvSpPr>
        <p:spPr>
          <a:xfrm>
            <a:off x="3132225" y="438522"/>
            <a:ext cx="58446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33"/>
                </a:solidFill>
                <a:latin typeface="YS Text"/>
              </a:rPr>
              <a:t>Compilers and interpreters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549999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59902" t="40196" r="5098" b="31743"/>
          <a:stretch/>
        </p:blipFill>
        <p:spPr>
          <a:xfrm>
            <a:off x="197223" y="251011"/>
            <a:ext cx="9303026" cy="419548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73824" t="36536" r="2745" b="36972"/>
          <a:stretch/>
        </p:blipFill>
        <p:spPr>
          <a:xfrm>
            <a:off x="4930588" y="2118822"/>
            <a:ext cx="6974540" cy="443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145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735105" y="565299"/>
            <a:ext cx="10829365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Task 1 </a:t>
            </a:r>
            <a:endParaRPr lang="kk-KZ" sz="2400" b="1" dirty="0" smtClean="0"/>
          </a:p>
          <a:p>
            <a:pPr algn="ctr"/>
            <a:r>
              <a:rPr lang="en-US" sz="2400" dirty="0" smtClean="0"/>
              <a:t>(</a:t>
            </a:r>
            <a:r>
              <a:rPr lang="en-US" sz="2400" dirty="0"/>
              <a:t>Data input/output) </a:t>
            </a:r>
            <a:endParaRPr lang="kk-KZ" sz="2400" dirty="0" smtClean="0"/>
          </a:p>
          <a:p>
            <a:pPr algn="just"/>
            <a:r>
              <a:rPr lang="en-US" sz="2400" dirty="0" smtClean="0"/>
              <a:t>Tasks </a:t>
            </a:r>
            <a:r>
              <a:rPr lang="en-US" sz="2400" dirty="0"/>
              <a:t>must be performed in interactive and scripting modes. Everything should be done in order. </a:t>
            </a:r>
            <a:endParaRPr lang="kk-KZ" sz="2400" dirty="0" smtClean="0"/>
          </a:p>
          <a:p>
            <a:pPr algn="just"/>
            <a:r>
              <a:rPr lang="en-US" sz="2400" dirty="0" smtClean="0"/>
              <a:t>Write </a:t>
            </a:r>
            <a:r>
              <a:rPr lang="en-US" sz="2400" dirty="0"/>
              <a:t>a program: </a:t>
            </a:r>
            <a:endParaRPr lang="kk-KZ" sz="2400" dirty="0" smtClean="0"/>
          </a:p>
          <a:p>
            <a:pPr marL="457200" indent="-457200" algn="just">
              <a:buAutoNum type="arabicPeriod"/>
            </a:pPr>
            <a:r>
              <a:rPr lang="en-US" sz="2400" dirty="0" smtClean="0"/>
              <a:t>sequentially </a:t>
            </a:r>
            <a:r>
              <a:rPr lang="en-US" sz="2400" dirty="0"/>
              <a:t>requesting your last name, first name, patronymic and displaying them in one line in the sequence: last name = first name = patronymic</a:t>
            </a:r>
            <a:r>
              <a:rPr lang="en-US" sz="2400" dirty="0" smtClean="0"/>
              <a:t>;</a:t>
            </a:r>
            <a:endParaRPr lang="kk-KZ" sz="2400" dirty="0" smtClean="0"/>
          </a:p>
          <a:p>
            <a:pPr marL="457200" indent="-457200" algn="just">
              <a:buAutoNum type="arabicPeriod"/>
            </a:pPr>
            <a:r>
              <a:rPr lang="en-US" sz="2400" dirty="0" smtClean="0"/>
              <a:t>sequentially </a:t>
            </a:r>
            <a:r>
              <a:rPr lang="en-US" sz="2400" dirty="0"/>
              <a:t>requesting your last name, first name, patronymic and displaying them in one line in the sequence: first name → patronymic → last name (you can combine the first and second points in one program by requesting data once, but providing output in both ways); </a:t>
            </a:r>
            <a:endParaRPr lang="kk-KZ" sz="2400" dirty="0" smtClean="0"/>
          </a:p>
          <a:p>
            <a:pPr marL="457200" indent="-457200" algn="just">
              <a:buAutoNum type="arabicPeriod"/>
            </a:pPr>
            <a:r>
              <a:rPr lang="en-US" sz="2400" dirty="0" smtClean="0"/>
              <a:t>converting </a:t>
            </a:r>
            <a:r>
              <a:rPr lang="en-US" sz="2400" dirty="0"/>
              <a:t>a simple Russian surname in the masculine gender into the feminine gender (</a:t>
            </a:r>
            <a:r>
              <a:rPr lang="en-US" sz="2400" dirty="0" err="1"/>
              <a:t>Petrov</a:t>
            </a:r>
            <a:r>
              <a:rPr lang="en-US" sz="2400" dirty="0"/>
              <a:t> → </a:t>
            </a:r>
            <a:r>
              <a:rPr lang="en-US" sz="2400" dirty="0" err="1"/>
              <a:t>Petrova</a:t>
            </a:r>
            <a:r>
              <a:rPr lang="en-US" sz="2400" dirty="0"/>
              <a:t>); </a:t>
            </a:r>
            <a:endParaRPr lang="kk-KZ" sz="2400" dirty="0" smtClean="0"/>
          </a:p>
          <a:p>
            <a:pPr marL="457200" indent="-457200" algn="just">
              <a:buAutoNum type="arabicPeriod"/>
            </a:pPr>
            <a:r>
              <a:rPr lang="en-US" sz="2400" dirty="0" smtClean="0"/>
              <a:t>Sequentially </a:t>
            </a:r>
            <a:r>
              <a:rPr lang="en-US" sz="2400" dirty="0"/>
              <a:t>enter the date, month, year of birth; enter your date of birth separated by dots (</a:t>
            </a:r>
            <a:r>
              <a:rPr lang="en-US" sz="2400" dirty="0" smtClean="0"/>
              <a:t>01.01.20</a:t>
            </a:r>
            <a:r>
              <a:rPr lang="kk-KZ" sz="2400" dirty="0" smtClean="0"/>
              <a:t>24</a:t>
            </a:r>
            <a:r>
              <a:rPr lang="en-US" sz="2400" dirty="0" smtClean="0"/>
              <a:t>), </a:t>
            </a:r>
            <a:r>
              <a:rPr lang="en-US" sz="2400" dirty="0"/>
              <a:t>slashes (</a:t>
            </a:r>
            <a:r>
              <a:rPr lang="en-US" sz="2400" dirty="0" smtClean="0"/>
              <a:t>01/01/20</a:t>
            </a:r>
            <a:r>
              <a:rPr lang="kk-KZ" sz="2400" dirty="0" smtClean="0"/>
              <a:t>24</a:t>
            </a:r>
            <a:r>
              <a:rPr lang="en-US" sz="2400" dirty="0" smtClean="0"/>
              <a:t>), </a:t>
            </a:r>
            <a:r>
              <a:rPr lang="en-US" sz="2400" dirty="0"/>
              <a:t>spaces (01 01 </a:t>
            </a:r>
            <a:r>
              <a:rPr lang="en-US" sz="2400" dirty="0" smtClean="0"/>
              <a:t>20</a:t>
            </a:r>
            <a:r>
              <a:rPr lang="kk-KZ" sz="2400" dirty="0" smtClean="0"/>
              <a:t>24</a:t>
            </a:r>
            <a:r>
              <a:rPr lang="en-US" sz="2400" dirty="0" smtClean="0"/>
              <a:t>), </a:t>
            </a:r>
            <a:r>
              <a:rPr lang="en-US" sz="2400" dirty="0"/>
              <a:t>dashes (</a:t>
            </a:r>
            <a:r>
              <a:rPr lang="en-US" sz="2400" dirty="0" smtClean="0"/>
              <a:t>01-01-20</a:t>
            </a:r>
            <a:r>
              <a:rPr lang="kk-KZ" sz="2400" dirty="0" smtClean="0"/>
              <a:t>24</a:t>
            </a:r>
            <a:r>
              <a:rPr lang="en-US" sz="2400" dirty="0" smtClean="0"/>
              <a:t>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218400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802135AA69994B4F81C202DF52114CF6" ma:contentTypeVersion="0" ma:contentTypeDescription="Создание документа." ma:contentTypeScope="" ma:versionID="f3c5563ceb4754994e3aa5b42bc3b98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0ab2cca16a67b228b13b199201e93d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46E1935-E847-46BF-BB0E-8A8D953A2FE1}"/>
</file>

<file path=customXml/itemProps2.xml><?xml version="1.0" encoding="utf-8"?>
<ds:datastoreItem xmlns:ds="http://schemas.openxmlformats.org/officeDocument/2006/customXml" ds:itemID="{E8CE296A-7931-4765-8BE7-F0846BBB2D38}"/>
</file>

<file path=customXml/itemProps3.xml><?xml version="1.0" encoding="utf-8"?>
<ds:datastoreItem xmlns:ds="http://schemas.openxmlformats.org/officeDocument/2006/customXml" ds:itemID="{E5A3AB24-A003-4D84-B88F-375A7409C429}"/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397</Words>
  <Application>Microsoft Office PowerPoint</Application>
  <PresentationFormat>Широкоэкранный</PresentationFormat>
  <Paragraphs>58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Roboto Condensed</vt:lpstr>
      <vt:lpstr>Symbol</vt:lpstr>
      <vt:lpstr>Times New Roman</vt:lpstr>
      <vt:lpstr>Verdana</vt:lpstr>
      <vt:lpstr>YS Text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10</cp:revision>
  <dcterms:created xsi:type="dcterms:W3CDTF">2024-08-29T17:20:15Z</dcterms:created>
  <dcterms:modified xsi:type="dcterms:W3CDTF">2024-08-30T07:37:28Z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0x010100802135AA69994B4F81C202DF52114CF6</vt:lpwstr>
  </property>
</Properties>
</file>