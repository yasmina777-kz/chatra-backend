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1.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0" autoAdjust="0"/>
    <p:restoredTop sz="94660"/>
  </p:normalViewPr>
  <p:slideViewPr>
    <p:cSldViewPr snapToGrid="0">
      <p:cViewPr varScale="1">
        <p:scale>
          <a:sx n="56" d="100"/>
          <a:sy n="56" d="100"/>
        </p:scale>
        <p:origin x="78" y="4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openxmlformats.org/officeDocument/2006/relationships/customXml" Target="../customXml/item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DEA6A2E2-1192-4D84-805C-10586B307DCE}" type="datetimeFigureOut">
              <a:rPr lang="ru-RU" smtClean="0"/>
              <a:t>03.02.2024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F668EB0-E0FB-4DDC-BCC8-04FC8B520FB5}" type="slidenum">
              <a:rPr lang="ru-RU" smtClean="0"/>
              <a:t>‹#›</a:t>
            </a:fld>
            <a:endParaRPr lang="ru-RU"/>
          </a:p>
        </p:txBody>
      </p:sp>
    </p:spTree>
    <p:extLst>
      <p:ext uri="{BB962C8B-B14F-4D97-AF65-F5344CB8AC3E}">
        <p14:creationId xmlns:p14="http://schemas.microsoft.com/office/powerpoint/2010/main" val="3300954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DEA6A2E2-1192-4D84-805C-10586B307DCE}" type="datetimeFigureOut">
              <a:rPr lang="ru-RU" smtClean="0"/>
              <a:t>03.02.2024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F668EB0-E0FB-4DDC-BCC8-04FC8B520FB5}" type="slidenum">
              <a:rPr lang="ru-RU" smtClean="0"/>
              <a:t>‹#›</a:t>
            </a:fld>
            <a:endParaRPr lang="ru-RU"/>
          </a:p>
        </p:txBody>
      </p:sp>
    </p:spTree>
    <p:extLst>
      <p:ext uri="{BB962C8B-B14F-4D97-AF65-F5344CB8AC3E}">
        <p14:creationId xmlns:p14="http://schemas.microsoft.com/office/powerpoint/2010/main" val="2880289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DEA6A2E2-1192-4D84-805C-10586B307DCE}" type="datetimeFigureOut">
              <a:rPr lang="ru-RU" smtClean="0"/>
              <a:t>03.02.2024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F668EB0-E0FB-4DDC-BCC8-04FC8B520FB5}" type="slidenum">
              <a:rPr lang="ru-RU" smtClean="0"/>
              <a:t>‹#›</a:t>
            </a:fld>
            <a:endParaRPr lang="ru-RU"/>
          </a:p>
        </p:txBody>
      </p:sp>
    </p:spTree>
    <p:extLst>
      <p:ext uri="{BB962C8B-B14F-4D97-AF65-F5344CB8AC3E}">
        <p14:creationId xmlns:p14="http://schemas.microsoft.com/office/powerpoint/2010/main" val="510580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DEA6A2E2-1192-4D84-805C-10586B307DCE}" type="datetimeFigureOut">
              <a:rPr lang="ru-RU" smtClean="0"/>
              <a:t>03.02.2024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F668EB0-E0FB-4DDC-BCC8-04FC8B520FB5}" type="slidenum">
              <a:rPr lang="ru-RU" smtClean="0"/>
              <a:t>‹#›</a:t>
            </a:fld>
            <a:endParaRPr lang="ru-RU"/>
          </a:p>
        </p:txBody>
      </p:sp>
    </p:spTree>
    <p:extLst>
      <p:ext uri="{BB962C8B-B14F-4D97-AF65-F5344CB8AC3E}">
        <p14:creationId xmlns:p14="http://schemas.microsoft.com/office/powerpoint/2010/main" val="3775024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DEA6A2E2-1192-4D84-805C-10586B307DCE}" type="datetimeFigureOut">
              <a:rPr lang="ru-RU" smtClean="0"/>
              <a:t>03.02.2024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5F668EB0-E0FB-4DDC-BCC8-04FC8B520FB5}" type="slidenum">
              <a:rPr lang="ru-RU" smtClean="0"/>
              <a:t>‹#›</a:t>
            </a:fld>
            <a:endParaRPr lang="ru-RU"/>
          </a:p>
        </p:txBody>
      </p:sp>
    </p:spTree>
    <p:extLst>
      <p:ext uri="{BB962C8B-B14F-4D97-AF65-F5344CB8AC3E}">
        <p14:creationId xmlns:p14="http://schemas.microsoft.com/office/powerpoint/2010/main" val="2101479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DEA6A2E2-1192-4D84-805C-10586B307DCE}" type="datetimeFigureOut">
              <a:rPr lang="ru-RU" smtClean="0"/>
              <a:t>03.02.2024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5F668EB0-E0FB-4DDC-BCC8-04FC8B520FB5}" type="slidenum">
              <a:rPr lang="ru-RU" smtClean="0"/>
              <a:t>‹#›</a:t>
            </a:fld>
            <a:endParaRPr lang="ru-RU"/>
          </a:p>
        </p:txBody>
      </p:sp>
    </p:spTree>
    <p:extLst>
      <p:ext uri="{BB962C8B-B14F-4D97-AF65-F5344CB8AC3E}">
        <p14:creationId xmlns:p14="http://schemas.microsoft.com/office/powerpoint/2010/main" val="34236086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DEA6A2E2-1192-4D84-805C-10586B307DCE}" type="datetimeFigureOut">
              <a:rPr lang="ru-RU" smtClean="0"/>
              <a:t>03.02.2024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5F668EB0-E0FB-4DDC-BCC8-04FC8B520FB5}" type="slidenum">
              <a:rPr lang="ru-RU" smtClean="0"/>
              <a:t>‹#›</a:t>
            </a:fld>
            <a:endParaRPr lang="ru-RU"/>
          </a:p>
        </p:txBody>
      </p:sp>
    </p:spTree>
    <p:extLst>
      <p:ext uri="{BB962C8B-B14F-4D97-AF65-F5344CB8AC3E}">
        <p14:creationId xmlns:p14="http://schemas.microsoft.com/office/powerpoint/2010/main" val="1679192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DEA6A2E2-1192-4D84-805C-10586B307DCE}" type="datetimeFigureOut">
              <a:rPr lang="ru-RU" smtClean="0"/>
              <a:t>03.02.2024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F668EB0-E0FB-4DDC-BCC8-04FC8B520FB5}" type="slidenum">
              <a:rPr lang="ru-RU" smtClean="0"/>
              <a:t>‹#›</a:t>
            </a:fld>
            <a:endParaRPr lang="ru-RU"/>
          </a:p>
        </p:txBody>
      </p:sp>
    </p:spTree>
    <p:extLst>
      <p:ext uri="{BB962C8B-B14F-4D97-AF65-F5344CB8AC3E}">
        <p14:creationId xmlns:p14="http://schemas.microsoft.com/office/powerpoint/2010/main" val="1444104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DEA6A2E2-1192-4D84-805C-10586B307DCE}" type="datetimeFigureOut">
              <a:rPr lang="ru-RU" smtClean="0"/>
              <a:t>03.02.2024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5F668EB0-E0FB-4DDC-BCC8-04FC8B520FB5}" type="slidenum">
              <a:rPr lang="ru-RU" smtClean="0"/>
              <a:t>‹#›</a:t>
            </a:fld>
            <a:endParaRPr lang="ru-RU"/>
          </a:p>
        </p:txBody>
      </p:sp>
    </p:spTree>
    <p:extLst>
      <p:ext uri="{BB962C8B-B14F-4D97-AF65-F5344CB8AC3E}">
        <p14:creationId xmlns:p14="http://schemas.microsoft.com/office/powerpoint/2010/main" val="1041537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DEA6A2E2-1192-4D84-805C-10586B307DCE}" type="datetimeFigureOut">
              <a:rPr lang="ru-RU" smtClean="0"/>
              <a:t>03.02.2024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F668EB0-E0FB-4DDC-BCC8-04FC8B520FB5}" type="slidenum">
              <a:rPr lang="ru-RU" smtClean="0"/>
              <a:t>‹#›</a:t>
            </a:fld>
            <a:endParaRPr lang="ru-RU"/>
          </a:p>
        </p:txBody>
      </p:sp>
    </p:spTree>
    <p:extLst>
      <p:ext uri="{BB962C8B-B14F-4D97-AF65-F5344CB8AC3E}">
        <p14:creationId xmlns:p14="http://schemas.microsoft.com/office/powerpoint/2010/main" val="1324417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DEA6A2E2-1192-4D84-805C-10586B307DCE}" type="datetimeFigureOut">
              <a:rPr lang="ru-RU" smtClean="0"/>
              <a:t>03.02.2024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5F668EB0-E0FB-4DDC-BCC8-04FC8B520FB5}" type="slidenum">
              <a:rPr lang="ru-RU" smtClean="0"/>
              <a:t>‹#›</a:t>
            </a:fld>
            <a:endParaRPr lang="ru-RU"/>
          </a:p>
        </p:txBody>
      </p:sp>
    </p:spTree>
    <p:extLst>
      <p:ext uri="{BB962C8B-B14F-4D97-AF65-F5344CB8AC3E}">
        <p14:creationId xmlns:p14="http://schemas.microsoft.com/office/powerpoint/2010/main" val="3445438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A6A2E2-1192-4D84-805C-10586B307DCE}" type="datetimeFigureOut">
              <a:rPr lang="ru-RU" smtClean="0"/>
              <a:t>03.02.2024</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668EB0-E0FB-4DDC-BCC8-04FC8B520FB5}" type="slidenum">
              <a:rPr lang="ru-RU" smtClean="0"/>
              <a:t>‹#›</a:t>
            </a:fld>
            <a:endParaRPr lang="ru-RU"/>
          </a:p>
        </p:txBody>
      </p:sp>
    </p:spTree>
    <p:extLst>
      <p:ext uri="{BB962C8B-B14F-4D97-AF65-F5344CB8AC3E}">
        <p14:creationId xmlns:p14="http://schemas.microsoft.com/office/powerpoint/2010/main" val="25948960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911572" y="2031761"/>
            <a:ext cx="2061462" cy="646331"/>
          </a:xfrm>
          <a:prstGeom prst="rect">
            <a:avLst/>
          </a:prstGeom>
        </p:spPr>
        <p:txBody>
          <a:bodyPr wrap="none">
            <a:spAutoFit/>
          </a:bodyPr>
          <a:lstStyle/>
          <a:p>
            <a:r>
              <a:rPr lang="ru-RU" sz="3600" b="1" dirty="0" err="1" smtClean="0">
                <a:latin typeface="Times New Roman" panose="02020603050405020304" pitchFamily="18" charset="0"/>
                <a:cs typeface="Times New Roman" panose="02020603050405020304" pitchFamily="18" charset="0"/>
              </a:rPr>
              <a:t>Lecture</a:t>
            </a:r>
            <a:r>
              <a:rPr lang="ru-RU" sz="3600" b="1" dirty="0" smtClean="0">
                <a:latin typeface="Times New Roman" panose="02020603050405020304" pitchFamily="18" charset="0"/>
                <a:cs typeface="Times New Roman" panose="02020603050405020304" pitchFamily="18" charset="0"/>
              </a:rPr>
              <a:t> 2</a:t>
            </a:r>
            <a:endParaRPr lang="ru-RU" sz="36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2987218" y="3840682"/>
            <a:ext cx="6472926" cy="646331"/>
          </a:xfrm>
          <a:prstGeom prst="rect">
            <a:avLst/>
          </a:prstGeom>
        </p:spPr>
        <p:txBody>
          <a:bodyPr wrap="none">
            <a:spAutoFit/>
          </a:bodyPr>
          <a:lstStyle/>
          <a:p>
            <a:r>
              <a:rPr lang="ru-RU" sz="3600" b="1" dirty="0" err="1" smtClean="0">
                <a:latin typeface="Times New Roman" panose="02020603050405020304" pitchFamily="18" charset="0"/>
                <a:cs typeface="Times New Roman" panose="02020603050405020304" pitchFamily="18" charset="0"/>
              </a:rPr>
              <a:t>Elements</a:t>
            </a:r>
            <a:r>
              <a:rPr lang="ru-RU" sz="3600" b="1" dirty="0" smtClean="0">
                <a:latin typeface="Times New Roman" panose="02020603050405020304" pitchFamily="18" charset="0"/>
                <a:cs typeface="Times New Roman" panose="02020603050405020304" pitchFamily="18" charset="0"/>
              </a:rPr>
              <a:t> </a:t>
            </a:r>
            <a:r>
              <a:rPr lang="ru-RU" sz="3600" b="1" dirty="0" err="1" smtClean="0">
                <a:latin typeface="Times New Roman" panose="02020603050405020304" pitchFamily="18" charset="0"/>
                <a:cs typeface="Times New Roman" panose="02020603050405020304" pitchFamily="18" charset="0"/>
              </a:rPr>
              <a:t>of</a:t>
            </a:r>
            <a:r>
              <a:rPr lang="ru-RU" sz="3600" b="1" dirty="0" smtClean="0">
                <a:latin typeface="Times New Roman" panose="02020603050405020304" pitchFamily="18" charset="0"/>
                <a:cs typeface="Times New Roman" panose="02020603050405020304" pitchFamily="18" charset="0"/>
              </a:rPr>
              <a:t> </a:t>
            </a:r>
            <a:r>
              <a:rPr lang="ru-RU" sz="3600" b="1" dirty="0" err="1" smtClean="0">
                <a:latin typeface="Times New Roman" panose="02020603050405020304" pitchFamily="18" charset="0"/>
                <a:cs typeface="Times New Roman" panose="02020603050405020304" pitchFamily="18" charset="0"/>
              </a:rPr>
              <a:t>the</a:t>
            </a:r>
            <a:r>
              <a:rPr lang="ru-RU" sz="3600" b="1" dirty="0" smtClean="0">
                <a:latin typeface="Times New Roman" panose="02020603050405020304" pitchFamily="18" charset="0"/>
                <a:cs typeface="Times New Roman" panose="02020603050405020304" pitchFamily="18" charset="0"/>
              </a:rPr>
              <a:t> </a:t>
            </a:r>
            <a:r>
              <a:rPr lang="ru-RU" sz="3600" b="1" dirty="0" err="1" smtClean="0">
                <a:latin typeface="Times New Roman" panose="02020603050405020304" pitchFamily="18" charset="0"/>
                <a:cs typeface="Times New Roman" panose="02020603050405020304" pitchFamily="18" charset="0"/>
              </a:rPr>
              <a:t>theory</a:t>
            </a:r>
            <a:r>
              <a:rPr lang="ru-RU" sz="3600" b="1" dirty="0" smtClean="0">
                <a:latin typeface="Times New Roman" panose="02020603050405020304" pitchFamily="18" charset="0"/>
                <a:cs typeface="Times New Roman" panose="02020603050405020304" pitchFamily="18" charset="0"/>
              </a:rPr>
              <a:t> </a:t>
            </a:r>
            <a:r>
              <a:rPr lang="ru-RU" sz="3600" b="1" dirty="0" err="1" smtClean="0">
                <a:latin typeface="Times New Roman" panose="02020603050405020304" pitchFamily="18" charset="0"/>
                <a:cs typeface="Times New Roman" panose="02020603050405020304" pitchFamily="18" charset="0"/>
              </a:rPr>
              <a:t>of</a:t>
            </a:r>
            <a:r>
              <a:rPr lang="ru-RU" sz="3600" b="1" dirty="0" smtClean="0">
                <a:latin typeface="Times New Roman" panose="02020603050405020304" pitchFamily="18" charset="0"/>
                <a:cs typeface="Times New Roman" panose="02020603050405020304" pitchFamily="18" charset="0"/>
              </a:rPr>
              <a:t> </a:t>
            </a:r>
            <a:r>
              <a:rPr lang="ru-RU" sz="3600" b="1" dirty="0" err="1" smtClean="0">
                <a:latin typeface="Times New Roman" panose="02020603050405020304" pitchFamily="18" charset="0"/>
                <a:cs typeface="Times New Roman" panose="02020603050405020304" pitchFamily="18" charset="0"/>
              </a:rPr>
              <a:t>errors</a:t>
            </a:r>
            <a:endParaRPr lang="ru-RU"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3667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221805" y="699916"/>
            <a:ext cx="6337632" cy="707886"/>
          </a:xfrm>
          <a:prstGeom prst="rect">
            <a:avLst/>
          </a:prstGeom>
        </p:spPr>
        <p:txBody>
          <a:bodyPr wrap="none">
            <a:spAutoFit/>
          </a:bodyPr>
          <a:lstStyle/>
          <a:p>
            <a:r>
              <a:rPr lang="ru-RU" sz="4000" b="1" dirty="0" err="1" smtClean="0">
                <a:latin typeface="Times New Roman" panose="02020603050405020304" pitchFamily="18" charset="0"/>
                <a:cs typeface="Times New Roman" panose="02020603050405020304" pitchFamily="18" charset="0"/>
              </a:rPr>
              <a:t>Absolute</a:t>
            </a:r>
            <a:r>
              <a:rPr lang="ru-RU" sz="4000" b="1" dirty="0" smtClean="0">
                <a:latin typeface="Times New Roman" panose="02020603050405020304" pitchFamily="18" charset="0"/>
                <a:cs typeface="Times New Roman" panose="02020603050405020304" pitchFamily="18" charset="0"/>
              </a:rPr>
              <a:t> </a:t>
            </a:r>
            <a:r>
              <a:rPr lang="ru-RU" sz="4000" b="1" dirty="0" err="1" smtClean="0">
                <a:latin typeface="Times New Roman" panose="02020603050405020304" pitchFamily="18" charset="0"/>
                <a:cs typeface="Times New Roman" panose="02020603050405020304" pitchFamily="18" charset="0"/>
              </a:rPr>
              <a:t>and</a:t>
            </a:r>
            <a:r>
              <a:rPr lang="ru-RU" sz="4000" b="1" dirty="0" smtClean="0">
                <a:latin typeface="Times New Roman" panose="02020603050405020304" pitchFamily="18" charset="0"/>
                <a:cs typeface="Times New Roman" panose="02020603050405020304" pitchFamily="18" charset="0"/>
              </a:rPr>
              <a:t> </a:t>
            </a:r>
            <a:r>
              <a:rPr lang="ru-RU" sz="4000" b="1" dirty="0" err="1" smtClean="0">
                <a:latin typeface="Times New Roman" panose="02020603050405020304" pitchFamily="18" charset="0"/>
                <a:cs typeface="Times New Roman" panose="02020603050405020304" pitchFamily="18" charset="0"/>
              </a:rPr>
              <a:t>relative</a:t>
            </a:r>
            <a:r>
              <a:rPr lang="ru-RU" sz="4000" b="1" dirty="0" smtClean="0">
                <a:latin typeface="Times New Roman" panose="02020603050405020304" pitchFamily="18" charset="0"/>
                <a:cs typeface="Times New Roman" panose="02020603050405020304" pitchFamily="18" charset="0"/>
              </a:rPr>
              <a:t> </a:t>
            </a:r>
            <a:r>
              <a:rPr lang="ru-RU" sz="4000" b="1" dirty="0" err="1" smtClean="0">
                <a:latin typeface="Times New Roman" panose="02020603050405020304" pitchFamily="18" charset="0"/>
                <a:cs typeface="Times New Roman" panose="02020603050405020304" pitchFamily="18" charset="0"/>
              </a:rPr>
              <a:t>errors</a:t>
            </a:r>
            <a:endParaRPr lang="ru-RU" sz="40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1134058" y="4198490"/>
            <a:ext cx="8149090" cy="1569660"/>
          </a:xfrm>
          <a:prstGeom prst="rect">
            <a:avLst/>
          </a:prstGeom>
        </p:spPr>
        <p:txBody>
          <a:bodyPr wrap="square">
            <a:spAutoFit/>
          </a:bodyPr>
          <a:lstStyle/>
          <a:p>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error</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can</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be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estimated</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using</a:t>
            </a:r>
            <a:r>
              <a:rPr lang="ru-RU" sz="3200" dirty="0" smtClean="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ru-RU" sz="3200" dirty="0" err="1" smtClean="0">
                <a:latin typeface="Times New Roman" panose="02020603050405020304" pitchFamily="18" charset="0"/>
                <a:cs typeface="Times New Roman" panose="02020603050405020304" pitchFamily="18" charset="0"/>
              </a:rPr>
              <a:t>absolute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error</a:t>
            </a:r>
            <a:r>
              <a:rPr lang="ru-RU" sz="3200" dirty="0" smtClean="0">
                <a:latin typeface="Times New Roman" panose="02020603050405020304" pitchFamily="18" charset="0"/>
                <a:cs typeface="Times New Roman" panose="02020603050405020304" pitchFamily="18" charset="0"/>
              </a:rPr>
              <a:t> </a:t>
            </a:r>
          </a:p>
          <a:p>
            <a:pPr marL="457200" indent="-457200">
              <a:buFont typeface="Arial" panose="020B0604020202020204" pitchFamily="34" charset="0"/>
              <a:buChar char="•"/>
            </a:pPr>
            <a:r>
              <a:rPr lang="ru-RU" sz="3200" dirty="0" err="1" smtClean="0">
                <a:latin typeface="Times New Roman" panose="02020603050405020304" pitchFamily="18" charset="0"/>
                <a:cs typeface="Times New Roman" panose="02020603050405020304" pitchFamily="18" charset="0"/>
              </a:rPr>
              <a:t>relative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error</a:t>
            </a:r>
            <a:endParaRPr lang="ru-RU" sz="3200" dirty="0">
              <a:latin typeface="Times New Roman" panose="02020603050405020304" pitchFamily="18" charset="0"/>
              <a:cs typeface="Times New Roman" panose="02020603050405020304" pitchFamily="18" charset="0"/>
            </a:endParaRPr>
          </a:p>
        </p:txBody>
      </p:sp>
      <p:sp>
        <p:nvSpPr>
          <p:cNvPr id="6" name="Прямоугольник 5"/>
          <p:cNvSpPr/>
          <p:nvPr/>
        </p:nvSpPr>
        <p:spPr>
          <a:xfrm>
            <a:off x="901148" y="2064482"/>
            <a:ext cx="10707756" cy="1815882"/>
          </a:xfrm>
          <a:prstGeom prst="rect">
            <a:avLst/>
          </a:prstGeom>
        </p:spPr>
        <p:txBody>
          <a:bodyPr wrap="square">
            <a:spAutoFit/>
          </a:bodyPr>
          <a:lstStyle/>
          <a:p>
            <a:r>
              <a:rPr lang="ru-RU" sz="2800" b="1" dirty="0" err="1" smtClean="0">
                <a:latin typeface="Times New Roman" panose="02020603050405020304" pitchFamily="18" charset="0"/>
                <a:cs typeface="Times New Roman" panose="02020603050405020304" pitchFamily="18" charset="0"/>
              </a:rPr>
              <a:t>The</a:t>
            </a:r>
            <a:r>
              <a:rPr lang="ru-RU" sz="2800" b="1" dirty="0" smtClean="0">
                <a:latin typeface="Times New Roman" panose="02020603050405020304" pitchFamily="18" charset="0"/>
                <a:cs typeface="Times New Roman" panose="02020603050405020304" pitchFamily="18" charset="0"/>
              </a:rPr>
              <a:t> </a:t>
            </a:r>
            <a:r>
              <a:rPr lang="ru-RU" sz="2800" b="1" dirty="0" err="1" smtClean="0">
                <a:latin typeface="Times New Roman" panose="02020603050405020304" pitchFamily="18" charset="0"/>
                <a:cs typeface="Times New Roman" panose="02020603050405020304" pitchFamily="18" charset="0"/>
              </a:rPr>
              <a:t>error</a:t>
            </a:r>
            <a:r>
              <a:rPr lang="ru-RU" sz="2800" b="1"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is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the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deviation</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of</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the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data</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result</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from</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the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measured</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value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The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term</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is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used</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in</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physics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economics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and</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marketing</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Measurement</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error</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is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the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sum</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of</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all</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errors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each</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of</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which</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has</a:t>
            </a:r>
            <a:r>
              <a:rPr lang="ru-RU" sz="2800" dirty="0" smtClean="0">
                <a:latin typeface="Times New Roman" panose="02020603050405020304" pitchFamily="18" charset="0"/>
                <a:cs typeface="Times New Roman" panose="02020603050405020304" pitchFamily="18" charset="0"/>
              </a:rPr>
              <a:t> a </a:t>
            </a:r>
            <a:r>
              <a:rPr lang="ru-RU" sz="2800" dirty="0" err="1" smtClean="0">
                <a:latin typeface="Times New Roman" panose="02020603050405020304" pitchFamily="18" charset="0"/>
                <a:cs typeface="Times New Roman" panose="02020603050405020304" pitchFamily="18" charset="0"/>
              </a:rPr>
              <a:t>reason</a:t>
            </a:r>
            <a:r>
              <a:rPr lang="ru-RU" sz="2800" dirty="0" smtClean="0">
                <a:latin typeface="Times New Roman" panose="02020603050405020304" pitchFamily="18" charset="0"/>
                <a:cs typeface="Times New Roman" panose="02020603050405020304" pitchFamily="18" charset="0"/>
              </a:rPr>
              <a:t>. A </a:t>
            </a:r>
            <a:r>
              <a:rPr lang="ru-RU" sz="2800" dirty="0" err="1" smtClean="0">
                <a:latin typeface="Times New Roman" panose="02020603050405020304" pitchFamily="18" charset="0"/>
                <a:cs typeface="Times New Roman" panose="02020603050405020304" pitchFamily="18" charset="0"/>
              </a:rPr>
              <a:t>specialist's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assessment</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is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considered</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inaccurate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if</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this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value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is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not</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specified</a:t>
            </a:r>
            <a:r>
              <a:rPr lang="ru-RU" sz="2800" dirty="0" smtClean="0">
                <a:latin typeface="Times New Roman" panose="02020603050405020304" pitchFamily="18" charset="0"/>
                <a:cs typeface="Times New Roman" panose="02020603050405020304" pitchFamily="18" charset="0"/>
              </a:rPr>
              <a:t>.</a:t>
            </a:r>
            <a:endParaRPr lang="ru-RU"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4837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59565" y="801253"/>
            <a:ext cx="10349948" cy="5016758"/>
          </a:xfrm>
          <a:prstGeom prst="rect">
            <a:avLst/>
          </a:prstGeom>
        </p:spPr>
        <p:txBody>
          <a:bodyPr wrap="square">
            <a:spAutoFit/>
          </a:bodyPr>
          <a:lstStyle/>
          <a:p>
            <a:pPr indent="534988" algn="just"/>
            <a:r>
              <a:rPr lang="ru-RU" sz="4000" dirty="0" err="1" smtClean="0">
                <a:latin typeface="Times New Roman" panose="02020603050405020304" pitchFamily="18" charset="0"/>
                <a:cs typeface="Times New Roman" panose="02020603050405020304" pitchFamily="18" charset="0"/>
              </a:rPr>
              <a:t>An</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approximate</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number</a:t>
            </a:r>
            <a:r>
              <a:rPr lang="ru-RU" sz="4000" dirty="0" smtClean="0">
                <a:latin typeface="Times New Roman" panose="02020603050405020304" pitchFamily="18" charset="0"/>
                <a:cs typeface="Times New Roman" panose="02020603050405020304" pitchFamily="18" charset="0"/>
              </a:rPr>
              <a:t> a </a:t>
            </a:r>
            <a:r>
              <a:rPr lang="ru-RU" sz="4000" dirty="0" err="1" smtClean="0">
                <a:latin typeface="Times New Roman" panose="02020603050405020304" pitchFamily="18" charset="0"/>
                <a:cs typeface="Times New Roman" panose="02020603050405020304" pitchFamily="18" charset="0"/>
              </a:rPr>
              <a:t>is</a:t>
            </a:r>
            <a:r>
              <a:rPr lang="ru-RU" sz="4000" dirty="0" smtClean="0">
                <a:latin typeface="Times New Roman" panose="02020603050405020304" pitchFamily="18" charset="0"/>
                <a:cs typeface="Times New Roman" panose="02020603050405020304" pitchFamily="18" charset="0"/>
              </a:rPr>
              <a:t> a </a:t>
            </a:r>
            <a:r>
              <a:rPr lang="ru-RU" sz="4000" dirty="0" err="1" smtClean="0">
                <a:latin typeface="Times New Roman" panose="02020603050405020304" pitchFamily="18" charset="0"/>
                <a:cs typeface="Times New Roman" panose="02020603050405020304" pitchFamily="18" charset="0"/>
              </a:rPr>
              <a:t>number</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that</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differs</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slightly</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from</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the</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exact</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number</a:t>
            </a:r>
            <a:r>
              <a:rPr lang="ru-RU" sz="4000" dirty="0" smtClean="0">
                <a:latin typeface="Times New Roman" panose="02020603050405020304" pitchFamily="18" charset="0"/>
                <a:cs typeface="Times New Roman" panose="02020603050405020304" pitchFamily="18" charset="0"/>
              </a:rPr>
              <a:t> A </a:t>
            </a:r>
            <a:r>
              <a:rPr lang="ru-RU" sz="4000" dirty="0" err="1" smtClean="0">
                <a:latin typeface="Times New Roman" panose="02020603050405020304" pitchFamily="18" charset="0"/>
                <a:cs typeface="Times New Roman" panose="02020603050405020304" pitchFamily="18" charset="0"/>
              </a:rPr>
              <a:t>and</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replaces</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it</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in</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calculations</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If</a:t>
            </a:r>
            <a:r>
              <a:rPr lang="ru-RU" sz="4000" dirty="0" smtClean="0">
                <a:latin typeface="Times New Roman" panose="02020603050405020304" pitchFamily="18" charset="0"/>
                <a:cs typeface="Times New Roman" panose="02020603050405020304" pitchFamily="18" charset="0"/>
              </a:rPr>
              <a:t> a&lt;A, </a:t>
            </a:r>
            <a:r>
              <a:rPr lang="ru-RU" sz="4000" dirty="0" err="1" smtClean="0">
                <a:latin typeface="Times New Roman" panose="02020603050405020304" pitchFamily="18" charset="0"/>
                <a:cs typeface="Times New Roman" panose="02020603050405020304" pitchFamily="18" charset="0"/>
              </a:rPr>
              <a:t>then</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the</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number</a:t>
            </a:r>
            <a:r>
              <a:rPr lang="ru-RU" sz="4000" dirty="0" smtClean="0">
                <a:latin typeface="Times New Roman" panose="02020603050405020304" pitchFamily="18" charset="0"/>
                <a:cs typeface="Times New Roman" panose="02020603050405020304" pitchFamily="18" charset="0"/>
              </a:rPr>
              <a:t> a </a:t>
            </a:r>
            <a:r>
              <a:rPr lang="ru-RU" sz="4000" dirty="0" err="1" smtClean="0">
                <a:latin typeface="Times New Roman" panose="02020603050405020304" pitchFamily="18" charset="0"/>
                <a:cs typeface="Times New Roman" panose="02020603050405020304" pitchFamily="18" charset="0"/>
              </a:rPr>
              <a:t>is</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an</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approximate</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value</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for</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the</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disadvantage</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If</a:t>
            </a:r>
            <a:r>
              <a:rPr lang="ru-RU" sz="4000" dirty="0" smtClean="0">
                <a:latin typeface="Times New Roman" panose="02020603050405020304" pitchFamily="18" charset="0"/>
                <a:cs typeface="Times New Roman" panose="02020603050405020304" pitchFamily="18" charset="0"/>
              </a:rPr>
              <a:t> a&gt;A </a:t>
            </a:r>
            <a:r>
              <a:rPr lang="ru-RU" sz="4000" dirty="0" err="1" smtClean="0">
                <a:latin typeface="Times New Roman" panose="02020603050405020304" pitchFamily="18" charset="0"/>
                <a:cs typeface="Times New Roman" panose="02020603050405020304" pitchFamily="18" charset="0"/>
              </a:rPr>
              <a:t>is</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an</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approximate</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loss</a:t>
            </a:r>
            <a:r>
              <a:rPr lang="ru-RU" sz="4000" dirty="0" smtClean="0">
                <a:latin typeface="Times New Roman" panose="02020603050405020304" pitchFamily="18" charset="0"/>
                <a:cs typeface="Times New Roman" panose="02020603050405020304" pitchFamily="18" charset="0"/>
              </a:rPr>
              <a:t> </a:t>
            </a:r>
            <a:r>
              <a:rPr lang="ru-RU" sz="4000" dirty="0" err="1" smtClean="0">
                <a:latin typeface="Times New Roman" panose="02020603050405020304" pitchFamily="18" charset="0"/>
                <a:cs typeface="Times New Roman" panose="02020603050405020304" pitchFamily="18" charset="0"/>
              </a:rPr>
              <a:t>value</a:t>
            </a:r>
            <a:r>
              <a:rPr lang="ru-RU" sz="4000" dirty="0" smtClean="0">
                <a:latin typeface="Times New Roman" panose="02020603050405020304" pitchFamily="18" charset="0"/>
                <a:cs typeface="Times New Roman" panose="02020603050405020304" pitchFamily="18" charset="0"/>
              </a:rPr>
              <a:t>.</a:t>
            </a:r>
          </a:p>
          <a:p>
            <a:r>
              <a:rPr lang="ru-RU" sz="4000" dirty="0" err="1" smtClean="0">
                <a:latin typeface="Times New Roman" panose="02020603050405020304" pitchFamily="18" charset="0"/>
                <a:cs typeface="Times New Roman" panose="02020603050405020304" pitchFamily="18" charset="0"/>
              </a:rPr>
              <a:t>Example</a:t>
            </a:r>
            <a:r>
              <a:rPr lang="ru-RU" sz="4000" dirty="0" smtClean="0">
                <a:latin typeface="Times New Roman" panose="02020603050405020304" pitchFamily="18" charset="0"/>
                <a:cs typeface="Times New Roman" panose="02020603050405020304" pitchFamily="18" charset="0"/>
              </a:rPr>
              <a:t>: </a:t>
            </a:r>
          </a:p>
          <a:p>
            <a:r>
              <a:rPr lang="ru-RU" sz="4000" dirty="0" err="1" smtClean="0">
                <a:latin typeface="Times New Roman" panose="02020603050405020304" pitchFamily="18" charset="0"/>
                <a:cs typeface="Times New Roman" panose="02020603050405020304" pitchFamily="18" charset="0"/>
              </a:rPr>
              <a:t>Designation</a:t>
            </a:r>
            <a:r>
              <a:rPr lang="ru-RU" sz="4000" dirty="0" smtClean="0">
                <a:latin typeface="Times New Roman" panose="02020603050405020304" pitchFamily="18" charset="0"/>
                <a:cs typeface="Times New Roman" panose="02020603050405020304" pitchFamily="18" charset="0"/>
              </a:rPr>
              <a:t>:</a:t>
            </a:r>
            <a:endParaRPr lang="ru-RU" sz="4000" dirty="0">
              <a:latin typeface="Times New Roman" panose="02020603050405020304" pitchFamily="18" charset="0"/>
              <a:cs typeface="Times New Roman" panose="02020603050405020304" pitchFamily="18" charset="0"/>
            </a:endParaRPr>
          </a:p>
        </p:txBody>
      </p:sp>
      <p:pic>
        <p:nvPicPr>
          <p:cNvPr id="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1005" t="61577" r="44800" b="34709"/>
          <a:stretch/>
        </p:blipFill>
        <p:spPr bwMode="auto">
          <a:xfrm>
            <a:off x="3382304" y="4513667"/>
            <a:ext cx="3419061" cy="71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4636" t="66219" r="50000" b="31305"/>
          <a:stretch/>
        </p:blipFill>
        <p:spPr bwMode="auto">
          <a:xfrm>
            <a:off x="4015407" y="5229285"/>
            <a:ext cx="1292087" cy="477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3078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90599" y="757490"/>
            <a:ext cx="10356273" cy="954107"/>
          </a:xfrm>
          <a:prstGeom prst="rect">
            <a:avLst/>
          </a:prstGeom>
        </p:spPr>
        <p:txBody>
          <a:bodyPr wrap="square">
            <a:spAutoFit/>
          </a:bodyPr>
          <a:lstStyle/>
          <a:p>
            <a:r>
              <a:rPr lang="ru-RU" sz="2800" dirty="0" err="1" smtClean="0">
                <a:latin typeface="Times New Roman" panose="02020603050405020304" pitchFamily="18" charset="0"/>
                <a:cs typeface="Times New Roman" panose="02020603050405020304" pitchFamily="18" charset="0"/>
              </a:rPr>
              <a:t>The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difference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between</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the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exact</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number</a:t>
            </a:r>
            <a:r>
              <a:rPr lang="ru-RU" sz="2800" dirty="0" smtClean="0">
                <a:latin typeface="Times New Roman" panose="02020603050405020304" pitchFamily="18" charset="0"/>
                <a:cs typeface="Times New Roman" panose="02020603050405020304" pitchFamily="18" charset="0"/>
              </a:rPr>
              <a:t> A </a:t>
            </a:r>
            <a:r>
              <a:rPr lang="ru-RU" sz="2800" dirty="0" err="1" smtClean="0">
                <a:latin typeface="Times New Roman" panose="02020603050405020304" pitchFamily="18" charset="0"/>
                <a:cs typeface="Times New Roman" panose="02020603050405020304" pitchFamily="18" charset="0"/>
              </a:rPr>
              <a:t>and</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its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approximate</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value</a:t>
            </a:r>
            <a:r>
              <a:rPr lang="ru-RU" sz="2800" dirty="0" smtClean="0">
                <a:latin typeface="Times New Roman" panose="02020603050405020304" pitchFamily="18" charset="0"/>
                <a:cs typeface="Times New Roman" panose="02020603050405020304" pitchFamily="18" charset="0"/>
              </a:rPr>
              <a:t> a </a:t>
            </a:r>
            <a:r>
              <a:rPr lang="ru-RU" sz="2800" dirty="0" err="1" smtClean="0">
                <a:latin typeface="Times New Roman" panose="02020603050405020304" pitchFamily="18" charset="0"/>
                <a:cs typeface="Times New Roman" panose="02020603050405020304" pitchFamily="18" charset="0"/>
              </a:rPr>
              <a:t>is</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an</a:t>
            </a:r>
            <a:r>
              <a:rPr lang="ru-RU" sz="2800" dirty="0" smtClean="0">
                <a:latin typeface="Times New Roman" panose="02020603050405020304" pitchFamily="18" charset="0"/>
                <a:cs typeface="Times New Roman" panose="02020603050405020304" pitchFamily="18" charset="0"/>
              </a:rPr>
              <a:t> </a:t>
            </a:r>
            <a:r>
              <a:rPr lang="ru-RU" sz="2800" dirty="0" err="1" smtClean="0">
                <a:latin typeface="Times New Roman" panose="02020603050405020304" pitchFamily="18" charset="0"/>
                <a:cs typeface="Times New Roman" panose="02020603050405020304" pitchFamily="18" charset="0"/>
              </a:rPr>
              <a:t>error</a:t>
            </a:r>
            <a:r>
              <a:rPr lang="ru-RU" sz="2800" dirty="0">
                <a:latin typeface="Times New Roman" panose="02020603050405020304" pitchFamily="18" charset="0"/>
                <a:cs typeface="Times New Roman" panose="02020603050405020304" pitchFamily="18" charset="0"/>
              </a:rPr>
              <a:t>.</a:t>
            </a:r>
          </a:p>
        </p:txBody>
      </p:sp>
      <p:sp>
        <p:nvSpPr>
          <p:cNvPr id="5" name="Прямоугольник 4"/>
          <p:cNvSpPr/>
          <p:nvPr/>
        </p:nvSpPr>
        <p:spPr>
          <a:xfrm>
            <a:off x="990598" y="3375999"/>
            <a:ext cx="10688783" cy="954107"/>
          </a:xfrm>
          <a:prstGeom prst="rect">
            <a:avLst/>
          </a:prstGeom>
        </p:spPr>
        <p:txBody>
          <a:bodyPr wrap="square">
            <a:spAutoFit/>
          </a:bodyPr>
          <a:lstStyle/>
          <a:p>
            <a:pPr algn="just"/>
            <a:r>
              <a:rPr lang="ru-RU" sz="2800" dirty="0" err="1">
                <a:latin typeface="Times New Roman" panose="02020603050405020304" pitchFamily="18" charset="0"/>
                <a:cs typeface="Times New Roman" panose="02020603050405020304" pitchFamily="18" charset="0"/>
              </a:rPr>
              <a:t>In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practice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as</a:t>
            </a:r>
            <a:r>
              <a:rPr lang="ru-RU" sz="2800" dirty="0">
                <a:latin typeface="Times New Roman" panose="02020603050405020304" pitchFamily="18" charset="0"/>
                <a:cs typeface="Times New Roman" panose="02020603050405020304" pitchFamily="18" charset="0"/>
              </a:rPr>
              <a:t> a </a:t>
            </a:r>
            <a:r>
              <a:rPr lang="ru-RU" sz="2800" dirty="0" err="1">
                <a:latin typeface="Times New Roman" panose="02020603050405020304" pitchFamily="18" charset="0"/>
                <a:cs typeface="Times New Roman" panose="02020603050405020304" pitchFamily="18" charset="0"/>
              </a:rPr>
              <a:t>rule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error</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sign</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not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significant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therefore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the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concept</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of</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absolute</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error</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is</a:t>
            </a:r>
            <a:r>
              <a:rPr lang="ru-RU" sz="2800" dirty="0">
                <a:latin typeface="Times New Roman" panose="02020603050405020304" pitchFamily="18" charset="0"/>
                <a:cs typeface="Times New Roman" panose="02020603050405020304" pitchFamily="18" charset="0"/>
              </a:rPr>
              <a:t> </a:t>
            </a:r>
            <a:r>
              <a:rPr lang="ru-RU" sz="2800" dirty="0" err="1">
                <a:latin typeface="Times New Roman" panose="02020603050405020304" pitchFamily="18" charset="0"/>
                <a:cs typeface="Times New Roman" panose="02020603050405020304" pitchFamily="18" charset="0"/>
              </a:rPr>
              <a:t>used</a:t>
            </a:r>
            <a:endParaRPr lang="ru-RU" sz="2800" dirty="0">
              <a:latin typeface="Times New Roman" panose="02020603050405020304" pitchFamily="18" charset="0"/>
              <a:cs typeface="Times New Roman" panose="02020603050405020304" pitchFamily="18" charset="0"/>
            </a:endParaRP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6150" t="46756" r="30700" b="49313"/>
          <a:stretch/>
        </p:blipFill>
        <p:spPr bwMode="auto">
          <a:xfrm>
            <a:off x="3387435" y="2286000"/>
            <a:ext cx="5507183" cy="748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2812" t="62043" r="30263" b="33350"/>
          <a:stretch/>
        </p:blipFill>
        <p:spPr bwMode="auto">
          <a:xfrm>
            <a:off x="214313" y="5195454"/>
            <a:ext cx="8784214" cy="876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64991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33450" y="1090136"/>
            <a:ext cx="10420350" cy="5078313"/>
          </a:xfrm>
          <a:prstGeom prst="rect">
            <a:avLst/>
          </a:prstGeom>
        </p:spPr>
        <p:txBody>
          <a:bodyPr wrap="square">
            <a:spAutoFit/>
          </a:bodyPr>
          <a:lstStyle/>
          <a:p>
            <a:pPr indent="358775" algn="just"/>
            <a:r>
              <a:rPr lang="en-US" sz="3600" dirty="0">
                <a:latin typeface="Times New Roman" panose="02020603050405020304" pitchFamily="18" charset="0"/>
                <a:cs typeface="Times New Roman" panose="02020603050405020304" pitchFamily="18" charset="0"/>
              </a:rPr>
              <a:t>The top estimate of the absolute error is the ultimate absolute error </a:t>
            </a:r>
            <a:r>
              <a:rPr lang="ru-RU" sz="3600" dirty="0" smtClean="0">
                <a:latin typeface="Times New Roman" panose="02020603050405020304" pitchFamily="18" charset="0"/>
                <a:cs typeface="Times New Roman" panose="02020603050405020304" pitchFamily="18" charset="0"/>
              </a:rPr>
              <a:t>       </a:t>
            </a:r>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any number not less than the absolute error of the approximate number </a:t>
            </a:r>
            <a:r>
              <a:rPr lang="en-US" sz="3600" dirty="0" smtClean="0">
                <a:latin typeface="Times New Roman" panose="02020603050405020304" pitchFamily="18" charset="0"/>
                <a:cs typeface="Times New Roman" panose="02020603050405020304" pitchFamily="18" charset="0"/>
              </a:rPr>
              <a:t>a</a:t>
            </a:r>
            <a:r>
              <a:rPr lang="ru-RU" sz="3600" dirty="0" smtClean="0">
                <a:latin typeface="Times New Roman" panose="02020603050405020304" pitchFamily="18" charset="0"/>
                <a:cs typeface="Times New Roman" panose="02020603050405020304" pitchFamily="18" charset="0"/>
              </a:rPr>
              <a:t>. </a:t>
            </a:r>
          </a:p>
          <a:p>
            <a:pPr indent="358775"/>
            <a:endParaRPr lang="ru-RU" sz="3600" dirty="0">
              <a:latin typeface="Times New Roman" panose="02020603050405020304" pitchFamily="18" charset="0"/>
              <a:cs typeface="Times New Roman" panose="02020603050405020304" pitchFamily="18" charset="0"/>
            </a:endParaRPr>
          </a:p>
          <a:p>
            <a:pPr indent="358775"/>
            <a:endParaRPr lang="ru-RU" sz="3600" dirty="0" smtClean="0">
              <a:latin typeface="Times New Roman" panose="02020603050405020304" pitchFamily="18" charset="0"/>
              <a:cs typeface="Times New Roman" panose="02020603050405020304" pitchFamily="18" charset="0"/>
            </a:endParaRPr>
          </a:p>
          <a:p>
            <a:pPr indent="358775"/>
            <a:endParaRPr lang="ru-RU" sz="3600" dirty="0">
              <a:latin typeface="Times New Roman" panose="02020603050405020304" pitchFamily="18" charset="0"/>
              <a:cs typeface="Times New Roman" panose="02020603050405020304" pitchFamily="18" charset="0"/>
            </a:endParaRPr>
          </a:p>
          <a:p>
            <a:pPr indent="358775" algn="just"/>
            <a:r>
              <a:rPr lang="en-US" sz="3600" dirty="0" smtClean="0">
                <a:latin typeface="Times New Roman" panose="02020603050405020304" pitchFamily="18" charset="0"/>
                <a:cs typeface="Times New Roman" panose="02020603050405020304" pitchFamily="18" charset="0"/>
              </a:rPr>
              <a:t>In </a:t>
            </a:r>
            <a:r>
              <a:rPr lang="en-US" sz="3600" dirty="0">
                <a:latin typeface="Times New Roman" panose="02020603050405020304" pitchFamily="18" charset="0"/>
                <a:cs typeface="Times New Roman" panose="02020603050405020304" pitchFamily="18" charset="0"/>
              </a:rPr>
              <a:t>practice, for </a:t>
            </a:r>
            <a:r>
              <a:rPr lang="ru-RU" sz="3600" dirty="0" smtClean="0">
                <a:latin typeface="Times New Roman" panose="02020603050405020304" pitchFamily="18" charset="0"/>
                <a:cs typeface="Times New Roman" panose="02020603050405020304" pitchFamily="18" charset="0"/>
              </a:rPr>
              <a:t>      </a:t>
            </a:r>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the number satisfying (3) should be chosen as small as possible under the given circumstances</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678" t="40530" r="53043" b="57129"/>
          <a:stretch/>
        </p:blipFill>
        <p:spPr bwMode="auto">
          <a:xfrm>
            <a:off x="3695699" y="1762392"/>
            <a:ext cx="533401"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3213" t="48467" r="30167" b="43290"/>
          <a:stretch/>
        </p:blipFill>
        <p:spPr bwMode="auto">
          <a:xfrm>
            <a:off x="2476499" y="2933700"/>
            <a:ext cx="6229351" cy="154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4678" t="40530" r="53043" b="57129"/>
          <a:stretch/>
        </p:blipFill>
        <p:spPr bwMode="auto">
          <a:xfrm>
            <a:off x="4381499" y="4476750"/>
            <a:ext cx="533401"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8162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914400" y="884188"/>
            <a:ext cx="10610850" cy="4524315"/>
          </a:xfrm>
          <a:prstGeom prst="rect">
            <a:avLst/>
          </a:prstGeom>
        </p:spPr>
        <p:txBody>
          <a:bodyPr wrap="square">
            <a:spAutoFit/>
          </a:bodyPr>
          <a:lstStyle/>
          <a:p>
            <a:pPr indent="800100" algn="just"/>
            <a:r>
              <a:rPr lang="en-US" sz="3200" dirty="0">
                <a:latin typeface="Times New Roman" panose="02020603050405020304" pitchFamily="18" charset="0"/>
                <a:cs typeface="Times New Roman" panose="02020603050405020304" pitchFamily="18" charset="0"/>
              </a:rPr>
              <a:t>According to the absolute error, it is impossible to judge whether the measurement was carried out well or poorly, that is, to assess </a:t>
            </a:r>
            <a:r>
              <a:rPr lang="en-US" sz="3200" b="1" i="1" dirty="0">
                <a:latin typeface="Times New Roman" panose="02020603050405020304" pitchFamily="18" charset="0"/>
                <a:cs typeface="Times New Roman" panose="02020603050405020304" pitchFamily="18" charset="0"/>
              </a:rPr>
              <a:t>the quality </a:t>
            </a:r>
            <a:r>
              <a:rPr lang="en-US" sz="3200" dirty="0">
                <a:latin typeface="Times New Roman" panose="02020603050405020304" pitchFamily="18" charset="0"/>
                <a:cs typeface="Times New Roman" panose="02020603050405020304" pitchFamily="18" charset="0"/>
              </a:rPr>
              <a:t>of the </a:t>
            </a:r>
            <a:r>
              <a:rPr lang="en-US" sz="3200" dirty="0" smtClean="0">
                <a:latin typeface="Times New Roman" panose="02020603050405020304" pitchFamily="18" charset="0"/>
                <a:cs typeface="Times New Roman" panose="02020603050405020304" pitchFamily="18" charset="0"/>
              </a:rPr>
              <a:t>measurement</a:t>
            </a:r>
            <a:r>
              <a:rPr lang="ru-RU" sz="3200" dirty="0" smtClean="0">
                <a:latin typeface="Times New Roman" panose="02020603050405020304" pitchFamily="18" charset="0"/>
                <a:cs typeface="Times New Roman" panose="02020603050405020304" pitchFamily="18" charset="0"/>
              </a:rPr>
              <a:t>.</a:t>
            </a:r>
          </a:p>
          <a:p>
            <a:pPr indent="800100" algn="just"/>
            <a:r>
              <a:rPr lang="en-US" sz="3200" dirty="0" smtClean="0">
                <a:latin typeface="Times New Roman" panose="02020603050405020304" pitchFamily="18" charset="0"/>
                <a:cs typeface="Times New Roman" panose="02020603050405020304" pitchFamily="18" charset="0"/>
              </a:rPr>
              <a:t>To </a:t>
            </a:r>
            <a:r>
              <a:rPr lang="en-US" sz="3200" dirty="0">
                <a:latin typeface="Times New Roman" panose="02020603050405020304" pitchFamily="18" charset="0"/>
                <a:cs typeface="Times New Roman" panose="02020603050405020304" pitchFamily="18" charset="0"/>
              </a:rPr>
              <a:t>determine the quality of the calculations (measurements) performed, it is necessary to determine what proportion of the absolute error (the limit of the absolute error) of the measured value is. To do this, we introduce a new concept - </a:t>
            </a:r>
            <a:r>
              <a:rPr lang="en-US" sz="3200" b="1" i="1" dirty="0">
                <a:latin typeface="Times New Roman" panose="02020603050405020304" pitchFamily="18" charset="0"/>
                <a:cs typeface="Times New Roman" panose="02020603050405020304" pitchFamily="18" charset="0"/>
              </a:rPr>
              <a:t>relative error</a:t>
            </a:r>
            <a:r>
              <a:rPr lang="en-US" sz="3200" dirty="0">
                <a:latin typeface="Times New Roman" panose="02020603050405020304" pitchFamily="18" charset="0"/>
                <a:cs typeface="Times New Roman" panose="02020603050405020304" pitchFamily="18" charset="0"/>
              </a:rPr>
              <a:t>, which is used to characterize the accuracy of measurement or calculation.</a:t>
            </a:r>
          </a:p>
        </p:txBody>
      </p:sp>
    </p:spTree>
    <p:extLst>
      <p:ext uri="{BB962C8B-B14F-4D97-AF65-F5344CB8AC3E}">
        <p14:creationId xmlns:p14="http://schemas.microsoft.com/office/powerpoint/2010/main" val="520586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57250" y="762685"/>
            <a:ext cx="10839450" cy="1077218"/>
          </a:xfrm>
          <a:prstGeom prst="rect">
            <a:avLst/>
          </a:prstGeom>
        </p:spPr>
        <p:txBody>
          <a:bodyPr wrap="square">
            <a:spAutoFit/>
          </a:bodyPr>
          <a:lstStyle/>
          <a:p>
            <a:pPr indent="723900"/>
            <a:r>
              <a:rPr lang="en-US" sz="3200" b="1" dirty="0">
                <a:latin typeface="Times New Roman" panose="02020603050405020304" pitchFamily="18" charset="0"/>
                <a:cs typeface="Times New Roman" panose="02020603050405020304" pitchFamily="18" charset="0"/>
              </a:rPr>
              <a:t>The relative error </a:t>
            </a:r>
            <a:r>
              <a:rPr lang="en-US" sz="3200" dirty="0">
                <a:latin typeface="Times New Roman" panose="02020603050405020304" pitchFamily="18" charset="0"/>
                <a:cs typeface="Times New Roman" panose="02020603050405020304" pitchFamily="18" charset="0"/>
              </a:rPr>
              <a:t>of an approximate number a is the ratio of the absolute error to the modulus of the exact number </a:t>
            </a:r>
            <a:r>
              <a:rPr lang="en-US" sz="3200" dirty="0" smtClean="0">
                <a:latin typeface="Times New Roman" panose="02020603050405020304" pitchFamily="18" charset="0"/>
                <a:cs typeface="Times New Roman" panose="02020603050405020304" pitchFamily="18" charset="0"/>
              </a:rPr>
              <a:t>A</a:t>
            </a:r>
            <a:r>
              <a:rPr lang="ru-RU" sz="3200" dirty="0" smtClean="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pic>
        <p:nvPicPr>
          <p:cNvPr id="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8461" t="41467" r="31221" b="55426"/>
          <a:stretch/>
        </p:blipFill>
        <p:spPr bwMode="auto">
          <a:xfrm>
            <a:off x="3695701" y="2095500"/>
            <a:ext cx="4514850" cy="55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Прямоугольник 5"/>
          <p:cNvSpPr/>
          <p:nvPr/>
        </p:nvSpPr>
        <p:spPr>
          <a:xfrm>
            <a:off x="857250" y="3143935"/>
            <a:ext cx="10839450" cy="1077218"/>
          </a:xfrm>
          <a:prstGeom prst="rect">
            <a:avLst/>
          </a:prstGeom>
        </p:spPr>
        <p:txBody>
          <a:bodyPr wrap="square">
            <a:spAutoFit/>
          </a:bodyPr>
          <a:lstStyle/>
          <a:p>
            <a:pPr indent="723900"/>
            <a:r>
              <a:rPr lang="en-US" sz="3200" b="1" dirty="0">
                <a:latin typeface="Times New Roman" panose="02020603050405020304" pitchFamily="18" charset="0"/>
                <a:cs typeface="Times New Roman" panose="02020603050405020304" pitchFamily="18" charset="0"/>
              </a:rPr>
              <a:t>The maximum relative </a:t>
            </a:r>
            <a:r>
              <a:rPr lang="en-US" sz="3200" b="1" dirty="0" smtClean="0">
                <a:latin typeface="Times New Roman" panose="02020603050405020304" pitchFamily="18" charset="0"/>
                <a:cs typeface="Times New Roman" panose="02020603050405020304" pitchFamily="18" charset="0"/>
              </a:rPr>
              <a:t>error</a:t>
            </a:r>
            <a:r>
              <a:rPr lang="ru-RU" sz="3200" b="1" dirty="0" smtClean="0">
                <a:latin typeface="Times New Roman" panose="02020603050405020304" pitchFamily="18" charset="0"/>
                <a:cs typeface="Times New Roman" panose="02020603050405020304" pitchFamily="18" charset="0"/>
              </a:rPr>
              <a:t>    </a:t>
            </a:r>
            <a:r>
              <a:rPr lang="en-US" sz="3200" b="1" dirty="0" smtClean="0">
                <a:latin typeface="Times New Roman" panose="02020603050405020304" pitchFamily="18" charset="0"/>
                <a:cs typeface="Times New Roman" panose="02020603050405020304" pitchFamily="18" charset="0"/>
              </a:rPr>
              <a:t> </a:t>
            </a:r>
            <a:r>
              <a:rPr lang="ru-RU" sz="3200" b="1" dirty="0" smtClean="0">
                <a:latin typeface="Times New Roman" panose="02020603050405020304" pitchFamily="18" charset="0"/>
                <a:cs typeface="Times New Roman" panose="02020603050405020304" pitchFamily="18" charset="0"/>
              </a:rPr>
              <a:t>    </a:t>
            </a:r>
            <a:r>
              <a:rPr lang="en-US" sz="3200" dirty="0" smtClean="0">
                <a:latin typeface="Times New Roman" panose="02020603050405020304" pitchFamily="18" charset="0"/>
                <a:cs typeface="Times New Roman" panose="02020603050405020304" pitchFamily="18" charset="0"/>
              </a:rPr>
              <a:t>is </a:t>
            </a:r>
            <a:r>
              <a:rPr lang="en-US" sz="3200" dirty="0">
                <a:latin typeface="Times New Roman" panose="02020603050405020304" pitchFamily="18" charset="0"/>
                <a:cs typeface="Times New Roman" panose="02020603050405020304" pitchFamily="18" charset="0"/>
              </a:rPr>
              <a:t>any number not less than the relative error of the approximate number.</a:t>
            </a:r>
          </a:p>
        </p:txBody>
      </p:sp>
      <p:pic>
        <p:nvPicPr>
          <p:cNvPr id="7"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7689" t="48325" r="49053" b="48461"/>
          <a:stretch/>
        </p:blipFill>
        <p:spPr bwMode="auto">
          <a:xfrm>
            <a:off x="6753225" y="3143935"/>
            <a:ext cx="7239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8118" t="57111" r="30878" b="39352"/>
          <a:stretch/>
        </p:blipFill>
        <p:spPr bwMode="auto">
          <a:xfrm>
            <a:off x="3695701" y="4572000"/>
            <a:ext cx="4667249"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Прямоугольник 8"/>
          <p:cNvSpPr/>
          <p:nvPr/>
        </p:nvSpPr>
        <p:spPr>
          <a:xfrm>
            <a:off x="1379041" y="5525185"/>
            <a:ext cx="2956835" cy="584775"/>
          </a:xfrm>
          <a:prstGeom prst="rect">
            <a:avLst/>
          </a:prstGeom>
        </p:spPr>
        <p:txBody>
          <a:bodyPr wrap="none">
            <a:spAutoFit/>
          </a:bodyPr>
          <a:lstStyle/>
          <a:p>
            <a:r>
              <a:rPr lang="en-US" sz="3200" b="1" dirty="0" smtClean="0">
                <a:latin typeface="Times New Roman" panose="02020603050405020304" pitchFamily="18" charset="0"/>
                <a:cs typeface="Times New Roman" panose="02020603050405020304" pitchFamily="18" charset="0"/>
              </a:rPr>
              <a:t>Approximately</a:t>
            </a:r>
            <a:r>
              <a:rPr lang="ru-RU" sz="3200" b="1" dirty="0">
                <a:latin typeface="Times New Roman" panose="02020603050405020304" pitchFamily="18" charset="0"/>
                <a:cs typeface="Times New Roman" panose="02020603050405020304" pitchFamily="18" charset="0"/>
              </a:rPr>
              <a:t>:</a:t>
            </a:r>
            <a:endParaRPr lang="en-US" sz="3200" b="1" dirty="0">
              <a:latin typeface="Times New Roman" panose="02020603050405020304" pitchFamily="18" charset="0"/>
              <a:cs typeface="Times New Roman" panose="02020603050405020304" pitchFamily="18" charset="0"/>
            </a:endParaRPr>
          </a:p>
        </p:txBody>
      </p:sp>
      <p:pic>
        <p:nvPicPr>
          <p:cNvPr id="10"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44518" t="61398" r="46652" b="36138"/>
          <a:stretch/>
        </p:blipFill>
        <p:spPr bwMode="auto">
          <a:xfrm>
            <a:off x="4335876" y="5671810"/>
            <a:ext cx="19621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4306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Прямоугольник 5"/>
          <p:cNvSpPr/>
          <p:nvPr/>
        </p:nvSpPr>
        <p:spPr>
          <a:xfrm>
            <a:off x="723900" y="880586"/>
            <a:ext cx="10744200" cy="5078313"/>
          </a:xfrm>
          <a:prstGeom prst="rect">
            <a:avLst/>
          </a:prstGeom>
        </p:spPr>
        <p:txBody>
          <a:bodyPr wrap="square">
            <a:spAutoFit/>
          </a:bodyPr>
          <a:lstStyle/>
          <a:p>
            <a:pPr indent="800100" algn="just"/>
            <a:r>
              <a:rPr lang="en-US" sz="3600" dirty="0">
                <a:latin typeface="Times New Roman" panose="02020603050405020304" pitchFamily="18" charset="0"/>
                <a:cs typeface="Times New Roman" panose="02020603050405020304" pitchFamily="18" charset="0"/>
              </a:rPr>
              <a:t>Example: When weighing an apple and a melon, the results are obtained, respectively: </a:t>
            </a:r>
            <a:r>
              <a:rPr lang="ru-RU" sz="3600" dirty="0" smtClean="0">
                <a:latin typeface="Times New Roman" panose="02020603050405020304" pitchFamily="18" charset="0"/>
                <a:cs typeface="Times New Roman" panose="02020603050405020304" pitchFamily="18" charset="0"/>
              </a:rPr>
              <a:t>                                 </a:t>
            </a:r>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In both the first and second cases, the absolute error is 2 g. </a:t>
            </a:r>
            <a:r>
              <a:rPr lang="en-US" sz="3600" dirty="0" smtClean="0">
                <a:latin typeface="Times New Roman" panose="02020603050405020304" pitchFamily="18" charset="0"/>
                <a:cs typeface="Times New Roman" panose="02020603050405020304" pitchFamily="18" charset="0"/>
              </a:rPr>
              <a:t>Which </a:t>
            </a:r>
            <a:r>
              <a:rPr lang="en-US" sz="3600" dirty="0">
                <a:latin typeface="Times New Roman" panose="02020603050405020304" pitchFamily="18" charset="0"/>
                <a:cs typeface="Times New Roman" panose="02020603050405020304" pitchFamily="18" charset="0"/>
              </a:rPr>
              <a:t>weighing was performed more accurately</a:t>
            </a:r>
            <a:r>
              <a:rPr lang="en-US" sz="3600" dirty="0" smtClean="0">
                <a:latin typeface="Times New Roman" panose="02020603050405020304" pitchFamily="18" charset="0"/>
                <a:cs typeface="Times New Roman" panose="02020603050405020304" pitchFamily="18" charset="0"/>
              </a:rPr>
              <a:t>?</a:t>
            </a:r>
            <a:endParaRPr lang="ru-RU" sz="3600" dirty="0" smtClean="0">
              <a:latin typeface="Times New Roman" panose="02020603050405020304" pitchFamily="18" charset="0"/>
              <a:cs typeface="Times New Roman" panose="02020603050405020304" pitchFamily="18" charset="0"/>
            </a:endParaRPr>
          </a:p>
          <a:p>
            <a:pPr indent="800100" algn="just"/>
            <a:r>
              <a:rPr lang="en-US" sz="3600" dirty="0" smtClean="0">
                <a:latin typeface="Times New Roman" panose="02020603050405020304" pitchFamily="18" charset="0"/>
                <a:cs typeface="Times New Roman" panose="02020603050405020304" pitchFamily="18" charset="0"/>
              </a:rPr>
              <a:t>Decision:</a:t>
            </a:r>
            <a:endParaRPr lang="ru-RU" sz="3600" dirty="0" smtClean="0">
              <a:latin typeface="Times New Roman" panose="02020603050405020304" pitchFamily="18" charset="0"/>
              <a:cs typeface="Times New Roman" panose="02020603050405020304" pitchFamily="18" charset="0"/>
            </a:endParaRPr>
          </a:p>
          <a:p>
            <a:pPr indent="800100" algn="just"/>
            <a:endParaRPr lang="ru-RU" sz="3600" dirty="0">
              <a:latin typeface="Times New Roman" panose="02020603050405020304" pitchFamily="18" charset="0"/>
              <a:cs typeface="Times New Roman" panose="02020603050405020304" pitchFamily="18" charset="0"/>
            </a:endParaRPr>
          </a:p>
          <a:p>
            <a:pPr indent="800100" algn="just"/>
            <a:endParaRPr lang="ru-RU" sz="3600" dirty="0" smtClean="0">
              <a:latin typeface="Times New Roman" panose="02020603050405020304" pitchFamily="18" charset="0"/>
              <a:cs typeface="Times New Roman" panose="02020603050405020304" pitchFamily="18" charset="0"/>
            </a:endParaRPr>
          </a:p>
          <a:p>
            <a:pPr indent="800100" algn="just"/>
            <a:r>
              <a:rPr lang="en-US" sz="3600" dirty="0" smtClean="0">
                <a:latin typeface="Times New Roman" panose="02020603050405020304" pitchFamily="18" charset="0"/>
                <a:cs typeface="Times New Roman" panose="02020603050405020304" pitchFamily="18" charset="0"/>
              </a:rPr>
              <a:t>Thus</a:t>
            </a:r>
            <a:r>
              <a:rPr lang="en-US" sz="3600" dirty="0">
                <a:latin typeface="Times New Roman" panose="02020603050405020304" pitchFamily="18" charset="0"/>
                <a:cs typeface="Times New Roman" panose="02020603050405020304" pitchFamily="18" charset="0"/>
              </a:rPr>
              <a:t>, the melon was weighed </a:t>
            </a:r>
            <a:r>
              <a:rPr lang="ru-RU" sz="3600" dirty="0" smtClean="0">
                <a:latin typeface="Times New Roman" panose="02020603050405020304" pitchFamily="18" charset="0"/>
                <a:cs typeface="Times New Roman" panose="02020603050405020304" pitchFamily="18" charset="0"/>
              </a:rPr>
              <a:t>       </a:t>
            </a:r>
            <a:r>
              <a:rPr lang="en-US" sz="3600" dirty="0" smtClean="0">
                <a:latin typeface="Times New Roman" panose="02020603050405020304" pitchFamily="18" charset="0"/>
                <a:cs typeface="Times New Roman" panose="02020603050405020304" pitchFamily="18" charset="0"/>
              </a:rPr>
              <a:t>times </a:t>
            </a:r>
            <a:r>
              <a:rPr lang="en-US" sz="3600" dirty="0">
                <a:latin typeface="Times New Roman" panose="02020603050405020304" pitchFamily="18" charset="0"/>
                <a:cs typeface="Times New Roman" panose="02020603050405020304" pitchFamily="18" charset="0"/>
              </a:rPr>
              <a:t>more accurately.</a:t>
            </a:r>
          </a:p>
        </p:txBody>
      </p:sp>
      <p:pic>
        <p:nvPicPr>
          <p:cNvPr id="7"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l="38356" t="20882" r="44128" b="75658"/>
          <a:stretch/>
        </p:blipFill>
        <p:spPr bwMode="auto">
          <a:xfrm>
            <a:off x="6934200" y="1543050"/>
            <a:ext cx="4533900" cy="503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l="45202" t="33289" r="36275" b="54423"/>
          <a:stretch/>
        </p:blipFill>
        <p:spPr bwMode="auto">
          <a:xfrm>
            <a:off x="3695700" y="3245724"/>
            <a:ext cx="4057650" cy="1514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6"/>
          <p:cNvPicPr>
            <a:picLocks noChangeAspect="1" noChangeArrowheads="1"/>
          </p:cNvPicPr>
          <p:nvPr/>
        </p:nvPicPr>
        <p:blipFill rotWithShape="1">
          <a:blip r:embed="rId2">
            <a:extLst>
              <a:ext uri="{28A0092B-C50C-407E-A947-70E740481C1C}">
                <a14:useLocalDpi xmlns:a14="http://schemas.microsoft.com/office/drawing/2010/main" val="0"/>
              </a:ext>
            </a:extLst>
          </a:blip>
          <a:srcRect l="58691" t="45935" r="35805" b="48577"/>
          <a:stretch/>
        </p:blipFill>
        <p:spPr bwMode="auto">
          <a:xfrm>
            <a:off x="7505700" y="4759992"/>
            <a:ext cx="15621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0083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52450" y="1389786"/>
            <a:ext cx="11106150" cy="3539430"/>
          </a:xfrm>
          <a:prstGeom prst="rect">
            <a:avLst/>
          </a:prstGeom>
        </p:spPr>
        <p:txBody>
          <a:bodyPr wrap="square">
            <a:spAutoFit/>
          </a:bodyPr>
          <a:lstStyle/>
          <a:p>
            <a:pPr algn="just"/>
            <a:r>
              <a:rPr lang="en-US" sz="3200" b="1" dirty="0">
                <a:latin typeface="Times New Roman" panose="02020603050405020304" pitchFamily="18" charset="0"/>
                <a:cs typeface="Times New Roman" panose="02020603050405020304" pitchFamily="18" charset="0"/>
              </a:rPr>
              <a:t>Note</a:t>
            </a:r>
            <a:r>
              <a:rPr lang="en-US" sz="3200" b="1" dirty="0" smtClean="0">
                <a:latin typeface="Times New Roman" panose="02020603050405020304" pitchFamily="18" charset="0"/>
                <a:cs typeface="Times New Roman" panose="02020603050405020304" pitchFamily="18" charset="0"/>
              </a:rPr>
              <a:t>:</a:t>
            </a:r>
            <a:endParaRPr lang="ru-RU" sz="3200" b="1" dirty="0" smtClean="0">
              <a:latin typeface="Times New Roman" panose="02020603050405020304" pitchFamily="18" charset="0"/>
              <a:cs typeface="Times New Roman" panose="02020603050405020304" pitchFamily="18" charset="0"/>
            </a:endParaRPr>
          </a:p>
          <a:p>
            <a:pPr indent="723900" algn="just"/>
            <a:r>
              <a:rPr lang="en-US" sz="3200" dirty="0" smtClean="0">
                <a:latin typeface="Times New Roman" panose="02020603050405020304" pitchFamily="18" charset="0"/>
                <a:cs typeface="Times New Roman" panose="02020603050405020304" pitchFamily="18" charset="0"/>
              </a:rPr>
              <a:t>The </a:t>
            </a:r>
            <a:r>
              <a:rPr lang="en-US" sz="3200" dirty="0">
                <a:latin typeface="Times New Roman" panose="02020603050405020304" pitchFamily="18" charset="0"/>
                <a:cs typeface="Times New Roman" panose="02020603050405020304" pitchFamily="18" charset="0"/>
              </a:rPr>
              <a:t>absolute error (the limit of absolute error) is a measured value, measured in the same units of measurement as the value under study. </a:t>
            </a:r>
            <a:endParaRPr lang="ru-RU" sz="3200" dirty="0" smtClean="0">
              <a:latin typeface="Times New Roman" panose="02020603050405020304" pitchFamily="18" charset="0"/>
              <a:cs typeface="Times New Roman" panose="02020603050405020304" pitchFamily="18" charset="0"/>
            </a:endParaRPr>
          </a:p>
          <a:p>
            <a:pPr indent="723900" algn="just"/>
            <a:r>
              <a:rPr lang="en-US" sz="3200" dirty="0" smtClean="0">
                <a:latin typeface="Times New Roman" panose="02020603050405020304" pitchFamily="18" charset="0"/>
                <a:cs typeface="Times New Roman" panose="02020603050405020304" pitchFamily="18" charset="0"/>
              </a:rPr>
              <a:t>The </a:t>
            </a:r>
            <a:r>
              <a:rPr lang="en-US" sz="3200" dirty="0">
                <a:latin typeface="Times New Roman" panose="02020603050405020304" pitchFamily="18" charset="0"/>
                <a:cs typeface="Times New Roman" panose="02020603050405020304" pitchFamily="18" charset="0"/>
              </a:rPr>
              <a:t>relative error, as well as the boundary of the relative error, are abstract numbers independent of the units in which the measurement results are expressed.</a:t>
            </a:r>
          </a:p>
        </p:txBody>
      </p:sp>
    </p:spTree>
    <p:extLst>
      <p:ext uri="{BB962C8B-B14F-4D97-AF65-F5344CB8AC3E}">
        <p14:creationId xmlns:p14="http://schemas.microsoft.com/office/powerpoint/2010/main" val="2146926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990328" y="556487"/>
            <a:ext cx="9144170" cy="707886"/>
          </a:xfrm>
          <a:prstGeom prst="rect">
            <a:avLst/>
          </a:prstGeom>
        </p:spPr>
        <p:txBody>
          <a:bodyPr wrap="none">
            <a:spAutoFit/>
          </a:bodyPr>
          <a:lstStyle/>
          <a:p>
            <a:r>
              <a:rPr lang="en-US" sz="4000" b="1" dirty="0">
                <a:latin typeface="Times New Roman" panose="02020603050405020304" pitchFamily="18" charset="0"/>
                <a:cs typeface="Times New Roman" panose="02020603050405020304" pitchFamily="18" charset="0"/>
              </a:rPr>
              <a:t>Significant and correct </a:t>
            </a:r>
            <a:r>
              <a:rPr lang="en-US" sz="4000" b="1" dirty="0" smtClean="0">
                <a:latin typeface="Times New Roman" panose="02020603050405020304" pitchFamily="18" charset="0"/>
                <a:cs typeface="Times New Roman" panose="02020603050405020304" pitchFamily="18" charset="0"/>
              </a:rPr>
              <a:t>digits</a:t>
            </a:r>
            <a:r>
              <a:rPr lang="ru-RU" sz="4000" b="1" dirty="0" smtClean="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of numbers</a:t>
            </a:r>
            <a:endParaRPr lang="en-US" sz="40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685800" y="1713636"/>
            <a:ext cx="10801350" cy="4524315"/>
          </a:xfrm>
          <a:prstGeom prst="rect">
            <a:avLst/>
          </a:prstGeom>
        </p:spPr>
        <p:txBody>
          <a:bodyPr wrap="square">
            <a:spAutoFit/>
          </a:bodyPr>
          <a:lstStyle/>
          <a:p>
            <a:pPr indent="723900" algn="just"/>
            <a:r>
              <a:rPr lang="en-US" sz="3600" dirty="0">
                <a:latin typeface="Times New Roman" panose="02020603050405020304" pitchFamily="18" charset="0"/>
                <a:cs typeface="Times New Roman" panose="02020603050405020304" pitchFamily="18" charset="0"/>
              </a:rPr>
              <a:t>In decimal notation of approximate numbers, a </a:t>
            </a:r>
            <a:r>
              <a:rPr lang="en-US" sz="3600" b="1" dirty="0">
                <a:latin typeface="Times New Roman" panose="02020603050405020304" pitchFamily="18" charset="0"/>
                <a:cs typeface="Times New Roman" panose="02020603050405020304" pitchFamily="18" charset="0"/>
              </a:rPr>
              <a:t>significant digit </a:t>
            </a:r>
            <a:r>
              <a:rPr lang="en-US" sz="3600" dirty="0">
                <a:latin typeface="Times New Roman" panose="02020603050405020304" pitchFamily="18" charset="0"/>
                <a:cs typeface="Times New Roman" panose="02020603050405020304" pitchFamily="18" charset="0"/>
              </a:rPr>
              <a:t>is any digit other than zero and zero, if it is contained between significant digits or is a representative of a stored decimal digit. </a:t>
            </a:r>
            <a:endParaRPr lang="ru-RU" sz="3600" dirty="0" smtClean="0">
              <a:latin typeface="Times New Roman" panose="02020603050405020304" pitchFamily="18" charset="0"/>
              <a:cs typeface="Times New Roman" panose="02020603050405020304" pitchFamily="18" charset="0"/>
            </a:endParaRPr>
          </a:p>
          <a:p>
            <a:pPr indent="723900" algn="just"/>
            <a:r>
              <a:rPr lang="en-US" sz="3600" dirty="0" smtClean="0">
                <a:latin typeface="Times New Roman" panose="02020603050405020304" pitchFamily="18" charset="0"/>
                <a:cs typeface="Times New Roman" panose="02020603050405020304" pitchFamily="18" charset="0"/>
              </a:rPr>
              <a:t>For </a:t>
            </a:r>
            <a:r>
              <a:rPr lang="en-US" sz="3600" dirty="0">
                <a:latin typeface="Times New Roman" panose="02020603050405020304" pitchFamily="18" charset="0"/>
                <a:cs typeface="Times New Roman" panose="02020603050405020304" pitchFamily="18" charset="0"/>
              </a:rPr>
              <a:t>example, in the approximate number 0.002080, the last four digits are significant. The first three zeros are insignificant, they serve to establish the </a:t>
            </a:r>
            <a:r>
              <a:rPr lang="en-US" sz="3600" dirty="0" smtClean="0">
                <a:latin typeface="Times New Roman" panose="02020603050405020304" pitchFamily="18" charset="0"/>
                <a:cs typeface="Times New Roman" panose="02020603050405020304" pitchFamily="18" charset="0"/>
              </a:rPr>
              <a:t>positions</a:t>
            </a:r>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of other digits.</a:t>
            </a:r>
          </a:p>
        </p:txBody>
      </p:sp>
    </p:spTree>
    <p:extLst>
      <p:ext uri="{BB962C8B-B14F-4D97-AF65-F5344CB8AC3E}">
        <p14:creationId xmlns:p14="http://schemas.microsoft.com/office/powerpoint/2010/main" val="3247292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333500" y="1943785"/>
            <a:ext cx="10401300" cy="3046988"/>
          </a:xfrm>
          <a:prstGeom prst="rect">
            <a:avLst/>
          </a:prstGeom>
        </p:spPr>
        <p:txBody>
          <a:bodyPr wrap="square">
            <a:spAutoFit/>
          </a:bodyPr>
          <a:lstStyle/>
          <a:p>
            <a:r>
              <a:rPr lang="en-US" sz="3200" b="1" dirty="0">
                <a:latin typeface="Times New Roman" panose="02020603050405020304" pitchFamily="18" charset="0"/>
                <a:cs typeface="Times New Roman" panose="02020603050405020304" pitchFamily="18" charset="0"/>
              </a:rPr>
              <a:t>For example: </a:t>
            </a:r>
            <a:endParaRPr lang="ru-RU" sz="3200" b="1" dirty="0" smtClean="0">
              <a:latin typeface="Times New Roman" panose="02020603050405020304" pitchFamily="18" charset="0"/>
              <a:cs typeface="Times New Roman" panose="02020603050405020304" pitchFamily="18" charset="0"/>
            </a:endParaRPr>
          </a:p>
          <a:p>
            <a:pPr marL="514350" indent="-514350">
              <a:buAutoNum type="alphaLcParenR"/>
            </a:pPr>
            <a:r>
              <a:rPr lang="en-US" sz="3200" dirty="0" smtClean="0">
                <a:latin typeface="Times New Roman" panose="02020603050405020304" pitchFamily="18" charset="0"/>
                <a:cs typeface="Times New Roman" panose="02020603050405020304" pitchFamily="18" charset="0"/>
              </a:rPr>
              <a:t>the </a:t>
            </a:r>
            <a:r>
              <a:rPr lang="en-US" sz="3200" dirty="0">
                <a:latin typeface="Times New Roman" panose="02020603050405020304" pitchFamily="18" charset="0"/>
                <a:cs typeface="Times New Roman" panose="02020603050405020304" pitchFamily="18" charset="0"/>
              </a:rPr>
              <a:t>number 0.01405 has four significant digits: 1,4,0,5</a:t>
            </a:r>
            <a:r>
              <a:rPr lang="en-US" sz="3200" dirty="0" smtClean="0">
                <a:latin typeface="Times New Roman" panose="02020603050405020304" pitchFamily="18" charset="0"/>
                <a:cs typeface="Times New Roman" panose="02020603050405020304" pitchFamily="18" charset="0"/>
              </a:rPr>
              <a:t>;</a:t>
            </a:r>
            <a:endParaRPr lang="ru-RU" sz="3200" dirty="0" smtClean="0">
              <a:latin typeface="Times New Roman" panose="02020603050405020304" pitchFamily="18" charset="0"/>
              <a:cs typeface="Times New Roman" panose="02020603050405020304" pitchFamily="18" charset="0"/>
            </a:endParaRPr>
          </a:p>
          <a:p>
            <a:pPr marL="514350" indent="-514350">
              <a:buFontTx/>
              <a:buAutoNum type="alphaLcParenR"/>
            </a:pPr>
            <a:r>
              <a:rPr lang="en-US" sz="3200" dirty="0">
                <a:latin typeface="Times New Roman" panose="02020603050405020304" pitchFamily="18" charset="0"/>
                <a:cs typeface="Times New Roman" panose="02020603050405020304" pitchFamily="18" charset="0"/>
              </a:rPr>
              <a:t>the number </a:t>
            </a:r>
            <a:r>
              <a:rPr lang="en-US" sz="3200" dirty="0" smtClean="0">
                <a:latin typeface="Times New Roman" panose="02020603050405020304" pitchFamily="18" charset="0"/>
                <a:cs typeface="Times New Roman" panose="02020603050405020304" pitchFamily="18" charset="0"/>
              </a:rPr>
              <a:t>0.01405</a:t>
            </a:r>
            <a:r>
              <a:rPr lang="ru-RU" sz="3200" dirty="0" smtClean="0">
                <a:latin typeface="Times New Roman" panose="02020603050405020304" pitchFamily="18" charset="0"/>
                <a:cs typeface="Times New Roman" panose="02020603050405020304" pitchFamily="18" charset="0"/>
              </a:rPr>
              <a:t>0</a:t>
            </a: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has four significant digits: </a:t>
            </a:r>
            <a:r>
              <a:rPr lang="en-US" sz="3200" dirty="0" smtClean="0">
                <a:latin typeface="Times New Roman" panose="02020603050405020304" pitchFamily="18" charset="0"/>
                <a:cs typeface="Times New Roman" panose="02020603050405020304" pitchFamily="18" charset="0"/>
              </a:rPr>
              <a:t>1,4,0,5</a:t>
            </a:r>
            <a:r>
              <a:rPr lang="ru-RU" sz="3200" dirty="0" smtClean="0">
                <a:latin typeface="Times New Roman" panose="02020603050405020304" pitchFamily="18" charset="0"/>
                <a:cs typeface="Times New Roman" panose="02020603050405020304" pitchFamily="18" charset="0"/>
              </a:rPr>
              <a:t>,0</a:t>
            </a:r>
            <a:r>
              <a:rPr lang="en-US" sz="3200" dirty="0" smtClean="0">
                <a:latin typeface="Times New Roman" panose="02020603050405020304" pitchFamily="18" charset="0"/>
                <a:cs typeface="Times New Roman" panose="02020603050405020304" pitchFamily="18" charset="0"/>
              </a:rPr>
              <a:t>;</a:t>
            </a:r>
            <a:endParaRPr lang="ru-RU" sz="3200" dirty="0" smtClean="0">
              <a:latin typeface="Times New Roman" panose="02020603050405020304" pitchFamily="18" charset="0"/>
              <a:cs typeface="Times New Roman" panose="02020603050405020304" pitchFamily="18" charset="0"/>
            </a:endParaRPr>
          </a:p>
          <a:p>
            <a:pPr marL="514350" indent="-514350">
              <a:buFontTx/>
              <a:buAutoNum type="alphaLcParenR"/>
            </a:pPr>
            <a:r>
              <a:rPr lang="en-US" sz="3200" dirty="0">
                <a:latin typeface="Times New Roman" panose="02020603050405020304" pitchFamily="18" charset="0"/>
                <a:cs typeface="Times New Roman" panose="02020603050405020304" pitchFamily="18" charset="0"/>
              </a:rPr>
              <a:t>the number </a:t>
            </a:r>
            <a:r>
              <a:rPr lang="en-US" sz="3200" dirty="0" smtClean="0">
                <a:latin typeface="Times New Roman" panose="02020603050405020304" pitchFamily="18" charset="0"/>
                <a:cs typeface="Times New Roman" panose="02020603050405020304" pitchFamily="18" charset="0"/>
              </a:rPr>
              <a:t>1405</a:t>
            </a:r>
            <a:r>
              <a:rPr lang="ru-RU" sz="3200" dirty="0" smtClean="0">
                <a:latin typeface="Times New Roman" panose="02020603050405020304" pitchFamily="18" charset="0"/>
                <a:cs typeface="Times New Roman" panose="02020603050405020304" pitchFamily="18" charset="0"/>
              </a:rPr>
              <a:t>,00</a:t>
            </a:r>
            <a:r>
              <a:rPr lang="en-US" sz="3200" dirty="0" smtClean="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has four significant digits: </a:t>
            </a:r>
            <a:r>
              <a:rPr lang="en-US" sz="3200" dirty="0" smtClean="0">
                <a:latin typeface="Times New Roman" panose="02020603050405020304" pitchFamily="18" charset="0"/>
                <a:cs typeface="Times New Roman" panose="02020603050405020304" pitchFamily="18" charset="0"/>
              </a:rPr>
              <a:t>1,4,0,5</a:t>
            </a:r>
            <a:r>
              <a:rPr lang="ru-RU" sz="3200" dirty="0" smtClean="0">
                <a:latin typeface="Times New Roman" panose="02020603050405020304" pitchFamily="18" charset="0"/>
                <a:cs typeface="Times New Roman" panose="02020603050405020304" pitchFamily="18" charset="0"/>
              </a:rPr>
              <a:t>,0,0.</a:t>
            </a:r>
            <a:endParaRPr lang="ru-RU" sz="3200" dirty="0">
              <a:latin typeface="Times New Roman" panose="02020603050405020304" pitchFamily="18" charset="0"/>
              <a:cs typeface="Times New Roman" panose="02020603050405020304" pitchFamily="18" charset="0"/>
            </a:endParaRPr>
          </a:p>
          <a:p>
            <a:pPr marL="514350" indent="-514350">
              <a:buFontTx/>
              <a:buAutoNum type="alphaLcParenR"/>
            </a:pPr>
            <a:endParaRPr lang="ru-RU" sz="3200" dirty="0">
              <a:latin typeface="Times New Roman" panose="02020603050405020304" pitchFamily="18" charset="0"/>
              <a:cs typeface="Times New Roman" panose="02020603050405020304" pitchFamily="18" charset="0"/>
            </a:endParaRPr>
          </a:p>
          <a:p>
            <a:pPr marL="514350" indent="-514350">
              <a:buAutoNum type="alphaLcParenR"/>
            </a:pP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7213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81050" y="818286"/>
            <a:ext cx="10820400" cy="4401205"/>
          </a:xfrm>
          <a:prstGeom prst="rect">
            <a:avLst/>
          </a:prstGeom>
        </p:spPr>
        <p:txBody>
          <a:bodyPr wrap="square">
            <a:spAutoFit/>
          </a:bodyPr>
          <a:lstStyle/>
          <a:p>
            <a:pPr indent="723900" algn="just"/>
            <a:r>
              <a:rPr lang="en-US" sz="4000" dirty="0">
                <a:latin typeface="Times New Roman" panose="02020603050405020304" pitchFamily="18" charset="0"/>
                <a:cs typeface="Times New Roman" panose="02020603050405020304" pitchFamily="18" charset="0"/>
              </a:rPr>
              <a:t>The first n significant digits of an approximate number are called </a:t>
            </a:r>
            <a:r>
              <a:rPr lang="en-US" sz="4000" b="1" dirty="0">
                <a:latin typeface="Times New Roman" panose="02020603050405020304" pitchFamily="18" charset="0"/>
                <a:cs typeface="Times New Roman" panose="02020603050405020304" pitchFamily="18" charset="0"/>
              </a:rPr>
              <a:t>correct</a:t>
            </a:r>
            <a:r>
              <a:rPr lang="en-US" sz="4000" dirty="0">
                <a:latin typeface="Times New Roman" panose="02020603050405020304" pitchFamily="18" charset="0"/>
                <a:cs typeface="Times New Roman" panose="02020603050405020304" pitchFamily="18" charset="0"/>
              </a:rPr>
              <a:t> if the absolute error of this number does not exceed half of the unit of the digit expressed by the </a:t>
            </a:r>
            <a:r>
              <a:rPr lang="en-US" sz="4000" dirty="0" smtClean="0">
                <a:latin typeface="Times New Roman" panose="02020603050405020304" pitchFamily="18" charset="0"/>
                <a:cs typeface="Times New Roman" panose="02020603050405020304" pitchFamily="18" charset="0"/>
              </a:rPr>
              <a:t>n</a:t>
            </a:r>
            <a:r>
              <a:rPr lang="ru-RU" sz="4000" dirty="0" smtClean="0">
                <a:latin typeface="Times New Roman" panose="02020603050405020304" pitchFamily="18" charset="0"/>
                <a:cs typeface="Times New Roman" panose="02020603050405020304" pitchFamily="18" charset="0"/>
              </a:rPr>
              <a:t>-</a:t>
            </a:r>
            <a:r>
              <a:rPr lang="en-US" sz="4000" dirty="0" err="1" smtClean="0">
                <a:latin typeface="Times New Roman" panose="02020603050405020304" pitchFamily="18" charset="0"/>
                <a:cs typeface="Times New Roman" panose="02020603050405020304" pitchFamily="18" charset="0"/>
              </a:rPr>
              <a:t>th</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significant digit, counting from left to right. Thus, the number of correct digits (or the number of correct signs) in an approximate number is closely related to its error.</a:t>
            </a:r>
          </a:p>
        </p:txBody>
      </p:sp>
    </p:spTree>
    <p:extLst>
      <p:ext uri="{BB962C8B-B14F-4D97-AF65-F5344CB8AC3E}">
        <p14:creationId xmlns:p14="http://schemas.microsoft.com/office/powerpoint/2010/main" val="3227556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257300" y="2243435"/>
            <a:ext cx="10325100" cy="1384995"/>
          </a:xfrm>
          <a:prstGeom prst="rect">
            <a:avLst/>
          </a:prstGeom>
        </p:spPr>
        <p:txBody>
          <a:bodyPr wrap="square">
            <a:spAutoFit/>
          </a:bodyPr>
          <a:lstStyle/>
          <a:p>
            <a:pPr indent="723900"/>
            <a:r>
              <a:rPr lang="en-US" sz="2800" i="1" dirty="0">
                <a:latin typeface="Times New Roman" panose="02020603050405020304" pitchFamily="18" charset="0"/>
                <a:cs typeface="Times New Roman" panose="02020603050405020304" pitchFamily="18" charset="0"/>
              </a:rPr>
              <a:t>For example</a:t>
            </a:r>
            <a:r>
              <a:rPr lang="en-US" sz="2800" dirty="0">
                <a:latin typeface="Times New Roman" panose="02020603050405020304" pitchFamily="18" charset="0"/>
                <a:cs typeface="Times New Roman" panose="02020603050405020304" pitchFamily="18" charset="0"/>
              </a:rPr>
              <a:t>, with an absolute error of 0.03, the approximate number 36.00 has three correct signs, and with an absolute error of 0.003 - four correct signs.</a:t>
            </a:r>
          </a:p>
        </p:txBody>
      </p:sp>
    </p:spTree>
    <p:extLst>
      <p:ext uri="{BB962C8B-B14F-4D97-AF65-F5344CB8AC3E}">
        <p14:creationId xmlns:p14="http://schemas.microsoft.com/office/powerpoint/2010/main" val="4132175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165623" y="863084"/>
            <a:ext cx="7943072" cy="523220"/>
          </a:xfrm>
          <a:prstGeom prst="rect">
            <a:avLst/>
          </a:prstGeom>
        </p:spPr>
        <p:txBody>
          <a:bodyPr wrap="none">
            <a:spAutoFit/>
          </a:bodyPr>
          <a:lstStyle/>
          <a:p>
            <a:r>
              <a:rPr lang="en-US" sz="2800" b="1" dirty="0">
                <a:latin typeface="Times New Roman" panose="02020603050405020304" pitchFamily="18" charset="0"/>
                <a:cs typeface="Times New Roman" panose="02020603050405020304" pitchFamily="18" charset="0"/>
              </a:rPr>
              <a:t>The following theorem exists and has been </a:t>
            </a:r>
            <a:r>
              <a:rPr lang="en-US" sz="2800" b="1" dirty="0" smtClean="0">
                <a:latin typeface="Times New Roman" panose="02020603050405020304" pitchFamily="18" charset="0"/>
                <a:cs typeface="Times New Roman" panose="02020603050405020304" pitchFamily="18" charset="0"/>
              </a:rPr>
              <a:t>proved</a:t>
            </a:r>
            <a:r>
              <a:rPr lang="ru-RU" sz="2800" b="1" dirty="0" smtClean="0">
                <a:latin typeface="Times New Roman" panose="02020603050405020304" pitchFamily="18" charset="0"/>
                <a:cs typeface="Times New Roman" panose="02020603050405020304" pitchFamily="18" charset="0"/>
              </a:rPr>
              <a:t>:</a:t>
            </a:r>
            <a:endParaRPr lang="en-US" sz="28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419100" y="1748135"/>
            <a:ext cx="11144250" cy="1384995"/>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if the positive approximate number a has n correct decimal places, then the relative error </a:t>
            </a:r>
            <a:r>
              <a:rPr lang="ru-RU" sz="2800"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of </a:t>
            </a:r>
            <a:r>
              <a:rPr lang="en-US" sz="2800" dirty="0">
                <a:latin typeface="Times New Roman" panose="02020603050405020304" pitchFamily="18" charset="0"/>
                <a:cs typeface="Times New Roman" panose="02020603050405020304" pitchFamily="18" charset="0"/>
              </a:rPr>
              <a:t>this number does not </a:t>
            </a:r>
            <a:r>
              <a:rPr lang="en-US" sz="2800" dirty="0" smtClean="0">
                <a:latin typeface="Times New Roman" panose="02020603050405020304" pitchFamily="18" charset="0"/>
                <a:cs typeface="Times New Roman" panose="02020603050405020304" pitchFamily="18" charset="0"/>
              </a:rPr>
              <a:t>exceed</a:t>
            </a:r>
            <a:r>
              <a:rPr lang="ru-RU" sz="2800" dirty="0" smtClean="0">
                <a:latin typeface="Times New Roman" panose="02020603050405020304" pitchFamily="18" charset="0"/>
                <a:cs typeface="Times New Roman" panose="02020603050405020304" pitchFamily="18" charset="0"/>
              </a:rPr>
              <a:t>                </a:t>
            </a:r>
            <a:r>
              <a:rPr lang="ru-RU" sz="2800" dirty="0">
                <a:latin typeface="Times New Roman" panose="02020603050405020304" pitchFamily="18" charset="0"/>
                <a:cs typeface="Times New Roman" panose="02020603050405020304" pitchFamily="18" charset="0"/>
              </a:rPr>
              <a:t> </a:t>
            </a:r>
            <a:r>
              <a:rPr lang="ru-RU" sz="2800"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where </a:t>
            </a:r>
            <a:r>
              <a:rPr lang="ru-RU" sz="2800" dirty="0" smtClean="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is the first significant digit of this number:</a:t>
            </a:r>
          </a:p>
        </p:txBody>
      </p:sp>
      <p:pic>
        <p:nvPicPr>
          <p:cNvPr id="6"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54483" t="48840" r="44526" b="48457"/>
          <a:stretch/>
        </p:blipFill>
        <p:spPr bwMode="auto">
          <a:xfrm>
            <a:off x="2590800" y="2247900"/>
            <a:ext cx="285750" cy="43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46811" t="51381" r="47899" b="45563"/>
          <a:stretch/>
        </p:blipFill>
        <p:spPr bwMode="auto">
          <a:xfrm>
            <a:off x="7584695" y="2190749"/>
            <a:ext cx="15240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55407" t="51733" r="42477" b="45094"/>
          <a:stretch/>
        </p:blipFill>
        <p:spPr bwMode="auto">
          <a:xfrm>
            <a:off x="10210800" y="2275761"/>
            <a:ext cx="609600"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45159" t="57492" r="35666" b="37807"/>
          <a:stretch/>
        </p:blipFill>
        <p:spPr bwMode="auto">
          <a:xfrm>
            <a:off x="2822195" y="3494961"/>
            <a:ext cx="55245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Прямоугольник 9"/>
          <p:cNvSpPr/>
          <p:nvPr/>
        </p:nvSpPr>
        <p:spPr>
          <a:xfrm>
            <a:off x="1165622" y="4642305"/>
            <a:ext cx="10169127" cy="523220"/>
          </a:xfrm>
          <a:prstGeom prst="rect">
            <a:avLst/>
          </a:prstGeom>
        </p:spPr>
        <p:txBody>
          <a:bodyPr wrap="square">
            <a:spAutoFit/>
          </a:bodyPr>
          <a:lstStyle/>
          <a:p>
            <a:r>
              <a:rPr lang="en-US" sz="2800" dirty="0">
                <a:latin typeface="Times New Roman" panose="02020603050405020304" pitchFamily="18" charset="0"/>
                <a:cs typeface="Times New Roman" panose="02020603050405020304" pitchFamily="18" charset="0"/>
              </a:rPr>
              <a:t>The right-hand side (6) can be taken as the ultimate relative error.</a:t>
            </a:r>
          </a:p>
        </p:txBody>
      </p:sp>
    </p:spTree>
    <p:extLst>
      <p:ext uri="{BB962C8B-B14F-4D97-AF65-F5344CB8AC3E}">
        <p14:creationId xmlns:p14="http://schemas.microsoft.com/office/powerpoint/2010/main" val="2233391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3801506" y="767834"/>
            <a:ext cx="4419800" cy="707886"/>
          </a:xfrm>
          <a:prstGeom prst="rect">
            <a:avLst/>
          </a:prstGeom>
        </p:spPr>
        <p:txBody>
          <a:bodyPr wrap="none">
            <a:spAutoFit/>
          </a:bodyPr>
          <a:lstStyle/>
          <a:p>
            <a:r>
              <a:rPr lang="en-US" sz="4000" b="1" dirty="0">
                <a:latin typeface="Times New Roman" panose="02020603050405020304" pitchFamily="18" charset="0"/>
                <a:cs typeface="Times New Roman" panose="02020603050405020304" pitchFamily="18" charset="0"/>
              </a:rPr>
              <a:t>Rounding numbers</a:t>
            </a:r>
          </a:p>
        </p:txBody>
      </p:sp>
      <p:sp>
        <p:nvSpPr>
          <p:cNvPr id="5" name="Прямоугольник 4"/>
          <p:cNvSpPr/>
          <p:nvPr/>
        </p:nvSpPr>
        <p:spPr>
          <a:xfrm>
            <a:off x="1066800" y="2066836"/>
            <a:ext cx="10306050" cy="3170099"/>
          </a:xfrm>
          <a:prstGeom prst="rect">
            <a:avLst/>
          </a:prstGeom>
        </p:spPr>
        <p:txBody>
          <a:bodyPr wrap="square">
            <a:spAutoFit/>
          </a:bodyPr>
          <a:lstStyle/>
          <a:p>
            <a:pPr indent="723900" algn="just"/>
            <a:r>
              <a:rPr lang="en-US" sz="4000" dirty="0">
                <a:latin typeface="Times New Roman" panose="02020603050405020304" pitchFamily="18" charset="0"/>
                <a:cs typeface="Times New Roman" panose="02020603050405020304" pitchFamily="18" charset="0"/>
              </a:rPr>
              <a:t>The accuracy of an approximate number does not depend on the number of significant digits, but on the number of correct ones. The presence of many incorrect digits leads to lengthening of records and an increase in calculation time.</a:t>
            </a:r>
          </a:p>
        </p:txBody>
      </p:sp>
    </p:spTree>
    <p:extLst>
      <p:ext uri="{BB962C8B-B14F-4D97-AF65-F5344CB8AC3E}">
        <p14:creationId xmlns:p14="http://schemas.microsoft.com/office/powerpoint/2010/main" val="2889339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1200150" y="1008786"/>
            <a:ext cx="9772650" cy="4524315"/>
          </a:xfrm>
          <a:prstGeom prst="rect">
            <a:avLst/>
          </a:prstGeom>
        </p:spPr>
        <p:txBody>
          <a:bodyPr wrap="square">
            <a:spAutoFit/>
          </a:bodyPr>
          <a:lstStyle/>
          <a:p>
            <a:pPr indent="723900" algn="just"/>
            <a:r>
              <a:rPr lang="en-US" sz="3600" dirty="0">
                <a:latin typeface="Times New Roman" panose="02020603050405020304" pitchFamily="18" charset="0"/>
                <a:cs typeface="Times New Roman" panose="02020603050405020304" pitchFamily="18" charset="0"/>
              </a:rPr>
              <a:t>To eliminate these disadvantages, </a:t>
            </a:r>
            <a:r>
              <a:rPr lang="en-US" sz="3600" dirty="0" smtClean="0">
                <a:latin typeface="Times New Roman" panose="02020603050405020304" pitchFamily="18" charset="0"/>
                <a:cs typeface="Times New Roman" panose="02020603050405020304" pitchFamily="18" charset="0"/>
              </a:rPr>
              <a:t>researchers </a:t>
            </a:r>
            <a:r>
              <a:rPr lang="en-US" sz="3600" dirty="0">
                <a:latin typeface="Times New Roman" panose="02020603050405020304" pitchFamily="18" charset="0"/>
                <a:cs typeface="Times New Roman" panose="02020603050405020304" pitchFamily="18" charset="0"/>
              </a:rPr>
              <a:t>resort to replacing the approximate number with a number with fewer significant digits. This can be done by rounding, for example, simply discarding some of the incorrect significant digits or replacing them with zeros to preserve the digits. However, special rounding rules are used to obtain the minimum error.</a:t>
            </a:r>
          </a:p>
        </p:txBody>
      </p:sp>
    </p:spTree>
    <p:extLst>
      <p:ext uri="{BB962C8B-B14F-4D97-AF65-F5344CB8AC3E}">
        <p14:creationId xmlns:p14="http://schemas.microsoft.com/office/powerpoint/2010/main" val="10131254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81050" y="903238"/>
            <a:ext cx="10915650" cy="4031873"/>
          </a:xfrm>
          <a:prstGeom prst="rect">
            <a:avLst/>
          </a:prstGeom>
        </p:spPr>
        <p:txBody>
          <a:bodyPr wrap="square">
            <a:spAutoFit/>
          </a:bodyPr>
          <a:lstStyle/>
          <a:p>
            <a:pPr indent="723900" algn="just"/>
            <a:r>
              <a:rPr lang="en-US" sz="3200" b="1" dirty="0">
                <a:latin typeface="Times New Roman" panose="02020603050405020304" pitchFamily="18" charset="0"/>
                <a:cs typeface="Times New Roman" panose="02020603050405020304" pitchFamily="18" charset="0"/>
              </a:rPr>
              <a:t>Rounding rules. </a:t>
            </a:r>
            <a:r>
              <a:rPr lang="en-US" sz="3200" dirty="0">
                <a:latin typeface="Times New Roman" panose="02020603050405020304" pitchFamily="18" charset="0"/>
                <a:cs typeface="Times New Roman" panose="02020603050405020304" pitchFamily="18" charset="0"/>
              </a:rPr>
              <a:t>If less than half of the unit of the last stored digit is discarded during rounding, then the digits in all stored digits are left unchanged, </a:t>
            </a:r>
            <a:r>
              <a:rPr lang="en-US" sz="3200" dirty="0" smtClean="0">
                <a:latin typeface="Times New Roman" panose="02020603050405020304" pitchFamily="18" charset="0"/>
                <a:cs typeface="Times New Roman" panose="02020603050405020304" pitchFamily="18" charset="0"/>
              </a:rPr>
              <a:t>if there are </a:t>
            </a:r>
            <a:r>
              <a:rPr lang="en-US" sz="3200" dirty="0">
                <a:latin typeface="Times New Roman" panose="02020603050405020304" pitchFamily="18" charset="0"/>
                <a:cs typeface="Times New Roman" panose="02020603050405020304" pitchFamily="18" charset="0"/>
              </a:rPr>
              <a:t>more than the specified half, then the last stored digit is increased by 1. If the discarded part is exactly equal to the specified half, then </a:t>
            </a:r>
            <a:r>
              <a:rPr lang="en-US" sz="3200" b="1" i="1" dirty="0">
                <a:latin typeface="Times New Roman" panose="02020603050405020304" pitchFamily="18" charset="0"/>
                <a:cs typeface="Times New Roman" panose="02020603050405020304" pitchFamily="18" charset="0"/>
              </a:rPr>
              <a:t>the even digit rule </a:t>
            </a:r>
            <a:r>
              <a:rPr lang="en-US" sz="3200" dirty="0">
                <a:latin typeface="Times New Roman" panose="02020603050405020304" pitchFamily="18" charset="0"/>
                <a:cs typeface="Times New Roman" panose="02020603050405020304" pitchFamily="18" charset="0"/>
              </a:rPr>
              <a:t>is applied - the last stored digit is left unchanged, if it is even, and increase by 1 if it is odd. The error of such rounding does not exceed 1/2 decimal place of the last digit left.</a:t>
            </a:r>
          </a:p>
        </p:txBody>
      </p:sp>
    </p:spTree>
    <p:extLst>
      <p:ext uri="{BB962C8B-B14F-4D97-AF65-F5344CB8AC3E}">
        <p14:creationId xmlns:p14="http://schemas.microsoft.com/office/powerpoint/2010/main" val="921571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03563" y="1505772"/>
            <a:ext cx="10501745" cy="3970318"/>
          </a:xfrm>
          <a:prstGeom prst="rect">
            <a:avLst/>
          </a:prstGeom>
        </p:spPr>
        <p:txBody>
          <a:bodyPr wrap="square">
            <a:spAutoFit/>
          </a:bodyPr>
          <a:lstStyle/>
          <a:p>
            <a:pPr indent="727075" algn="just"/>
            <a:r>
              <a:rPr lang="ru-RU" sz="3600" dirty="0" err="1">
                <a:latin typeface="Times New Roman" panose="02020603050405020304" pitchFamily="18" charset="0"/>
                <a:cs typeface="Times New Roman" panose="02020603050405020304" pitchFamily="18" charset="0"/>
              </a:rPr>
              <a:t>When</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performing</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approximate</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calculations</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the</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number</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of</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significant</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digits</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of</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intermediate</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results</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should</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not</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exceed</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the</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number</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of</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correct</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digits</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by</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more</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than</a:t>
            </a:r>
            <a:r>
              <a:rPr lang="ru-RU" sz="3600" dirty="0">
                <a:latin typeface="Times New Roman" panose="02020603050405020304" pitchFamily="18" charset="0"/>
                <a:cs typeface="Times New Roman" panose="02020603050405020304" pitchFamily="18" charset="0"/>
              </a:rPr>
              <a:t> 1 </a:t>
            </a:r>
            <a:r>
              <a:rPr lang="ru-RU" sz="3600" dirty="0" err="1">
                <a:latin typeface="Times New Roman" panose="02020603050405020304" pitchFamily="18" charset="0"/>
                <a:cs typeface="Times New Roman" panose="02020603050405020304" pitchFamily="18" charset="0"/>
              </a:rPr>
              <a:t>or</a:t>
            </a:r>
            <a:r>
              <a:rPr lang="ru-RU" sz="3600" dirty="0">
                <a:latin typeface="Times New Roman" panose="02020603050405020304" pitchFamily="18" charset="0"/>
                <a:cs typeface="Times New Roman" panose="02020603050405020304" pitchFamily="18" charset="0"/>
              </a:rPr>
              <a:t> 2. </a:t>
            </a:r>
            <a:endParaRPr lang="ru-RU" sz="3600" dirty="0" smtClean="0">
              <a:latin typeface="Times New Roman" panose="02020603050405020304" pitchFamily="18" charset="0"/>
              <a:cs typeface="Times New Roman" panose="02020603050405020304" pitchFamily="18" charset="0"/>
            </a:endParaRPr>
          </a:p>
          <a:p>
            <a:pPr indent="727075" algn="just"/>
            <a:r>
              <a:rPr lang="ru-RU" sz="3600" dirty="0" err="1" smtClean="0">
                <a:latin typeface="Times New Roman" panose="02020603050405020304" pitchFamily="18" charset="0"/>
                <a:cs typeface="Times New Roman" panose="02020603050405020304" pitchFamily="18" charset="0"/>
              </a:rPr>
              <a:t>These</a:t>
            </a:r>
            <a:r>
              <a:rPr lang="ru-RU" sz="3600" dirty="0" smtClean="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rules</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allow</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you</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to</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avoid</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writing</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unnecessary</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digits</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without</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compromising</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the</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accuracy</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of</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calculations</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and</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save</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calculation</a:t>
            </a:r>
            <a:r>
              <a:rPr lang="ru-RU" sz="3600" dirty="0">
                <a:latin typeface="Times New Roman" panose="02020603050405020304" pitchFamily="18" charset="0"/>
                <a:cs typeface="Times New Roman" panose="02020603050405020304" pitchFamily="18" charset="0"/>
              </a:rPr>
              <a:t> </a:t>
            </a:r>
            <a:r>
              <a:rPr lang="ru-RU" sz="3600" dirty="0" err="1">
                <a:latin typeface="Times New Roman" panose="02020603050405020304" pitchFamily="18" charset="0"/>
                <a:cs typeface="Times New Roman" panose="02020603050405020304" pitchFamily="18" charset="0"/>
              </a:rPr>
              <a:t>time</a:t>
            </a:r>
            <a:r>
              <a:rPr lang="ru-RU" sz="3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15696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2888573" y="771297"/>
            <a:ext cx="7165423" cy="646331"/>
          </a:xfrm>
          <a:prstGeom prst="rect">
            <a:avLst/>
          </a:prstGeom>
        </p:spPr>
        <p:txBody>
          <a:bodyPr wrap="none">
            <a:spAutoFit/>
          </a:bodyPr>
          <a:lstStyle/>
          <a:p>
            <a:r>
              <a:rPr lang="ru-RU" sz="3600" b="1" dirty="0" err="1">
                <a:latin typeface="Times New Roman" panose="02020603050405020304" pitchFamily="18" charset="0"/>
                <a:cs typeface="Times New Roman" panose="02020603050405020304" pitchFamily="18" charset="0"/>
              </a:rPr>
              <a:t>Errors</a:t>
            </a:r>
            <a:r>
              <a:rPr lang="ru-RU" sz="3600" b="1" dirty="0">
                <a:latin typeface="Times New Roman" panose="02020603050405020304" pitchFamily="18" charset="0"/>
                <a:cs typeface="Times New Roman" panose="02020603050405020304" pitchFamily="18" charset="0"/>
              </a:rPr>
              <a:t> </a:t>
            </a:r>
            <a:r>
              <a:rPr lang="ru-RU" sz="3600" b="1" dirty="0" err="1">
                <a:latin typeface="Times New Roman" panose="02020603050405020304" pitchFamily="18" charset="0"/>
                <a:cs typeface="Times New Roman" panose="02020603050405020304" pitchFamily="18" charset="0"/>
              </a:rPr>
              <a:t>of</a:t>
            </a:r>
            <a:r>
              <a:rPr lang="ru-RU" sz="3600" b="1" dirty="0">
                <a:latin typeface="Times New Roman" panose="02020603050405020304" pitchFamily="18" charset="0"/>
                <a:cs typeface="Times New Roman" panose="02020603050405020304" pitchFamily="18" charset="0"/>
              </a:rPr>
              <a:t> </a:t>
            </a:r>
            <a:r>
              <a:rPr lang="ru-RU" sz="3600" b="1" dirty="0" err="1">
                <a:latin typeface="Times New Roman" panose="02020603050405020304" pitchFamily="18" charset="0"/>
                <a:cs typeface="Times New Roman" panose="02020603050405020304" pitchFamily="18" charset="0"/>
              </a:rPr>
              <a:t>computational</a:t>
            </a:r>
            <a:r>
              <a:rPr lang="ru-RU" sz="3600" b="1" dirty="0">
                <a:latin typeface="Times New Roman" panose="02020603050405020304" pitchFamily="18" charset="0"/>
                <a:cs typeface="Times New Roman" panose="02020603050405020304" pitchFamily="18" charset="0"/>
              </a:rPr>
              <a:t> </a:t>
            </a:r>
            <a:r>
              <a:rPr lang="ru-RU" sz="3600" b="1" dirty="0" err="1">
                <a:latin typeface="Times New Roman" panose="02020603050405020304" pitchFamily="18" charset="0"/>
                <a:cs typeface="Times New Roman" panose="02020603050405020304" pitchFamily="18" charset="0"/>
              </a:rPr>
              <a:t>operations</a:t>
            </a:r>
            <a:endParaRPr lang="ru-RU" sz="3600" b="1" dirty="0">
              <a:latin typeface="Times New Roman" panose="02020603050405020304" pitchFamily="18" charset="0"/>
              <a:cs typeface="Times New Roman" panose="02020603050405020304" pitchFamily="18" charset="0"/>
            </a:endParaRPr>
          </a:p>
        </p:txBody>
      </p:sp>
      <p:sp>
        <p:nvSpPr>
          <p:cNvPr id="5" name="Прямоугольник 4"/>
          <p:cNvSpPr/>
          <p:nvPr/>
        </p:nvSpPr>
        <p:spPr>
          <a:xfrm>
            <a:off x="512618" y="1642090"/>
            <a:ext cx="10356272" cy="1077218"/>
          </a:xfrm>
          <a:prstGeom prst="rect">
            <a:avLst/>
          </a:prstGeom>
        </p:spPr>
        <p:txBody>
          <a:bodyPr wrap="square">
            <a:spAutoFit/>
          </a:bodyPr>
          <a:lstStyle/>
          <a:p>
            <a:pPr indent="727075" algn="just"/>
            <a:r>
              <a:rPr lang="ru-RU" sz="3200" dirty="0" err="1">
                <a:latin typeface="Times New Roman" panose="02020603050405020304" pitchFamily="18" charset="0"/>
                <a:cs typeface="Times New Roman" panose="02020603050405020304" pitchFamily="18" charset="0"/>
              </a:rPr>
              <a:t>Further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for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brevity</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we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will</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denote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absolute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error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number</a:t>
            </a:r>
            <a:r>
              <a:rPr lang="ru-RU" sz="3200" dirty="0">
                <a:latin typeface="Times New Roman" panose="02020603050405020304" pitchFamily="18" charset="0"/>
                <a:cs typeface="Times New Roman" panose="02020603050405020304" pitchFamily="18" charset="0"/>
              </a:rPr>
              <a:t> a </a:t>
            </a:r>
            <a:r>
              <a:rPr lang="ru-RU" sz="3200" dirty="0" err="1">
                <a:latin typeface="Times New Roman" panose="02020603050405020304" pitchFamily="18" charset="0"/>
                <a:cs typeface="Times New Roman" panose="02020603050405020304" pitchFamily="18" charset="0"/>
              </a:rPr>
              <a:t>as</a:t>
            </a:r>
            <a:r>
              <a:rPr lang="ru-RU" sz="3200" dirty="0">
                <a:latin typeface="Times New Roman" panose="02020603050405020304" pitchFamily="18" charset="0"/>
                <a:cs typeface="Times New Roman" panose="02020603050405020304" pitchFamily="18" charset="0"/>
              </a:rPr>
              <a:t> </a:t>
            </a:r>
            <a:r>
              <a:rPr lang="ru-RU" sz="3200" dirty="0" smtClean="0">
                <a:latin typeface="Times New Roman" panose="02020603050405020304" pitchFamily="18" charset="0"/>
                <a:cs typeface="Times New Roman" panose="02020603050405020304" pitchFamily="18" charset="0"/>
              </a:rPr>
              <a:t>        , </a:t>
            </a:r>
            <a:r>
              <a:rPr lang="ru-RU" sz="3200" dirty="0" err="1">
                <a:latin typeface="Times New Roman" panose="02020603050405020304" pitchFamily="18" charset="0"/>
                <a:cs typeface="Times New Roman" panose="02020603050405020304" pitchFamily="18" charset="0"/>
              </a:rPr>
              <a:t>and</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relative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error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as</a:t>
            </a:r>
            <a:r>
              <a:rPr lang="ru-RU" sz="3200" dirty="0">
                <a:latin typeface="Times New Roman" panose="02020603050405020304" pitchFamily="18" charset="0"/>
                <a:cs typeface="Times New Roman" panose="02020603050405020304" pitchFamily="18" charset="0"/>
              </a:rPr>
              <a:t> </a:t>
            </a:r>
          </a:p>
        </p:txBody>
      </p:sp>
      <p:pic>
        <p:nvPicPr>
          <p:cNvPr id="6"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62245" t="18464" r="36562" b="79264"/>
          <a:stretch/>
        </p:blipFill>
        <p:spPr bwMode="auto">
          <a:xfrm>
            <a:off x="3512128" y="2184201"/>
            <a:ext cx="436417" cy="467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55684" t="21493" r="42186" b="75478"/>
          <a:stretch/>
        </p:blipFill>
        <p:spPr bwMode="auto">
          <a:xfrm>
            <a:off x="8271165" y="2203918"/>
            <a:ext cx="644236" cy="515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Прямоугольник 7"/>
          <p:cNvSpPr/>
          <p:nvPr/>
        </p:nvSpPr>
        <p:spPr>
          <a:xfrm>
            <a:off x="0" y="2874176"/>
            <a:ext cx="7190366" cy="584775"/>
          </a:xfrm>
          <a:prstGeom prst="rect">
            <a:avLst/>
          </a:prstGeom>
        </p:spPr>
        <p:txBody>
          <a:bodyPr wrap="square">
            <a:spAutoFit/>
          </a:bodyPr>
          <a:lstStyle/>
          <a:p>
            <a:pPr indent="727075" algn="just"/>
            <a:r>
              <a:rPr lang="ru-RU" sz="3200" dirty="0">
                <a:latin typeface="Times New Roman" panose="02020603050405020304" pitchFamily="18" charset="0"/>
                <a:cs typeface="Times New Roman" panose="02020603050405020304" pitchFamily="18" charset="0"/>
              </a:rPr>
              <a:t>1. </a:t>
            </a:r>
            <a:r>
              <a:rPr lang="ru-RU" sz="3200" dirty="0" err="1">
                <a:latin typeface="Times New Roman" panose="02020603050405020304" pitchFamily="18" charset="0"/>
                <a:cs typeface="Times New Roman" panose="02020603050405020304" pitchFamily="18" charset="0"/>
              </a:rPr>
              <a:t>The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error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summation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numbers</a:t>
            </a:r>
            <a:endParaRPr lang="ru-RU" sz="3200" dirty="0">
              <a:latin typeface="Times New Roman" panose="02020603050405020304" pitchFamily="18" charset="0"/>
              <a:cs typeface="Times New Roman" panose="02020603050405020304" pitchFamily="18" charset="0"/>
            </a:endParaRPr>
          </a:p>
        </p:txBody>
      </p:sp>
      <p:pic>
        <p:nvPicPr>
          <p:cNvPr id="9"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8387" t="28612" r="53944" b="67753"/>
          <a:stretch/>
        </p:blipFill>
        <p:spPr bwMode="auto">
          <a:xfrm>
            <a:off x="1475508" y="3613819"/>
            <a:ext cx="2112471" cy="563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8302" t="36337" r="40312" b="60482"/>
          <a:stretch/>
        </p:blipFill>
        <p:spPr bwMode="auto">
          <a:xfrm>
            <a:off x="1255048" y="4765717"/>
            <a:ext cx="5216236" cy="436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Прямоугольник 12"/>
          <p:cNvSpPr/>
          <p:nvPr/>
        </p:nvSpPr>
        <p:spPr>
          <a:xfrm>
            <a:off x="1331991" y="4274060"/>
            <a:ext cx="2515432" cy="461665"/>
          </a:xfrm>
          <a:prstGeom prst="rect">
            <a:avLst/>
          </a:prstGeom>
        </p:spPr>
        <p:txBody>
          <a:bodyPr wrap="none">
            <a:spAutoFit/>
          </a:bodyPr>
          <a:lstStyle/>
          <a:p>
            <a:r>
              <a:rPr lang="ru-RU" sz="2400" dirty="0" err="1" smtClean="0">
                <a:latin typeface="Times New Roman" panose="02020603050405020304" pitchFamily="18" charset="0"/>
                <a:cs typeface="Times New Roman" panose="02020603050405020304" pitchFamily="18" charset="0"/>
              </a:rPr>
              <a:t>The</a:t>
            </a:r>
            <a:r>
              <a:rPr lang="ru-RU" sz="2400" dirty="0" smtClean="0">
                <a:latin typeface="Times New Roman" panose="02020603050405020304" pitchFamily="18" charset="0"/>
                <a:cs typeface="Times New Roman" panose="02020603050405020304" pitchFamily="18" charset="0"/>
              </a:rPr>
              <a:t> </a:t>
            </a:r>
            <a:r>
              <a:rPr lang="ru-RU" sz="2400" dirty="0" err="1" smtClean="0">
                <a:latin typeface="Times New Roman" panose="02020603050405020304" pitchFamily="18" charset="0"/>
                <a:cs typeface="Times New Roman" panose="02020603050405020304" pitchFamily="18" charset="0"/>
              </a:rPr>
              <a:t>absolute</a:t>
            </a:r>
            <a:r>
              <a:rPr lang="ru-RU" sz="2400" dirty="0" smtClean="0">
                <a:latin typeface="Times New Roman" panose="02020603050405020304" pitchFamily="18" charset="0"/>
                <a:cs typeface="Times New Roman" panose="02020603050405020304" pitchFamily="18" charset="0"/>
              </a:rPr>
              <a:t> </a:t>
            </a:r>
            <a:r>
              <a:rPr lang="ru-RU" sz="2400" dirty="0" err="1" smtClean="0">
                <a:latin typeface="Times New Roman" panose="02020603050405020304" pitchFamily="18" charset="0"/>
                <a:cs typeface="Times New Roman" panose="02020603050405020304" pitchFamily="18" charset="0"/>
              </a:rPr>
              <a:t>error</a:t>
            </a:r>
            <a:r>
              <a:rPr lang="ru-RU" sz="2400" dirty="0" smtClean="0">
                <a:latin typeface="Times New Roman" panose="02020603050405020304" pitchFamily="18" charset="0"/>
                <a:cs typeface="Times New Roman" panose="02020603050405020304" pitchFamily="18" charset="0"/>
              </a:rPr>
              <a:t> </a:t>
            </a:r>
            <a:endParaRPr lang="ru-RU" sz="2400" dirty="0"/>
          </a:p>
        </p:txBody>
      </p:sp>
      <p:sp>
        <p:nvSpPr>
          <p:cNvPr id="14" name="Прямоугольник 13"/>
          <p:cNvSpPr/>
          <p:nvPr/>
        </p:nvSpPr>
        <p:spPr>
          <a:xfrm>
            <a:off x="1331991" y="5202136"/>
            <a:ext cx="2411238" cy="461665"/>
          </a:xfrm>
          <a:prstGeom prst="rect">
            <a:avLst/>
          </a:prstGeom>
        </p:spPr>
        <p:txBody>
          <a:bodyPr wrap="none">
            <a:spAutoFit/>
          </a:bodyPr>
          <a:lstStyle/>
          <a:p>
            <a:r>
              <a:rPr lang="ru-RU" sz="2400" dirty="0" err="1" smtClean="0">
                <a:latin typeface="Times New Roman" panose="02020603050405020304" pitchFamily="18" charset="0"/>
                <a:cs typeface="Times New Roman" panose="02020603050405020304" pitchFamily="18" charset="0"/>
              </a:rPr>
              <a:t>The</a:t>
            </a:r>
            <a:r>
              <a:rPr lang="ru-RU" sz="2400" dirty="0" smtClean="0">
                <a:latin typeface="Times New Roman" panose="02020603050405020304" pitchFamily="18" charset="0"/>
                <a:cs typeface="Times New Roman" panose="02020603050405020304" pitchFamily="18" charset="0"/>
              </a:rPr>
              <a:t> </a:t>
            </a:r>
            <a:r>
              <a:rPr lang="ru-RU" sz="2400" dirty="0" err="1" smtClean="0">
                <a:latin typeface="Times New Roman" panose="02020603050405020304" pitchFamily="18" charset="0"/>
                <a:cs typeface="Times New Roman" panose="02020603050405020304" pitchFamily="18" charset="0"/>
              </a:rPr>
              <a:t>relative</a:t>
            </a:r>
            <a:r>
              <a:rPr lang="ru-RU" sz="2400" dirty="0" smtClean="0">
                <a:latin typeface="Times New Roman" panose="02020603050405020304" pitchFamily="18" charset="0"/>
                <a:cs typeface="Times New Roman" panose="02020603050405020304" pitchFamily="18" charset="0"/>
              </a:rPr>
              <a:t> </a:t>
            </a:r>
            <a:r>
              <a:rPr lang="ru-RU" sz="2400" dirty="0" err="1" smtClean="0">
                <a:latin typeface="Times New Roman" panose="02020603050405020304" pitchFamily="18" charset="0"/>
                <a:cs typeface="Times New Roman" panose="02020603050405020304" pitchFamily="18" charset="0"/>
              </a:rPr>
              <a:t>error</a:t>
            </a:r>
            <a:r>
              <a:rPr lang="ru-RU" sz="2400" dirty="0" smtClean="0">
                <a:latin typeface="Times New Roman" panose="02020603050405020304" pitchFamily="18" charset="0"/>
                <a:cs typeface="Times New Roman" panose="02020603050405020304" pitchFamily="18" charset="0"/>
              </a:rPr>
              <a:t> </a:t>
            </a:r>
            <a:endParaRPr lang="ru-RU" sz="2400" dirty="0"/>
          </a:p>
        </p:txBody>
      </p:sp>
      <p:pic>
        <p:nvPicPr>
          <p:cNvPr id="15"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7364" t="44062" r="35425" b="48889"/>
          <a:stretch/>
        </p:blipFill>
        <p:spPr bwMode="auto">
          <a:xfrm>
            <a:off x="872837" y="5663801"/>
            <a:ext cx="6636616" cy="967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7087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665181" y="729734"/>
            <a:ext cx="6012159" cy="584775"/>
          </a:xfrm>
          <a:prstGeom prst="rect">
            <a:avLst/>
          </a:prstGeom>
        </p:spPr>
        <p:txBody>
          <a:bodyPr wrap="none">
            <a:spAutoFit/>
          </a:bodyPr>
          <a:lstStyle/>
          <a:p>
            <a:r>
              <a:rPr lang="ru-RU" sz="3200" dirty="0" smtClean="0">
                <a:latin typeface="Times New Roman" panose="02020603050405020304" pitchFamily="18" charset="0"/>
                <a:cs typeface="Times New Roman" panose="02020603050405020304" pitchFamily="18" charset="0"/>
              </a:rPr>
              <a:t>2. </a:t>
            </a:r>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error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subtracting</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numbers</a:t>
            </a:r>
            <a:endParaRPr lang="ru-RU" sz="3200" dirty="0">
              <a:latin typeface="Times New Roman" panose="02020603050405020304" pitchFamily="18" charset="0"/>
              <a:cs typeface="Times New Roman" panose="02020603050405020304" pitchFamily="18" charset="0"/>
            </a:endParaRPr>
          </a:p>
        </p:txBody>
      </p:sp>
      <p:pic>
        <p:nvPicPr>
          <p:cNvPr id="5"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8016" t="24738" r="52929" b="71298"/>
          <a:stretch/>
        </p:blipFill>
        <p:spPr bwMode="auto">
          <a:xfrm>
            <a:off x="6677340" y="729734"/>
            <a:ext cx="2784764"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Прямоугольник 5"/>
          <p:cNvSpPr/>
          <p:nvPr/>
        </p:nvSpPr>
        <p:spPr>
          <a:xfrm>
            <a:off x="812445" y="1655551"/>
            <a:ext cx="3296095" cy="584775"/>
          </a:xfrm>
          <a:prstGeom prst="rect">
            <a:avLst/>
          </a:prstGeom>
        </p:spPr>
        <p:txBody>
          <a:bodyPr wrap="none">
            <a:spAutoFit/>
          </a:bodyPr>
          <a:lstStyle/>
          <a:p>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absolute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error</a:t>
            </a:r>
            <a:r>
              <a:rPr lang="ru-RU" sz="3200" dirty="0" smtClean="0">
                <a:latin typeface="Times New Roman" panose="02020603050405020304" pitchFamily="18" charset="0"/>
                <a:cs typeface="Times New Roman" panose="02020603050405020304" pitchFamily="18" charset="0"/>
              </a:rPr>
              <a:t> </a:t>
            </a:r>
            <a:endParaRPr lang="ru-RU" sz="3200" dirty="0"/>
          </a:p>
        </p:txBody>
      </p:sp>
      <p:pic>
        <p:nvPicPr>
          <p:cNvPr id="7"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8219" t="33386" r="38129" b="63130"/>
          <a:stretch/>
        </p:blipFill>
        <p:spPr bwMode="auto">
          <a:xfrm>
            <a:off x="796086" y="2458258"/>
            <a:ext cx="7273636" cy="602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Прямоугольник 7"/>
          <p:cNvSpPr/>
          <p:nvPr/>
        </p:nvSpPr>
        <p:spPr>
          <a:xfrm>
            <a:off x="812445" y="3278864"/>
            <a:ext cx="3158237" cy="584775"/>
          </a:xfrm>
          <a:prstGeom prst="rect">
            <a:avLst/>
          </a:prstGeom>
        </p:spPr>
        <p:txBody>
          <a:bodyPr wrap="none">
            <a:spAutoFit/>
          </a:bodyPr>
          <a:lstStyle/>
          <a:p>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relative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error</a:t>
            </a:r>
            <a:r>
              <a:rPr lang="ru-RU" sz="3200" dirty="0" smtClean="0">
                <a:latin typeface="Times New Roman" panose="02020603050405020304" pitchFamily="18" charset="0"/>
                <a:cs typeface="Times New Roman" panose="02020603050405020304" pitchFamily="18" charset="0"/>
              </a:rPr>
              <a:t> </a:t>
            </a:r>
            <a:endParaRPr lang="ru-RU" sz="3200" dirty="0"/>
          </a:p>
        </p:txBody>
      </p:sp>
      <p:pic>
        <p:nvPicPr>
          <p:cNvPr id="10"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8219" t="40834" r="35425" b="50293"/>
          <a:stretch/>
        </p:blipFill>
        <p:spPr bwMode="auto">
          <a:xfrm>
            <a:off x="498764" y="3906982"/>
            <a:ext cx="8105486" cy="15349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3186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713206" y="605043"/>
            <a:ext cx="6933886" cy="584775"/>
          </a:xfrm>
          <a:prstGeom prst="rect">
            <a:avLst/>
          </a:prstGeom>
        </p:spPr>
        <p:txBody>
          <a:bodyPr wrap="none">
            <a:spAutoFit/>
          </a:bodyPr>
          <a:lstStyle/>
          <a:p>
            <a:r>
              <a:rPr lang="ru-RU" sz="3200" dirty="0" smtClean="0">
                <a:latin typeface="Times New Roman" panose="02020603050405020304" pitchFamily="18" charset="0"/>
                <a:cs typeface="Times New Roman" panose="02020603050405020304" pitchFamily="18" charset="0"/>
              </a:rPr>
              <a:t>3. </a:t>
            </a:r>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error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multiplication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numbers</a:t>
            </a:r>
            <a:endParaRPr lang="ru-RU" sz="3200" dirty="0">
              <a:latin typeface="Times New Roman" panose="02020603050405020304" pitchFamily="18" charset="0"/>
              <a:cs typeface="Times New Roman" panose="02020603050405020304" pitchFamily="18" charset="0"/>
            </a:endParaRPr>
          </a:p>
        </p:txBody>
      </p:sp>
      <p:pic>
        <p:nvPicPr>
          <p:cNvPr id="5"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37897" t="28757" r="54245" b="68333"/>
          <a:stretch/>
        </p:blipFill>
        <p:spPr bwMode="auto">
          <a:xfrm>
            <a:off x="7647092" y="763791"/>
            <a:ext cx="2493819" cy="519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38159" t="36324" r="37155" b="57506"/>
          <a:stretch/>
        </p:blipFill>
        <p:spPr bwMode="auto">
          <a:xfrm>
            <a:off x="1059255" y="2356485"/>
            <a:ext cx="7834746" cy="1101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Прямоугольник 7"/>
          <p:cNvSpPr/>
          <p:nvPr/>
        </p:nvSpPr>
        <p:spPr>
          <a:xfrm>
            <a:off x="1059255" y="1480764"/>
            <a:ext cx="3296095" cy="584775"/>
          </a:xfrm>
          <a:prstGeom prst="rect">
            <a:avLst/>
          </a:prstGeom>
        </p:spPr>
        <p:txBody>
          <a:bodyPr wrap="none">
            <a:spAutoFit/>
          </a:bodyPr>
          <a:lstStyle/>
          <a:p>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absolute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error</a:t>
            </a:r>
            <a:r>
              <a:rPr lang="ru-RU" sz="3200" dirty="0" smtClean="0">
                <a:latin typeface="Times New Roman" panose="02020603050405020304" pitchFamily="18" charset="0"/>
                <a:cs typeface="Times New Roman" panose="02020603050405020304" pitchFamily="18" charset="0"/>
              </a:rPr>
              <a:t> </a:t>
            </a:r>
            <a:endParaRPr lang="ru-RU" sz="3200" dirty="0"/>
          </a:p>
        </p:txBody>
      </p:sp>
      <p:sp>
        <p:nvSpPr>
          <p:cNvPr id="9" name="Прямоугольник 8"/>
          <p:cNvSpPr/>
          <p:nvPr/>
        </p:nvSpPr>
        <p:spPr>
          <a:xfrm>
            <a:off x="1059255" y="3748868"/>
            <a:ext cx="3158237" cy="584775"/>
          </a:xfrm>
          <a:prstGeom prst="rect">
            <a:avLst/>
          </a:prstGeom>
        </p:spPr>
        <p:txBody>
          <a:bodyPr wrap="none">
            <a:spAutoFit/>
          </a:bodyPr>
          <a:lstStyle/>
          <a:p>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relative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error</a:t>
            </a:r>
            <a:r>
              <a:rPr lang="ru-RU" sz="3200" dirty="0" smtClean="0">
                <a:latin typeface="Times New Roman" panose="02020603050405020304" pitchFamily="18" charset="0"/>
                <a:cs typeface="Times New Roman" panose="02020603050405020304" pitchFamily="18" charset="0"/>
              </a:rPr>
              <a:t> </a:t>
            </a:r>
            <a:endParaRPr lang="ru-RU" sz="3200" dirty="0"/>
          </a:p>
        </p:txBody>
      </p:sp>
      <p:pic>
        <p:nvPicPr>
          <p:cNvPr id="10"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l="38552" t="46568" r="42001" b="46099"/>
          <a:stretch/>
        </p:blipFill>
        <p:spPr bwMode="auto">
          <a:xfrm>
            <a:off x="1059255" y="4624589"/>
            <a:ext cx="6172201" cy="1309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8648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11669" y="771297"/>
            <a:ext cx="5555303" cy="584775"/>
          </a:xfrm>
          <a:prstGeom prst="rect">
            <a:avLst/>
          </a:prstGeom>
        </p:spPr>
        <p:txBody>
          <a:bodyPr wrap="none">
            <a:spAutoFit/>
          </a:bodyPr>
          <a:lstStyle/>
          <a:p>
            <a:r>
              <a:rPr lang="ru-RU" sz="3200" dirty="0" smtClean="0">
                <a:latin typeface="Times New Roman" panose="02020603050405020304" pitchFamily="18" charset="0"/>
                <a:cs typeface="Times New Roman" panose="02020603050405020304" pitchFamily="18" charset="0"/>
              </a:rPr>
              <a:t>4. </a:t>
            </a:r>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error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dividing</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numbers</a:t>
            </a:r>
            <a:endParaRPr lang="ru-RU" sz="3200" dirty="0">
              <a:latin typeface="Times New Roman" panose="02020603050405020304" pitchFamily="18" charset="0"/>
              <a:cs typeface="Times New Roman" panose="02020603050405020304" pitchFamily="18" charset="0"/>
            </a:endParaRPr>
          </a:p>
        </p:txBody>
      </p:sp>
      <p:pic>
        <p:nvPicPr>
          <p:cNvPr id="5"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56534" t="17419" r="37387" b="80167"/>
          <a:stretch/>
        </p:blipFill>
        <p:spPr bwMode="auto">
          <a:xfrm>
            <a:off x="5548745" y="902032"/>
            <a:ext cx="2046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Прямоугольник 5"/>
          <p:cNvSpPr/>
          <p:nvPr/>
        </p:nvSpPr>
        <p:spPr>
          <a:xfrm>
            <a:off x="1059255" y="1480764"/>
            <a:ext cx="3296095" cy="584775"/>
          </a:xfrm>
          <a:prstGeom prst="rect">
            <a:avLst/>
          </a:prstGeom>
        </p:spPr>
        <p:txBody>
          <a:bodyPr wrap="none">
            <a:spAutoFit/>
          </a:bodyPr>
          <a:lstStyle/>
          <a:p>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absolute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error</a:t>
            </a:r>
            <a:r>
              <a:rPr lang="ru-RU" sz="3200" dirty="0" smtClean="0">
                <a:latin typeface="Times New Roman" panose="02020603050405020304" pitchFamily="18" charset="0"/>
                <a:cs typeface="Times New Roman" panose="02020603050405020304" pitchFamily="18" charset="0"/>
              </a:rPr>
              <a:t> </a:t>
            </a:r>
            <a:endParaRPr lang="ru-RU" sz="3200" dirty="0"/>
          </a:p>
        </p:txBody>
      </p:sp>
      <p:pic>
        <p:nvPicPr>
          <p:cNvPr id="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8447" t="24991" r="39453" b="69522"/>
          <a:stretch/>
        </p:blipFill>
        <p:spPr bwMode="auto">
          <a:xfrm>
            <a:off x="635404" y="2410691"/>
            <a:ext cx="7439892" cy="1039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Прямоугольник 8"/>
          <p:cNvSpPr/>
          <p:nvPr/>
        </p:nvSpPr>
        <p:spPr>
          <a:xfrm>
            <a:off x="1059255" y="3794935"/>
            <a:ext cx="3158237" cy="584775"/>
          </a:xfrm>
          <a:prstGeom prst="rect">
            <a:avLst/>
          </a:prstGeom>
        </p:spPr>
        <p:txBody>
          <a:bodyPr wrap="none">
            <a:spAutoFit/>
          </a:bodyPr>
          <a:lstStyle/>
          <a:p>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relative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error</a:t>
            </a:r>
            <a:r>
              <a:rPr lang="ru-RU" sz="3200" dirty="0" smtClean="0">
                <a:latin typeface="Times New Roman" panose="02020603050405020304" pitchFamily="18" charset="0"/>
                <a:cs typeface="Times New Roman" panose="02020603050405020304" pitchFamily="18" charset="0"/>
              </a:rPr>
              <a:t> </a:t>
            </a:r>
            <a:endParaRPr lang="ru-RU" sz="3200" dirty="0"/>
          </a:p>
        </p:txBody>
      </p:sp>
      <p:pic>
        <p:nvPicPr>
          <p:cNvPr id="10"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8262" t="34538" r="37387" b="55200"/>
          <a:stretch/>
        </p:blipFill>
        <p:spPr bwMode="auto">
          <a:xfrm>
            <a:off x="511669" y="4724862"/>
            <a:ext cx="8197706" cy="1943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9353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840743" y="771298"/>
            <a:ext cx="9546781" cy="584775"/>
          </a:xfrm>
          <a:prstGeom prst="rect">
            <a:avLst/>
          </a:prstGeom>
        </p:spPr>
        <p:txBody>
          <a:bodyPr wrap="none">
            <a:spAutoFit/>
          </a:bodyPr>
          <a:lstStyle/>
          <a:p>
            <a:r>
              <a:rPr lang="ru-RU" sz="3200" dirty="0" smtClean="0">
                <a:latin typeface="Times New Roman" panose="02020603050405020304" pitchFamily="18" charset="0"/>
                <a:cs typeface="Times New Roman" panose="02020603050405020304" pitchFamily="18" charset="0"/>
              </a:rPr>
              <a:t>5. </a:t>
            </a:r>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error</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of</a:t>
            </a:r>
            <a:r>
              <a:rPr lang="ru-RU" sz="3200" dirty="0">
                <a:latin typeface="Times New Roman" panose="02020603050405020304" pitchFamily="18" charset="0"/>
                <a:cs typeface="Times New Roman" panose="02020603050405020304" pitchFamily="18" charset="0"/>
              </a:rPr>
              <a:t> a </a:t>
            </a:r>
            <a:r>
              <a:rPr lang="ru-RU" sz="3200" dirty="0" err="1">
                <a:latin typeface="Times New Roman" panose="02020603050405020304" pitchFamily="18" charset="0"/>
                <a:cs typeface="Times New Roman" panose="02020603050405020304" pitchFamily="18" charset="0"/>
              </a:rPr>
              <a:t>function</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depending</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on</a:t>
            </a:r>
            <a:r>
              <a:rPr lang="ru-RU" sz="3200" dirty="0">
                <a:latin typeface="Times New Roman" panose="02020603050405020304" pitchFamily="18" charset="0"/>
                <a:cs typeface="Times New Roman" panose="02020603050405020304" pitchFamily="18" charset="0"/>
              </a:rPr>
              <a:t> a </a:t>
            </a:r>
            <a:r>
              <a:rPr lang="ru-RU" sz="3200" dirty="0" err="1">
                <a:latin typeface="Times New Roman" panose="02020603050405020304" pitchFamily="18" charset="0"/>
                <a:cs typeface="Times New Roman" panose="02020603050405020304" pitchFamily="18" charset="0"/>
              </a:rPr>
              <a:t>single</a:t>
            </a:r>
            <a:r>
              <a:rPr lang="ru-RU" sz="3200" dirty="0">
                <a:latin typeface="Times New Roman" panose="02020603050405020304" pitchFamily="18" charset="0"/>
                <a:cs typeface="Times New Roman" panose="02020603050405020304" pitchFamily="18" charset="0"/>
              </a:rPr>
              <a:t> </a:t>
            </a:r>
            <a:r>
              <a:rPr lang="ru-RU" sz="3200" dirty="0" err="1">
                <a:latin typeface="Times New Roman" panose="02020603050405020304" pitchFamily="18" charset="0"/>
                <a:cs typeface="Times New Roman" panose="02020603050405020304" pitchFamily="18" charset="0"/>
              </a:rPr>
              <a:t>variable</a:t>
            </a:r>
            <a:r>
              <a:rPr lang="ru-RU" sz="3200" dirty="0">
                <a:latin typeface="Times New Roman" panose="02020603050405020304" pitchFamily="18" charset="0"/>
                <a:cs typeface="Times New Roman" panose="02020603050405020304" pitchFamily="18" charset="0"/>
              </a:rPr>
              <a:t>.</a:t>
            </a:r>
          </a:p>
        </p:txBody>
      </p:sp>
      <p:sp>
        <p:nvSpPr>
          <p:cNvPr id="5" name="Прямоугольник 4"/>
          <p:cNvSpPr/>
          <p:nvPr/>
        </p:nvSpPr>
        <p:spPr>
          <a:xfrm>
            <a:off x="1059255" y="1480764"/>
            <a:ext cx="3296095" cy="584775"/>
          </a:xfrm>
          <a:prstGeom prst="rect">
            <a:avLst/>
          </a:prstGeom>
        </p:spPr>
        <p:txBody>
          <a:bodyPr wrap="none">
            <a:spAutoFit/>
          </a:bodyPr>
          <a:lstStyle/>
          <a:p>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absolute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error</a:t>
            </a:r>
            <a:r>
              <a:rPr lang="ru-RU" sz="3200" dirty="0" smtClean="0">
                <a:latin typeface="Times New Roman" panose="02020603050405020304" pitchFamily="18" charset="0"/>
                <a:cs typeface="Times New Roman" panose="02020603050405020304" pitchFamily="18" charset="0"/>
              </a:rPr>
              <a:t> </a:t>
            </a:r>
            <a:endParaRPr lang="ru-RU" sz="3200" dirty="0"/>
          </a:p>
        </p:txBody>
      </p:sp>
      <p:pic>
        <p:nvPicPr>
          <p:cNvPr id="6"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8298" t="57873" r="44972" b="33684"/>
          <a:stretch/>
        </p:blipFill>
        <p:spPr bwMode="auto">
          <a:xfrm>
            <a:off x="1059255" y="2190230"/>
            <a:ext cx="4904510" cy="1392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Прямоугольник 6"/>
          <p:cNvSpPr/>
          <p:nvPr/>
        </p:nvSpPr>
        <p:spPr>
          <a:xfrm>
            <a:off x="1059255" y="3831995"/>
            <a:ext cx="3158237" cy="584775"/>
          </a:xfrm>
          <a:prstGeom prst="rect">
            <a:avLst/>
          </a:prstGeom>
        </p:spPr>
        <p:txBody>
          <a:bodyPr wrap="none">
            <a:spAutoFit/>
          </a:bodyPr>
          <a:lstStyle/>
          <a:p>
            <a:r>
              <a:rPr lang="ru-RU" sz="3200" dirty="0" err="1" smtClean="0">
                <a:latin typeface="Times New Roman" panose="02020603050405020304" pitchFamily="18" charset="0"/>
                <a:cs typeface="Times New Roman" panose="02020603050405020304" pitchFamily="18" charset="0"/>
              </a:rPr>
              <a:t>The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relative</a:t>
            </a:r>
            <a:r>
              <a:rPr lang="ru-RU" sz="3200" dirty="0" smtClean="0">
                <a:latin typeface="Times New Roman" panose="02020603050405020304" pitchFamily="18" charset="0"/>
                <a:cs typeface="Times New Roman" panose="02020603050405020304" pitchFamily="18" charset="0"/>
              </a:rPr>
              <a:t> </a:t>
            </a:r>
            <a:r>
              <a:rPr lang="ru-RU" sz="3200" dirty="0" err="1" smtClean="0">
                <a:latin typeface="Times New Roman" panose="02020603050405020304" pitchFamily="18" charset="0"/>
                <a:cs typeface="Times New Roman" panose="02020603050405020304" pitchFamily="18" charset="0"/>
              </a:rPr>
              <a:t>error</a:t>
            </a:r>
            <a:r>
              <a:rPr lang="ru-RU" sz="3200" dirty="0" smtClean="0">
                <a:latin typeface="Times New Roman" panose="02020603050405020304" pitchFamily="18" charset="0"/>
                <a:cs typeface="Times New Roman" panose="02020603050405020304" pitchFamily="18" charset="0"/>
              </a:rPr>
              <a:t> </a:t>
            </a:r>
            <a:endParaRPr lang="ru-RU" sz="3200" dirty="0"/>
          </a:p>
        </p:txBody>
      </p:sp>
      <p:pic>
        <p:nvPicPr>
          <p:cNvPr id="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38227" t="70475" r="54401" b="24232"/>
          <a:stretch/>
        </p:blipFill>
        <p:spPr bwMode="auto">
          <a:xfrm>
            <a:off x="1059255" y="4448576"/>
            <a:ext cx="2161311" cy="872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Прямоугольник 8"/>
          <p:cNvSpPr/>
          <p:nvPr/>
        </p:nvSpPr>
        <p:spPr>
          <a:xfrm>
            <a:off x="1059255" y="5703562"/>
            <a:ext cx="10308400" cy="830997"/>
          </a:xfrm>
          <a:prstGeom prst="rect">
            <a:avLst/>
          </a:prstGeom>
        </p:spPr>
        <p:txBody>
          <a:bodyPr wrap="square">
            <a:spAutoFit/>
          </a:bodyPr>
          <a:lstStyle/>
          <a:p>
            <a:pPr indent="727075" algn="just"/>
            <a:r>
              <a:rPr lang="ru-RU" sz="2400" dirty="0" err="1">
                <a:latin typeface="Times New Roman" panose="02020603050405020304" pitchFamily="18" charset="0"/>
                <a:cs typeface="Times New Roman" panose="02020603050405020304" pitchFamily="18" charset="0"/>
              </a:rPr>
              <a:t>Similarly</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formulas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are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obtained</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for</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estimating</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the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absolute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and</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relative</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errors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for</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functions</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depending</a:t>
            </a:r>
            <a:r>
              <a:rPr lang="ru-RU" sz="2400" dirty="0">
                <a:latin typeface="Times New Roman" panose="02020603050405020304" pitchFamily="18" charset="0"/>
                <a:cs typeface="Times New Roman" panose="02020603050405020304" pitchFamily="18" charset="0"/>
              </a:rPr>
              <a:t> </a:t>
            </a:r>
            <a:r>
              <a:rPr lang="ru-RU" sz="2400" dirty="0" err="1">
                <a:latin typeface="Times New Roman" panose="02020603050405020304" pitchFamily="18" charset="0"/>
                <a:cs typeface="Times New Roman" panose="02020603050405020304" pitchFamily="18" charset="0"/>
              </a:rPr>
              <a:t>on</a:t>
            </a:r>
            <a:r>
              <a:rPr lang="ru-RU"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n</a:t>
            </a:r>
            <a:r>
              <a:rPr lang="ru-RU" sz="2400" dirty="0" smtClean="0">
                <a:latin typeface="Times New Roman" panose="02020603050405020304" pitchFamily="18" charset="0"/>
                <a:cs typeface="Times New Roman" panose="02020603050405020304" pitchFamily="18" charset="0"/>
              </a:rPr>
              <a:t> </a:t>
            </a:r>
            <a:r>
              <a:rPr lang="ru-RU" sz="2400" dirty="0" err="1" smtClean="0">
                <a:latin typeface="Times New Roman" panose="02020603050405020304" pitchFamily="18" charset="0"/>
                <a:cs typeface="Times New Roman" panose="02020603050405020304" pitchFamily="18" charset="0"/>
              </a:rPr>
              <a:t>variables</a:t>
            </a:r>
            <a:r>
              <a:rPr lang="en-US" sz="2400" dirty="0">
                <a:latin typeface="Times New Roman" panose="02020603050405020304" pitchFamily="18" charset="0"/>
                <a:cs typeface="Times New Roman" panose="02020603050405020304" pitchFamily="18" charset="0"/>
              </a:rPr>
              <a:t>.</a:t>
            </a:r>
            <a:endParaRPr lang="ru-RU"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246591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66A608F25D1F8F4682A2ED8E4F61D5EB" ma:contentTypeVersion="4" ma:contentTypeDescription="Создание документа." ma:contentTypeScope="" ma:versionID="bfcdf37cabeaca29c494e90da22db467">
  <xsd:schema xmlns:xsd="http://www.w3.org/2001/XMLSchema" xmlns:xs="http://www.w3.org/2001/XMLSchema" xmlns:p="http://schemas.microsoft.com/office/2006/metadata/properties" xmlns:ns2="e320f0fe-ea68-44bc-81d2-dfe55e3139f4" targetNamespace="http://schemas.microsoft.com/office/2006/metadata/properties" ma:root="true" ma:fieldsID="61dd93179411ef9a8eea10745955bcbf" ns2:_="">
    <xsd:import namespace="e320f0fe-ea68-44bc-81d2-dfe55e3139f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20f0fe-ea68-44bc-81d2-dfe55e3139f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556432-DB6B-414D-A000-D3E4C6099697}"/>
</file>

<file path=customXml/itemProps2.xml><?xml version="1.0" encoding="utf-8"?>
<ds:datastoreItem xmlns:ds="http://schemas.openxmlformats.org/officeDocument/2006/customXml" ds:itemID="{770F09DF-CEE3-4708-A063-1670E9D73E18}"/>
</file>

<file path=docProps/app.xml><?xml version="1.0" encoding="utf-8"?>
<Properties xmlns="http://schemas.openxmlformats.org/officeDocument/2006/extended-properties" xmlns:vt="http://schemas.openxmlformats.org/officeDocument/2006/docPropsVTypes">
  <TotalTime>189</TotalTime>
  <Words>1111</Words>
  <Application>Microsoft Office PowerPoint</Application>
  <PresentationFormat>Широкоэкранный</PresentationFormat>
  <Paragraphs>66</Paragraphs>
  <Slides>23</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23</vt:i4>
      </vt:variant>
    </vt:vector>
  </HeadingPairs>
  <TitlesOfParts>
    <vt:vector size="28" baseType="lpstr">
      <vt:lpstr>Arial</vt:lpstr>
      <vt:lpstr>Calibri</vt:lpstr>
      <vt:lpstr>Calibri Light</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Ким Гульнар Амангельдыевна</dc:creator>
  <cp:lastModifiedBy>Ким Гульнар Амангельдыевна </cp:lastModifiedBy>
  <cp:revision>16</cp:revision>
  <dcterms:created xsi:type="dcterms:W3CDTF">2024-01-30T06:41:56Z</dcterms:created>
  <dcterms:modified xsi:type="dcterms:W3CDTF">2024-02-03T04:12:10Z</dcterms:modified>
</cp:coreProperties>
</file>