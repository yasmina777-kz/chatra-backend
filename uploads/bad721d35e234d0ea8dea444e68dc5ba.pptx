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401" r:id="rId4"/>
    <p:sldId id="260" r:id="rId5"/>
    <p:sldId id="400" r:id="rId6"/>
    <p:sldId id="402" r:id="rId7"/>
    <p:sldId id="403" r:id="rId8"/>
    <p:sldId id="404" r:id="rId9"/>
    <p:sldId id="406" r:id="rId10"/>
    <p:sldId id="409" r:id="rId11"/>
    <p:sldId id="405" r:id="rId12"/>
    <p:sldId id="407" r:id="rId13"/>
    <p:sldId id="408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gplCwXVJ7cXEIJhvTPmni7emCh8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245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4647072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6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6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>
            <a:spLocks noGrp="1"/>
          </p:cNvSpPr>
          <p:nvPr>
            <p:ph type="title"/>
          </p:nvPr>
        </p:nvSpPr>
        <p:spPr>
          <a:xfrm>
            <a:off x="831849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body" idx="1"/>
          </p:nvPr>
        </p:nvSpPr>
        <p:spPr>
          <a:xfrm>
            <a:off x="831849" y="4589467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3"/>
          </p:nvPr>
        </p:nvSpPr>
        <p:spPr>
          <a:xfrm>
            <a:off x="6172202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4"/>
          </p:nvPr>
        </p:nvSpPr>
        <p:spPr>
          <a:xfrm>
            <a:off x="6172202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 rot="5400000">
            <a:off x="7133432" y="1956596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 rot="5400000">
            <a:off x="1799430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5"/>
          <p:cNvSpPr txBox="1">
            <a:spLocks noGrp="1"/>
          </p:cNvSpPr>
          <p:nvPr>
            <p:ph type="dt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5"/>
          <p:cNvSpPr txBox="1">
            <a:spLocks noGrp="1"/>
          </p:cNvSpPr>
          <p:nvPr>
            <p:ph type="ft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5"/>
          <p:cNvSpPr txBox="1">
            <a:spLocks noGrp="1"/>
          </p:cNvSpPr>
          <p:nvPr>
            <p:ph type="sldNum" idx="12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2479113" y="2226365"/>
            <a:ext cx="7103166" cy="2305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700" dirty="0" smtClean="0">
                <a:latin typeface="Times New Roman"/>
                <a:ea typeface="Times New Roman"/>
              </a:rPr>
              <a:t/>
            </a:r>
            <a:br>
              <a:rPr lang="en-US" sz="2700" dirty="0" smtClean="0">
                <a:latin typeface="Times New Roman"/>
                <a:ea typeface="Times New Roman"/>
              </a:rPr>
            </a:br>
            <a:r>
              <a:rPr lang="en-US" sz="2700" dirty="0" smtClean="0">
                <a:latin typeface="Times New Roman"/>
                <a:ea typeface="Times New Roman"/>
              </a:rPr>
              <a:t/>
            </a:r>
            <a:br>
              <a:rPr lang="en-US" sz="2700" dirty="0" smtClean="0">
                <a:latin typeface="Times New Roman"/>
                <a:ea typeface="Times New Roman"/>
              </a:rPr>
            </a:br>
            <a:r>
              <a:rPr lang="en-US" sz="2700" dirty="0" smtClean="0">
                <a:latin typeface="Times New Roman"/>
                <a:ea typeface="Times New Roman"/>
              </a:rPr>
              <a:t/>
            </a:r>
            <a:br>
              <a:rPr lang="en-US" sz="2700" dirty="0" smtClean="0">
                <a:latin typeface="Times New Roman"/>
                <a:ea typeface="Times New Roman"/>
              </a:rPr>
            </a:br>
            <a:r>
              <a:rPr lang="en-US" sz="3100" b="1" dirty="0">
                <a:solidFill>
                  <a:srgbClr val="000066"/>
                </a:solidFill>
                <a:latin typeface="Times New Roman"/>
                <a:ea typeface="Times New Roman"/>
              </a:rPr>
              <a:t>H</a:t>
            </a:r>
            <a:r>
              <a:rPr lang="en-US" sz="3100" b="1" dirty="0" smtClean="0">
                <a:solidFill>
                  <a:srgbClr val="000066"/>
                </a:solidFill>
                <a:latin typeface="Times New Roman"/>
                <a:ea typeface="Times New Roman"/>
              </a:rPr>
              <a:t>istory of Kazakhstan </a:t>
            </a:r>
            <a:r>
              <a:rPr lang="en-US" sz="3100" b="1" dirty="0">
                <a:solidFill>
                  <a:srgbClr val="000066"/>
                </a:solidFill>
                <a:latin typeface="Times New Roman"/>
                <a:ea typeface="Times New Roman"/>
              </a:rPr>
              <a:t/>
            </a:r>
            <a:br>
              <a:rPr lang="en-US" sz="3100" b="1" dirty="0">
                <a:solidFill>
                  <a:srgbClr val="000066"/>
                </a:solidFill>
                <a:latin typeface="Times New Roman"/>
                <a:ea typeface="Times New Roman"/>
              </a:rPr>
            </a:br>
            <a:r>
              <a:rPr lang="en-US" sz="4000" b="1" dirty="0">
                <a:solidFill>
                  <a:srgbClr val="000066"/>
                </a:solidFill>
                <a:latin typeface="Times New Roman"/>
                <a:ea typeface="Times New Roman"/>
              </a:rPr>
              <a:t/>
            </a:r>
            <a:br>
              <a:rPr lang="en-US" sz="4000" b="1" dirty="0">
                <a:solidFill>
                  <a:srgbClr val="000066"/>
                </a:solidFill>
                <a:latin typeface="Times New Roman"/>
                <a:ea typeface="Times New Roman"/>
              </a:rPr>
            </a:br>
            <a:r>
              <a:rPr lang="en-US" sz="2700" dirty="0" smtClean="0">
                <a:solidFill>
                  <a:srgbClr val="000066"/>
                </a:solidFill>
                <a:latin typeface="Times New Roman"/>
                <a:ea typeface="Times New Roman"/>
              </a:rPr>
              <a:t>LECTURE</a:t>
            </a:r>
            <a:r>
              <a:rPr lang="ru-RU" sz="2700" dirty="0" smtClean="0">
                <a:solidFill>
                  <a:srgbClr val="000066"/>
                </a:solidFill>
                <a:latin typeface="Times New Roman"/>
                <a:ea typeface="Times New Roman"/>
              </a:rPr>
              <a:t> № </a:t>
            </a:r>
            <a:r>
              <a:rPr lang="en-US" sz="2700" dirty="0">
                <a:solidFill>
                  <a:srgbClr val="000066"/>
                </a:solidFill>
                <a:latin typeface="Times New Roman"/>
                <a:ea typeface="Times New Roman"/>
              </a:rPr>
              <a:t>2</a:t>
            </a:r>
            <a:r>
              <a:rPr lang="en-US" sz="2700" dirty="0" smtClean="0">
                <a:solidFill>
                  <a:srgbClr val="000066"/>
                </a:solidFill>
                <a:latin typeface="Times New Roman"/>
                <a:ea typeface="Times New Roman"/>
              </a:rPr>
              <a:t/>
            </a:r>
            <a:br>
              <a:rPr lang="en-US" sz="2700" dirty="0" smtClean="0">
                <a:solidFill>
                  <a:srgbClr val="000066"/>
                </a:solidFill>
                <a:latin typeface="Times New Roman"/>
                <a:ea typeface="Times New Roman"/>
              </a:rPr>
            </a:br>
            <a:r>
              <a:rPr lang="en-US" sz="3100" b="1" dirty="0">
                <a:solidFill>
                  <a:schemeClr val="bg2">
                    <a:lumMod val="75000"/>
                  </a:schemeClr>
                </a:solidFill>
                <a:latin typeface="Times New Roman"/>
                <a:ea typeface="Times New Roman"/>
              </a:rPr>
              <a:t/>
            </a:r>
            <a:br>
              <a:rPr lang="en-US" sz="3100" b="1" dirty="0">
                <a:solidFill>
                  <a:schemeClr val="bg2">
                    <a:lumMod val="75000"/>
                  </a:schemeClr>
                </a:solidFill>
                <a:latin typeface="Times New Roman"/>
                <a:ea typeface="Times New Roman"/>
              </a:rPr>
            </a:br>
            <a:r>
              <a:rPr lang="en-US" sz="4000" b="1" dirty="0" smtClean="0">
                <a:solidFill>
                  <a:schemeClr val="bg2">
                    <a:lumMod val="75000"/>
                  </a:schemeClr>
                </a:solidFill>
                <a:latin typeface="Times New Roman"/>
                <a:ea typeface="Times New Roman"/>
              </a:rPr>
              <a:t>Nomadism, Iron Age </a:t>
            </a:r>
            <a:r>
              <a:rPr lang="en-US" sz="4000" b="1" dirty="0" smtClean="0">
                <a:solidFill>
                  <a:schemeClr val="bg2">
                    <a:lumMod val="75000"/>
                  </a:schemeClr>
                </a:solidFill>
                <a:latin typeface="Times New Roman"/>
                <a:ea typeface="Times New Roman"/>
              </a:rPr>
              <a:t>and Turks</a:t>
            </a:r>
            <a:endParaRPr sz="4000" dirty="0">
              <a:solidFill>
                <a:srgbClr val="000066"/>
              </a:solidFill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2948081" y="4638260"/>
            <a:ext cx="6165211" cy="1921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</a:pPr>
            <a:r>
              <a:rPr lang="en-US" b="1" kern="1200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/>
            </a:r>
            <a:br>
              <a:rPr lang="en-US" b="1" kern="1200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r>
              <a:rPr lang="en-US" b="1" kern="1200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/>
            </a:r>
            <a:br>
              <a:rPr lang="en-US" b="1" kern="1200" dirty="0">
                <a:solidFill>
                  <a:srgbClr val="00006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endParaRPr dirty="0">
              <a:solidFill>
                <a:srgbClr val="000066"/>
              </a:solidFill>
            </a:endParaRPr>
          </a:p>
        </p:txBody>
      </p:sp>
      <p:pic>
        <p:nvPicPr>
          <p:cNvPr id="87" name="Google Shape;8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0" y="4811609"/>
            <a:ext cx="5362115" cy="2046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-106017" y="-92765"/>
            <a:ext cx="12377530" cy="695076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"/>
          <p:cNvSpPr txBox="1">
            <a:spLocks noGrp="1"/>
          </p:cNvSpPr>
          <p:nvPr>
            <p:ph type="title"/>
          </p:nvPr>
        </p:nvSpPr>
        <p:spPr>
          <a:xfrm>
            <a:off x="838202" y="365127"/>
            <a:ext cx="9206948" cy="1476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 dirty="0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Content</a:t>
            </a:r>
            <a:endParaRPr b="1" dirty="0">
              <a:solidFill>
                <a:srgbClr val="00006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450575" y="2120348"/>
            <a:ext cx="10111408" cy="2047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sz="32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1. </a:t>
            </a:r>
            <a:r>
              <a:rPr lang="en-US" sz="32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Nomadism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sz="32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2. Iron Age</a:t>
            </a:r>
            <a:endParaRPr lang="en-US" sz="3200" b="1" dirty="0">
              <a:solidFill>
                <a:srgbClr val="000066"/>
              </a:solidFill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sz="32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3. </a:t>
            </a:r>
            <a:r>
              <a:rPr lang="en-US" sz="32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Turkic </a:t>
            </a:r>
            <a:r>
              <a:rPr lang="en-US" sz="3200" b="1" dirty="0" err="1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Khaganate</a:t>
            </a:r>
            <a:r>
              <a:rPr lang="en-US" sz="32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 </a:t>
            </a:r>
            <a:r>
              <a:rPr lang="en-US" sz="32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(552 </a:t>
            </a:r>
            <a:r>
              <a:rPr lang="en-US" sz="32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– 603)</a:t>
            </a:r>
            <a:endParaRPr lang="en-US" sz="3200" b="1" dirty="0">
              <a:solidFill>
                <a:srgbClr val="000066"/>
              </a:solidFill>
              <a:latin typeface="Times New Roman" pitchFamily="18" charset="0"/>
              <a:ea typeface="Calibri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-53009" y="0"/>
            <a:ext cx="12322200" cy="693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"/>
          <p:cNvSpPr txBox="1">
            <a:spLocks noGrp="1"/>
          </p:cNvSpPr>
          <p:nvPr>
            <p:ph type="title"/>
          </p:nvPr>
        </p:nvSpPr>
        <p:spPr>
          <a:xfrm>
            <a:off x="450572" y="133974"/>
            <a:ext cx="10641498" cy="1721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400"/>
            </a:pPr>
            <a:r>
              <a:rPr lang="en-US" sz="36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	1. Nomadism</a:t>
            </a:r>
            <a:br>
              <a:rPr lang="en-US" sz="36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600" b="1" dirty="0">
              <a:solidFill>
                <a:srgbClr val="00006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961325" y="4541337"/>
            <a:ext cx="61357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2800" dirty="0">
              <a:solidFill>
                <a:srgbClr val="002060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9379159" y="5066097"/>
            <a:ext cx="184731" cy="3853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endParaRPr lang="ru-RU" sz="1800" dirty="0">
              <a:solidFill>
                <a:srgbClr val="000066"/>
              </a:solidFill>
              <a:effectLst/>
              <a:latin typeface="Times New Roman" pitchFamily="18" charset="0"/>
              <a:ea typeface="Calibri"/>
              <a:cs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961325" y="3980671"/>
            <a:ext cx="10508974" cy="822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15000"/>
              </a:lnSpc>
              <a:spcAft>
                <a:spcPts val="1000"/>
              </a:spcAft>
            </a:pPr>
            <a:endParaRPr lang="ru-RU" dirty="0" smtClean="0">
              <a:latin typeface="Times New Roman"/>
              <a:ea typeface="Times New Roman"/>
              <a:cs typeface="Calibri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ru-RU" sz="2000" b="1" kern="1200" dirty="0">
              <a:solidFill>
                <a:srgbClr val="002060"/>
              </a:solidFill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22852" y="1736035"/>
            <a:ext cx="11304105" cy="5252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190500" lvl="0">
              <a:lnSpc>
                <a:spcPct val="115000"/>
              </a:lnSpc>
              <a:spcAft>
                <a:spcPts val="375"/>
              </a:spcAft>
              <a:tabLst>
                <a:tab pos="457200" algn="l"/>
              </a:tabLst>
            </a:pP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Nomadism 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is the way of life where people do not stay in one place. They move from place to place to find food, water, and shelter. 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It</a:t>
            </a:r>
            <a:r>
              <a:rPr lang="ru-RU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 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encompassed  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hunter-gatherers, pastoralists (herding animals), and traders/artisans. </a:t>
            </a:r>
            <a:endParaRPr lang="en-US" sz="2800" b="1" dirty="0" smtClean="0">
              <a:solidFill>
                <a:srgbClr val="000066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  <a:p>
            <a:pPr marR="190500" lvl="0">
              <a:lnSpc>
                <a:spcPct val="115000"/>
              </a:lnSpc>
              <a:spcAft>
                <a:spcPts val="375"/>
              </a:spcAft>
              <a:tabLst>
                <a:tab pos="457200" algn="l"/>
              </a:tabLst>
            </a:pPr>
            <a:endParaRPr lang="en-US" sz="2800" b="1" dirty="0">
              <a:solidFill>
                <a:srgbClr val="000066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  <a:p>
            <a:pPr marR="190500" lvl="0">
              <a:lnSpc>
                <a:spcPct val="115000"/>
              </a:lnSpc>
              <a:spcAft>
                <a:spcPts val="375"/>
              </a:spcAft>
              <a:tabLst>
                <a:tab pos="457200" algn="l"/>
              </a:tabLst>
            </a:pP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1. Movement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: Nomads move constantly. They do not build permanent homes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.</a:t>
            </a:r>
          </a:p>
          <a:p>
            <a:pPr marR="190500" lvl="0">
              <a:lnSpc>
                <a:spcPct val="115000"/>
              </a:lnSpc>
              <a:spcAft>
                <a:spcPts val="375"/>
              </a:spcAft>
              <a:tabLst>
                <a:tab pos="457200" algn="l"/>
              </a:tabLst>
            </a:pP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2. Depend 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on Nature: They follow animals or seasons to get food and resources. 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They 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build temporary shelters, like tents, that they can move </a:t>
            </a:r>
          </a:p>
          <a:p>
            <a:pPr marR="190500" lvl="0">
              <a:lnSpc>
                <a:spcPct val="115000"/>
              </a:lnSpc>
              <a:spcAft>
                <a:spcPts val="375"/>
              </a:spcAft>
              <a:tabLst>
                <a:tab pos="457200" algn="l"/>
              </a:tabLst>
            </a:pPr>
            <a:endParaRPr lang="en-US" sz="2800" b="1" dirty="0" smtClean="0">
              <a:solidFill>
                <a:srgbClr val="000066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576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-53009" y="0"/>
            <a:ext cx="12322200" cy="693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"/>
          <p:cNvSpPr txBox="1">
            <a:spLocks noGrp="1"/>
          </p:cNvSpPr>
          <p:nvPr>
            <p:ph type="title"/>
          </p:nvPr>
        </p:nvSpPr>
        <p:spPr>
          <a:xfrm>
            <a:off x="450572" y="133974"/>
            <a:ext cx="10641498" cy="1721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400"/>
            </a:pPr>
            <a:r>
              <a:rPr lang="en-US" sz="36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	1. Nomadism</a:t>
            </a:r>
            <a:br>
              <a:rPr lang="en-US" sz="36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600" b="1" dirty="0">
              <a:solidFill>
                <a:srgbClr val="00006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961325" y="4541337"/>
            <a:ext cx="61357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2800" dirty="0">
              <a:solidFill>
                <a:srgbClr val="002060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9379159" y="5066097"/>
            <a:ext cx="184731" cy="3853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endParaRPr lang="ru-RU" sz="1800" dirty="0">
              <a:solidFill>
                <a:srgbClr val="000066"/>
              </a:solidFill>
              <a:effectLst/>
              <a:latin typeface="Times New Roman" pitchFamily="18" charset="0"/>
              <a:ea typeface="Calibri"/>
              <a:cs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961325" y="3980671"/>
            <a:ext cx="10508974" cy="822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15000"/>
              </a:lnSpc>
              <a:spcAft>
                <a:spcPts val="1000"/>
              </a:spcAft>
            </a:pPr>
            <a:endParaRPr lang="ru-RU" dirty="0" smtClean="0">
              <a:latin typeface="Times New Roman"/>
              <a:ea typeface="Times New Roman"/>
              <a:cs typeface="Calibri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ru-RU" sz="2000" b="1" kern="1200" dirty="0">
              <a:solidFill>
                <a:srgbClr val="002060"/>
              </a:solidFill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834887" y="1736035"/>
            <a:ext cx="10853530" cy="3766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190500" lvl="0">
              <a:lnSpc>
                <a:spcPct val="115000"/>
              </a:lnSpc>
              <a:spcAft>
                <a:spcPts val="375"/>
              </a:spcAft>
              <a:tabLst>
                <a:tab pos="457200" algn="l"/>
              </a:tabLst>
            </a:pP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3. Small 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Groups: Nomadic people live in small groups or families. </a:t>
            </a:r>
          </a:p>
          <a:p>
            <a:pPr marR="190500" lvl="0">
              <a:lnSpc>
                <a:spcPct val="115000"/>
              </a:lnSpc>
              <a:spcAft>
                <a:spcPts val="375"/>
              </a:spcAft>
              <a:tabLst>
                <a:tab pos="457200" algn="l"/>
              </a:tabLst>
            </a:pPr>
            <a:endParaRPr lang="en-US" sz="2800" b="1" dirty="0" smtClean="0">
              <a:solidFill>
                <a:srgbClr val="000066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  <a:p>
            <a:pPr marR="190500" lvl="0">
              <a:lnSpc>
                <a:spcPct val="115000"/>
              </a:lnSpc>
              <a:spcAft>
                <a:spcPts val="375"/>
              </a:spcAft>
              <a:tabLst>
                <a:tab pos="457200" algn="l"/>
              </a:tabLst>
            </a:pP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4. Simple and Effective Tools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: They use simple tools for hunting, gathering, and moving. </a:t>
            </a:r>
            <a:endParaRPr lang="en-US" sz="2800" b="1" dirty="0" smtClean="0">
              <a:solidFill>
                <a:srgbClr val="000066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  <a:p>
            <a:pPr marR="190500" lvl="0">
              <a:lnSpc>
                <a:spcPct val="115000"/>
              </a:lnSpc>
              <a:spcAft>
                <a:spcPts val="375"/>
              </a:spcAft>
              <a:tabLst>
                <a:tab pos="457200" algn="l"/>
              </a:tabLst>
            </a:pPr>
            <a:endParaRPr lang="en-US" sz="2800" b="1" dirty="0" smtClean="0">
              <a:solidFill>
                <a:srgbClr val="000066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  <a:p>
            <a:pPr marR="190500" lvl="0">
              <a:lnSpc>
                <a:spcPct val="115000"/>
              </a:lnSpc>
              <a:spcAft>
                <a:spcPts val="375"/>
              </a:spcAft>
              <a:tabLst>
                <a:tab pos="457200" algn="l"/>
              </a:tabLst>
            </a:pP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5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. 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Early 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Humans: In the past, most people were nomads. They moved in search of food like animals and plants. </a:t>
            </a:r>
            <a:endParaRPr lang="ru-RU" sz="2800" b="1" dirty="0">
              <a:solidFill>
                <a:srgbClr val="000066"/>
              </a:solidFill>
              <a:latin typeface="Times New Roman" pitchFamily="18" charset="0"/>
              <a:ea typeface="Calibri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9397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-53009" y="0"/>
            <a:ext cx="12322200" cy="693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"/>
          <p:cNvSpPr txBox="1">
            <a:spLocks noGrp="1"/>
          </p:cNvSpPr>
          <p:nvPr>
            <p:ph type="title"/>
          </p:nvPr>
        </p:nvSpPr>
        <p:spPr>
          <a:xfrm>
            <a:off x="450572" y="133974"/>
            <a:ext cx="10641498" cy="1721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400"/>
            </a:pPr>
            <a:r>
              <a:rPr lang="en-US" sz="36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3600" b="1" dirty="0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en-US" sz="36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Iron Age on the territory of Kazakhstan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961325" y="4541337"/>
            <a:ext cx="61357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2800" dirty="0">
              <a:solidFill>
                <a:srgbClr val="002060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9379159" y="5066097"/>
            <a:ext cx="184731" cy="3853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endParaRPr lang="ru-RU" sz="1800" dirty="0">
              <a:solidFill>
                <a:srgbClr val="000066"/>
              </a:solidFill>
              <a:effectLst/>
              <a:latin typeface="Times New Roman" pitchFamily="18" charset="0"/>
              <a:ea typeface="Calibri"/>
              <a:cs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961325" y="3980671"/>
            <a:ext cx="10508974" cy="822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15000"/>
              </a:lnSpc>
              <a:spcAft>
                <a:spcPts val="1000"/>
              </a:spcAft>
            </a:pPr>
            <a:endParaRPr lang="ru-RU" dirty="0" smtClean="0">
              <a:latin typeface="Times New Roman"/>
              <a:ea typeface="Times New Roman"/>
              <a:cs typeface="Calibri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ru-RU" sz="2000" b="1" kern="1200" dirty="0">
              <a:solidFill>
                <a:srgbClr val="002060"/>
              </a:solidFill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834887" y="1736035"/>
            <a:ext cx="10853530" cy="4312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marR="190500" lvl="0" indent="-514350">
              <a:lnSpc>
                <a:spcPct val="115000"/>
              </a:lnSpc>
              <a:spcAft>
                <a:spcPts val="375"/>
              </a:spcAft>
              <a:buAutoNum type="arabicPeriod"/>
              <a:tabLst>
                <a:tab pos="457200" algn="l"/>
              </a:tabLst>
            </a:pP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Use 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of tools made of 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iron</a:t>
            </a:r>
          </a:p>
          <a:p>
            <a:pPr marR="190500" lvl="0">
              <a:lnSpc>
                <a:spcPct val="115000"/>
              </a:lnSpc>
              <a:spcAft>
                <a:spcPts val="375"/>
              </a:spcAft>
              <a:tabLst>
                <a:tab pos="457200" algn="l"/>
              </a:tabLst>
            </a:pPr>
            <a:endParaRPr lang="en-US" sz="2800" b="1" dirty="0">
              <a:solidFill>
                <a:srgbClr val="000066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  <a:p>
            <a:pPr marR="190500" lvl="0">
              <a:lnSpc>
                <a:spcPct val="115000"/>
              </a:lnSpc>
              <a:spcAft>
                <a:spcPts val="375"/>
              </a:spcAft>
              <a:tabLst>
                <a:tab pos="457200" algn="l"/>
              </a:tabLst>
            </a:pP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2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. 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The emergence of military 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democracy. </a:t>
            </a:r>
          </a:p>
          <a:p>
            <a:pPr marR="190500" lvl="0">
              <a:lnSpc>
                <a:spcPct val="115000"/>
              </a:lnSpc>
              <a:spcAft>
                <a:spcPts val="375"/>
              </a:spcAft>
              <a:tabLst>
                <a:tab pos="457200" algn="l"/>
              </a:tabLst>
            </a:pP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The main attributes of military 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democracy:</a:t>
            </a:r>
          </a:p>
          <a:p>
            <a:pPr marR="190500" lvl="0">
              <a:lnSpc>
                <a:spcPct val="115000"/>
              </a:lnSpc>
              <a:spcAft>
                <a:spcPts val="375"/>
              </a:spcAft>
              <a:tabLst>
                <a:tab pos="457200" algn="l"/>
              </a:tabLst>
            </a:pP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- Power 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is concentrated in the hands of chiefs, warlords, and priests.  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 - Supreme 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power begins to acquire a sacral, hereditary 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character.</a:t>
            </a:r>
          </a:p>
          <a:p>
            <a:pPr marR="190500" lvl="0">
              <a:lnSpc>
                <a:spcPct val="115000"/>
              </a:lnSpc>
              <a:spcAft>
                <a:spcPts val="375"/>
              </a:spcAft>
              <a:tabLst>
                <a:tab pos="457200" algn="l"/>
              </a:tabLst>
            </a:pP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- War 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becomes a permanent trade, a source of livestock capture and enrichment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66281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-53009" y="0"/>
            <a:ext cx="12322200" cy="693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"/>
          <p:cNvSpPr txBox="1">
            <a:spLocks noGrp="1"/>
          </p:cNvSpPr>
          <p:nvPr>
            <p:ph type="title"/>
          </p:nvPr>
        </p:nvSpPr>
        <p:spPr>
          <a:xfrm>
            <a:off x="450572" y="133974"/>
            <a:ext cx="10641498" cy="1721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400"/>
            </a:pPr>
            <a:r>
              <a:rPr lang="en-US" sz="36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3600" b="1" dirty="0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en-US" sz="36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Iron Age on the territory of Kazakhstan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961325" y="4541337"/>
            <a:ext cx="61357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2800" dirty="0">
              <a:solidFill>
                <a:srgbClr val="002060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9379159" y="5066097"/>
            <a:ext cx="184731" cy="3853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endParaRPr lang="ru-RU" sz="1800" dirty="0">
              <a:solidFill>
                <a:srgbClr val="000066"/>
              </a:solidFill>
              <a:effectLst/>
              <a:latin typeface="Times New Roman" pitchFamily="18" charset="0"/>
              <a:ea typeface="Calibri"/>
              <a:cs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961325" y="3980671"/>
            <a:ext cx="10508974" cy="822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15000"/>
              </a:lnSpc>
              <a:spcAft>
                <a:spcPts val="1000"/>
              </a:spcAft>
            </a:pPr>
            <a:endParaRPr lang="ru-RU" dirty="0" smtClean="0">
              <a:latin typeface="Times New Roman"/>
              <a:ea typeface="Times New Roman"/>
              <a:cs typeface="Calibri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ru-RU" sz="2000" b="1" kern="1200" dirty="0">
              <a:solidFill>
                <a:srgbClr val="002060"/>
              </a:solidFill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834887" y="1736035"/>
            <a:ext cx="10853530" cy="32706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190500" lvl="0">
              <a:lnSpc>
                <a:spcPct val="115000"/>
              </a:lnSpc>
              <a:spcAft>
                <a:spcPts val="375"/>
              </a:spcAft>
              <a:tabLst>
                <a:tab pos="457200" algn="l"/>
              </a:tabLst>
            </a:pP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3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. Formation of Proto-States -  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Tribal Unions (</a:t>
            </a:r>
            <a:r>
              <a:rPr lang="en-US" sz="2800" b="1" dirty="0" err="1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Sakas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, </a:t>
            </a:r>
            <a:r>
              <a:rPr lang="en-US" sz="2800" b="1" dirty="0" err="1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Wusuns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, </a:t>
            </a:r>
            <a:r>
              <a:rPr lang="en-US" sz="2800" b="1" dirty="0" err="1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Kangjus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, Huns)</a:t>
            </a:r>
          </a:p>
          <a:p>
            <a:pPr marR="190500" lvl="0">
              <a:lnSpc>
                <a:spcPct val="115000"/>
              </a:lnSpc>
              <a:spcAft>
                <a:spcPts val="375"/>
              </a:spcAft>
              <a:tabLst>
                <a:tab pos="457200" algn="l"/>
              </a:tabLst>
            </a:pPr>
            <a:endParaRPr lang="en-US" sz="2800" b="1" dirty="0">
              <a:solidFill>
                <a:srgbClr val="000066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  <a:p>
            <a:pPr marR="190500" lvl="0">
              <a:lnSpc>
                <a:spcPct val="115000"/>
              </a:lnSpc>
              <a:spcAft>
                <a:spcPts val="375"/>
              </a:spcAft>
              <a:tabLst>
                <a:tab pos="457200" algn="l"/>
              </a:tabLst>
            </a:pP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4. 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N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omadic  pastoralism - 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a dominant form of economic activity. </a:t>
            </a:r>
            <a:endParaRPr lang="en-US" sz="2800" b="1" dirty="0" smtClean="0">
              <a:solidFill>
                <a:srgbClr val="000066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  <a:p>
            <a:pPr marR="190500" lvl="0">
              <a:lnSpc>
                <a:spcPct val="115000"/>
              </a:lnSpc>
              <a:spcAft>
                <a:spcPts val="375"/>
              </a:spcAft>
              <a:tabLst>
                <a:tab pos="457200" algn="l"/>
              </a:tabLst>
            </a:pPr>
            <a:endParaRPr lang="en-US" sz="2800" b="1" dirty="0" smtClean="0">
              <a:solidFill>
                <a:srgbClr val="000066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  <a:p>
            <a:pPr marR="190500" lvl="0">
              <a:lnSpc>
                <a:spcPct val="115000"/>
              </a:lnSpc>
              <a:spcAft>
                <a:spcPts val="375"/>
              </a:spcAft>
              <a:tabLst>
                <a:tab pos="457200" algn="l"/>
              </a:tabLst>
            </a:pP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5. 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Confirmation 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of patriarchy</a:t>
            </a:r>
            <a:endParaRPr lang="en-US" sz="2800" b="1" dirty="0" smtClean="0">
              <a:solidFill>
                <a:srgbClr val="000066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30121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-53009" y="0"/>
            <a:ext cx="12322200" cy="693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"/>
          <p:cNvSpPr txBox="1">
            <a:spLocks noGrp="1"/>
          </p:cNvSpPr>
          <p:nvPr>
            <p:ph type="title"/>
          </p:nvPr>
        </p:nvSpPr>
        <p:spPr>
          <a:xfrm>
            <a:off x="450572" y="133974"/>
            <a:ext cx="10641498" cy="1721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400"/>
            </a:pPr>
            <a:r>
              <a:rPr lang="en-US" sz="36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	3</a:t>
            </a:r>
            <a:r>
              <a:rPr lang="en-US" sz="3600" b="1" dirty="0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36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Turkic </a:t>
            </a:r>
            <a:r>
              <a:rPr lang="en-US" sz="3600" b="1" dirty="0" err="1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Khaganate</a:t>
            </a:r>
            <a:r>
              <a:rPr lang="en-US" sz="36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 (552 – 603)</a:t>
            </a:r>
            <a:br>
              <a:rPr lang="en-US" sz="36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600" b="1" dirty="0">
              <a:solidFill>
                <a:srgbClr val="00006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961325" y="4541337"/>
            <a:ext cx="61357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2800" dirty="0">
              <a:solidFill>
                <a:srgbClr val="002060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9379159" y="5066097"/>
            <a:ext cx="184731" cy="3853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endParaRPr lang="ru-RU" sz="1800" dirty="0">
              <a:solidFill>
                <a:srgbClr val="000066"/>
              </a:solidFill>
              <a:effectLst/>
              <a:latin typeface="Times New Roman" pitchFamily="18" charset="0"/>
              <a:ea typeface="Calibri"/>
              <a:cs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961325" y="3980671"/>
            <a:ext cx="10508974" cy="822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15000"/>
              </a:lnSpc>
              <a:spcAft>
                <a:spcPts val="1000"/>
              </a:spcAft>
            </a:pPr>
            <a:endParaRPr lang="ru-RU" dirty="0" smtClean="0">
              <a:latin typeface="Times New Roman"/>
              <a:ea typeface="Times New Roman"/>
              <a:cs typeface="Calibri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ru-RU" sz="2000" b="1" kern="1200" dirty="0">
              <a:solidFill>
                <a:srgbClr val="002060"/>
              </a:solidFill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834887" y="1736035"/>
            <a:ext cx="10853530" cy="36635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190500" lvl="0">
              <a:lnSpc>
                <a:spcPct val="115000"/>
              </a:lnSpc>
              <a:spcAft>
                <a:spcPts val="375"/>
              </a:spcAft>
              <a:tabLst>
                <a:tab pos="457200" algn="l"/>
              </a:tabLst>
            </a:pP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In the 6th century the lands of Kazakhstan 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were possessed 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by the mighty Empire – the Turkic </a:t>
            </a:r>
            <a:r>
              <a:rPr lang="en-US" sz="2800" b="1" dirty="0" err="1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Khaganate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, whose rulers came out 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of the 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dynastic </a:t>
            </a:r>
            <a:r>
              <a:rPr lang="en-US" sz="2800" b="1" dirty="0" err="1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Ashina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 clan. </a:t>
            </a:r>
            <a:endParaRPr lang="en-US" sz="2800" b="1" dirty="0" smtClean="0">
              <a:solidFill>
                <a:srgbClr val="000066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  <a:p>
            <a:pPr marR="190500" lvl="0">
              <a:lnSpc>
                <a:spcPct val="115000"/>
              </a:lnSpc>
              <a:spcAft>
                <a:spcPts val="375"/>
              </a:spcAft>
              <a:tabLst>
                <a:tab pos="457200" algn="l"/>
              </a:tabLst>
            </a:pPr>
            <a:endParaRPr lang="en-US" sz="2800" b="1" dirty="0" smtClean="0">
              <a:solidFill>
                <a:srgbClr val="000066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  <a:p>
            <a:pPr marR="190500" lvl="0">
              <a:lnSpc>
                <a:spcPct val="115000"/>
              </a:lnSpc>
              <a:spcAft>
                <a:spcPts val="375"/>
              </a:spcAft>
              <a:tabLst>
                <a:tab pos="457200" algn="l"/>
              </a:tabLst>
            </a:pP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The 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first mention of the </a:t>
            </a:r>
            <a:r>
              <a:rPr lang="en-US" sz="2800" b="1" dirty="0" err="1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ethnonym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 "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Turk" was found in the Chinese sources, dating from 542. 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According to 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the Chinese sources the Turks descended from the Huns (</a:t>
            </a:r>
            <a:r>
              <a:rPr lang="en-US" sz="2800" b="1" dirty="0" err="1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Xiongnu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). </a:t>
            </a:r>
            <a:endParaRPr lang="en-US" sz="2800" b="1" dirty="0" smtClean="0">
              <a:solidFill>
                <a:srgbClr val="000066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70067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-53009" y="0"/>
            <a:ext cx="12322200" cy="693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"/>
          <p:cNvSpPr txBox="1">
            <a:spLocks noGrp="1"/>
          </p:cNvSpPr>
          <p:nvPr>
            <p:ph type="title"/>
          </p:nvPr>
        </p:nvSpPr>
        <p:spPr>
          <a:xfrm>
            <a:off x="450572" y="133974"/>
            <a:ext cx="10641498" cy="1721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400"/>
            </a:pPr>
            <a:r>
              <a:rPr lang="en-US" sz="36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	3</a:t>
            </a:r>
            <a:r>
              <a:rPr lang="en-US" sz="3600" b="1" dirty="0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36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Turkic </a:t>
            </a:r>
            <a:r>
              <a:rPr lang="en-US" sz="3600" b="1" dirty="0" err="1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Khaganate</a:t>
            </a:r>
            <a:r>
              <a:rPr lang="en-US" sz="36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 (552 – 603)</a:t>
            </a:r>
            <a:br>
              <a:rPr lang="en-US" sz="36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600" b="1" dirty="0">
              <a:solidFill>
                <a:srgbClr val="00006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961325" y="4541337"/>
            <a:ext cx="61357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2800" dirty="0">
              <a:solidFill>
                <a:srgbClr val="002060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9379159" y="5066097"/>
            <a:ext cx="184731" cy="3853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endParaRPr lang="ru-RU" sz="1800" dirty="0">
              <a:solidFill>
                <a:srgbClr val="000066"/>
              </a:solidFill>
              <a:effectLst/>
              <a:latin typeface="Times New Roman" pitchFamily="18" charset="0"/>
              <a:ea typeface="Calibri"/>
              <a:cs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961325" y="3980671"/>
            <a:ext cx="10508974" cy="822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15000"/>
              </a:lnSpc>
              <a:spcAft>
                <a:spcPts val="1000"/>
              </a:spcAft>
            </a:pPr>
            <a:endParaRPr lang="ru-RU" dirty="0" smtClean="0">
              <a:latin typeface="Times New Roman"/>
              <a:ea typeface="Times New Roman"/>
              <a:cs typeface="Calibri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ru-RU" sz="2000" b="1" kern="1200" dirty="0">
              <a:solidFill>
                <a:srgbClr val="002060"/>
              </a:solidFill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834887" y="1736035"/>
            <a:ext cx="10853530" cy="2569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190500" lvl="0">
              <a:lnSpc>
                <a:spcPct val="115000"/>
              </a:lnSpc>
              <a:spcAft>
                <a:spcPts val="375"/>
              </a:spcAft>
              <a:tabLst>
                <a:tab pos="457200" algn="l"/>
              </a:tabLst>
            </a:pP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In 552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, the leader of the Turks </a:t>
            </a:r>
            <a:r>
              <a:rPr lang="en-US" sz="2800" b="1" dirty="0" err="1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Bumin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 revolted against their overlords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, the Juan-</a:t>
            </a:r>
            <a:r>
              <a:rPr lang="en-US" sz="2800" b="1" dirty="0" err="1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Juans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 , 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and crushed them. On the ruins of the previous 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state Turks established 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the Turkic Empire. 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During 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the reign </a:t>
            </a:r>
            <a:r>
              <a:rPr lang="en-US" sz="2800" b="1" dirty="0" err="1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Muqan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 </a:t>
            </a:r>
            <a:r>
              <a:rPr lang="en-US" sz="2800" b="1" dirty="0" err="1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Khagan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 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(553-572) the Turkic </a:t>
            </a:r>
            <a:r>
              <a:rPr lang="en-US" sz="2800" b="1" dirty="0" err="1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Khaganate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 reached political supremacy in 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Central Asia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. </a:t>
            </a:r>
            <a:endParaRPr lang="en-US" sz="2800" b="1" dirty="0" smtClean="0">
              <a:solidFill>
                <a:srgbClr val="000066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5268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-130200" y="0"/>
            <a:ext cx="12322200" cy="693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"/>
          <p:cNvSpPr txBox="1">
            <a:spLocks noGrp="1"/>
          </p:cNvSpPr>
          <p:nvPr>
            <p:ph type="title"/>
          </p:nvPr>
        </p:nvSpPr>
        <p:spPr>
          <a:xfrm>
            <a:off x="450572" y="133974"/>
            <a:ext cx="10641498" cy="1721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400"/>
            </a:pPr>
            <a:r>
              <a:rPr lang="en-US" sz="36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	3</a:t>
            </a:r>
            <a:r>
              <a:rPr lang="en-US" sz="3600" b="1" dirty="0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36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Turkic </a:t>
            </a:r>
            <a:r>
              <a:rPr lang="en-US" sz="3600" b="1" dirty="0" err="1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Khaganate</a:t>
            </a:r>
            <a:r>
              <a:rPr lang="en-US" sz="36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 (552 – 603)</a:t>
            </a:r>
            <a:br>
              <a:rPr lang="en-US" sz="36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600" b="1" dirty="0">
              <a:solidFill>
                <a:srgbClr val="00006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961325" y="4541337"/>
            <a:ext cx="61357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2800" dirty="0">
              <a:solidFill>
                <a:srgbClr val="002060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9379159" y="5066097"/>
            <a:ext cx="184731" cy="3853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endParaRPr lang="ru-RU" sz="1800" dirty="0">
              <a:solidFill>
                <a:srgbClr val="000066"/>
              </a:solidFill>
              <a:effectLst/>
              <a:latin typeface="Times New Roman" pitchFamily="18" charset="0"/>
              <a:ea typeface="Calibri"/>
              <a:cs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961325" y="3980671"/>
            <a:ext cx="10508974" cy="822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15000"/>
              </a:lnSpc>
              <a:spcAft>
                <a:spcPts val="1000"/>
              </a:spcAft>
            </a:pPr>
            <a:endParaRPr lang="ru-RU" dirty="0" smtClean="0">
              <a:latin typeface="Times New Roman"/>
              <a:ea typeface="Times New Roman"/>
              <a:cs typeface="Calibri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ru-RU" sz="2000" b="1" kern="1200" dirty="0">
              <a:solidFill>
                <a:srgbClr val="002060"/>
              </a:solidFill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834887" y="1736035"/>
            <a:ext cx="10853530" cy="4603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190500" lvl="0">
              <a:lnSpc>
                <a:spcPct val="115000"/>
              </a:lnSpc>
              <a:spcAft>
                <a:spcPts val="375"/>
              </a:spcAft>
              <a:tabLst>
                <a:tab pos="457200" algn="l"/>
              </a:tabLst>
            </a:pP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In 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561-563 the Turks formed an alliance with Iran against the </a:t>
            </a:r>
            <a:r>
              <a:rPr lang="en-US" sz="2800" b="1" dirty="0" err="1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Hephthalites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. 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T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he </a:t>
            </a:r>
            <a:r>
              <a:rPr lang="en-US" sz="2800" b="1" dirty="0" err="1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Hephthalites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 were defeated by the Turks in 587 near Bukhara. The 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borderland between 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Iran and the 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Turkic </a:t>
            </a:r>
            <a:r>
              <a:rPr lang="en-US" sz="2800" b="1" dirty="0" err="1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Khaganate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 was the Amu Darya River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. After 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the conquest of Central Asia 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the Turks 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took control of the Silk Road leading to the Mediterranean countries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. </a:t>
            </a:r>
          </a:p>
          <a:p>
            <a:pPr marR="190500" lvl="0">
              <a:lnSpc>
                <a:spcPct val="115000"/>
              </a:lnSpc>
              <a:spcAft>
                <a:spcPts val="375"/>
              </a:spcAft>
              <a:tabLst>
                <a:tab pos="457200" algn="l"/>
              </a:tabLst>
            </a:pP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In 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571 </a:t>
            </a:r>
            <a:r>
              <a:rPr lang="en-US" sz="2800" b="1" dirty="0" err="1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Istemi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 conquered the North Caucasus and went to 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the Bosporus. His 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son </a:t>
            </a:r>
            <a:r>
              <a:rPr lang="en-US" sz="2800" b="1" dirty="0" err="1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Turksanf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 captured Kerch and invaded 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the Crimea 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(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576) 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 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but 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soon left the peninsula. 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99961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-236218" y="-31014"/>
            <a:ext cx="12322200" cy="693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"/>
          <p:cNvSpPr txBox="1">
            <a:spLocks noGrp="1"/>
          </p:cNvSpPr>
          <p:nvPr>
            <p:ph type="title"/>
          </p:nvPr>
        </p:nvSpPr>
        <p:spPr>
          <a:xfrm>
            <a:off x="450572" y="133974"/>
            <a:ext cx="10641498" cy="1721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400"/>
            </a:pPr>
            <a:r>
              <a:rPr lang="en-US" sz="36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	3</a:t>
            </a:r>
            <a:r>
              <a:rPr lang="en-US" sz="3600" b="1" dirty="0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36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Economy of the Turkic </a:t>
            </a:r>
            <a:r>
              <a:rPr lang="en-US" sz="3600" b="1" dirty="0" err="1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Khaganate</a:t>
            </a:r>
            <a:r>
              <a:rPr lang="en-US" sz="36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600" b="1" dirty="0">
              <a:solidFill>
                <a:srgbClr val="00006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961325" y="4541337"/>
            <a:ext cx="61357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2800" dirty="0">
              <a:solidFill>
                <a:srgbClr val="002060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9379159" y="5066097"/>
            <a:ext cx="184731" cy="3853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endParaRPr lang="ru-RU" sz="1800" dirty="0">
              <a:solidFill>
                <a:srgbClr val="000066"/>
              </a:solidFill>
              <a:effectLst/>
              <a:latin typeface="Times New Roman" pitchFamily="18" charset="0"/>
              <a:ea typeface="Calibri"/>
              <a:cs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961325" y="3980671"/>
            <a:ext cx="10508974" cy="822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15000"/>
              </a:lnSpc>
              <a:spcAft>
                <a:spcPts val="1000"/>
              </a:spcAft>
            </a:pPr>
            <a:endParaRPr lang="ru-RU" dirty="0" smtClean="0">
              <a:latin typeface="Times New Roman"/>
              <a:ea typeface="Times New Roman"/>
              <a:cs typeface="Calibri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ru-RU" sz="2000" b="1" kern="1200" dirty="0">
              <a:solidFill>
                <a:srgbClr val="002060"/>
              </a:solidFill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18052" y="1736035"/>
            <a:ext cx="11370365" cy="47059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190500" lvl="0">
              <a:lnSpc>
                <a:spcPct val="115000"/>
              </a:lnSpc>
              <a:spcAft>
                <a:spcPts val="375"/>
              </a:spcAft>
              <a:tabLst>
                <a:tab pos="457200" algn="l"/>
              </a:tabLst>
            </a:pP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Nomadic 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Pastoralism: </a:t>
            </a:r>
            <a:r>
              <a:rPr lang="en-US" sz="2800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The core economy relied on livestock raising, particularly horses, which were essential for military and transportation.</a:t>
            </a:r>
          </a:p>
          <a:p>
            <a:pPr marR="190500" lvl="0">
              <a:lnSpc>
                <a:spcPct val="115000"/>
              </a:lnSpc>
              <a:spcAft>
                <a:spcPts val="375"/>
              </a:spcAft>
              <a:tabLst>
                <a:tab pos="457200" algn="l"/>
              </a:tabLst>
            </a:pP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Silk Road Control: </a:t>
            </a:r>
            <a:r>
              <a:rPr lang="en-US" sz="2800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The </a:t>
            </a:r>
            <a:r>
              <a:rPr lang="en-US" sz="2800" dirty="0" err="1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Khaganate</a:t>
            </a:r>
            <a:r>
              <a:rPr lang="en-US" sz="2800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 controlled key trade routes, securing profits from caravans moving between China and the Mediterranean.</a:t>
            </a:r>
          </a:p>
          <a:p>
            <a:pPr marR="190500" lvl="0">
              <a:lnSpc>
                <a:spcPct val="115000"/>
              </a:lnSpc>
              <a:spcAft>
                <a:spcPts val="375"/>
              </a:spcAft>
              <a:tabLst>
                <a:tab pos="457200" algn="l"/>
              </a:tabLst>
            </a:pP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Tribute and Trade: </a:t>
            </a:r>
            <a:r>
              <a:rPr lang="en-US" sz="2800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The Turks extracted substantial silk, luxury goods, and tribute from sedentary neighbors like the Tang Dynasty.</a:t>
            </a:r>
          </a:p>
          <a:p>
            <a:pPr marR="190500" lvl="0">
              <a:lnSpc>
                <a:spcPct val="115000"/>
              </a:lnSpc>
              <a:spcAft>
                <a:spcPts val="375"/>
              </a:spcAft>
              <a:tabLst>
                <a:tab pos="457200" algn="l"/>
              </a:tabLst>
            </a:pP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Urbanization: </a:t>
            </a:r>
            <a:r>
              <a:rPr lang="en-US" sz="2800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While nomadic, the </a:t>
            </a:r>
            <a:r>
              <a:rPr lang="en-US" sz="2800" dirty="0" err="1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Khaganate</a:t>
            </a:r>
            <a:r>
              <a:rPr lang="en-US" sz="2800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, especially in its western territories, fostered urban development in cities like </a:t>
            </a:r>
            <a:r>
              <a:rPr lang="en-US" sz="2800" dirty="0" err="1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Suyab</a:t>
            </a:r>
            <a:r>
              <a:rPr lang="en-US" sz="2800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 and </a:t>
            </a:r>
            <a:r>
              <a:rPr lang="en-US" sz="2800" dirty="0" err="1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Talas</a:t>
            </a:r>
            <a:r>
              <a:rPr lang="en-US" sz="2800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, supported by </a:t>
            </a:r>
            <a:r>
              <a:rPr lang="en-US" sz="2800" dirty="0" err="1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Sogdian</a:t>
            </a:r>
            <a:r>
              <a:rPr lang="en-US" sz="2800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 merchants. </a:t>
            </a:r>
            <a:endParaRPr lang="en-US" sz="2800" dirty="0" smtClean="0">
              <a:solidFill>
                <a:srgbClr val="000066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66599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-130200" y="0"/>
            <a:ext cx="12322200" cy="693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"/>
          <p:cNvSpPr txBox="1">
            <a:spLocks noGrp="1"/>
          </p:cNvSpPr>
          <p:nvPr>
            <p:ph type="title"/>
          </p:nvPr>
        </p:nvSpPr>
        <p:spPr>
          <a:xfrm>
            <a:off x="450572" y="133974"/>
            <a:ext cx="10641498" cy="1721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400"/>
            </a:pPr>
            <a:r>
              <a:rPr lang="en-US" sz="36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	3</a:t>
            </a:r>
            <a:r>
              <a:rPr lang="en-US" sz="3600" b="1" dirty="0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36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Turkic </a:t>
            </a:r>
            <a:r>
              <a:rPr lang="en-US" sz="3600" b="1" dirty="0" err="1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Khaganate</a:t>
            </a:r>
            <a:r>
              <a:rPr lang="en-US" sz="36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 (552 – 603)</a:t>
            </a:r>
            <a:br>
              <a:rPr lang="en-US" sz="36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600" b="1" dirty="0">
              <a:solidFill>
                <a:srgbClr val="00006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961325" y="4541337"/>
            <a:ext cx="61357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2800" dirty="0">
              <a:solidFill>
                <a:srgbClr val="002060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9379159" y="5066097"/>
            <a:ext cx="184731" cy="3853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endParaRPr lang="ru-RU" sz="1800" dirty="0">
              <a:solidFill>
                <a:srgbClr val="000066"/>
              </a:solidFill>
              <a:effectLst/>
              <a:latin typeface="Times New Roman" pitchFamily="18" charset="0"/>
              <a:ea typeface="Calibri"/>
              <a:cs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961325" y="3980671"/>
            <a:ext cx="10508974" cy="822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15000"/>
              </a:lnSpc>
              <a:spcAft>
                <a:spcPts val="1000"/>
              </a:spcAft>
            </a:pPr>
            <a:endParaRPr lang="ru-RU" dirty="0" smtClean="0">
              <a:latin typeface="Times New Roman"/>
              <a:ea typeface="Times New Roman"/>
              <a:cs typeface="Calibri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ru-RU" sz="2000" b="1" kern="1200" dirty="0">
              <a:solidFill>
                <a:srgbClr val="002060"/>
              </a:solidFill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834887" y="1736035"/>
            <a:ext cx="10853530" cy="26725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190500" lvl="0">
              <a:lnSpc>
                <a:spcPct val="115000"/>
              </a:lnSpc>
              <a:spcAft>
                <a:spcPts val="375"/>
              </a:spcAft>
              <a:tabLst>
                <a:tab pos="457200" algn="l"/>
              </a:tabLst>
            </a:pP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Internal 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warfare and social conflicts weakened the </a:t>
            </a:r>
            <a:r>
              <a:rPr lang="en-US" sz="2800" b="1" dirty="0" err="1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Khaganate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. Iran 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got stronger and in 588 defeated the Turks in Herat. Byzantium in 590 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recaptured the 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Bosporus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. </a:t>
            </a:r>
          </a:p>
          <a:p>
            <a:pPr marR="190500" lvl="0">
              <a:lnSpc>
                <a:spcPct val="115000"/>
              </a:lnSpc>
              <a:spcAft>
                <a:spcPts val="375"/>
              </a:spcAft>
              <a:tabLst>
                <a:tab pos="457200" algn="l"/>
              </a:tabLst>
            </a:pPr>
            <a:endParaRPr lang="en-US" sz="2800" b="1" dirty="0" smtClean="0">
              <a:solidFill>
                <a:srgbClr val="000066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  <a:p>
            <a:pPr marR="190500" lvl="0">
              <a:lnSpc>
                <a:spcPct val="115000"/>
              </a:lnSpc>
              <a:spcAft>
                <a:spcPts val="375"/>
              </a:spcAft>
              <a:tabLst>
                <a:tab pos="457200" algn="l"/>
              </a:tabLst>
            </a:pP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In 603 the Turkic </a:t>
            </a:r>
            <a:r>
              <a:rPr lang="en-US" sz="2800" b="1" dirty="0" err="1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Khaganate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 collapsed </a:t>
            </a:r>
          </a:p>
        </p:txBody>
      </p:sp>
    </p:spTree>
    <p:extLst>
      <p:ext uri="{BB962C8B-B14F-4D97-AF65-F5344CB8AC3E}">
        <p14:creationId xmlns:p14="http://schemas.microsoft.com/office/powerpoint/2010/main" val="2727856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-130200" y="0"/>
            <a:ext cx="12322200" cy="693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"/>
          <p:cNvSpPr txBox="1">
            <a:spLocks noGrp="1"/>
          </p:cNvSpPr>
          <p:nvPr>
            <p:ph type="title"/>
          </p:nvPr>
        </p:nvSpPr>
        <p:spPr>
          <a:xfrm>
            <a:off x="450572" y="849591"/>
            <a:ext cx="10641498" cy="1721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400"/>
            </a:pPr>
            <a:r>
              <a:rPr lang="en-US" sz="36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Tribal Unions 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on the territory of 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Kazakhstan: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8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 err="1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Sakas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b="1" dirty="0" err="1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Wusuns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b="1" dirty="0" err="1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Kangjus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, Huns</a:t>
            </a:r>
            <a:br>
              <a:rPr lang="en-US" sz="28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800" b="1" dirty="0">
              <a:solidFill>
                <a:srgbClr val="00006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961325" y="4541337"/>
            <a:ext cx="61357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2800" dirty="0">
              <a:solidFill>
                <a:srgbClr val="002060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9379159" y="5066097"/>
            <a:ext cx="184731" cy="3853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endParaRPr lang="ru-RU" sz="1800" dirty="0">
              <a:solidFill>
                <a:srgbClr val="000066"/>
              </a:solidFill>
              <a:effectLst/>
              <a:latin typeface="Times New Roman" pitchFamily="18" charset="0"/>
              <a:ea typeface="Calibri"/>
              <a:cs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961325" y="3980671"/>
            <a:ext cx="10508974" cy="822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15000"/>
              </a:lnSpc>
              <a:spcAft>
                <a:spcPts val="1000"/>
              </a:spcAft>
            </a:pPr>
            <a:endParaRPr lang="ru-RU" dirty="0" smtClean="0">
              <a:latin typeface="Times New Roman"/>
              <a:ea typeface="Times New Roman"/>
              <a:cs typeface="Calibri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ru-RU" sz="2000" b="1" kern="1200" dirty="0">
              <a:solidFill>
                <a:srgbClr val="002060"/>
              </a:solidFill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109654"/>
              </p:ext>
            </p:extLst>
          </p:nvPr>
        </p:nvGraphicFramePr>
        <p:xfrm>
          <a:off x="2395267" y="3243397"/>
          <a:ext cx="7742646" cy="216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7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2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92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31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Formation and</a:t>
                      </a:r>
                      <a:r>
                        <a:rPr lang="en-US" sz="2800" baseline="0" dirty="0" smtClean="0"/>
                        <a:t> period</a:t>
                      </a:r>
                      <a:r>
                        <a:rPr lang="en-US" sz="2800" dirty="0" smtClean="0"/>
                        <a:t> of existence</a:t>
                      </a:r>
                      <a:r>
                        <a:rPr lang="en-US" sz="2800" baseline="0" dirty="0" smtClean="0"/>
                        <a:t> 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Territory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Political</a:t>
                      </a:r>
                      <a:r>
                        <a:rPr lang="en-US" sz="2800" baseline="0" dirty="0" smtClean="0"/>
                        <a:t> History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Reasons of Collapse</a:t>
                      </a:r>
                      <a:endParaRPr lang="ru-R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2626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-130200" y="0"/>
            <a:ext cx="12322200" cy="693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"/>
          <p:cNvSpPr txBox="1">
            <a:spLocks noGrp="1"/>
          </p:cNvSpPr>
          <p:nvPr>
            <p:ph type="title"/>
          </p:nvPr>
        </p:nvSpPr>
        <p:spPr>
          <a:xfrm>
            <a:off x="450572" y="849591"/>
            <a:ext cx="10641498" cy="1721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ts val="4400"/>
            </a:pPr>
            <a:r>
              <a:rPr lang="en-US" sz="36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Early 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medieval states on the territory of 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Kazakhstan: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8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 err="1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Turgeshes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, Karluks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 Oghuz state, States 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sz="2800" b="1" dirty="0" err="1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Kimaks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800" b="1" dirty="0" err="1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Kipchaks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Naimans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b="1" dirty="0" err="1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Kereys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800" b="1" dirty="0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Karakhanids</a:t>
            </a: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sz="28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8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800" b="1" dirty="0">
              <a:solidFill>
                <a:srgbClr val="00006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961325" y="4541337"/>
            <a:ext cx="61357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2800" dirty="0">
              <a:solidFill>
                <a:srgbClr val="002060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9379159" y="5066097"/>
            <a:ext cx="184731" cy="3853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endParaRPr lang="ru-RU" sz="1800" dirty="0">
              <a:solidFill>
                <a:srgbClr val="000066"/>
              </a:solidFill>
              <a:effectLst/>
              <a:latin typeface="Times New Roman" pitchFamily="18" charset="0"/>
              <a:ea typeface="Calibri"/>
              <a:cs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961325" y="3980671"/>
            <a:ext cx="10508974" cy="822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15000"/>
              </a:lnSpc>
              <a:spcAft>
                <a:spcPts val="1000"/>
              </a:spcAft>
            </a:pPr>
            <a:endParaRPr lang="ru-RU" dirty="0" smtClean="0">
              <a:latin typeface="Times New Roman"/>
              <a:ea typeface="Times New Roman"/>
              <a:cs typeface="Calibri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ru-RU" sz="2000" b="1" kern="1200" dirty="0">
              <a:solidFill>
                <a:srgbClr val="002060"/>
              </a:solidFill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921087"/>
              </p:ext>
            </p:extLst>
          </p:nvPr>
        </p:nvGraphicFramePr>
        <p:xfrm>
          <a:off x="2822719" y="3289449"/>
          <a:ext cx="6983892" cy="137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5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59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59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59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Formation and</a:t>
                      </a:r>
                      <a:r>
                        <a:rPr lang="en-US" sz="2000" baseline="0" dirty="0" smtClean="0"/>
                        <a:t> y</a:t>
                      </a:r>
                      <a:r>
                        <a:rPr lang="en-US" sz="2000" dirty="0" smtClean="0"/>
                        <a:t>ears of existence</a:t>
                      </a:r>
                      <a:r>
                        <a:rPr lang="en-US" sz="2000" baseline="0" dirty="0" smtClean="0"/>
                        <a:t> 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Territory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Political</a:t>
                      </a:r>
                      <a:r>
                        <a:rPr lang="en-US" sz="2000" baseline="0" dirty="0" smtClean="0"/>
                        <a:t> History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Reasons of Collapse</a:t>
                      </a:r>
                      <a:endParaRPr lang="ru-RU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6995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29384</TotalTime>
  <Words>615</Words>
  <Application>Microsoft Office PowerPoint</Application>
  <PresentationFormat>Широкоэкранный</PresentationFormat>
  <Paragraphs>58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Тема Office</vt:lpstr>
      <vt:lpstr>   History of Kazakhstan   LECTURE № 2  Nomadism, Iron Age and Turks</vt:lpstr>
      <vt:lpstr>Content</vt:lpstr>
      <vt:lpstr> 1. Nomadism  </vt:lpstr>
      <vt:lpstr> 1. Nomadism  </vt:lpstr>
      <vt:lpstr> 2. Iron Age on the territory of Kazakhstan</vt:lpstr>
      <vt:lpstr> 2. Iron Age on the territory of Kazakhstan</vt:lpstr>
      <vt:lpstr> 3. Turkic Khaganate (552 – 603) </vt:lpstr>
      <vt:lpstr> 3. Turkic Khaganate (552 – 603) </vt:lpstr>
      <vt:lpstr> 3. Turkic Khaganate (552 – 603) </vt:lpstr>
      <vt:lpstr> 3. Economy of the Turkic Khaganate </vt:lpstr>
      <vt:lpstr> 3. Turkic Khaganate (552 – 603) </vt:lpstr>
      <vt:lpstr> Tribal Unions on the territory of Kazakhstan: Sakas, Wusuns, Kangjus, Huns </vt:lpstr>
      <vt:lpstr> Early medieval states on the territory of Kazakhstan: Turgeshes, Karluks, Oghuz state, States of Kimaks and Kipchaks,  Naimans, Kereys, Karakhanids.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слайда</dc:title>
  <dc:creator>Игорь Александрович</dc:creator>
  <cp:lastModifiedBy>Huawei</cp:lastModifiedBy>
  <cp:revision>315</cp:revision>
  <dcterms:created xsi:type="dcterms:W3CDTF">2019-10-31T16:45:05Z</dcterms:created>
  <dcterms:modified xsi:type="dcterms:W3CDTF">2026-01-26T04:38:14Z</dcterms:modified>
</cp:coreProperties>
</file>