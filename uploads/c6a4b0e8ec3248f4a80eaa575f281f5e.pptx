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1.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59" r:id="rId5"/>
    <p:sldId id="261" r:id="rId6"/>
    <p:sldId id="262" r:id="rId7"/>
    <p:sldId id="263" r:id="rId8"/>
    <p:sldId id="264" r:id="rId9"/>
    <p:sldId id="265" r:id="rId10"/>
    <p:sldId id="266" r:id="rId11"/>
    <p:sldId id="257"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2" d="100"/>
          <a:sy n="52" d="100"/>
        </p:scale>
        <p:origin x="108" y="5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45137B91-BFC9-4D1D-9927-EB3B3630A3A4}" type="datetimeFigureOut">
              <a:rPr lang="en-US" smtClean="0"/>
              <a:t>1/30/2024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95749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45137B91-BFC9-4D1D-9927-EB3B3630A3A4}" type="datetimeFigureOut">
              <a:rPr lang="en-US" smtClean="0"/>
              <a:t>1/30/2024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178182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45137B91-BFC9-4D1D-9927-EB3B3630A3A4}" type="datetimeFigureOut">
              <a:rPr lang="en-US" smtClean="0"/>
              <a:t>1/30/2024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1650738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45137B91-BFC9-4D1D-9927-EB3B3630A3A4}" type="datetimeFigureOut">
              <a:rPr lang="en-US" smtClean="0"/>
              <a:t>1/30/2024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2726476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45137B91-BFC9-4D1D-9927-EB3B3630A3A4}" type="datetimeFigureOut">
              <a:rPr lang="en-US" smtClean="0"/>
              <a:t>1/30/2024</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3296680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45137B91-BFC9-4D1D-9927-EB3B3630A3A4}" type="datetimeFigureOut">
              <a:rPr lang="en-US" smtClean="0"/>
              <a:t>1/30/2024</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1684548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5137B91-BFC9-4D1D-9927-EB3B3630A3A4}" type="datetimeFigureOut">
              <a:rPr lang="en-US" smtClean="0"/>
              <a:t>1/30/2024</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3645513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5137B91-BFC9-4D1D-9927-EB3B3630A3A4}" type="datetimeFigureOut">
              <a:rPr lang="en-US" smtClean="0"/>
              <a:t>1/30/2024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3281569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5137B91-BFC9-4D1D-9927-EB3B3630A3A4}" type="datetimeFigureOut">
              <a:rPr lang="en-US" smtClean="0"/>
              <a:t>1/30/2024</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2645495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45137B91-BFC9-4D1D-9927-EB3B3630A3A4}" type="datetimeFigureOut">
              <a:rPr lang="en-US" smtClean="0"/>
              <a:t>1/30/2024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1266384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45137B91-BFC9-4D1D-9927-EB3B3630A3A4}" type="datetimeFigureOut">
              <a:rPr lang="en-US" smtClean="0"/>
              <a:t>1/30/2024</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6D3B12F4-B7A3-4C54-A03C-4A87E5B178AF}" type="slidenum">
              <a:rPr lang="en-US" smtClean="0"/>
              <a:t>‹#›</a:t>
            </a:fld>
            <a:endParaRPr lang="en-US"/>
          </a:p>
        </p:txBody>
      </p:sp>
    </p:spTree>
    <p:extLst>
      <p:ext uri="{BB962C8B-B14F-4D97-AF65-F5344CB8AC3E}">
        <p14:creationId xmlns:p14="http://schemas.microsoft.com/office/powerpoint/2010/main" val="1333914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137B91-BFC9-4D1D-9927-EB3B3630A3A4}" type="datetimeFigureOut">
              <a:rPr lang="en-US" smtClean="0"/>
              <a:t>1/30/2024</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3B12F4-B7A3-4C54-A03C-4A87E5B178AF}" type="slidenum">
              <a:rPr lang="en-US" smtClean="0"/>
              <a:t>‹#›</a:t>
            </a:fld>
            <a:endParaRPr lang="en-US"/>
          </a:p>
        </p:txBody>
      </p:sp>
    </p:spTree>
    <p:extLst>
      <p:ext uri="{BB962C8B-B14F-4D97-AF65-F5344CB8AC3E}">
        <p14:creationId xmlns:p14="http://schemas.microsoft.com/office/powerpoint/2010/main" val="3175277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301809" y="1256232"/>
            <a:ext cx="9144000" cy="1367327"/>
          </a:xfrm>
        </p:spPr>
        <p:txBody>
          <a:bodyPr>
            <a:normAutofit fontScale="90000"/>
          </a:bodyPr>
          <a:lstStyle/>
          <a:p>
            <a:r>
              <a:rPr lang="en-US" dirty="0" smtClean="0"/>
              <a:t>Computer mathematics</a:t>
            </a:r>
            <a:br>
              <a:rPr lang="en-US" dirty="0" smtClean="0"/>
            </a:br>
            <a:r>
              <a:rPr lang="en-US" dirty="0" smtClean="0"/>
              <a:t>Lection 1</a:t>
            </a:r>
            <a:endParaRPr lang="en-US" dirty="0"/>
          </a:p>
        </p:txBody>
      </p:sp>
      <p:sp>
        <p:nvSpPr>
          <p:cNvPr id="3" name="Подзаголовок 2"/>
          <p:cNvSpPr>
            <a:spLocks noGrp="1"/>
          </p:cNvSpPr>
          <p:nvPr>
            <p:ph type="subTitle" idx="1"/>
          </p:nvPr>
        </p:nvSpPr>
        <p:spPr>
          <a:xfrm>
            <a:off x="1216351" y="3456760"/>
            <a:ext cx="9144000" cy="1655762"/>
          </a:xfrm>
        </p:spPr>
        <p:txBody>
          <a:bodyPr>
            <a:normAutofit/>
          </a:bodyPr>
          <a:lstStyle/>
          <a:p>
            <a:r>
              <a:rPr lang="en-US" sz="6600" dirty="0" smtClean="0"/>
              <a:t>Introduction</a:t>
            </a:r>
            <a:endParaRPr lang="en-US" sz="6600" dirty="0"/>
          </a:p>
        </p:txBody>
      </p:sp>
    </p:spTree>
    <p:extLst>
      <p:ext uri="{BB962C8B-B14F-4D97-AF65-F5344CB8AC3E}">
        <p14:creationId xmlns:p14="http://schemas.microsoft.com/office/powerpoint/2010/main" val="1056805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50078" y="507626"/>
            <a:ext cx="11197839" cy="1200329"/>
          </a:xfrm>
          <a:prstGeom prst="rect">
            <a:avLst/>
          </a:prstGeom>
        </p:spPr>
        <p:txBody>
          <a:bodyPr wrap="square">
            <a:spAutoFit/>
          </a:bodyPr>
          <a:lstStyle/>
          <a:p>
            <a:pPr indent="358775"/>
            <a:r>
              <a:rPr lang="en-US" b="1" dirty="0" smtClean="0"/>
              <a:t>The purpose of the course </a:t>
            </a:r>
            <a:r>
              <a:rPr lang="en-US" dirty="0" smtClean="0"/>
              <a:t>is to provide students with a modern tool for solving practical, but time-consuming mathematical problems arising in both engineering and socio-economic research. Students should be aware of the goals and objectives of the theory of symbolic, graphical and numerical calculations, their role and place in solving modern problems arising in management.</a:t>
            </a:r>
            <a:endParaRPr lang="en-US" dirty="0"/>
          </a:p>
        </p:txBody>
      </p:sp>
      <p:sp>
        <p:nvSpPr>
          <p:cNvPr id="5" name="Прямоугольник 4"/>
          <p:cNvSpPr/>
          <p:nvPr/>
        </p:nvSpPr>
        <p:spPr>
          <a:xfrm>
            <a:off x="450078" y="2438991"/>
            <a:ext cx="10796187" cy="3169970"/>
          </a:xfrm>
          <a:prstGeom prst="rect">
            <a:avLst/>
          </a:prstGeom>
        </p:spPr>
        <p:txBody>
          <a:bodyPr wrap="square">
            <a:spAutoFit/>
          </a:bodyPr>
          <a:lstStyle/>
          <a:p>
            <a:pPr algn="just">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As a result of studying the discipline</a:t>
            </a:r>
            <a:r>
              <a:rPr lang="en-US" dirty="0">
                <a:latin typeface="Calibri" panose="020F0502020204030204" pitchFamily="34" charset="0"/>
                <a:ea typeface="Calibri" panose="020F0502020204030204" pitchFamily="34" charset="0"/>
                <a:cs typeface="Times New Roman" panose="02020603050405020304" pitchFamily="18" charset="0"/>
              </a:rPr>
              <a:t>, students must:</a:t>
            </a:r>
          </a:p>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smtClean="0">
                <a:latin typeface="Calibri" panose="020F0502020204030204" pitchFamily="34" charset="0"/>
                <a:ea typeface="Calibri" panose="020F0502020204030204" pitchFamily="34" charset="0"/>
                <a:cs typeface="Times New Roman" panose="02020603050405020304" pitchFamily="18" charset="0"/>
              </a:rPr>
              <a:t>to know </a:t>
            </a:r>
            <a:r>
              <a:rPr lang="en-US" dirty="0">
                <a:latin typeface="Calibri" panose="020F0502020204030204" pitchFamily="34" charset="0"/>
                <a:ea typeface="Calibri" panose="020F0502020204030204" pitchFamily="34" charset="0"/>
                <a:cs typeface="Times New Roman" panose="02020603050405020304" pitchFamily="18" charset="0"/>
              </a:rPr>
              <a:t>modern computational algorithms for solving various applied problems arising from mathematical modeling of real processes and phenomena, with their subsequent implementation on a computer;</a:t>
            </a:r>
          </a:p>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smtClean="0">
                <a:latin typeface="Calibri" panose="020F0502020204030204" pitchFamily="34" charset="0"/>
                <a:ea typeface="Calibri" panose="020F0502020204030204" pitchFamily="34" charset="0"/>
                <a:cs typeface="Times New Roman" panose="02020603050405020304" pitchFamily="18" charset="0"/>
              </a:rPr>
              <a:t>be able </a:t>
            </a:r>
            <a:r>
              <a:rPr lang="en-US" dirty="0">
                <a:latin typeface="Calibri" panose="020F0502020204030204" pitchFamily="34" charset="0"/>
                <a:ea typeface="Calibri" panose="020F0502020204030204" pitchFamily="34" charset="0"/>
                <a:cs typeface="Times New Roman" panose="02020603050405020304" pitchFamily="18" charset="0"/>
              </a:rPr>
              <a:t>to independently implement algorithms for solving mathematical problems using modern computer mathematics systems;</a:t>
            </a:r>
          </a:p>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smtClean="0">
                <a:latin typeface="Calibri" panose="020F0502020204030204" pitchFamily="34" charset="0"/>
                <a:ea typeface="Calibri" panose="020F0502020204030204" pitchFamily="34" charset="0"/>
                <a:cs typeface="Times New Roman" panose="02020603050405020304" pitchFamily="18" charset="0"/>
              </a:rPr>
              <a:t>possess the </a:t>
            </a:r>
            <a:r>
              <a:rPr lang="en-US" dirty="0">
                <a:latin typeface="Calibri" panose="020F0502020204030204" pitchFamily="34" charset="0"/>
                <a:ea typeface="Calibri" panose="020F0502020204030204" pitchFamily="34" charset="0"/>
                <a:cs typeface="Times New Roman" panose="02020603050405020304" pitchFamily="18" charset="0"/>
              </a:rPr>
              <a:t>skills to use modern computational algorithms for solving a variety of applied problems arising from mathematical modeling of real processes and phenomena, followed by their implementation on a computer;</a:t>
            </a:r>
          </a:p>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smtClean="0">
                <a:latin typeface="Calibri" panose="020F0502020204030204" pitchFamily="34" charset="0"/>
                <a:ea typeface="Calibri" panose="020F0502020204030204" pitchFamily="34" charset="0"/>
                <a:cs typeface="Times New Roman" panose="02020603050405020304" pitchFamily="18" charset="0"/>
              </a:rPr>
              <a:t>demonstrate the </a:t>
            </a:r>
            <a:r>
              <a:rPr lang="en-US" dirty="0">
                <a:latin typeface="Calibri" panose="020F0502020204030204" pitchFamily="34" charset="0"/>
                <a:ea typeface="Calibri" panose="020F0502020204030204" pitchFamily="34" charset="0"/>
                <a:cs typeface="Times New Roman" panose="02020603050405020304" pitchFamily="18" charset="0"/>
              </a:rPr>
              <a:t>ability to work independently with both educational and special mathematical literature, as well as with electronic educational resources, to extract and consciously apply the acquired knowledge.</a:t>
            </a:r>
          </a:p>
        </p:txBody>
      </p:sp>
    </p:spTree>
    <p:extLst>
      <p:ext uri="{BB962C8B-B14F-4D97-AF65-F5344CB8AC3E}">
        <p14:creationId xmlns:p14="http://schemas.microsoft.com/office/powerpoint/2010/main" val="2251039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997696" y="551273"/>
            <a:ext cx="5837688" cy="468077"/>
          </a:xfrm>
          <a:prstGeom prst="rect">
            <a:avLst/>
          </a:prstGeom>
        </p:spPr>
        <p:txBody>
          <a:bodyPr wrap="none">
            <a:spAutoFit/>
          </a:bodyPr>
          <a:lstStyle/>
          <a:p>
            <a:pPr algn="just">
              <a:lnSpc>
                <a:spcPct val="107000"/>
              </a:lnSpc>
              <a:spcAft>
                <a:spcPts val="800"/>
              </a:spcAft>
            </a:pPr>
            <a:r>
              <a:rPr lang="uk-UA" sz="2400" b="1" dirty="0" err="1">
                <a:latin typeface="Times New Roman" panose="02020603050405020304" pitchFamily="18" charset="0"/>
                <a:ea typeface="Calibri" panose="020F0502020204030204" pitchFamily="34" charset="0"/>
                <a:cs typeface="Times New Roman" panose="02020603050405020304" pitchFamily="18" charset="0"/>
              </a:rPr>
              <a:t>Methods</a:t>
            </a:r>
            <a:r>
              <a:rPr lang="uk-UA" sz="2400" b="1" dirty="0">
                <a:latin typeface="Times New Roman" panose="02020603050405020304" pitchFamily="18" charset="0"/>
                <a:ea typeface="Calibri" panose="020F0502020204030204" pitchFamily="34" charset="0"/>
                <a:cs typeface="Times New Roman" panose="02020603050405020304" pitchFamily="18" charset="0"/>
              </a:rPr>
              <a:t> </a:t>
            </a:r>
            <a:r>
              <a:rPr lang="uk-UA" sz="2400" b="1" dirty="0" err="1">
                <a:latin typeface="Times New Roman" panose="02020603050405020304" pitchFamily="18" charset="0"/>
                <a:ea typeface="Calibri" panose="020F0502020204030204" pitchFamily="34" charset="0"/>
                <a:cs typeface="Times New Roman" panose="02020603050405020304" pitchFamily="18" charset="0"/>
              </a:rPr>
              <a:t>of</a:t>
            </a:r>
            <a:r>
              <a:rPr lang="uk-UA" sz="2400" b="1" dirty="0">
                <a:latin typeface="Times New Roman" panose="02020603050405020304" pitchFamily="18" charset="0"/>
                <a:ea typeface="Calibri" panose="020F0502020204030204" pitchFamily="34" charset="0"/>
                <a:cs typeface="Times New Roman" panose="02020603050405020304" pitchFamily="18" charset="0"/>
              </a:rPr>
              <a:t> </a:t>
            </a:r>
            <a:r>
              <a:rPr lang="uk-UA" sz="2400" b="1" dirty="0" err="1">
                <a:latin typeface="Times New Roman" panose="02020603050405020304" pitchFamily="18" charset="0"/>
                <a:ea typeface="Calibri" panose="020F0502020204030204" pitchFamily="34" charset="0"/>
                <a:cs typeface="Times New Roman" panose="02020603050405020304" pitchFamily="18" charset="0"/>
              </a:rPr>
              <a:t>solving</a:t>
            </a:r>
            <a:r>
              <a:rPr lang="uk-UA" sz="2400" b="1" dirty="0">
                <a:latin typeface="Times New Roman" panose="02020603050405020304" pitchFamily="18" charset="0"/>
                <a:ea typeface="Calibri" panose="020F0502020204030204" pitchFamily="34" charset="0"/>
                <a:cs typeface="Times New Roman" panose="02020603050405020304" pitchFamily="18" charset="0"/>
              </a:rPr>
              <a:t> </a:t>
            </a:r>
            <a:r>
              <a:rPr lang="uk-UA" sz="2400" b="1" dirty="0" err="1">
                <a:latin typeface="Times New Roman" panose="02020603050405020304" pitchFamily="18" charset="0"/>
                <a:ea typeface="Calibri" panose="020F0502020204030204" pitchFamily="34" charset="0"/>
                <a:cs typeface="Times New Roman" panose="02020603050405020304" pitchFamily="18" charset="0"/>
              </a:rPr>
              <a:t>mathematical</a:t>
            </a:r>
            <a:r>
              <a:rPr lang="uk-UA" sz="2400" b="1" dirty="0">
                <a:latin typeface="Times New Roman" panose="02020603050405020304" pitchFamily="18" charset="0"/>
                <a:ea typeface="Calibri" panose="020F0502020204030204" pitchFamily="34" charset="0"/>
                <a:cs typeface="Times New Roman" panose="02020603050405020304" pitchFamily="18" charset="0"/>
              </a:rPr>
              <a:t> </a:t>
            </a:r>
            <a:r>
              <a:rPr lang="uk-UA" sz="2400" b="1" dirty="0" err="1">
                <a:latin typeface="Times New Roman" panose="02020603050405020304" pitchFamily="18" charset="0"/>
                <a:ea typeface="Calibri" panose="020F0502020204030204" pitchFamily="34" charset="0"/>
                <a:cs typeface="Times New Roman" panose="02020603050405020304" pitchFamily="18" charset="0"/>
              </a:rPr>
              <a:t>problems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Прямоугольник 4"/>
          <p:cNvSpPr/>
          <p:nvPr/>
        </p:nvSpPr>
        <p:spPr>
          <a:xfrm>
            <a:off x="1014099" y="1781237"/>
            <a:ext cx="9548501" cy="1200329"/>
          </a:xfrm>
          <a:prstGeom prst="rect">
            <a:avLst/>
          </a:prstGeom>
        </p:spPr>
        <p:txBody>
          <a:bodyPr wrap="square">
            <a:spAutoFit/>
          </a:bodyPr>
          <a:lstStyle/>
          <a:p>
            <a:pPr indent="358775"/>
            <a:r>
              <a:rPr lang="en-US" dirty="0" smtClean="0"/>
              <a:t>The following main groups of methods are used to solve mathematical problems:</a:t>
            </a:r>
          </a:p>
          <a:p>
            <a:pPr marL="285750" indent="-285750">
              <a:buFont typeface="Arial" panose="020B0604020202020204" pitchFamily="34" charset="0"/>
              <a:buChar char="•"/>
            </a:pPr>
            <a:r>
              <a:rPr lang="en-US" dirty="0" smtClean="0"/>
              <a:t>Graphic</a:t>
            </a:r>
          </a:p>
          <a:p>
            <a:pPr marL="285750" indent="-285750">
              <a:buFont typeface="Arial" panose="020B0604020202020204" pitchFamily="34" charset="0"/>
              <a:buChar char="•"/>
            </a:pPr>
            <a:r>
              <a:rPr lang="en-US" dirty="0" smtClean="0"/>
              <a:t>Analytical</a:t>
            </a:r>
          </a:p>
          <a:p>
            <a:pPr marL="285750" indent="-285750">
              <a:buFont typeface="Arial" panose="020B0604020202020204" pitchFamily="34" charset="0"/>
              <a:buChar char="•"/>
            </a:pPr>
            <a:r>
              <a:rPr lang="en-US" dirty="0" smtClean="0"/>
              <a:t>Numerical</a:t>
            </a:r>
            <a:endParaRPr lang="en-US" dirty="0"/>
          </a:p>
        </p:txBody>
      </p:sp>
      <p:sp>
        <p:nvSpPr>
          <p:cNvPr id="6" name="Прямоугольник 5"/>
          <p:cNvSpPr/>
          <p:nvPr/>
        </p:nvSpPr>
        <p:spPr>
          <a:xfrm>
            <a:off x="1082465" y="3384529"/>
            <a:ext cx="10180892" cy="1529301"/>
          </a:xfrm>
          <a:prstGeom prst="rect">
            <a:avLst/>
          </a:prstGeom>
        </p:spPr>
        <p:txBody>
          <a:bodyPr wrap="square">
            <a:spAutoFit/>
          </a:bodyPr>
          <a:lstStyle/>
          <a:p>
            <a:pPr algn="just">
              <a:lnSpc>
                <a:spcPct val="107000"/>
              </a:lnSpc>
              <a:spcAft>
                <a:spcPts val="800"/>
              </a:spcAft>
            </a:pPr>
            <a:r>
              <a:rPr lang="ru-RU" b="1" dirty="0" err="1">
                <a:latin typeface="Times New Roman" panose="02020603050405020304" pitchFamily="18" charset="0"/>
                <a:ea typeface="Calibri" panose="020F0502020204030204" pitchFamily="34" charset="0"/>
                <a:cs typeface="Times New Roman" panose="02020603050405020304" pitchFamily="18" charset="0"/>
              </a:rPr>
              <a:t>Graphical</a:t>
            </a:r>
            <a:r>
              <a:rPr lang="ru-RU" b="1" dirty="0">
                <a:latin typeface="Times New Roman" panose="02020603050405020304" pitchFamily="18" charset="0"/>
                <a:ea typeface="Calibri" panose="020F0502020204030204" pitchFamily="34" charset="0"/>
                <a:cs typeface="Times New Roman" panose="02020603050405020304" pitchFamily="18" charset="0"/>
              </a:rPr>
              <a:t> </a:t>
            </a:r>
            <a:r>
              <a:rPr lang="ru-RU" b="1" dirty="0" err="1">
                <a:latin typeface="Times New Roman" panose="02020603050405020304" pitchFamily="18" charset="0"/>
                <a:ea typeface="Calibri" panose="020F0502020204030204" pitchFamily="34" charset="0"/>
                <a:cs typeface="Times New Roman" panose="02020603050405020304" pitchFamily="18" charset="0"/>
              </a:rPr>
              <a:t>methods</a:t>
            </a:r>
            <a:r>
              <a:rPr lang="ru-RU" b="1" dirty="0">
                <a:latin typeface="Times New Roman" panose="02020603050405020304" pitchFamily="18" charset="0"/>
                <a:ea typeface="Calibri" panose="020F0502020204030204" pitchFamily="34" charset="0"/>
                <a:cs typeface="Times New Roman" panose="02020603050405020304" pitchFamily="18" charset="0"/>
              </a:rPr>
              <a:t>: </a:t>
            </a: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dirty="0" smtClean="0">
                <a:latin typeface="Times New Roman" panose="02020603050405020304" pitchFamily="18" charset="0"/>
                <a:ea typeface="Calibri" panose="020F0502020204030204" pitchFamily="34" charset="0"/>
                <a:cs typeface="Times New Roman" panose="02020603050405020304" pitchFamily="18" charset="0"/>
              </a:rPr>
              <a:t>The </a:t>
            </a:r>
            <a:r>
              <a:rPr lang="en-US" dirty="0">
                <a:latin typeface="Times New Roman" panose="02020603050405020304" pitchFamily="18" charset="0"/>
                <a:ea typeface="Calibri" panose="020F0502020204030204" pitchFamily="34" charset="0"/>
                <a:cs typeface="Times New Roman" panose="02020603050405020304" pitchFamily="18" charset="0"/>
              </a:rPr>
              <a:t>basic idea is that the solution is found by geometric constructions.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Example: to find the roots of the equation f(x)=0, a graph of the function y=f(x) is plotted, the intersection points of which with the axis of the abscissa will be the desired roots.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4618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76470" y="1303863"/>
            <a:ext cx="10505630" cy="3785652"/>
          </a:xfrm>
          <a:prstGeom prst="rect">
            <a:avLst/>
          </a:prstGeom>
        </p:spPr>
        <p:txBody>
          <a:bodyPr wrap="square">
            <a:spAutoFit/>
          </a:bodyPr>
          <a:lstStyle/>
          <a:p>
            <a:pPr algn="just"/>
            <a:r>
              <a:rPr lang="en-US" sz="2400" b="1" dirty="0" smtClean="0"/>
              <a:t>Graphical visualization of calculation results:</a:t>
            </a:r>
            <a:endParaRPr lang="kk-KZ" sz="2400" b="1" dirty="0" smtClean="0"/>
          </a:p>
          <a:p>
            <a:pPr algn="just"/>
            <a:r>
              <a:rPr lang="en-US" dirty="0" smtClean="0"/>
              <a:t>– plotting of many functions;</a:t>
            </a:r>
            <a:endParaRPr lang="kk-KZ" dirty="0" smtClean="0"/>
          </a:p>
          <a:p>
            <a:pPr algn="just"/>
            <a:r>
              <a:rPr lang="en-US" dirty="0" smtClean="0"/>
              <a:t>– various types of axes (with linear and logarithmic scales);</a:t>
            </a:r>
            <a:endParaRPr lang="kk-KZ" dirty="0" smtClean="0"/>
          </a:p>
          <a:p>
            <a:pPr algn="just"/>
            <a:r>
              <a:rPr lang="en-US" dirty="0" smtClean="0"/>
              <a:t>– graphs of functions in coordinate systems;</a:t>
            </a:r>
            <a:endParaRPr lang="kk-KZ" dirty="0" smtClean="0"/>
          </a:p>
          <a:p>
            <a:pPr algn="just"/>
            <a:r>
              <a:rPr lang="en-US" dirty="0" smtClean="0"/>
              <a:t>– special types of graphs (array points, vector graphs, level diagrams, etc.);</a:t>
            </a:r>
            <a:endParaRPr lang="kk-KZ" dirty="0" smtClean="0"/>
          </a:p>
          <a:p>
            <a:pPr algn="just"/>
            <a:r>
              <a:rPr lang="en-US" dirty="0" smtClean="0"/>
              <a:t>– user-defined coordinate systems;</a:t>
            </a:r>
            <a:endParaRPr lang="kk-KZ" dirty="0" smtClean="0"/>
          </a:p>
          <a:p>
            <a:pPr algn="just"/>
            <a:r>
              <a:rPr lang="en-US" dirty="0" smtClean="0"/>
              <a:t>– graphs representing solutions of differential equations;</a:t>
            </a:r>
            <a:endParaRPr lang="kk-KZ" dirty="0" smtClean="0"/>
          </a:p>
          <a:p>
            <a:pPr algn="just"/>
            <a:r>
              <a:rPr lang="en-US" dirty="0" smtClean="0"/>
              <a:t>– graphs of three-dimensional surfaces with functional coloring;</a:t>
            </a:r>
            <a:endParaRPr lang="kk-KZ" dirty="0" smtClean="0"/>
          </a:p>
          <a:p>
            <a:pPr algn="just"/>
            <a:r>
              <a:rPr lang="en-US" dirty="0" smtClean="0"/>
              <a:t>– construction of objects intersecting in space;</a:t>
            </a:r>
            <a:endParaRPr lang="kk-KZ" dirty="0" smtClean="0"/>
          </a:p>
          <a:p>
            <a:pPr algn="just"/>
            <a:r>
              <a:rPr lang="en-US" dirty="0" smtClean="0"/>
              <a:t>– user's assignment of graph coloring;</a:t>
            </a:r>
            <a:endParaRPr lang="kk-KZ" dirty="0" smtClean="0"/>
          </a:p>
          <a:p>
            <a:pPr algn="just"/>
            <a:r>
              <a:rPr lang="en-US" dirty="0" smtClean="0"/>
              <a:t>– import graphs from other packages and software systems;</a:t>
            </a:r>
            <a:endParaRPr lang="kk-KZ" dirty="0" smtClean="0"/>
          </a:p>
          <a:p>
            <a:pPr algn="just"/>
            <a:r>
              <a:rPr lang="en-US" dirty="0" smtClean="0"/>
              <a:t>– animation of graphs;</a:t>
            </a:r>
            <a:endParaRPr lang="kk-KZ" dirty="0" smtClean="0"/>
          </a:p>
          <a:p>
            <a:pPr algn="just"/>
            <a:r>
              <a:rPr lang="en-US" dirty="0" smtClean="0"/>
              <a:t>– creation and playback of animation files.</a:t>
            </a:r>
            <a:endParaRPr lang="en-US" dirty="0"/>
          </a:p>
        </p:txBody>
      </p:sp>
    </p:spTree>
    <p:extLst>
      <p:ext uri="{BB962C8B-B14F-4D97-AF65-F5344CB8AC3E}">
        <p14:creationId xmlns:p14="http://schemas.microsoft.com/office/powerpoint/2010/main" val="2791750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30004" y="620775"/>
            <a:ext cx="2519050" cy="400110"/>
          </a:xfrm>
          <a:prstGeom prst="rect">
            <a:avLst/>
          </a:prstGeom>
        </p:spPr>
        <p:txBody>
          <a:bodyPr wrap="square">
            <a:spAutoFit/>
          </a:bodyPr>
          <a:lstStyle/>
          <a:p>
            <a:r>
              <a:rPr lang="ru-RU" sz="2000" b="1" dirty="0" err="1">
                <a:latin typeface="Times New Roman" panose="02020603050405020304" pitchFamily="18" charset="0"/>
                <a:ea typeface="Calibri" panose="020F0502020204030204" pitchFamily="34" charset="0"/>
              </a:rPr>
              <a:t>Analytical</a:t>
            </a:r>
            <a:r>
              <a:rPr lang="ru-RU" sz="2000" b="1" dirty="0">
                <a:latin typeface="Times New Roman" panose="02020603050405020304" pitchFamily="18" charset="0"/>
                <a:ea typeface="Calibri" panose="020F0502020204030204" pitchFamily="34" charset="0"/>
              </a:rPr>
              <a:t> </a:t>
            </a:r>
            <a:r>
              <a:rPr lang="ru-RU" sz="2000" b="1" dirty="0" err="1">
                <a:latin typeface="Times New Roman" panose="02020603050405020304" pitchFamily="18" charset="0"/>
                <a:ea typeface="Calibri" panose="020F0502020204030204" pitchFamily="34" charset="0"/>
              </a:rPr>
              <a:t>methods</a:t>
            </a:r>
            <a:r>
              <a:rPr lang="ru-RU" sz="2000" b="1" dirty="0">
                <a:latin typeface="Times New Roman" panose="02020603050405020304" pitchFamily="18" charset="0"/>
                <a:ea typeface="Calibri" panose="020F0502020204030204" pitchFamily="34" charset="0"/>
              </a:rPr>
              <a:t>: </a:t>
            </a:r>
            <a:endParaRPr lang="en-US" sz="2000" dirty="0"/>
          </a:p>
        </p:txBody>
      </p:sp>
      <p:sp>
        <p:nvSpPr>
          <p:cNvPr id="5" name="Прямоугольник 4"/>
          <p:cNvSpPr/>
          <p:nvPr/>
        </p:nvSpPr>
        <p:spPr>
          <a:xfrm>
            <a:off x="719271" y="1020885"/>
            <a:ext cx="10804733" cy="1200329"/>
          </a:xfrm>
          <a:prstGeom prst="rect">
            <a:avLst/>
          </a:prstGeom>
        </p:spPr>
        <p:txBody>
          <a:bodyPr wrap="square">
            <a:spAutoFit/>
          </a:bodyPr>
          <a:lstStyle/>
          <a:p>
            <a:pPr indent="358775"/>
            <a:r>
              <a:rPr lang="en-US" b="1" dirty="0" smtClean="0"/>
              <a:t>Analytical computing systems (computer algebra) </a:t>
            </a:r>
            <a:r>
              <a:rPr lang="en-US" dirty="0" smtClean="0"/>
              <a:t>are the newest direction in the development of modern computer mathematics. Their main advantage lies in the ability to perform calculations in an analytical form and in the ability to perform arithmetic and many other calculations with almost any desired accuracy and without restrictions on the maximum (minimum) values of numbers.</a:t>
            </a:r>
            <a:endParaRPr lang="en-US" dirty="0"/>
          </a:p>
        </p:txBody>
      </p:sp>
      <p:sp>
        <p:nvSpPr>
          <p:cNvPr id="6" name="Прямоугольник 5"/>
          <p:cNvSpPr/>
          <p:nvPr/>
        </p:nvSpPr>
        <p:spPr>
          <a:xfrm>
            <a:off x="638086" y="2747202"/>
            <a:ext cx="10719276" cy="923330"/>
          </a:xfrm>
          <a:prstGeom prst="rect">
            <a:avLst/>
          </a:prstGeom>
        </p:spPr>
        <p:txBody>
          <a:bodyPr wrap="square">
            <a:spAutoFit/>
          </a:bodyPr>
          <a:lstStyle/>
          <a:p>
            <a:pPr indent="358775"/>
            <a:r>
              <a:rPr lang="en-US" dirty="0" smtClean="0"/>
              <a:t>This is the main tool for solving complex mathematical problems, which allows you to reduce the solution of the problem to performing a finite number of arithmetic operations on numbers, while the results are obtained in the form of numerical values.</a:t>
            </a:r>
            <a:endParaRPr lang="en-US" dirty="0"/>
          </a:p>
        </p:txBody>
      </p:sp>
      <p:sp>
        <p:nvSpPr>
          <p:cNvPr id="7" name="Прямоугольник 6"/>
          <p:cNvSpPr/>
          <p:nvPr/>
        </p:nvSpPr>
        <p:spPr>
          <a:xfrm>
            <a:off x="1005553" y="2284153"/>
            <a:ext cx="2347117" cy="400110"/>
          </a:xfrm>
          <a:prstGeom prst="rect">
            <a:avLst/>
          </a:prstGeom>
        </p:spPr>
        <p:txBody>
          <a:bodyPr wrap="none">
            <a:spAutoFit/>
          </a:bodyPr>
          <a:lstStyle/>
          <a:p>
            <a:r>
              <a:rPr lang="en-US" sz="2000" b="1" dirty="0">
                <a:latin typeface="Calibri" panose="020F0502020204030204" pitchFamily="34" charset="0"/>
                <a:ea typeface="Calibri" panose="020F0502020204030204" pitchFamily="34" charset="0"/>
                <a:cs typeface="Times New Roman" panose="02020603050405020304" pitchFamily="18" charset="0"/>
              </a:rPr>
              <a:t>Numerical methods:</a:t>
            </a:r>
            <a:endParaRPr lang="en-US" sz="2000" dirty="0"/>
          </a:p>
        </p:txBody>
      </p:sp>
      <p:sp>
        <p:nvSpPr>
          <p:cNvPr id="8" name="Прямоугольник 7"/>
          <p:cNvSpPr/>
          <p:nvPr/>
        </p:nvSpPr>
        <p:spPr>
          <a:xfrm>
            <a:off x="462897" y="3733471"/>
            <a:ext cx="10556906" cy="2862322"/>
          </a:xfrm>
          <a:prstGeom prst="rect">
            <a:avLst/>
          </a:prstGeom>
        </p:spPr>
        <p:txBody>
          <a:bodyPr wrap="square">
            <a:spAutoFit/>
          </a:bodyPr>
          <a:lstStyle/>
          <a:p>
            <a:pPr indent="358775"/>
            <a:r>
              <a:rPr lang="en-US" dirty="0" smtClean="0"/>
              <a:t>Problems solved by systems for numerical calculations. The most common tools provided by systems for numerical calculations include:</a:t>
            </a:r>
            <a:endParaRPr lang="ru-RU" dirty="0" smtClean="0"/>
          </a:p>
          <a:p>
            <a:pPr indent="358775"/>
            <a:r>
              <a:rPr lang="en-US" dirty="0" smtClean="0"/>
              <a:t>– arithmetic and algebraic operators and functions;</a:t>
            </a:r>
            <a:endParaRPr lang="ru-RU" dirty="0" smtClean="0"/>
          </a:p>
          <a:p>
            <a:pPr indent="358775"/>
            <a:r>
              <a:rPr lang="en-US" dirty="0" smtClean="0"/>
              <a:t>– functions for working with complex numbers;</a:t>
            </a:r>
            <a:endParaRPr lang="ru-RU" dirty="0" smtClean="0"/>
          </a:p>
          <a:p>
            <a:pPr indent="358775"/>
            <a:r>
              <a:rPr lang="en-US" dirty="0" smtClean="0"/>
              <a:t>– trigonometric and hyperbolic functions;</a:t>
            </a:r>
            <a:endParaRPr lang="ru-RU" dirty="0" smtClean="0"/>
          </a:p>
          <a:p>
            <a:pPr indent="358775"/>
            <a:r>
              <a:rPr lang="en-US" dirty="0" smtClean="0"/>
              <a:t>– inverse trigonometric and hyperbolic functions;</a:t>
            </a:r>
            <a:endParaRPr lang="ru-RU" dirty="0" smtClean="0"/>
          </a:p>
          <a:p>
            <a:pPr indent="358775"/>
            <a:r>
              <a:rPr lang="en-US" dirty="0" smtClean="0"/>
              <a:t>– logical operators and functions;</a:t>
            </a:r>
            <a:endParaRPr lang="ru-RU" dirty="0" smtClean="0"/>
          </a:p>
          <a:p>
            <a:pPr indent="358775"/>
            <a:r>
              <a:rPr lang="en-US" dirty="0" smtClean="0"/>
              <a:t>– vector and matrix operators and functions;</a:t>
            </a:r>
            <a:endParaRPr lang="ru-RU" dirty="0" smtClean="0"/>
          </a:p>
          <a:p>
            <a:pPr indent="358775"/>
            <a:r>
              <a:rPr lang="en-US" dirty="0" smtClean="0"/>
              <a:t>– tools for solving systems of linear algebraic equations;</a:t>
            </a:r>
            <a:endParaRPr lang="ru-RU" dirty="0" smtClean="0"/>
          </a:p>
          <a:p>
            <a:pPr indent="358775"/>
            <a:r>
              <a:rPr lang="en-US" dirty="0" smtClean="0"/>
              <a:t>– special mathematical functions.</a:t>
            </a:r>
            <a:endParaRPr lang="en-US" dirty="0"/>
          </a:p>
        </p:txBody>
      </p:sp>
    </p:spTree>
    <p:extLst>
      <p:ext uri="{BB962C8B-B14F-4D97-AF65-F5344CB8AC3E}">
        <p14:creationId xmlns:p14="http://schemas.microsoft.com/office/powerpoint/2010/main" val="1765951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842559" y="552409"/>
            <a:ext cx="1200906" cy="369332"/>
          </a:xfrm>
          <a:prstGeom prst="rect">
            <a:avLst/>
          </a:prstGeom>
        </p:spPr>
        <p:txBody>
          <a:bodyPr wrap="none">
            <a:spAutoFit/>
          </a:bodyPr>
          <a:lstStyle/>
          <a:p>
            <a:r>
              <a:rPr lang="en-US" b="1" dirty="0" smtClean="0"/>
              <a:t>Definition:</a:t>
            </a:r>
            <a:endParaRPr lang="en-US" b="1" dirty="0"/>
          </a:p>
        </p:txBody>
      </p:sp>
      <p:sp>
        <p:nvSpPr>
          <p:cNvPr id="6" name="Прямоугольник 5"/>
          <p:cNvSpPr/>
          <p:nvPr/>
        </p:nvSpPr>
        <p:spPr>
          <a:xfrm>
            <a:off x="638086" y="1223993"/>
            <a:ext cx="10915828" cy="646331"/>
          </a:xfrm>
          <a:prstGeom prst="rect">
            <a:avLst/>
          </a:prstGeom>
        </p:spPr>
        <p:txBody>
          <a:bodyPr wrap="square">
            <a:spAutoFit/>
          </a:bodyPr>
          <a:lstStyle/>
          <a:p>
            <a:pPr indent="358775"/>
            <a:r>
              <a:rPr lang="en-US" dirty="0" smtClean="0"/>
              <a:t>A numerical method for solving a problem is a certain sequence of operations on numbers, that is, a computational algorithm whose language is numbers and arithmetic operations.</a:t>
            </a:r>
            <a:endParaRPr lang="en-US" dirty="0"/>
          </a:p>
        </p:txBody>
      </p:sp>
      <p:sp>
        <p:nvSpPr>
          <p:cNvPr id="7" name="Прямоугольник 6"/>
          <p:cNvSpPr/>
          <p:nvPr/>
        </p:nvSpPr>
        <p:spPr>
          <a:xfrm>
            <a:off x="638085" y="2269826"/>
            <a:ext cx="10283439" cy="1200329"/>
          </a:xfrm>
          <a:prstGeom prst="rect">
            <a:avLst/>
          </a:prstGeom>
        </p:spPr>
        <p:txBody>
          <a:bodyPr wrap="square">
            <a:spAutoFit/>
          </a:bodyPr>
          <a:lstStyle/>
          <a:p>
            <a:pPr indent="358775"/>
            <a:r>
              <a:rPr lang="en-US" dirty="0" smtClean="0"/>
              <a:t>In computational mathematics, methods of approximate solution of mathematical problems are studied, which make it possible to reduce the solution to performing a finite number of arithmetic operations on numbers. These actions can be performed either "manually" (in modern terms, using a calculator) or using computers (usually personal computers).</a:t>
            </a:r>
            <a:endParaRPr lang="en-US" dirty="0"/>
          </a:p>
        </p:txBody>
      </p:sp>
    </p:spTree>
    <p:extLst>
      <p:ext uri="{BB962C8B-B14F-4D97-AF65-F5344CB8AC3E}">
        <p14:creationId xmlns:p14="http://schemas.microsoft.com/office/powerpoint/2010/main" val="11911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53654" y="1852847"/>
            <a:ext cx="10472073" cy="2246769"/>
          </a:xfrm>
          <a:prstGeom prst="rect">
            <a:avLst/>
          </a:prstGeom>
        </p:spPr>
        <p:txBody>
          <a:bodyPr wrap="square">
            <a:spAutoFit/>
          </a:bodyPr>
          <a:lstStyle/>
          <a:p>
            <a:pPr indent="358775" algn="just"/>
            <a:r>
              <a:rPr lang="en-US" sz="2800" dirty="0" smtClean="0"/>
              <a:t>With the advent of computers, a period of rapid development of numerical methods and their implementation into practice began. Only a computer can perform in a relatively short time the amount of calculations in millions, billions or more operations necessary to solve many modern problems.</a:t>
            </a:r>
            <a:endParaRPr lang="en-US" sz="2800" dirty="0"/>
          </a:p>
        </p:txBody>
      </p:sp>
    </p:spTree>
    <p:extLst>
      <p:ext uri="{BB962C8B-B14F-4D97-AF65-F5344CB8AC3E}">
        <p14:creationId xmlns:p14="http://schemas.microsoft.com/office/powerpoint/2010/main" val="762446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20993" y="432479"/>
            <a:ext cx="11061107" cy="1569660"/>
          </a:xfrm>
          <a:prstGeom prst="rect">
            <a:avLst/>
          </a:prstGeom>
        </p:spPr>
        <p:txBody>
          <a:bodyPr wrap="square">
            <a:spAutoFit/>
          </a:bodyPr>
          <a:lstStyle/>
          <a:p>
            <a:pPr algn="ctr"/>
            <a:r>
              <a:rPr lang="en-US" sz="2400" b="1" dirty="0" smtClean="0">
                <a:latin typeface="Times New Roman" panose="02020603050405020304" pitchFamily="18" charset="0"/>
                <a:cs typeface="Times New Roman" panose="02020603050405020304" pitchFamily="18" charset="0"/>
              </a:rPr>
              <a:t>Technology for solving an applied problem on a computer</a:t>
            </a:r>
            <a:endParaRPr lang="ru-RU" sz="2400" b="1" dirty="0" smtClean="0">
              <a:latin typeface="Times New Roman" panose="02020603050405020304" pitchFamily="18" charset="0"/>
              <a:cs typeface="Times New Roman" panose="02020603050405020304" pitchFamily="18" charset="0"/>
            </a:endParaRPr>
          </a:p>
          <a:p>
            <a:pPr algn="ctr"/>
            <a:endParaRPr lang="ru-RU" dirty="0">
              <a:latin typeface="Times New Roman" panose="02020603050405020304" pitchFamily="18" charset="0"/>
              <a:cs typeface="Times New Roman" panose="02020603050405020304" pitchFamily="18" charset="0"/>
            </a:endParaRPr>
          </a:p>
          <a:p>
            <a:pPr indent="358775" algn="just"/>
            <a:r>
              <a:rPr lang="en-US" dirty="0" smtClean="0">
                <a:latin typeface="Times New Roman" panose="02020603050405020304" pitchFamily="18" charset="0"/>
                <a:cs typeface="Times New Roman" panose="02020603050405020304" pitchFamily="18" charset="0"/>
              </a:rPr>
              <a:t>Often, the problem that needs to be solved is not formulated in mathematical language. For example, the problem can be formulated in terms of physics or economics. To solve it on a computer, you first need to bring it into the form of a mathematical problem, and then program it.</a:t>
            </a:r>
            <a:endParaRPr lang="en-US"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800456" y="2366548"/>
            <a:ext cx="10881644" cy="1322285"/>
          </a:xfrm>
          <a:prstGeom prst="rect">
            <a:avLst/>
          </a:prstGeom>
        </p:spPr>
        <p:txBody>
          <a:bodyPr wrap="square">
            <a:spAutoFit/>
          </a:bodyPr>
          <a:lstStyle/>
          <a:p>
            <a:pPr algn="just">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The work on solving an application problem on a computer goes through the following stages:</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0"/>
              </a:spcAft>
              <a:buFont typeface="+mj-lt"/>
              <a:buAutoNum type="arabicParenR"/>
            </a:pPr>
            <a:r>
              <a:rPr lang="uk-UA" dirty="0" err="1">
                <a:latin typeface="Times New Roman" panose="02020603050405020304" pitchFamily="18" charset="0"/>
                <a:ea typeface="Times New Roman" panose="02020603050405020304" pitchFamily="18" charset="0"/>
              </a:rPr>
              <a:t>Problem</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statement</a:t>
            </a:r>
            <a:r>
              <a:rPr lang="uk-UA" dirty="0">
                <a:latin typeface="Times New Roman" panose="02020603050405020304" pitchFamily="18" charset="0"/>
                <a:ea typeface="Times New Roman" panose="02020603050405020304" pitchFamily="18" charset="0"/>
              </a:rPr>
              <a:t> – </a:t>
            </a:r>
            <a:r>
              <a:rPr lang="uk-UA" dirty="0" err="1">
                <a:latin typeface="Times New Roman" panose="02020603050405020304" pitchFamily="18" charset="0"/>
                <a:ea typeface="Times New Roman" panose="02020603050405020304" pitchFamily="18" charset="0"/>
              </a:rPr>
              <a:t>includes</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collection</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information</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about</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problem</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formulation</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problem</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condition</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definition</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final</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goals</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solving</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problem</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definition</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form</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results</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description</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data</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their</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types</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ranges</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of</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values</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structure</a:t>
            </a:r>
            <a:r>
              <a:rPr lang="uk-UA" dirty="0">
                <a:latin typeface="Times New Roman" panose="02020603050405020304" pitchFamily="18" charset="0"/>
                <a:ea typeface="Times New Roman" panose="02020603050405020304" pitchFamily="18" charset="0"/>
              </a:rPr>
              <a:t>, </a:t>
            </a:r>
            <a:r>
              <a:rPr lang="uk-UA" dirty="0" err="1">
                <a:latin typeface="Times New Roman" panose="02020603050405020304" pitchFamily="18" charset="0"/>
                <a:ea typeface="Times New Roman" panose="02020603050405020304" pitchFamily="18" charset="0"/>
              </a:rPr>
              <a:t>etc</a:t>
            </a:r>
            <a:r>
              <a:rPr lang="uk-UA" dirty="0">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
        <p:nvSpPr>
          <p:cNvPr id="6" name="Прямоугольник 5"/>
          <p:cNvSpPr/>
          <p:nvPr/>
        </p:nvSpPr>
        <p:spPr>
          <a:xfrm>
            <a:off x="800456" y="3856688"/>
            <a:ext cx="10881644" cy="665118"/>
          </a:xfrm>
          <a:prstGeom prst="rect">
            <a:avLst/>
          </a:prstGeom>
        </p:spPr>
        <p:txBody>
          <a:bodyPr wrap="square">
            <a:spAutoFit/>
          </a:bodyPr>
          <a:lstStyle/>
          <a:p>
            <a:pPr algn="just">
              <a:lnSpc>
                <a:spcPct val="107000"/>
              </a:lnSpc>
            </a:pPr>
            <a:r>
              <a:rPr lang="en-US" dirty="0">
                <a:latin typeface="Times New Roman" panose="02020603050405020304" pitchFamily="18" charset="0"/>
                <a:ea typeface="Times New Roman" panose="02020603050405020304" pitchFamily="18" charset="0"/>
              </a:rPr>
              <a:t>2) Mathematical formalization – at this stage, a mathematical model is built, a system of mathematical relations, formulas, equations, inequalities, etc., reflecting the essential properties of an object or phenomenon.</a:t>
            </a:r>
          </a:p>
        </p:txBody>
      </p:sp>
      <p:sp>
        <p:nvSpPr>
          <p:cNvPr id="7" name="Прямоугольник 6"/>
          <p:cNvSpPr/>
          <p:nvPr/>
        </p:nvSpPr>
        <p:spPr>
          <a:xfrm>
            <a:off x="800456" y="4689661"/>
            <a:ext cx="10881644" cy="968278"/>
          </a:xfrm>
          <a:prstGeom prst="rect">
            <a:avLst/>
          </a:prstGeom>
        </p:spPr>
        <p:txBody>
          <a:bodyPr wrap="square">
            <a:spAutoFit/>
          </a:bodyPr>
          <a:lstStyle/>
          <a:p>
            <a:pPr algn="just">
              <a:lnSpc>
                <a:spcPct val="107000"/>
              </a:lnSpc>
            </a:pPr>
            <a:r>
              <a:rPr lang="en-US" dirty="0">
                <a:latin typeface="Times New Roman" panose="02020603050405020304" pitchFamily="18" charset="0"/>
                <a:ea typeface="Times New Roman" panose="02020603050405020304" pitchFamily="18" charset="0"/>
              </a:rPr>
              <a:t>3) Algorithm construction – the process of solving a problem is written in the form of a sequence of elementary arithmetic and logical operations leading to the final result and called an algorithm for solving the problem. The algorithm can be represented as a flowchart.</a:t>
            </a:r>
          </a:p>
        </p:txBody>
      </p:sp>
    </p:spTree>
    <p:extLst>
      <p:ext uri="{BB962C8B-B14F-4D97-AF65-F5344CB8AC3E}">
        <p14:creationId xmlns:p14="http://schemas.microsoft.com/office/powerpoint/2010/main" val="191385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80814" y="437780"/>
            <a:ext cx="10881645" cy="671915"/>
          </a:xfrm>
          <a:prstGeom prst="rect">
            <a:avLst/>
          </a:prstGeom>
        </p:spPr>
        <p:txBody>
          <a:bodyPr wrap="square">
            <a:spAutoFit/>
          </a:bodyPr>
          <a:lstStyle/>
          <a:p>
            <a:pPr algn="just">
              <a:lnSpc>
                <a:spcPct val="107000"/>
              </a:lnSpc>
            </a:pPr>
            <a:r>
              <a:rPr lang="en-US" dirty="0">
                <a:latin typeface="Times New Roman" panose="02020603050405020304" pitchFamily="18" charset="0"/>
                <a:ea typeface="Times New Roman" panose="02020603050405020304" pitchFamily="18" charset="0"/>
              </a:rPr>
              <a:t>4) Writing a program in a programming language – choosing a programming language, clarifying ways to organize data, writing an algorithm in the selected programming language.</a:t>
            </a:r>
          </a:p>
        </p:txBody>
      </p:sp>
      <p:sp>
        <p:nvSpPr>
          <p:cNvPr id="5" name="Прямоугольник 4"/>
          <p:cNvSpPr/>
          <p:nvPr/>
        </p:nvSpPr>
        <p:spPr>
          <a:xfrm>
            <a:off x="680813" y="1425558"/>
            <a:ext cx="10881645" cy="968278"/>
          </a:xfrm>
          <a:prstGeom prst="rect">
            <a:avLst/>
          </a:prstGeom>
        </p:spPr>
        <p:txBody>
          <a:bodyPr wrap="square">
            <a:spAutoFit/>
          </a:bodyPr>
          <a:lstStyle/>
          <a:p>
            <a:pPr algn="just">
              <a:lnSpc>
                <a:spcPct val="107000"/>
              </a:lnSpc>
            </a:pPr>
            <a:r>
              <a:rPr lang="en-US" dirty="0">
                <a:latin typeface="Times New Roman" panose="02020603050405020304" pitchFamily="18" charset="0"/>
                <a:ea typeface="Times New Roman" panose="02020603050405020304" pitchFamily="18" charset="0"/>
              </a:rPr>
              <a:t>5) Debugging and testing of the program – debugging refers to the process of testing the operation of the program and correcting errors detected by it. A test is a specific variant of the values of the source data for which the expected result is known.</a:t>
            </a:r>
          </a:p>
        </p:txBody>
      </p:sp>
      <p:sp>
        <p:nvSpPr>
          <p:cNvPr id="6" name="Прямоугольник 5"/>
          <p:cNvSpPr/>
          <p:nvPr/>
        </p:nvSpPr>
        <p:spPr>
          <a:xfrm>
            <a:off x="680813" y="2709699"/>
            <a:ext cx="10992742" cy="1477328"/>
          </a:xfrm>
          <a:prstGeom prst="rect">
            <a:avLst/>
          </a:prstGeom>
        </p:spPr>
        <p:txBody>
          <a:bodyPr wrap="square">
            <a:spAutoFit/>
          </a:bodyPr>
          <a:lstStyle/>
          <a:p>
            <a:r>
              <a:rPr lang="en-US" dirty="0" smtClean="0"/>
              <a:t>6) Performing calculations and analyzing the results obtained – using an already developed program to obtain the desired results. The results of solving the problem are analyzed and, if necessary, the mathematical model is refined.</a:t>
            </a:r>
            <a:endParaRPr lang="ru-RU" dirty="0" smtClean="0"/>
          </a:p>
          <a:p>
            <a:endParaRPr lang="ru-RU" dirty="0"/>
          </a:p>
          <a:p>
            <a:endParaRPr lang="ru-RU" dirty="0" smtClean="0"/>
          </a:p>
          <a:p>
            <a:pPr algn="ctr"/>
            <a:r>
              <a:rPr lang="en-US" b="1" dirty="0" smtClean="0"/>
              <a:t>This sequence is called the technological chain of solving a problem on a computer</a:t>
            </a:r>
            <a:endParaRPr lang="en-US" b="1" dirty="0"/>
          </a:p>
        </p:txBody>
      </p:sp>
    </p:spTree>
    <p:extLst>
      <p:ext uri="{BB962C8B-B14F-4D97-AF65-F5344CB8AC3E}">
        <p14:creationId xmlns:p14="http://schemas.microsoft.com/office/powerpoint/2010/main" val="894730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76469" y="1531353"/>
            <a:ext cx="10146707" cy="2677656"/>
          </a:xfrm>
          <a:prstGeom prst="rect">
            <a:avLst/>
          </a:prstGeom>
        </p:spPr>
        <p:txBody>
          <a:bodyPr wrap="square">
            <a:spAutoFit/>
          </a:bodyPr>
          <a:lstStyle/>
          <a:p>
            <a:pPr indent="358775" algn="just"/>
            <a:r>
              <a:rPr lang="en-US" sz="2400" dirty="0" smtClean="0"/>
              <a:t>Due to the expansion of the use of personal computers (PCs) and the development of their software, the ideology of using computer technology to implement numerical methods is beginning to change.</a:t>
            </a:r>
            <a:endParaRPr lang="ru-RU" sz="2400" dirty="0" smtClean="0"/>
          </a:p>
          <a:p>
            <a:pPr indent="358775" algn="just"/>
            <a:r>
              <a:rPr lang="en-US" sz="2400" dirty="0" smtClean="0"/>
              <a:t>Instead of programming a computational problem in a high-level programming language, it can be solved by using universal packages of applied mathematical programs in a PC, which have the necessary computational algorithms and programs built into them.</a:t>
            </a:r>
            <a:endParaRPr lang="en-US" sz="2400" dirty="0"/>
          </a:p>
        </p:txBody>
      </p:sp>
    </p:spTree>
    <p:extLst>
      <p:ext uri="{BB962C8B-B14F-4D97-AF65-F5344CB8AC3E}">
        <p14:creationId xmlns:p14="http://schemas.microsoft.com/office/powerpoint/2010/main" val="966232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03005" y="1135002"/>
            <a:ext cx="10334714" cy="923330"/>
          </a:xfrm>
          <a:prstGeom prst="rect">
            <a:avLst/>
          </a:prstGeom>
        </p:spPr>
        <p:txBody>
          <a:bodyPr wrap="square">
            <a:spAutoFit/>
          </a:bodyPr>
          <a:lstStyle/>
          <a:p>
            <a:pPr indent="358775" algn="just"/>
            <a:r>
              <a:rPr lang="en-US" b="1" dirty="0">
                <a:latin typeface="Times New Roman" panose="02020603050405020304" pitchFamily="18" charset="0"/>
                <a:ea typeface="Calibri" panose="020F0502020204030204" pitchFamily="34" charset="0"/>
                <a:cs typeface="Times New Roman" panose="02020603050405020304" pitchFamily="18" charset="0"/>
              </a:rPr>
              <a:t>Computer mathematics </a:t>
            </a:r>
            <a:r>
              <a:rPr lang="en-US" dirty="0">
                <a:latin typeface="Times New Roman" panose="02020603050405020304" pitchFamily="18" charset="0"/>
                <a:ea typeface="Calibri" panose="020F0502020204030204" pitchFamily="34" charset="0"/>
                <a:cs typeface="Times New Roman" panose="02020603050405020304" pitchFamily="18" charset="0"/>
              </a:rPr>
              <a:t>is a set of methods and tools that provide the most comfortable and fast preparation of algorithms and programs for solving mathematical problems of any complexity, while in the vast majority of cases with a high degree of visualization of all stages of the solution. </a:t>
            </a:r>
          </a:p>
        </p:txBody>
      </p:sp>
      <p:sp>
        <p:nvSpPr>
          <p:cNvPr id="5" name="Прямоугольник 4"/>
          <p:cNvSpPr/>
          <p:nvPr/>
        </p:nvSpPr>
        <p:spPr>
          <a:xfrm>
            <a:off x="714997" y="3462971"/>
            <a:ext cx="10582542" cy="3181384"/>
          </a:xfrm>
          <a:prstGeom prst="rect">
            <a:avLst/>
          </a:prstGeom>
        </p:spPr>
        <p:txBody>
          <a:bodyPr wrap="square">
            <a:spAutoFit/>
          </a:bodyPr>
          <a:lstStyle/>
          <a:p>
            <a:pPr indent="358775" algn="just">
              <a:lnSpc>
                <a:spcPct val="107000"/>
              </a:lnSpc>
              <a:spcAft>
                <a:spcPts val="800"/>
              </a:spcAft>
            </a:pPr>
            <a:r>
              <a:rPr lang="uk-UA" dirty="0" err="1">
                <a:latin typeface="Times New Roman" panose="02020603050405020304" pitchFamily="18" charset="0"/>
                <a:ea typeface="Calibri" panose="020F0502020204030204" pitchFamily="34" charset="0"/>
                <a:cs typeface="Times New Roman" panose="02020603050405020304" pitchFamily="18" charset="0"/>
              </a:rPr>
              <a:t>Currently</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computer</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mathematical</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systems</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can</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be</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rather</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conditionally</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divided</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into</a:t>
            </a:r>
            <a:r>
              <a:rPr lang="uk-UA" dirty="0">
                <a:latin typeface="Times New Roman" panose="02020603050405020304" pitchFamily="18" charset="0"/>
                <a:ea typeface="Calibri" panose="020F0502020204030204" pitchFamily="34" charset="0"/>
                <a:cs typeface="Times New Roman" panose="02020603050405020304" pitchFamily="18" charset="0"/>
              </a:rPr>
              <a:t> 7 </a:t>
            </a:r>
            <a:r>
              <a:rPr lang="uk-UA" dirty="0" err="1">
                <a:latin typeface="Times New Roman" panose="02020603050405020304" pitchFamily="18" charset="0"/>
                <a:ea typeface="Calibri" panose="020F0502020204030204" pitchFamily="34" charset="0"/>
                <a:cs typeface="Times New Roman" panose="02020603050405020304" pitchFamily="18" charset="0"/>
              </a:rPr>
              <a:t>main</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classes</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358775" algn="just">
              <a:lnSpc>
                <a:spcPct val="107000"/>
              </a:lnSpc>
              <a:spcAft>
                <a:spcPts val="800"/>
              </a:spcAft>
            </a:pP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systems</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for</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numerical</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calculations</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358775" algn="just">
              <a:lnSpc>
                <a:spcPct val="107000"/>
              </a:lnSpc>
              <a:spcAft>
                <a:spcPts val="800"/>
              </a:spcAft>
            </a:pP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table</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processors</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358775" algn="just">
              <a:lnSpc>
                <a:spcPct val="107000"/>
              </a:lnSpc>
              <a:spcAft>
                <a:spcPts val="800"/>
              </a:spcAft>
            </a:pP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matrix</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systems</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358775" algn="just">
              <a:lnSpc>
                <a:spcPct val="107000"/>
              </a:lnSpc>
              <a:spcAft>
                <a:spcPts val="800"/>
              </a:spcAft>
            </a:pP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systems</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for</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statistical</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calculations</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358775" algn="just">
              <a:lnSpc>
                <a:spcPct val="107000"/>
              </a:lnSpc>
              <a:spcAft>
                <a:spcPts val="800"/>
              </a:spcAft>
            </a:pP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systems</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for</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special</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calculations</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358775" algn="just">
              <a:lnSpc>
                <a:spcPct val="107000"/>
              </a:lnSpc>
              <a:spcAft>
                <a:spcPts val="800"/>
              </a:spcAft>
            </a:pP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systems</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for</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analytical</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calculations</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computer</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algebra</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358775" algn="just">
              <a:lnSpc>
                <a:spcPct val="107000"/>
              </a:lnSpc>
              <a:spcAft>
                <a:spcPts val="800"/>
              </a:spcAft>
            </a:pP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universal</a:t>
            </a:r>
            <a:r>
              <a:rPr lang="uk-UA" dirty="0">
                <a:latin typeface="Times New Roman" panose="02020603050405020304" pitchFamily="18" charset="0"/>
                <a:ea typeface="Calibri" panose="020F0502020204030204" pitchFamily="34" charset="0"/>
                <a:cs typeface="Times New Roman" panose="02020603050405020304" pitchFamily="18" charset="0"/>
              </a:rPr>
              <a:t> </a:t>
            </a:r>
            <a:r>
              <a:rPr lang="uk-UA" dirty="0" err="1">
                <a:latin typeface="Times New Roman" panose="02020603050405020304" pitchFamily="18" charset="0"/>
                <a:ea typeface="Calibri" panose="020F0502020204030204" pitchFamily="34" charset="0"/>
                <a:cs typeface="Times New Roman" panose="02020603050405020304" pitchFamily="18" charset="0"/>
              </a:rPr>
              <a:t>systems</a:t>
            </a:r>
            <a:r>
              <a:rPr lang="uk-UA"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Прямоугольник 5"/>
          <p:cNvSpPr/>
          <p:nvPr/>
        </p:nvSpPr>
        <p:spPr>
          <a:xfrm>
            <a:off x="903005" y="2327860"/>
            <a:ext cx="10206526" cy="923330"/>
          </a:xfrm>
          <a:prstGeom prst="rect">
            <a:avLst/>
          </a:prstGeom>
        </p:spPr>
        <p:txBody>
          <a:bodyPr wrap="square">
            <a:spAutoFit/>
          </a:bodyPr>
          <a:lstStyle/>
          <a:p>
            <a:pPr indent="358775" algn="just"/>
            <a:r>
              <a:rPr lang="en-US" dirty="0" smtClean="0"/>
              <a:t>Computer mathematics systems have become the main tool of computer mathematics. Today, computer mathematics systems are used to solve scientific, engineering, and educational problems, to visually present data and calculation results, and also as convenient mathematical reference books.</a:t>
            </a:r>
            <a:endParaRPr lang="en-US" dirty="0"/>
          </a:p>
        </p:txBody>
      </p:sp>
    </p:spTree>
    <p:extLst>
      <p:ext uri="{BB962C8B-B14F-4D97-AF65-F5344CB8AC3E}">
        <p14:creationId xmlns:p14="http://schemas.microsoft.com/office/powerpoint/2010/main" val="2523027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38085" y="642591"/>
            <a:ext cx="11026923" cy="2031325"/>
          </a:xfrm>
          <a:prstGeom prst="rect">
            <a:avLst/>
          </a:prstGeom>
        </p:spPr>
        <p:txBody>
          <a:bodyPr wrap="square">
            <a:spAutoFit/>
          </a:bodyPr>
          <a:lstStyle/>
          <a:p>
            <a:pPr indent="358775" algn="just"/>
            <a:r>
              <a:rPr lang="en-US" dirty="0" smtClean="0"/>
              <a:t>Well-known world leaders among universal computer mathematics systems are the following: Derive, Maple, Mathcad, Mathematica, </a:t>
            </a:r>
            <a:r>
              <a:rPr lang="en-US" dirty="0" err="1" smtClean="0"/>
              <a:t>Matlab</a:t>
            </a:r>
            <a:r>
              <a:rPr lang="en-US" dirty="0" smtClean="0"/>
              <a:t>.</a:t>
            </a:r>
            <a:r>
              <a:rPr lang="ru-RU" dirty="0" smtClean="0"/>
              <a:t> </a:t>
            </a:r>
            <a:r>
              <a:rPr lang="en-US" dirty="0" smtClean="0"/>
              <a:t>These systems have the following features:</a:t>
            </a:r>
            <a:endParaRPr lang="ru-RU" dirty="0" smtClean="0"/>
          </a:p>
          <a:p>
            <a:pPr indent="358775" algn="just"/>
            <a:endParaRPr lang="ru-RU" dirty="0" smtClean="0"/>
          </a:p>
          <a:p>
            <a:pPr marL="285750" indent="-285750" algn="just">
              <a:buFont typeface="Arial" panose="020B0604020202020204" pitchFamily="34" charset="0"/>
              <a:buChar char="•"/>
            </a:pPr>
            <a:r>
              <a:rPr lang="en-US" dirty="0" smtClean="0"/>
              <a:t>combining analytical and numerical calculation methods;</a:t>
            </a:r>
            <a:endParaRPr lang="ru-RU" dirty="0" smtClean="0"/>
          </a:p>
          <a:p>
            <a:pPr marL="285750" indent="-285750" algn="just">
              <a:buFont typeface="Arial" panose="020B0604020202020204" pitchFamily="34" charset="0"/>
              <a:buChar char="•"/>
            </a:pPr>
            <a:r>
              <a:rPr lang="en-US" dirty="0" smtClean="0"/>
              <a:t>visualization of calculation results;</a:t>
            </a:r>
            <a:endParaRPr lang="ru-RU" dirty="0" smtClean="0"/>
          </a:p>
          <a:p>
            <a:pPr marL="285750" indent="-285750" algn="just">
              <a:buFont typeface="Arial" panose="020B0604020202020204" pitchFamily="34" charset="0"/>
              <a:buChar char="•"/>
            </a:pPr>
            <a:r>
              <a:rPr lang="en-US" dirty="0" smtClean="0"/>
              <a:t>application of high-level programming languages;</a:t>
            </a:r>
            <a:endParaRPr lang="ru-RU" dirty="0" smtClean="0"/>
          </a:p>
          <a:p>
            <a:pPr marL="285750" indent="-285750" algn="just">
              <a:buFont typeface="Arial" panose="020B0604020202020204" pitchFamily="34" charset="0"/>
              <a:buChar char="•"/>
            </a:pPr>
            <a:r>
              <a:rPr lang="en-US" dirty="0" smtClean="0"/>
              <a:t>exchange of information between each other using various formats.</a:t>
            </a:r>
            <a:endParaRPr lang="en-US" dirty="0"/>
          </a:p>
        </p:txBody>
      </p:sp>
      <p:sp>
        <p:nvSpPr>
          <p:cNvPr id="5" name="Прямоугольник 4"/>
          <p:cNvSpPr/>
          <p:nvPr/>
        </p:nvSpPr>
        <p:spPr>
          <a:xfrm>
            <a:off x="3792534" y="3022144"/>
            <a:ext cx="4792081" cy="369332"/>
          </a:xfrm>
          <a:prstGeom prst="rect">
            <a:avLst/>
          </a:prstGeom>
        </p:spPr>
        <p:txBody>
          <a:bodyPr wrap="none">
            <a:spAutoFit/>
          </a:bodyPr>
          <a:lstStyle/>
          <a:p>
            <a:r>
              <a:rPr lang="en-US" b="1" dirty="0" smtClean="0"/>
              <a:t>The structure of computer mathematics systems</a:t>
            </a:r>
            <a:endParaRPr lang="en-US" b="1" dirty="0"/>
          </a:p>
        </p:txBody>
      </p:sp>
      <p:pic>
        <p:nvPicPr>
          <p:cNvPr id="2" name="Рисунок 1"/>
          <p:cNvPicPr>
            <a:picLocks noChangeAspect="1"/>
          </p:cNvPicPr>
          <p:nvPr/>
        </p:nvPicPr>
        <p:blipFill rotWithShape="1">
          <a:blip r:embed="rId2">
            <a:extLst>
              <a:ext uri="{28A0092B-C50C-407E-A947-70E740481C1C}">
                <a14:useLocalDpi xmlns:a14="http://schemas.microsoft.com/office/drawing/2010/main" val="0"/>
              </a:ext>
            </a:extLst>
          </a:blip>
          <a:srcRect r="33449" b="39949"/>
          <a:stretch/>
        </p:blipFill>
        <p:spPr>
          <a:xfrm>
            <a:off x="2339937" y="3499211"/>
            <a:ext cx="6617450" cy="3358789"/>
          </a:xfrm>
          <a:prstGeom prst="rect">
            <a:avLst/>
          </a:prstGeom>
        </p:spPr>
      </p:pic>
    </p:spTree>
    <p:extLst>
      <p:ext uri="{BB962C8B-B14F-4D97-AF65-F5344CB8AC3E}">
        <p14:creationId xmlns:p14="http://schemas.microsoft.com/office/powerpoint/2010/main" val="1767631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11551" y="755454"/>
            <a:ext cx="10334713" cy="1477328"/>
          </a:xfrm>
          <a:prstGeom prst="rect">
            <a:avLst/>
          </a:prstGeom>
        </p:spPr>
        <p:txBody>
          <a:bodyPr wrap="square">
            <a:spAutoFit/>
          </a:bodyPr>
          <a:lstStyle/>
          <a:p>
            <a:pPr indent="358775" algn="just"/>
            <a:r>
              <a:rPr lang="en-US" dirty="0" smtClean="0"/>
              <a:t>Mathcad is an integrated environment for documenting and sharing the results of technical calculations. This product allows users to enter, edit and solve equations, visualize the results, and document them.</a:t>
            </a:r>
            <a:endParaRPr lang="kk-KZ" dirty="0" smtClean="0"/>
          </a:p>
          <a:p>
            <a:pPr indent="358775" algn="just"/>
            <a:endParaRPr lang="kk-KZ" dirty="0"/>
          </a:p>
          <a:p>
            <a:pPr indent="358775" algn="just"/>
            <a:r>
              <a:rPr lang="en-US" dirty="0" smtClean="0"/>
              <a:t>Mathcad serves as a computing, analysis and reporting tool for professionals in all fields of science and technology. It is easy to use and does not cause problems when learning.</a:t>
            </a:r>
            <a:endParaRPr lang="en-US" dirty="0"/>
          </a:p>
        </p:txBody>
      </p:sp>
    </p:spTree>
    <p:extLst>
      <p:ext uri="{BB962C8B-B14F-4D97-AF65-F5344CB8AC3E}">
        <p14:creationId xmlns:p14="http://schemas.microsoft.com/office/powerpoint/2010/main" val="3356517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127676" y="543863"/>
            <a:ext cx="5055423" cy="461665"/>
          </a:xfrm>
          <a:prstGeom prst="rect">
            <a:avLst/>
          </a:prstGeom>
        </p:spPr>
        <p:txBody>
          <a:bodyPr wrap="none">
            <a:spAutoFit/>
          </a:bodyPr>
          <a:lstStyle/>
          <a:p>
            <a:r>
              <a:rPr lang="en-US" sz="2400" b="1" dirty="0" smtClean="0">
                <a:latin typeface="Times New Roman" panose="02020603050405020304" pitchFamily="18" charset="0"/>
                <a:cs typeface="Times New Roman" panose="02020603050405020304" pitchFamily="18" charset="0"/>
              </a:rPr>
              <a:t>An assignment for independent work</a:t>
            </a:r>
            <a:endParaRPr lang="en-US" sz="24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945734" y="1567592"/>
            <a:ext cx="6096000" cy="646331"/>
          </a:xfrm>
          <a:prstGeom prst="rect">
            <a:avLst/>
          </a:prstGeom>
        </p:spPr>
        <p:txBody>
          <a:bodyPr>
            <a:spAutoFit/>
          </a:bodyPr>
          <a:lstStyle/>
          <a:p>
            <a:pPr marL="342900" indent="-342900">
              <a:buFont typeface="+mj-lt"/>
              <a:buAutoNum type="arabicPeriod"/>
            </a:pPr>
            <a:r>
              <a:rPr lang="en-US" dirty="0" smtClean="0"/>
              <a:t>Take notes of lecture 1 materials </a:t>
            </a:r>
          </a:p>
          <a:p>
            <a:pPr marL="342900" indent="-342900">
              <a:buFont typeface="+mj-lt"/>
              <a:buAutoNum type="arabicPeriod"/>
            </a:pPr>
            <a:r>
              <a:rPr lang="en-US" dirty="0" smtClean="0"/>
              <a:t>Watch video tutorials on working in Mathcad</a:t>
            </a:r>
            <a:endParaRPr lang="en-US" dirty="0"/>
          </a:p>
        </p:txBody>
      </p:sp>
      <p:sp>
        <p:nvSpPr>
          <p:cNvPr id="6" name="Прямоугольник 5"/>
          <p:cNvSpPr/>
          <p:nvPr/>
        </p:nvSpPr>
        <p:spPr>
          <a:xfrm>
            <a:off x="843185" y="2452821"/>
            <a:ext cx="8933204" cy="646331"/>
          </a:xfrm>
          <a:prstGeom prst="rect">
            <a:avLst/>
          </a:prstGeom>
        </p:spPr>
        <p:txBody>
          <a:bodyPr wrap="square">
            <a:spAutoFit/>
          </a:bodyPr>
          <a:lstStyle/>
          <a:p>
            <a:pPr algn="just"/>
            <a:r>
              <a:rPr lang="en-US" dirty="0" smtClean="0"/>
              <a:t>https://www.youtube.com/watch?v=yaA7iG7NTx0&amp;list=PLRhPac0z_f-HCplRNzuEjPtJZg_9hu6Nm&amp;index=1</a:t>
            </a:r>
            <a:endParaRPr lang="en-US" dirty="0"/>
          </a:p>
        </p:txBody>
      </p:sp>
    </p:spTree>
    <p:extLst>
      <p:ext uri="{BB962C8B-B14F-4D97-AF65-F5344CB8AC3E}">
        <p14:creationId xmlns:p14="http://schemas.microsoft.com/office/powerpoint/2010/main" val="94673352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66A608F25D1F8F4682A2ED8E4F61D5EB" ma:contentTypeVersion="0" ma:contentTypeDescription="Создание документа." ma:contentTypeScope="" ma:versionID="4463c72ea1f866d82ac95d53b8789c31">
  <xsd:schema xmlns:xsd="http://www.w3.org/2001/XMLSchema" xmlns:xs="http://www.w3.org/2001/XMLSchema" xmlns:p="http://schemas.microsoft.com/office/2006/metadata/properties" targetNamespace="http://schemas.microsoft.com/office/2006/metadata/properties" ma:root="true" ma:fieldsID="8578393956bddf05dabd67b1a36b961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2D9FEF-91B3-4B51-BE36-8886A9428AEA}"/>
</file>

<file path=customXml/itemProps2.xml><?xml version="1.0" encoding="utf-8"?>
<ds:datastoreItem xmlns:ds="http://schemas.openxmlformats.org/officeDocument/2006/customXml" ds:itemID="{10E78AF0-39AA-4DCC-AB8C-B29BF0E66C74}"/>
</file>

<file path=docProps/app.xml><?xml version="1.0" encoding="utf-8"?>
<Properties xmlns="http://schemas.openxmlformats.org/officeDocument/2006/extended-properties" xmlns:vt="http://schemas.openxmlformats.org/officeDocument/2006/docPropsVTypes">
  <TotalTime>123</TotalTime>
  <Words>1436</Words>
  <Application>Microsoft Office PowerPoint</Application>
  <PresentationFormat>Широкоэкранный</PresentationFormat>
  <Paragraphs>85</Paragraphs>
  <Slides>14</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14</vt:i4>
      </vt:variant>
    </vt:vector>
  </HeadingPairs>
  <TitlesOfParts>
    <vt:vector size="19" baseType="lpstr">
      <vt:lpstr>Arial</vt:lpstr>
      <vt:lpstr>Calibri</vt:lpstr>
      <vt:lpstr>Calibri Light</vt:lpstr>
      <vt:lpstr>Times New Roman</vt:lpstr>
      <vt:lpstr>Тема Office</vt:lpstr>
      <vt:lpstr>Computer mathematics Lection 1</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mathematics Lection 1</dc:title>
  <dc:creator>user</dc:creator>
  <cp:lastModifiedBy>Ким Гульнар Амангельдыевна </cp:lastModifiedBy>
  <cp:revision>12</cp:revision>
  <dcterms:created xsi:type="dcterms:W3CDTF">2024-01-28T06:39:37Z</dcterms:created>
  <dcterms:modified xsi:type="dcterms:W3CDTF">2024-01-30T04:03:14Z</dcterms:modified>
</cp:coreProperties>
</file>