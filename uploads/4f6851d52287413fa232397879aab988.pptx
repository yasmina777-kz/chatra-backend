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88" r:id="rId9"/>
    <p:sldId id="263" r:id="rId10"/>
    <p:sldId id="267" r:id="rId11"/>
    <p:sldId id="273" r:id="rId12"/>
    <p:sldId id="279" r:id="rId13"/>
    <p:sldId id="282" r:id="rId14"/>
    <p:sldId id="289" r:id="rId15"/>
    <p:sldId id="290" r:id="rId16"/>
    <p:sldId id="287" r:id="rId17"/>
    <p:sldId id="285" r:id="rId18"/>
    <p:sldId id="293" r:id="rId19"/>
  </p:sldIdLst>
  <p:sldSz cx="9144000" cy="6858000" type="screen4x3"/>
  <p:notesSz cx="9144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1138" y="86"/>
      </p:cViewPr>
      <p:guideLst>
        <p:guide orient="horz" pos="2880"/>
        <p:guide pos="216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C41EBB-993E-4B32-BB15-754AC3DF33DC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DBD1A-B0A5-4A92-9AC1-D37F86D1A7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309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DBD1A-B0A5-4A92-9AC1-D37F86D1A75C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510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20386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20386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20386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1007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20386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222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20386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6420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20386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368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9266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96910" y="1387640"/>
            <a:ext cx="6150178" cy="1558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20386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78380" y="2652895"/>
            <a:ext cx="7187239" cy="2248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96910" y="1387640"/>
            <a:ext cx="6150178" cy="1558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20386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78380" y="2652895"/>
            <a:ext cx="7187239" cy="2248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36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Haqnazar_Khan" TargetMode="External"/><Relationship Id="rId13" Type="http://schemas.openxmlformats.org/officeDocument/2006/relationships/hyperlink" Target="https://en.wikipedia.org/wiki/Ablai_Khan" TargetMode="External"/><Relationship Id="rId3" Type="http://schemas.openxmlformats.org/officeDocument/2006/relationships/hyperlink" Target="https://en.wikipedia.org/wiki/Janibek_Khan" TargetMode="External"/><Relationship Id="rId7" Type="http://schemas.openxmlformats.org/officeDocument/2006/relationships/hyperlink" Target="https://en.wikipedia.org/wiki/Ahmet_Khan" TargetMode="External"/><Relationship Id="rId12" Type="http://schemas.openxmlformats.org/officeDocument/2006/relationships/hyperlink" Target="https://ru.wikipedia.org/wiki/%D0%90%D0%B1%D0%B8%D0%BB%D1%8C%D0%BC%D0%B0%D0%BC%D0%B1%D0%B5%D1%82-%D1%85%D0%B0%D0%BD" TargetMode="External"/><Relationship Id="rId2" Type="http://schemas.openxmlformats.org/officeDocument/2006/relationships/hyperlink" Target="https://en.wikipedia.org/wiki/Kerei_Kha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Taiyr_Khan" TargetMode="External"/><Relationship Id="rId11" Type="http://schemas.openxmlformats.org/officeDocument/2006/relationships/hyperlink" Target="https://en.wikipedia.org/wiki/Tauke_khan" TargetMode="External"/><Relationship Id="rId5" Type="http://schemas.openxmlformats.org/officeDocument/2006/relationships/hyperlink" Target="https://en.wikipedia.org/wiki/Mamash_Khan" TargetMode="External"/><Relationship Id="rId10" Type="http://schemas.openxmlformats.org/officeDocument/2006/relationships/hyperlink" Target="https://ru.wikipedia.org/wiki/%D0%91%D0%B0%D1%82%D1%8B%D1%80-%D1%85%D0%B0%D0%BD" TargetMode="External"/><Relationship Id="rId4" Type="http://schemas.openxmlformats.org/officeDocument/2006/relationships/hyperlink" Target="https://en.wikipedia.org/wiki/Burunduk_Khan" TargetMode="External"/><Relationship Id="rId9" Type="http://schemas.openxmlformats.org/officeDocument/2006/relationships/hyperlink" Target="https://en.wikipedia.org/wiki/Salqam_Jangir_Khan" TargetMode="External"/><Relationship Id="rId14" Type="http://schemas.openxmlformats.org/officeDocument/2006/relationships/hyperlink" Target="https://en.wikipedia.org/wiki/Kenesary_Kasymov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387640"/>
            <a:ext cx="8686800" cy="2078774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730250" marR="723265" indent="-1905" algn="ctr">
              <a:lnSpc>
                <a:spcPts val="3860"/>
              </a:lnSpc>
              <a:spcBef>
                <a:spcPts val="610"/>
              </a:spcBef>
            </a:pPr>
            <a:r>
              <a:rPr sz="4400" spc="-5" dirty="0" smtClean="0"/>
              <a:t>Lecture</a:t>
            </a:r>
            <a:r>
              <a:rPr lang="en-US" sz="4400" spc="-5" dirty="0" smtClean="0"/>
              <a:t>s</a:t>
            </a:r>
            <a:r>
              <a:rPr sz="4400" spc="-5" dirty="0" smtClean="0"/>
              <a:t> </a:t>
            </a:r>
            <a:r>
              <a:rPr sz="4400" dirty="0" smtClean="0"/>
              <a:t>4</a:t>
            </a:r>
            <a:r>
              <a:rPr lang="en-US" sz="4400" dirty="0" smtClean="0"/>
              <a:t>-5</a:t>
            </a:r>
            <a:r>
              <a:rPr sz="4400" dirty="0" smtClean="0"/>
              <a:t> </a:t>
            </a:r>
            <a:r>
              <a:rPr sz="4400" spc="5" dirty="0" smtClean="0"/>
              <a:t> </a:t>
            </a:r>
            <a:r>
              <a:rPr lang="en-US" sz="4400" spc="5" dirty="0" smtClean="0"/>
              <a:t/>
            </a:r>
            <a:br>
              <a:rPr lang="en-US" sz="4400" spc="5" dirty="0" smtClean="0"/>
            </a:br>
            <a:r>
              <a:rPr lang="en-US" sz="4400" spc="5" dirty="0" smtClean="0"/>
              <a:t/>
            </a:r>
            <a:br>
              <a:rPr lang="en-US" sz="4400" spc="5" dirty="0" smtClean="0"/>
            </a:br>
            <a:r>
              <a:rPr lang="en-US" sz="4400" spc="5" dirty="0" smtClean="0"/>
              <a:t/>
            </a:r>
            <a:br>
              <a:rPr lang="en-US" sz="4400" spc="5" dirty="0" smtClean="0"/>
            </a:br>
            <a:r>
              <a:rPr sz="4400" spc="-20" dirty="0" smtClean="0"/>
              <a:t>Kazakh</a:t>
            </a:r>
            <a:r>
              <a:rPr sz="4400" spc="-85" dirty="0" smtClean="0"/>
              <a:t> </a:t>
            </a:r>
            <a:r>
              <a:rPr sz="4400" spc="-15" dirty="0" smtClean="0"/>
              <a:t>Khanate</a:t>
            </a:r>
            <a:endParaRPr sz="4400" dirty="0"/>
          </a:p>
        </p:txBody>
      </p:sp>
    </p:spTree>
  </p:cSld>
  <p:clrMapOvr>
    <a:masterClrMapping/>
  </p:clrMapOvr>
  <p:transition>
    <p:split orient="vert"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2739" y="1775192"/>
            <a:ext cx="3380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en-US" sz="3600" dirty="0" smtClean="0"/>
              <a:t>Plan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1050019" y="2715669"/>
            <a:ext cx="6902450" cy="1581843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60985" indent="-24892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261620" algn="l"/>
              </a:tabLst>
            </a:pPr>
            <a:r>
              <a:rPr sz="3200" spc="-15" dirty="0" smtClean="0">
                <a:solidFill>
                  <a:srgbClr val="203864"/>
                </a:solidFill>
                <a:latin typeface="Calibri"/>
                <a:cs typeface="Calibri"/>
              </a:rPr>
              <a:t>Kazakh</a:t>
            </a:r>
            <a:r>
              <a:rPr sz="3200" spc="-25" dirty="0" smtClean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3200" spc="-10" dirty="0" smtClean="0">
                <a:solidFill>
                  <a:srgbClr val="203864"/>
                </a:solidFill>
                <a:latin typeface="Calibri"/>
                <a:cs typeface="Calibri"/>
              </a:rPr>
              <a:t>Khanate</a:t>
            </a:r>
            <a:endParaRPr lang="ru-RU" sz="3200" spc="-10" dirty="0" smtClean="0">
              <a:solidFill>
                <a:srgbClr val="203864"/>
              </a:solidFill>
              <a:latin typeface="Calibri"/>
              <a:cs typeface="Calibri"/>
            </a:endParaRPr>
          </a:p>
          <a:p>
            <a:pPr marL="12065">
              <a:lnSpc>
                <a:spcPct val="100000"/>
              </a:lnSpc>
              <a:spcBef>
                <a:spcPts val="315"/>
              </a:spcBef>
              <a:tabLst>
                <a:tab pos="261620" algn="l"/>
              </a:tabLst>
            </a:pPr>
            <a:endParaRPr lang="ru-RU" sz="3200" spc="-10" dirty="0" smtClean="0">
              <a:solidFill>
                <a:srgbClr val="203864"/>
              </a:solidFill>
              <a:latin typeface="Calibri"/>
              <a:cs typeface="Calibri"/>
            </a:endParaRPr>
          </a:p>
          <a:p>
            <a:pPr marL="12065">
              <a:lnSpc>
                <a:spcPct val="100000"/>
              </a:lnSpc>
              <a:spcBef>
                <a:spcPts val="215"/>
              </a:spcBef>
              <a:tabLst>
                <a:tab pos="261620" algn="l"/>
              </a:tabLst>
            </a:pPr>
            <a:r>
              <a:rPr lang="en-US" sz="3200" spc="-5" dirty="0" smtClean="0">
                <a:solidFill>
                  <a:srgbClr val="203864"/>
                </a:solidFill>
                <a:latin typeface="Calibri"/>
                <a:cs typeface="Calibri"/>
              </a:rPr>
              <a:t>2</a:t>
            </a:r>
            <a:r>
              <a:rPr lang="en-US" sz="3200" spc="-5" dirty="0" smtClean="0">
                <a:solidFill>
                  <a:srgbClr val="203864"/>
                </a:solidFill>
                <a:latin typeface="Calibri"/>
                <a:cs typeface="Calibri"/>
              </a:rPr>
              <a:t>.</a:t>
            </a:r>
            <a:r>
              <a:rPr lang="ru-RU" sz="3200" spc="-5" dirty="0" smtClean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3200" spc="-5" dirty="0" err="1" smtClean="0">
                <a:solidFill>
                  <a:srgbClr val="203864"/>
                </a:solidFill>
                <a:latin typeface="Calibri"/>
                <a:cs typeface="Calibri"/>
              </a:rPr>
              <a:t>Ethnogenesis</a:t>
            </a:r>
            <a:r>
              <a:rPr sz="3200" spc="-30" dirty="0" smtClean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203864"/>
                </a:solidFill>
                <a:latin typeface="Calibri"/>
                <a:cs typeface="Calibri"/>
              </a:rPr>
              <a:t>of</a:t>
            </a:r>
            <a:r>
              <a:rPr sz="3200" spc="-15" dirty="0">
                <a:solidFill>
                  <a:srgbClr val="203864"/>
                </a:solidFill>
                <a:latin typeface="Calibri"/>
                <a:cs typeface="Calibri"/>
              </a:rPr>
              <a:t> Kazakh</a:t>
            </a:r>
            <a:r>
              <a:rPr sz="3200" spc="-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203864"/>
                </a:solidFill>
                <a:latin typeface="Calibri"/>
                <a:cs typeface="Calibri"/>
              </a:rPr>
              <a:t>people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split orient="vert"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0419" y="1074878"/>
            <a:ext cx="497967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dirty="0"/>
              <a:t>1.</a:t>
            </a:r>
            <a:r>
              <a:rPr sz="2900" spc="-30" dirty="0"/>
              <a:t> </a:t>
            </a:r>
            <a:r>
              <a:rPr sz="2900" spc="-10" dirty="0"/>
              <a:t>Emergence</a:t>
            </a:r>
            <a:r>
              <a:rPr sz="2900" spc="-45" dirty="0"/>
              <a:t> </a:t>
            </a:r>
            <a:r>
              <a:rPr sz="2900" spc="-5" dirty="0"/>
              <a:t>of</a:t>
            </a:r>
            <a:r>
              <a:rPr sz="2900" spc="-35" dirty="0"/>
              <a:t> </a:t>
            </a:r>
            <a:r>
              <a:rPr sz="2900" spc="-15" dirty="0"/>
              <a:t>Kazakh</a:t>
            </a:r>
            <a:r>
              <a:rPr sz="2900" spc="-20" dirty="0"/>
              <a:t> </a:t>
            </a:r>
            <a:r>
              <a:rPr sz="2900" spc="-10" dirty="0"/>
              <a:t>Khanate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1040300" y="1739431"/>
            <a:ext cx="4032250" cy="367919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84785" marR="386080" indent="-172720">
              <a:lnSpc>
                <a:spcPct val="80000"/>
              </a:lnSpc>
              <a:spcBef>
                <a:spcPts val="585"/>
              </a:spcBef>
              <a:buFont typeface="Arial MT"/>
              <a:buChar char="•"/>
              <a:tabLst>
                <a:tab pos="185420" algn="l"/>
              </a:tabLst>
            </a:pP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Abu-l-Khair’s </a:t>
            </a:r>
            <a:r>
              <a:rPr sz="2000" dirty="0">
                <a:solidFill>
                  <a:srgbClr val="203864"/>
                </a:solidFill>
                <a:latin typeface="Calibri"/>
                <a:cs typeface="Calibri"/>
              </a:rPr>
              <a:t>actions </a:t>
            </a:r>
            <a:r>
              <a:rPr sz="2000" spc="-15" dirty="0">
                <a:solidFill>
                  <a:srgbClr val="203864"/>
                </a:solidFill>
                <a:latin typeface="Calibri"/>
                <a:cs typeface="Calibri"/>
              </a:rPr>
              <a:t>were </a:t>
            </a: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of </a:t>
            </a:r>
            <a:r>
              <a:rPr sz="2000" dirty="0">
                <a:solidFill>
                  <a:srgbClr val="203864"/>
                </a:solidFill>
                <a:latin typeface="Calibri"/>
                <a:cs typeface="Calibri"/>
              </a:rPr>
              <a:t>an </a:t>
            </a:r>
            <a:r>
              <a:rPr sz="2000" spc="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aggressively armed</a:t>
            </a:r>
            <a:r>
              <a:rPr sz="200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03864"/>
                </a:solidFill>
                <a:latin typeface="Calibri"/>
                <a:cs typeface="Calibri"/>
              </a:rPr>
              <a:t>nature, </a:t>
            </a: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which </a:t>
            </a:r>
            <a:r>
              <a:rPr sz="2000" spc="-434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03864"/>
                </a:solidFill>
                <a:latin typeface="Calibri"/>
                <a:cs typeface="Calibri"/>
              </a:rPr>
              <a:t>required </a:t>
            </a: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incalculable </a:t>
            </a:r>
            <a:r>
              <a:rPr sz="2000" dirty="0">
                <a:solidFill>
                  <a:srgbClr val="203864"/>
                </a:solidFill>
                <a:latin typeface="Calibri"/>
                <a:cs typeface="Calibri"/>
              </a:rPr>
              <a:t>human and </a:t>
            </a:r>
            <a:r>
              <a:rPr sz="2000" spc="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03864"/>
                </a:solidFill>
                <a:latin typeface="Calibri"/>
                <a:cs typeface="Calibri"/>
              </a:rPr>
              <a:t>material</a:t>
            </a:r>
            <a:r>
              <a:rPr sz="2000" spc="2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03864"/>
                </a:solidFill>
                <a:latin typeface="Calibri"/>
                <a:cs typeface="Calibri"/>
              </a:rPr>
              <a:t>costs</a:t>
            </a:r>
            <a:r>
              <a:rPr sz="2000" dirty="0">
                <a:solidFill>
                  <a:srgbClr val="203864"/>
                </a:solidFill>
                <a:latin typeface="Calibri"/>
                <a:cs typeface="Calibri"/>
              </a:rPr>
              <a:t> and</a:t>
            </a:r>
            <a:r>
              <a:rPr sz="2000" spc="-2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losses.</a:t>
            </a:r>
            <a:endParaRPr sz="2000">
              <a:latin typeface="Calibri"/>
              <a:cs typeface="Calibri"/>
            </a:endParaRPr>
          </a:p>
          <a:p>
            <a:pPr marL="184150" marR="5080" indent="-172085">
              <a:lnSpc>
                <a:spcPct val="80000"/>
              </a:lnSpc>
              <a:spcBef>
                <a:spcPts val="695"/>
              </a:spcBef>
              <a:buFont typeface="Arial MT"/>
              <a:buChar char="•"/>
              <a:tabLst>
                <a:tab pos="185420" algn="l"/>
              </a:tabLst>
            </a:pPr>
            <a:r>
              <a:rPr sz="2000" dirty="0">
                <a:solidFill>
                  <a:srgbClr val="203864"/>
                </a:solidFill>
                <a:latin typeface="Calibri"/>
                <a:cs typeface="Calibri"/>
              </a:rPr>
              <a:t>A </a:t>
            </a: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significant </a:t>
            </a:r>
            <a:r>
              <a:rPr sz="2000" dirty="0">
                <a:solidFill>
                  <a:srgbClr val="203864"/>
                </a:solidFill>
                <a:latin typeface="Calibri"/>
                <a:cs typeface="Calibri"/>
              </a:rPr>
              <a:t>part </a:t>
            </a: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of </a:t>
            </a:r>
            <a:r>
              <a:rPr sz="2000" dirty="0">
                <a:solidFill>
                  <a:srgbClr val="203864"/>
                </a:solidFill>
                <a:latin typeface="Calibri"/>
                <a:cs typeface="Calibri"/>
              </a:rPr>
              <a:t>the </a:t>
            </a: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population </a:t>
            </a:r>
            <a:r>
              <a:rPr sz="200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03864"/>
                </a:solidFill>
                <a:latin typeface="Calibri"/>
                <a:cs typeface="Calibri"/>
              </a:rPr>
              <a:t>rallied around </a:t>
            </a:r>
            <a:r>
              <a:rPr sz="2000" dirty="0">
                <a:solidFill>
                  <a:srgbClr val="203864"/>
                </a:solidFill>
                <a:latin typeface="Calibri"/>
                <a:cs typeface="Calibri"/>
              </a:rPr>
              <a:t>the </a:t>
            </a: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sultans of </a:t>
            </a:r>
            <a:r>
              <a:rPr sz="2000" spc="-20" dirty="0">
                <a:solidFill>
                  <a:srgbClr val="203864"/>
                </a:solidFill>
                <a:latin typeface="Calibri"/>
                <a:cs typeface="Calibri"/>
              </a:rPr>
              <a:t>Giray </a:t>
            </a:r>
            <a:r>
              <a:rPr sz="2000" spc="-1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03864"/>
                </a:solidFill>
                <a:latin typeface="Calibri"/>
                <a:cs typeface="Calibri"/>
              </a:rPr>
              <a:t>and </a:t>
            </a: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Janibek </a:t>
            </a:r>
            <a:r>
              <a:rPr sz="2000" dirty="0">
                <a:solidFill>
                  <a:srgbClr val="203864"/>
                </a:solidFill>
                <a:latin typeface="Calibri"/>
                <a:cs typeface="Calibri"/>
              </a:rPr>
              <a:t>back </a:t>
            </a: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in </a:t>
            </a:r>
            <a:r>
              <a:rPr sz="2000" dirty="0">
                <a:solidFill>
                  <a:srgbClr val="203864"/>
                </a:solidFill>
                <a:latin typeface="Calibri"/>
                <a:cs typeface="Calibri"/>
              </a:rPr>
              <a:t>the </a:t>
            </a: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1440s-1450s. </a:t>
            </a:r>
            <a:r>
              <a:rPr sz="2000" spc="-44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In </a:t>
            </a:r>
            <a:r>
              <a:rPr sz="2000" dirty="0">
                <a:solidFill>
                  <a:srgbClr val="203864"/>
                </a:solidFill>
                <a:latin typeface="Calibri"/>
                <a:cs typeface="Calibri"/>
              </a:rPr>
              <a:t>the hands </a:t>
            </a: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of </a:t>
            </a:r>
            <a:r>
              <a:rPr sz="2000" dirty="0">
                <a:solidFill>
                  <a:srgbClr val="203864"/>
                </a:solidFill>
                <a:latin typeface="Calibri"/>
                <a:cs typeface="Calibri"/>
              </a:rPr>
              <a:t>the </a:t>
            </a: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sultans </a:t>
            </a:r>
            <a:r>
              <a:rPr sz="2000" spc="-15" dirty="0">
                <a:solidFill>
                  <a:srgbClr val="203864"/>
                </a:solidFill>
                <a:latin typeface="Calibri"/>
                <a:cs typeface="Calibri"/>
              </a:rPr>
              <a:t>were </a:t>
            </a:r>
            <a:r>
              <a:rPr sz="2000" spc="-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urban</a:t>
            </a:r>
            <a:r>
              <a:rPr sz="2000" spc="-2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203864"/>
                </a:solidFill>
                <a:latin typeface="Calibri"/>
                <a:cs typeface="Calibri"/>
              </a:rPr>
              <a:t>centers</a:t>
            </a:r>
            <a:r>
              <a:rPr sz="2000" spc="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03864"/>
                </a:solidFill>
                <a:latin typeface="Calibri"/>
                <a:cs typeface="Calibri"/>
              </a:rPr>
              <a:t>and</a:t>
            </a:r>
            <a:r>
              <a:rPr sz="2000" spc="-2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03864"/>
                </a:solidFill>
                <a:latin typeface="Calibri"/>
                <a:cs typeface="Calibri"/>
              </a:rPr>
              <a:t>fortresses</a:t>
            </a:r>
            <a:r>
              <a:rPr sz="2000" spc="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in </a:t>
            </a:r>
            <a:r>
              <a:rPr sz="2000" dirty="0">
                <a:solidFill>
                  <a:srgbClr val="203864"/>
                </a:solidFill>
                <a:latin typeface="Calibri"/>
                <a:cs typeface="Calibri"/>
              </a:rPr>
              <a:t>the </a:t>
            </a:r>
            <a:r>
              <a:rPr sz="2000" spc="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03864"/>
                </a:solidFill>
                <a:latin typeface="Calibri"/>
                <a:cs typeface="Calibri"/>
              </a:rPr>
              <a:t>foothills </a:t>
            </a: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of </a:t>
            </a:r>
            <a:r>
              <a:rPr sz="2000" spc="-20" dirty="0">
                <a:solidFill>
                  <a:srgbClr val="203864"/>
                </a:solidFill>
                <a:latin typeface="Calibri"/>
                <a:cs typeface="Calibri"/>
              </a:rPr>
              <a:t>Karatau </a:t>
            </a:r>
            <a:r>
              <a:rPr sz="2000" dirty="0">
                <a:solidFill>
                  <a:srgbClr val="203864"/>
                </a:solidFill>
                <a:latin typeface="Calibri"/>
                <a:cs typeface="Calibri"/>
              </a:rPr>
              <a:t>and </a:t>
            </a: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on </a:t>
            </a:r>
            <a:r>
              <a:rPr sz="2000" dirty="0">
                <a:solidFill>
                  <a:srgbClr val="203864"/>
                </a:solidFill>
                <a:latin typeface="Calibri"/>
                <a:cs typeface="Calibri"/>
              </a:rPr>
              <a:t>the </a:t>
            </a:r>
            <a:r>
              <a:rPr sz="2000" spc="-10" dirty="0">
                <a:solidFill>
                  <a:srgbClr val="203864"/>
                </a:solidFill>
                <a:latin typeface="Calibri"/>
                <a:cs typeface="Calibri"/>
              </a:rPr>
              <a:t>Syr </a:t>
            </a: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 Darya:</a:t>
            </a:r>
            <a:r>
              <a:rPr sz="2000" spc="-2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Suzak,</a:t>
            </a:r>
            <a:r>
              <a:rPr sz="2000" spc="-2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03864"/>
                </a:solidFill>
                <a:latin typeface="Calibri"/>
                <a:cs typeface="Calibri"/>
              </a:rPr>
              <a:t>Sygnak,</a:t>
            </a:r>
            <a:r>
              <a:rPr sz="2000" spc="-5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Sauran,</a:t>
            </a:r>
            <a:r>
              <a:rPr sz="2000" spc="-2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03864"/>
                </a:solidFill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  <a:p>
            <a:pPr marL="183515" marR="208279" indent="-171450">
              <a:lnSpc>
                <a:spcPct val="80000"/>
              </a:lnSpc>
              <a:spcBef>
                <a:spcPts val="710"/>
              </a:spcBef>
              <a:buFont typeface="Arial MT"/>
              <a:buChar char="•"/>
              <a:tabLst>
                <a:tab pos="185420" algn="l"/>
              </a:tabLst>
            </a:pP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Janibek</a:t>
            </a:r>
            <a:r>
              <a:rPr sz="2000" spc="-2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03864"/>
                </a:solidFill>
                <a:latin typeface="Calibri"/>
                <a:cs typeface="Calibri"/>
              </a:rPr>
              <a:t>and</a:t>
            </a:r>
            <a:r>
              <a:rPr sz="2000" spc="-3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03864"/>
                </a:solidFill>
                <a:latin typeface="Calibri"/>
                <a:cs typeface="Calibri"/>
              </a:rPr>
              <a:t>Girey</a:t>
            </a: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03864"/>
                </a:solidFill>
                <a:latin typeface="Calibri"/>
                <a:cs typeface="Calibri"/>
              </a:rPr>
              <a:t>headed</a:t>
            </a:r>
            <a:r>
              <a:rPr sz="2000" spc="-3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03864"/>
                </a:solidFill>
                <a:latin typeface="Calibri"/>
                <a:cs typeface="Calibri"/>
              </a:rPr>
              <a:t>the</a:t>
            </a:r>
            <a:r>
              <a:rPr sz="2000" spc="-2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03864"/>
                </a:solidFill>
                <a:latin typeface="Calibri"/>
                <a:cs typeface="Calibri"/>
              </a:rPr>
              <a:t>clans </a:t>
            </a:r>
            <a:r>
              <a:rPr sz="2000" spc="-434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03864"/>
                </a:solidFill>
                <a:latin typeface="Calibri"/>
                <a:cs typeface="Calibri"/>
              </a:rPr>
              <a:t>and </a:t>
            </a: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tribes that </a:t>
            </a:r>
            <a:r>
              <a:rPr sz="2000" spc="-15" dirty="0">
                <a:solidFill>
                  <a:srgbClr val="203864"/>
                </a:solidFill>
                <a:latin typeface="Calibri"/>
                <a:cs typeface="Calibri"/>
              </a:rPr>
              <a:t>went </a:t>
            </a: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beyond </a:t>
            </a:r>
            <a:r>
              <a:rPr sz="2000" dirty="0">
                <a:solidFill>
                  <a:srgbClr val="203864"/>
                </a:solidFill>
                <a:latin typeface="Calibri"/>
                <a:cs typeface="Calibri"/>
              </a:rPr>
              <a:t>the </a:t>
            </a:r>
            <a:r>
              <a:rPr sz="2000" spc="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03864"/>
                </a:solidFill>
                <a:latin typeface="Calibri"/>
                <a:cs typeface="Calibri"/>
              </a:rPr>
              <a:t>Khanate</a:t>
            </a:r>
            <a:r>
              <a:rPr sz="2000" spc="-1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03864"/>
                </a:solidFill>
                <a:latin typeface="Calibri"/>
                <a:cs typeface="Calibri"/>
              </a:rPr>
              <a:t>of</a:t>
            </a:r>
            <a:r>
              <a:rPr sz="2000" spc="-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03864"/>
                </a:solidFill>
                <a:latin typeface="Calibri"/>
                <a:cs typeface="Calibri"/>
              </a:rPr>
              <a:t>Abu-l-Khair.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4479" y="1779473"/>
            <a:ext cx="3456431" cy="4645350"/>
          </a:xfrm>
          <a:prstGeom prst="rect">
            <a:avLst/>
          </a:prstGeom>
        </p:spPr>
      </p:pic>
    </p:spTree>
  </p:cSld>
  <p:clrMapOvr>
    <a:masterClrMapping/>
  </p:clrMapOvr>
  <p:transition>
    <p:split orient="vert"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380" y="1595767"/>
            <a:ext cx="54959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1.</a:t>
            </a:r>
            <a:r>
              <a:rPr spc="-20" dirty="0"/>
              <a:t> </a:t>
            </a:r>
            <a:r>
              <a:rPr spc="-10" dirty="0"/>
              <a:t>Emergence</a:t>
            </a:r>
            <a:r>
              <a:rPr spc="-30" dirty="0"/>
              <a:t> </a:t>
            </a:r>
            <a:r>
              <a:rPr dirty="0"/>
              <a:t>of</a:t>
            </a:r>
            <a:r>
              <a:rPr spc="-15" dirty="0"/>
              <a:t> Kazakh</a:t>
            </a:r>
            <a:r>
              <a:rPr spc="-40" dirty="0"/>
              <a:t> </a:t>
            </a:r>
            <a:r>
              <a:rPr spc="-15" dirty="0"/>
              <a:t>Khanate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9299" y="2581615"/>
            <a:ext cx="6463030" cy="314765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ruler</a:t>
            </a:r>
            <a:r>
              <a:rPr sz="2400" spc="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of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Mogolistan, </a:t>
            </a:r>
            <a:r>
              <a:rPr sz="2400" spc="-20" dirty="0">
                <a:solidFill>
                  <a:srgbClr val="203864"/>
                </a:solidFill>
                <a:latin typeface="Calibri"/>
                <a:cs typeface="Calibri"/>
              </a:rPr>
              <a:t>Yesen-Buga, 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entered</a:t>
            </a:r>
            <a:r>
              <a:rPr sz="2400" spc="1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into</a:t>
            </a:r>
            <a:r>
              <a:rPr sz="2400" spc="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an</a:t>
            </a:r>
            <a:r>
              <a:rPr sz="2400" spc="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alliance </a:t>
            </a:r>
            <a:r>
              <a:rPr sz="2400" spc="-434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with 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Kazakh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leaders,</a:t>
            </a:r>
            <a:r>
              <a:rPr sz="2400" spc="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providing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them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with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</a:t>
            </a:r>
            <a:r>
              <a:rPr sz="2400" spc="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territories</a:t>
            </a:r>
            <a:r>
              <a:rPr sz="2400" spc="2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of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 the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203864"/>
                </a:solidFill>
                <a:latin typeface="Calibri"/>
                <a:cs typeface="Calibri"/>
              </a:rPr>
              <a:t>Western</a:t>
            </a:r>
            <a:r>
              <a:rPr sz="2400" spc="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Semirechye</a:t>
            </a:r>
            <a:endParaRPr sz="2400" dirty="0">
              <a:latin typeface="Calibri"/>
              <a:cs typeface="Calibri"/>
            </a:endParaRPr>
          </a:p>
          <a:p>
            <a:pPr marL="184785" marR="96520" indent="-17272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This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was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 beginning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of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emergence of 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Kazakh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Khanate </a:t>
            </a:r>
            <a:r>
              <a:rPr sz="2400" spc="-44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(“Kazak”</a:t>
            </a:r>
            <a:r>
              <a:rPr sz="2400" spc="-2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means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203864"/>
                </a:solidFill>
                <a:latin typeface="Calibri"/>
                <a:cs typeface="Calibri"/>
              </a:rPr>
              <a:t>“unrestricted”,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rgbClr val="203864"/>
                </a:solidFill>
                <a:latin typeface="Calibri"/>
                <a:cs typeface="Calibri"/>
              </a:rPr>
              <a:t>“free”,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“separated</a:t>
            </a:r>
            <a:r>
              <a:rPr sz="2400" spc="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from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5" dirty="0">
                <a:solidFill>
                  <a:srgbClr val="203864"/>
                </a:solidFill>
                <a:latin typeface="Calibri"/>
                <a:cs typeface="Calibri"/>
              </a:rPr>
              <a:t>something”).</a:t>
            </a:r>
            <a:endParaRPr sz="2400" dirty="0">
              <a:latin typeface="Calibri"/>
              <a:cs typeface="Calibri"/>
            </a:endParaRPr>
          </a:p>
          <a:p>
            <a:pPr marL="184785" marR="144780" indent="-172720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Mohammed Khaidar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Dulati </a:t>
            </a:r>
            <a:r>
              <a:rPr sz="2400" spc="-25" dirty="0">
                <a:solidFill>
                  <a:srgbClr val="203864"/>
                </a:solidFill>
                <a:latin typeface="Calibri"/>
                <a:cs typeface="Calibri"/>
              </a:rPr>
              <a:t>refers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time of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formation </a:t>
            </a:r>
            <a:r>
              <a:rPr sz="2400" spc="-44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of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Kazakh</a:t>
            </a:r>
            <a:r>
              <a:rPr sz="2400" spc="-2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Khanate 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to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1465-1466.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split orient="vert"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7699" y="6280975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5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299" y="6280975"/>
            <a:ext cx="450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Verdana"/>
                <a:cs typeface="Verdana"/>
              </a:rPr>
              <a:t>из</a:t>
            </a:r>
            <a:r>
              <a:rPr sz="1200" spc="-8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36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9113520" cy="6853555"/>
            <a:chOff x="0" y="0"/>
            <a:chExt cx="9113520" cy="68535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13519" cy="68529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971" y="393191"/>
              <a:ext cx="3043427" cy="12923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1006771"/>
            <a:ext cx="6977380" cy="517449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pc="-15" dirty="0" smtClean="0"/>
              <a:t>Kazakh</a:t>
            </a:r>
            <a:r>
              <a:rPr spc="-45" dirty="0" smtClean="0"/>
              <a:t> </a:t>
            </a:r>
            <a:r>
              <a:rPr spc="-10" dirty="0"/>
              <a:t>Khanate</a:t>
            </a:r>
            <a:r>
              <a:rPr spc="-5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the </a:t>
            </a:r>
            <a:r>
              <a:rPr spc="-705" dirty="0"/>
              <a:t> </a:t>
            </a:r>
            <a:r>
              <a:rPr dirty="0"/>
              <a:t>XV</a:t>
            </a:r>
            <a:r>
              <a:rPr spc="-25" dirty="0"/>
              <a:t> </a:t>
            </a:r>
            <a:r>
              <a:rPr spc="-5" dirty="0" smtClean="0"/>
              <a:t>centur</a:t>
            </a:r>
            <a:r>
              <a:rPr lang="en-US" spc="-5" dirty="0" smtClean="0"/>
              <a:t>y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838200" y="1828800"/>
            <a:ext cx="6476599" cy="47147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785" marR="319405" indent="-1727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Kazakh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khans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 immediately</a:t>
            </a:r>
            <a:r>
              <a:rPr sz="2400" spc="3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after</a:t>
            </a:r>
            <a:r>
              <a:rPr sz="2400" spc="1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 death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of Abu-l-khair </a:t>
            </a:r>
            <a:r>
              <a:rPr sz="2400" spc="-434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(died in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1468), 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entered into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struggle 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for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power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in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 </a:t>
            </a:r>
            <a:r>
              <a:rPr sz="2400" spc="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steppe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and</a:t>
            </a:r>
            <a:r>
              <a:rPr sz="2400" spc="-2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in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southern</a:t>
            </a:r>
            <a:r>
              <a:rPr sz="2400" spc="-2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regions.</a:t>
            </a:r>
            <a:endParaRPr sz="2400" dirty="0">
              <a:latin typeface="Calibri"/>
              <a:cs typeface="Calibri"/>
            </a:endParaRPr>
          </a:p>
          <a:p>
            <a:pPr marL="184785" marR="5080" indent="-17272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Their</a:t>
            </a:r>
            <a:r>
              <a:rPr sz="2400" spc="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main</a:t>
            </a:r>
            <a:r>
              <a:rPr sz="2400" spc="1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opponents</a:t>
            </a:r>
            <a:r>
              <a:rPr sz="2400" spc="-3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were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 the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 Shaibanids (descendants of </a:t>
            </a:r>
            <a:r>
              <a:rPr sz="2400" spc="-44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Abu-l-Khair).</a:t>
            </a:r>
            <a:endParaRPr sz="2400" dirty="0">
              <a:latin typeface="Calibri"/>
              <a:cs typeface="Calibri"/>
            </a:endParaRPr>
          </a:p>
          <a:p>
            <a:pPr marL="184785" marR="9525" indent="-172720" algn="just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main struggle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unfolded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in </a:t>
            </a:r>
            <a:r>
              <a:rPr sz="2400" spc="-30" dirty="0">
                <a:solidFill>
                  <a:srgbClr val="203864"/>
                </a:solidFill>
                <a:latin typeface="Calibri"/>
                <a:cs typeface="Calibri"/>
              </a:rPr>
              <a:t>Turkestan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(the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economic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and </a:t>
            </a:r>
            <a:r>
              <a:rPr sz="2400" spc="-44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strategic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importance of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this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region was great).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struggle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dragged</a:t>
            </a:r>
            <a:r>
              <a:rPr sz="2400" spc="-5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on</a:t>
            </a:r>
            <a:r>
              <a:rPr sz="2400" spc="-2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for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3</a:t>
            </a:r>
            <a:r>
              <a:rPr sz="2400" spc="-2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decades.</a:t>
            </a:r>
            <a:endParaRPr sz="2400" dirty="0">
              <a:latin typeface="Calibri"/>
              <a:cs typeface="Calibri"/>
            </a:endParaRPr>
          </a:p>
          <a:p>
            <a:pPr marL="184785" marR="217170" indent="-172720" algn="just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One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of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prominent leaders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of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 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Kazakh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troops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in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this </a:t>
            </a:r>
            <a:r>
              <a:rPr sz="2400" spc="-44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period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was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 Giray's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son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Burundyk</a:t>
            </a:r>
            <a:r>
              <a:rPr sz="2400" spc="-3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(khan</a:t>
            </a:r>
            <a:r>
              <a:rPr sz="2400" spc="-2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since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 1480).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split orient="vert"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76201"/>
            <a:ext cx="7056119" cy="517449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 algn="ctr">
              <a:lnSpc>
                <a:spcPts val="3460"/>
              </a:lnSpc>
              <a:spcBef>
                <a:spcPts val="535"/>
              </a:spcBef>
            </a:pPr>
            <a:r>
              <a:rPr spc="-15" dirty="0" smtClean="0"/>
              <a:t>Kazakh</a:t>
            </a:r>
            <a:r>
              <a:rPr spc="-45" dirty="0" smtClean="0"/>
              <a:t> </a:t>
            </a:r>
            <a:r>
              <a:rPr spc="-10" dirty="0" smtClean="0"/>
              <a:t>Khan</a:t>
            </a:r>
            <a:r>
              <a:rPr lang="en-US" spc="-10" dirty="0" smtClean="0"/>
              <a:t>s 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7819" y="2292896"/>
            <a:ext cx="631698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785" marR="319405" indent="-1727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85420" algn="l"/>
              </a:tabLst>
            </a:pP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233674"/>
              </p:ext>
            </p:extLst>
          </p:nvPr>
        </p:nvGraphicFramePr>
        <p:xfrm>
          <a:off x="983267" y="518392"/>
          <a:ext cx="6469780" cy="63562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34890">
                  <a:extLst>
                    <a:ext uri="{9D8B030D-6E8A-4147-A177-3AD203B41FA5}">
                      <a16:colId xmlns:a16="http://schemas.microsoft.com/office/drawing/2014/main" val="1205409432"/>
                    </a:ext>
                  </a:extLst>
                </a:gridCol>
                <a:gridCol w="3234890">
                  <a:extLst>
                    <a:ext uri="{9D8B030D-6E8A-4147-A177-3AD203B41FA5}">
                      <a16:colId xmlns:a16="http://schemas.microsoft.com/office/drawing/2014/main" val="1901193570"/>
                    </a:ext>
                  </a:extLst>
                </a:gridCol>
              </a:tblGrid>
              <a:tr h="2881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 err="1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 err="1">
                          <a:solidFill>
                            <a:schemeClr val="tx1"/>
                          </a:solidFill>
                          <a:effectLst/>
                        </a:rPr>
                        <a:t>Ruling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effectLst/>
                        </a:rPr>
                        <a:t>period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566619"/>
                  </a:ext>
                </a:extLst>
              </a:tr>
              <a:tr h="288164">
                <a:tc>
                  <a:txBody>
                    <a:bodyPr/>
                    <a:lstStyle/>
                    <a:p>
                      <a:pPr marL="0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 err="1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 tooltip="Kerei Khan"/>
                        </a:rPr>
                        <a:t>Kerei</a:t>
                      </a:r>
                      <a:endParaRPr lang="ru-RU" sz="1600" b="1" dirty="0">
                        <a:solidFill>
                          <a:srgbClr val="3333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1456–1473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095293"/>
                  </a:ext>
                </a:extLst>
              </a:tr>
              <a:tr h="288164">
                <a:tc>
                  <a:txBody>
                    <a:bodyPr/>
                    <a:lstStyle/>
                    <a:p>
                      <a:pPr marL="0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 err="1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 tooltip="Janibek Khan"/>
                        </a:rPr>
                        <a:t>Janibek</a:t>
                      </a:r>
                      <a:endParaRPr lang="ru-RU" sz="1600" b="1" dirty="0">
                        <a:solidFill>
                          <a:srgbClr val="3333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1473–1480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326409"/>
                  </a:ext>
                </a:extLst>
              </a:tr>
              <a:tr h="288164">
                <a:tc>
                  <a:txBody>
                    <a:bodyPr/>
                    <a:lstStyle/>
                    <a:p>
                      <a:pPr marL="0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 err="1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 tooltip="Burunduk Khan"/>
                        </a:rPr>
                        <a:t>Burund</a:t>
                      </a:r>
                      <a:r>
                        <a:rPr lang="en-US" sz="1600" b="1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 tooltip="Burunduk Khan"/>
                        </a:rPr>
                        <a:t>y</a:t>
                      </a:r>
                      <a:r>
                        <a:rPr lang="ru-RU" sz="1600" b="1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 tooltip="Burunduk Khan"/>
                        </a:rPr>
                        <a:t>k</a:t>
                      </a:r>
                      <a:endParaRPr lang="ru-RU" sz="1600" b="1" dirty="0">
                        <a:solidFill>
                          <a:srgbClr val="3333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1480–1511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086122"/>
                  </a:ext>
                </a:extLst>
              </a:tr>
              <a:tr h="233952">
                <a:tc>
                  <a:txBody>
                    <a:bodyPr/>
                    <a:lstStyle/>
                    <a:p>
                      <a:pPr marL="0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en-US" sz="1800" b="1" dirty="0" err="1" smtClean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Kasym</a:t>
                      </a:r>
                      <a:r>
                        <a:rPr lang="en-US" sz="1800" b="1" dirty="0" smtClean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sz="1800" b="1" dirty="0">
                        <a:solidFill>
                          <a:srgbClr val="3333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>
                          <a:solidFill>
                            <a:schemeClr val="tx1"/>
                          </a:solidFill>
                          <a:effectLst/>
                        </a:rPr>
                        <a:t>1511–1518</a:t>
                      </a:r>
                      <a:endParaRPr lang="ru-RU" sz="16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017562"/>
                  </a:ext>
                </a:extLst>
              </a:tr>
              <a:tr h="288164">
                <a:tc>
                  <a:txBody>
                    <a:bodyPr/>
                    <a:lstStyle/>
                    <a:p>
                      <a:pPr marL="0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 err="1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 tooltip="Mamash Khan"/>
                        </a:rPr>
                        <a:t>Muhammed</a:t>
                      </a:r>
                      <a:endParaRPr lang="ru-RU" sz="1600" b="1" dirty="0">
                        <a:solidFill>
                          <a:srgbClr val="3333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1518–1523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874376"/>
                  </a:ext>
                </a:extLst>
              </a:tr>
              <a:tr h="288164">
                <a:tc>
                  <a:txBody>
                    <a:bodyPr/>
                    <a:lstStyle/>
                    <a:p>
                      <a:pPr marL="0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 err="1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 tooltip="Taiyr Khan"/>
                        </a:rPr>
                        <a:t>Tahir</a:t>
                      </a:r>
                      <a:endParaRPr lang="ru-RU" sz="1600" b="1" dirty="0">
                        <a:solidFill>
                          <a:srgbClr val="3333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1523–1533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539051"/>
                  </a:ext>
                </a:extLst>
              </a:tr>
              <a:tr h="288164">
                <a:tc>
                  <a:txBody>
                    <a:bodyPr/>
                    <a:lstStyle/>
                    <a:p>
                      <a:pPr marL="0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 err="1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Buidash</a:t>
                      </a:r>
                      <a:endParaRPr lang="ru-RU" sz="1600" b="1" dirty="0">
                        <a:solidFill>
                          <a:srgbClr val="3333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1533–1538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17707"/>
                  </a:ext>
                </a:extLst>
              </a:tr>
              <a:tr h="2881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u="sng" dirty="0" err="1">
                          <a:solidFill>
                            <a:srgbClr val="3333FF"/>
                          </a:solidFill>
                          <a:effectLst/>
                          <a:hlinkClick r:id="rId7" tooltip="Ahmet Khan"/>
                        </a:rPr>
                        <a:t>Ahmed</a:t>
                      </a:r>
                      <a:endParaRPr lang="ru-RU" sz="1600" b="1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1533–1535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149311"/>
                  </a:ext>
                </a:extLst>
              </a:tr>
              <a:tr h="2881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 err="1">
                          <a:solidFill>
                            <a:srgbClr val="3333FF"/>
                          </a:solidFill>
                          <a:effectLst/>
                        </a:rPr>
                        <a:t>Toghym</a:t>
                      </a:r>
                      <a:endParaRPr lang="ru-RU" sz="1600" b="1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1535–1537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544832"/>
                  </a:ext>
                </a:extLst>
              </a:tr>
              <a:tr h="2881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u="sng" dirty="0" err="1">
                          <a:solidFill>
                            <a:srgbClr val="3333FF"/>
                          </a:solidFill>
                          <a:effectLst/>
                          <a:hlinkClick r:id="rId8" tooltip="Haqnazar Khan"/>
                        </a:rPr>
                        <a:t>Haqnazar</a:t>
                      </a:r>
                      <a:endParaRPr lang="ru-RU" sz="1600" b="1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1538–1580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822009"/>
                  </a:ext>
                </a:extLst>
              </a:tr>
              <a:tr h="2881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 err="1">
                          <a:solidFill>
                            <a:srgbClr val="3333FF"/>
                          </a:solidFill>
                          <a:effectLst/>
                        </a:rPr>
                        <a:t>Shygai</a:t>
                      </a:r>
                      <a:endParaRPr lang="ru-RU" sz="1600" b="1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1580–1582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458297"/>
                  </a:ext>
                </a:extLst>
              </a:tr>
              <a:tr h="2881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 err="1">
                          <a:solidFill>
                            <a:srgbClr val="3333FF"/>
                          </a:solidFill>
                          <a:effectLst/>
                        </a:rPr>
                        <a:t>Tauekel</a:t>
                      </a:r>
                      <a:endParaRPr lang="ru-RU" sz="1600" b="1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1582–1598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262188"/>
                  </a:ext>
                </a:extLst>
              </a:tr>
              <a:tr h="2881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 err="1">
                          <a:solidFill>
                            <a:srgbClr val="3333FF"/>
                          </a:solidFill>
                          <a:effectLst/>
                        </a:rPr>
                        <a:t>Esim</a:t>
                      </a:r>
                      <a:endParaRPr lang="ru-RU" sz="1600" b="1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1598–1628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279540"/>
                  </a:ext>
                </a:extLst>
              </a:tr>
              <a:tr h="2881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u="sng" dirty="0" err="1">
                          <a:solidFill>
                            <a:srgbClr val="3333FF"/>
                          </a:solidFill>
                          <a:effectLst/>
                          <a:hlinkClick r:id="rId9" tooltip="Salqam Jangir Khan"/>
                        </a:rPr>
                        <a:t>Jangir</a:t>
                      </a:r>
                      <a:endParaRPr lang="ru-RU" sz="1600" b="1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1628–1652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713183"/>
                  </a:ext>
                </a:extLst>
              </a:tr>
              <a:tr h="2881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u="sng" dirty="0" err="1">
                          <a:solidFill>
                            <a:srgbClr val="3333FF"/>
                          </a:solidFill>
                          <a:effectLst/>
                          <a:hlinkClick r:id="rId10" tooltip="ru:Батыр-хан"/>
                        </a:rPr>
                        <a:t>Batyr</a:t>
                      </a:r>
                      <a:r>
                        <a:rPr lang="ru-RU" sz="1600" b="1" u="sng" dirty="0">
                          <a:solidFill>
                            <a:srgbClr val="3333FF"/>
                          </a:solidFill>
                          <a:effectLst/>
                          <a:hlinkClick r:id="rId10" tooltip="ru:Батыр-хан"/>
                        </a:rPr>
                        <a:t> </a:t>
                      </a:r>
                      <a:r>
                        <a:rPr lang="ru-RU" sz="1600" b="1" u="sng" dirty="0" err="1">
                          <a:solidFill>
                            <a:srgbClr val="3333FF"/>
                          </a:solidFill>
                          <a:effectLst/>
                          <a:hlinkClick r:id="rId10" tooltip="ru:Батыр-хан"/>
                        </a:rPr>
                        <a:t>Khan</a:t>
                      </a:r>
                      <a:endParaRPr lang="ru-RU" sz="1600" b="1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1652-1680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112000"/>
                  </a:ext>
                </a:extLst>
              </a:tr>
              <a:tr h="2881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u="sng" dirty="0" err="1">
                          <a:solidFill>
                            <a:srgbClr val="3333FF"/>
                          </a:solidFill>
                          <a:effectLst/>
                          <a:hlinkClick r:id="rId11" tooltip="Tauke khan"/>
                        </a:rPr>
                        <a:t>Tauke</a:t>
                      </a:r>
                      <a:endParaRPr lang="ru-RU" sz="1600" b="1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1680–1715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055145"/>
                  </a:ext>
                </a:extLst>
              </a:tr>
              <a:tr h="2881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 err="1">
                          <a:solidFill>
                            <a:srgbClr val="3333FF"/>
                          </a:solidFill>
                          <a:effectLst/>
                        </a:rPr>
                        <a:t>Qaiyp</a:t>
                      </a:r>
                      <a:endParaRPr lang="ru-RU" sz="1600" b="1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1715–1718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362344"/>
                  </a:ext>
                </a:extLst>
              </a:tr>
              <a:tr h="2881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 err="1">
                          <a:solidFill>
                            <a:srgbClr val="3333FF"/>
                          </a:solidFill>
                          <a:effectLst/>
                        </a:rPr>
                        <a:t>Bolat</a:t>
                      </a:r>
                      <a:endParaRPr lang="ru-RU" sz="1600" b="1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1718–1729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661962"/>
                  </a:ext>
                </a:extLst>
              </a:tr>
              <a:tr h="2881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u="sng" dirty="0" err="1">
                          <a:solidFill>
                            <a:srgbClr val="3333FF"/>
                          </a:solidFill>
                          <a:effectLst/>
                          <a:hlinkClick r:id="rId12" tooltip="ru:Абильмамбет-хан"/>
                        </a:rPr>
                        <a:t>Abulmambet</a:t>
                      </a:r>
                      <a:r>
                        <a:rPr lang="ru-RU" sz="1600" b="1" u="sng" dirty="0">
                          <a:solidFill>
                            <a:srgbClr val="3333FF"/>
                          </a:solidFill>
                          <a:effectLst/>
                          <a:hlinkClick r:id="rId12" tooltip="ru:Абильмамбет-хан"/>
                        </a:rPr>
                        <a:t> </a:t>
                      </a:r>
                      <a:r>
                        <a:rPr lang="ru-RU" sz="1600" b="1" u="sng" dirty="0" err="1">
                          <a:solidFill>
                            <a:srgbClr val="3333FF"/>
                          </a:solidFill>
                          <a:effectLst/>
                          <a:hlinkClick r:id="rId12" tooltip="ru:Абильмамбет-хан"/>
                        </a:rPr>
                        <a:t>Khan</a:t>
                      </a:r>
                      <a:endParaRPr lang="ru-RU" sz="1600" b="1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1729–1771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135996"/>
                  </a:ext>
                </a:extLst>
              </a:tr>
              <a:tr h="2881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u="sng" dirty="0" err="1">
                          <a:solidFill>
                            <a:srgbClr val="3333FF"/>
                          </a:solidFill>
                          <a:effectLst/>
                          <a:hlinkClick r:id="rId13" tooltip="Ablai Khan"/>
                        </a:rPr>
                        <a:t>Ablai</a:t>
                      </a:r>
                      <a:r>
                        <a:rPr lang="ru-RU" sz="1600" b="1" u="sng" dirty="0">
                          <a:solidFill>
                            <a:srgbClr val="3333FF"/>
                          </a:solidFill>
                          <a:effectLst/>
                          <a:hlinkClick r:id="rId13" tooltip="Ablai Khan"/>
                        </a:rPr>
                        <a:t> </a:t>
                      </a:r>
                      <a:r>
                        <a:rPr lang="ru-RU" sz="1600" b="1" u="sng" dirty="0" err="1">
                          <a:solidFill>
                            <a:srgbClr val="3333FF"/>
                          </a:solidFill>
                          <a:effectLst/>
                          <a:hlinkClick r:id="rId13" tooltip="Ablai Khan"/>
                        </a:rPr>
                        <a:t>Khan</a:t>
                      </a:r>
                      <a:endParaRPr lang="ru-RU" sz="1600" b="1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1771–1781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437276"/>
                  </a:ext>
                </a:extLst>
              </a:tr>
              <a:tr h="2881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u="sng" dirty="0" err="1">
                          <a:solidFill>
                            <a:srgbClr val="3333FF"/>
                          </a:solidFill>
                          <a:effectLst/>
                          <a:hlinkClick r:id="rId14" tooltip="Kenesary Kasymov"/>
                        </a:rPr>
                        <a:t>Kenesary</a:t>
                      </a:r>
                      <a:r>
                        <a:rPr lang="ru-RU" sz="1600" b="1" u="sng" dirty="0">
                          <a:solidFill>
                            <a:srgbClr val="3333FF"/>
                          </a:solidFill>
                          <a:effectLst/>
                          <a:hlinkClick r:id="rId14" tooltip="Kenesary Kasymov"/>
                        </a:rPr>
                        <a:t> </a:t>
                      </a:r>
                      <a:r>
                        <a:rPr lang="ru-RU" sz="1600" b="1" u="sng" dirty="0" err="1">
                          <a:solidFill>
                            <a:srgbClr val="3333FF"/>
                          </a:solidFill>
                          <a:effectLst/>
                          <a:hlinkClick r:id="rId14" tooltip="Kenesary Kasymov"/>
                        </a:rPr>
                        <a:t>Khan</a:t>
                      </a:r>
                      <a:endParaRPr lang="ru-RU" sz="1600" b="1" dirty="0">
                        <a:solidFill>
                          <a:srgbClr val="3333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1841–1847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285" marR="24285" marT="12142" marB="1214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209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1147214"/>
      </p:ext>
    </p:extLst>
  </p:cSld>
  <p:clrMapOvr>
    <a:masterClrMapping/>
  </p:clrMapOvr>
  <p:transition>
    <p:split orient="vert" dir="in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7699" y="6280975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8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299" y="6280975"/>
            <a:ext cx="450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Verdana"/>
                <a:cs typeface="Verdana"/>
              </a:rPr>
              <a:t>из</a:t>
            </a:r>
            <a:r>
              <a:rPr sz="1200" spc="-8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36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" y="0"/>
            <a:ext cx="7740383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609600"/>
            <a:ext cx="6150178" cy="1099167"/>
          </a:xfrm>
          <a:prstGeom prst="rect">
            <a:avLst/>
          </a:prstGeom>
        </p:spPr>
        <p:txBody>
          <a:bodyPr vert="horz" wrap="square" lIns="0" tIns="199537" rIns="0" bIns="0" rtlCol="0">
            <a:spAutoFit/>
          </a:bodyPr>
          <a:lstStyle/>
          <a:p>
            <a:pPr marL="1643380" marR="5080" indent="-1574165">
              <a:lnSpc>
                <a:spcPts val="3460"/>
              </a:lnSpc>
              <a:spcBef>
                <a:spcPts val="535"/>
              </a:spcBef>
            </a:pPr>
            <a:r>
              <a:rPr spc="-5" dirty="0" smtClean="0"/>
              <a:t>Socio-economic </a:t>
            </a:r>
            <a:r>
              <a:rPr spc="-10" dirty="0"/>
              <a:t>development </a:t>
            </a:r>
            <a:r>
              <a:rPr dirty="0"/>
              <a:t>of </a:t>
            </a:r>
            <a:r>
              <a:rPr spc="-710" dirty="0"/>
              <a:t> </a:t>
            </a:r>
            <a:r>
              <a:rPr spc="-15" dirty="0"/>
              <a:t>Kazakh</a:t>
            </a:r>
            <a:r>
              <a:rPr spc="-50" dirty="0"/>
              <a:t> </a:t>
            </a:r>
            <a:r>
              <a:rPr spc="-10" dirty="0"/>
              <a:t>Khanate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2286000"/>
            <a:ext cx="7189745" cy="3696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785" marR="808990" indent="-1727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increasing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share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of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nomadic 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pastoral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economy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has </a:t>
            </a:r>
            <a:r>
              <a:rPr sz="2400" spc="-44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changed</a:t>
            </a:r>
            <a:r>
              <a:rPr sz="2400" spc="-4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social</a:t>
            </a:r>
            <a:r>
              <a:rPr sz="2400" spc="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relations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 in</a:t>
            </a:r>
            <a:r>
              <a:rPr sz="2400" spc="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direction of </a:t>
            </a:r>
            <a:r>
              <a:rPr sz="2400" spc="-20" dirty="0">
                <a:solidFill>
                  <a:srgbClr val="203864"/>
                </a:solidFill>
                <a:latin typeface="Calibri"/>
                <a:cs typeface="Calibri"/>
              </a:rPr>
              <a:t>patriarchy.</a:t>
            </a:r>
            <a:endParaRPr sz="2400" dirty="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communal</a:t>
            </a:r>
            <a:r>
              <a:rPr sz="2400" spc="-2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form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of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land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tenure dominated.</a:t>
            </a:r>
            <a:endParaRPr sz="2400" dirty="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Livestock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is</a:t>
            </a:r>
            <a:r>
              <a:rPr sz="2400" spc="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main</a:t>
            </a:r>
            <a:r>
              <a:rPr sz="2400" spc="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measure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of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wealth of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nomads.</a:t>
            </a:r>
            <a:endParaRPr sz="2400" dirty="0">
              <a:latin typeface="Calibri"/>
              <a:cs typeface="Calibri"/>
            </a:endParaRPr>
          </a:p>
          <a:p>
            <a:pPr marL="184785" marR="5080" indent="-172720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 entire</a:t>
            </a:r>
            <a:r>
              <a:rPr sz="2400" spc="1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territory</a:t>
            </a:r>
            <a:r>
              <a:rPr sz="2400" spc="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of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</a:t>
            </a:r>
            <a:r>
              <a:rPr sz="2400" spc="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khanate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 belonged</a:t>
            </a:r>
            <a:r>
              <a:rPr sz="2400" spc="-2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to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</a:t>
            </a:r>
            <a:r>
              <a:rPr sz="2400" spc="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ruling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 family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of </a:t>
            </a:r>
            <a:r>
              <a:rPr sz="2400" spc="-44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Genghisides.</a:t>
            </a:r>
            <a:endParaRPr sz="2400" dirty="0">
              <a:latin typeface="Calibri"/>
              <a:cs typeface="Calibri"/>
            </a:endParaRPr>
          </a:p>
          <a:p>
            <a:pPr marL="184785" marR="292100" indent="-17272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 khan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was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supreme manager of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lands, dividing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them </a:t>
            </a:r>
            <a:r>
              <a:rPr sz="2400" spc="-44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among</a:t>
            </a:r>
            <a:r>
              <a:rPr sz="2400" spc="-2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the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sultans.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split orient="vert" dir="in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884" y="224028"/>
            <a:ext cx="8712707" cy="640841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20519" y="6454584"/>
            <a:ext cx="3009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400" dirty="0">
                <a:solidFill>
                  <a:srgbClr val="8A8A8A"/>
                </a:solidFill>
                <a:latin typeface="Arial MT"/>
                <a:cs typeface="Arial MT"/>
              </a:rPr>
              <a:t>и</a:t>
            </a:r>
            <a:r>
              <a:rPr sz="900" spc="-490" dirty="0">
                <a:solidFill>
                  <a:srgbClr val="8A8A8A"/>
                </a:solidFill>
                <a:latin typeface="Arial MT"/>
                <a:cs typeface="Arial MT"/>
              </a:rPr>
              <a:t>з</a:t>
            </a:r>
            <a:r>
              <a:rPr sz="900" spc="-5" dirty="0">
                <a:solidFill>
                  <a:srgbClr val="8A8A8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8A8A"/>
                </a:solidFill>
                <a:latin typeface="Arial MT"/>
                <a:cs typeface="Arial MT"/>
              </a:rPr>
              <a:t>36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93917" y="6451498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A8A8A"/>
                </a:solidFill>
                <a:latin typeface="Calibri"/>
                <a:cs typeface="Calibri"/>
              </a:rPr>
              <a:t>18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7299" y="1350062"/>
            <a:ext cx="6150178" cy="577805"/>
          </a:xfrm>
          <a:prstGeom prst="rect">
            <a:avLst/>
          </a:prstGeom>
        </p:spPr>
        <p:txBody>
          <a:bodyPr vert="horz" wrap="square" lIns="0" tIns="127717" rIns="0" bIns="0" rtlCol="0">
            <a:spAutoFit/>
          </a:bodyPr>
          <a:lstStyle/>
          <a:p>
            <a:pPr marL="1556385" marR="5080" indent="-1574165">
              <a:lnSpc>
                <a:spcPts val="3460"/>
              </a:lnSpc>
              <a:spcBef>
                <a:spcPts val="535"/>
              </a:spcBef>
            </a:pPr>
            <a:r>
              <a:rPr lang="en-US" spc="-10" dirty="0" smtClean="0"/>
              <a:t>Social Structure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78739" y="2655943"/>
            <a:ext cx="7169784" cy="3701013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84785" marR="127635" indent="-172720" algn="just">
              <a:lnSpc>
                <a:spcPts val="2380"/>
              </a:lnSpc>
              <a:spcBef>
                <a:spcPts val="200"/>
              </a:spcBef>
              <a:buFont typeface="Arial MT"/>
              <a:buChar char="•"/>
              <a:tabLst>
                <a:tab pos="185420" algn="l"/>
              </a:tabLst>
            </a:pPr>
            <a:r>
              <a:rPr sz="2800" spc="-95" dirty="0">
                <a:solidFill>
                  <a:srgbClr val="203864"/>
                </a:solidFill>
                <a:latin typeface="Calibri"/>
                <a:cs typeface="Calibri"/>
              </a:rPr>
              <a:t>To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the upper </a:t>
            </a:r>
            <a:r>
              <a:rPr sz="2800" spc="-15" dirty="0">
                <a:solidFill>
                  <a:srgbClr val="203864"/>
                </a:solidFill>
                <a:latin typeface="Calibri"/>
                <a:cs typeface="Calibri"/>
              </a:rPr>
              <a:t>aristocratic </a:t>
            </a:r>
            <a:r>
              <a:rPr sz="2800" spc="-5" dirty="0">
                <a:solidFill>
                  <a:srgbClr val="203864"/>
                </a:solidFill>
                <a:latin typeface="Calibri"/>
                <a:cs typeface="Calibri"/>
              </a:rPr>
              <a:t>class</a:t>
            </a:r>
            <a:r>
              <a:rPr sz="2800" spc="-5" dirty="0">
                <a:solidFill>
                  <a:srgbClr val="203864"/>
                </a:solidFill>
                <a:latin typeface="Symbol"/>
                <a:cs typeface="Symbol"/>
              </a:rPr>
              <a:t></a:t>
            </a:r>
            <a:r>
              <a:rPr sz="2800" spc="-5" dirty="0">
                <a:solidFill>
                  <a:srgbClr val="203864"/>
                </a:solidFill>
                <a:latin typeface="Calibri"/>
                <a:cs typeface="Calibri"/>
              </a:rPr>
              <a:t>ak </a:t>
            </a:r>
            <a:r>
              <a:rPr sz="2800" spc="-10" dirty="0">
                <a:solidFill>
                  <a:srgbClr val="203864"/>
                </a:solidFill>
                <a:latin typeface="Calibri"/>
                <a:cs typeface="Calibri"/>
              </a:rPr>
              <a:t>suyek </a:t>
            </a:r>
            <a:r>
              <a:rPr sz="2800" spc="-5" dirty="0">
                <a:solidFill>
                  <a:srgbClr val="203864"/>
                </a:solidFill>
                <a:latin typeface="Calibri"/>
                <a:cs typeface="Calibri"/>
              </a:rPr>
              <a:t>(white bone)</a:t>
            </a:r>
            <a:r>
              <a:rPr sz="2800" spc="-5" dirty="0">
                <a:solidFill>
                  <a:srgbClr val="203864"/>
                </a:solidFill>
                <a:latin typeface="Symbol"/>
                <a:cs typeface="Symbol"/>
              </a:rPr>
              <a:t></a:t>
            </a:r>
            <a:r>
              <a:rPr sz="2800" spc="-5" dirty="0">
                <a:solidFill>
                  <a:srgbClr val="203864"/>
                </a:solidFill>
                <a:latin typeface="Calibri"/>
                <a:cs typeface="Calibri"/>
              </a:rPr>
              <a:t>Genghisides </a:t>
            </a:r>
            <a:r>
              <a:rPr sz="2800" spc="-44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included:</a:t>
            </a:r>
            <a:r>
              <a:rPr sz="2800" spc="-2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khans,</a:t>
            </a:r>
            <a:r>
              <a:rPr sz="2800" spc="-2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203864"/>
                </a:solidFill>
                <a:latin typeface="Calibri"/>
                <a:cs typeface="Calibri"/>
              </a:rPr>
              <a:t>sultans,</a:t>
            </a:r>
            <a:r>
              <a:rPr sz="2800" spc="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oglans</a:t>
            </a:r>
            <a:r>
              <a:rPr sz="2800" spc="-2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and</a:t>
            </a:r>
            <a:r>
              <a:rPr sz="2800" spc="-15" dirty="0">
                <a:solidFill>
                  <a:srgbClr val="203864"/>
                </a:solidFill>
                <a:latin typeface="Calibri"/>
                <a:cs typeface="Calibri"/>
              </a:rPr>
              <a:t> tore.</a:t>
            </a:r>
            <a:endParaRPr sz="2800" dirty="0">
              <a:latin typeface="Calibri"/>
              <a:cs typeface="Calibri"/>
            </a:endParaRPr>
          </a:p>
          <a:p>
            <a:pPr marL="184785" marR="5080" indent="-172720" algn="just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185420" algn="l"/>
              </a:tabLst>
            </a:pPr>
            <a:r>
              <a:rPr sz="2800" spc="-10" dirty="0">
                <a:solidFill>
                  <a:srgbClr val="203864"/>
                </a:solidFill>
                <a:latin typeface="Calibri"/>
                <a:cs typeface="Calibri"/>
              </a:rPr>
              <a:t>Each </a:t>
            </a:r>
            <a:r>
              <a:rPr sz="2800" spc="-5" dirty="0">
                <a:solidFill>
                  <a:srgbClr val="203864"/>
                </a:solidFill>
                <a:latin typeface="Calibri"/>
                <a:cs typeface="Calibri"/>
              </a:rPr>
              <a:t>sultan could claim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a khan's </a:t>
            </a:r>
            <a:r>
              <a:rPr sz="2800" spc="-5" dirty="0">
                <a:solidFill>
                  <a:srgbClr val="203864"/>
                </a:solidFill>
                <a:latin typeface="Calibri"/>
                <a:cs typeface="Calibri"/>
              </a:rPr>
              <a:t>title,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an ulus </a:t>
            </a:r>
            <a:r>
              <a:rPr sz="2800" spc="-5" dirty="0">
                <a:solidFill>
                  <a:srgbClr val="203864"/>
                </a:solidFill>
                <a:latin typeface="Calibri"/>
                <a:cs typeface="Calibri"/>
              </a:rPr>
              <a:t>with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a </a:t>
            </a:r>
            <a:r>
              <a:rPr sz="2800" spc="-5" dirty="0">
                <a:solidFill>
                  <a:srgbClr val="203864"/>
                </a:solidFill>
                <a:latin typeface="Calibri"/>
                <a:cs typeface="Calibri"/>
              </a:rPr>
              <a:t>certain number </a:t>
            </a:r>
            <a:r>
              <a:rPr sz="2800" spc="-44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203864"/>
                </a:solidFill>
                <a:latin typeface="Calibri"/>
                <a:cs typeface="Calibri"/>
              </a:rPr>
              <a:t>of</a:t>
            </a:r>
            <a:r>
              <a:rPr sz="2800" spc="-1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clans</a:t>
            </a:r>
            <a:r>
              <a:rPr sz="2800" spc="-1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and</a:t>
            </a:r>
            <a:r>
              <a:rPr sz="2800" spc="-5" dirty="0">
                <a:solidFill>
                  <a:srgbClr val="203864"/>
                </a:solidFill>
                <a:latin typeface="Calibri"/>
                <a:cs typeface="Calibri"/>
              </a:rPr>
              <a:t> tribes.</a:t>
            </a:r>
            <a:endParaRPr sz="2800" dirty="0">
              <a:latin typeface="Calibri"/>
              <a:cs typeface="Calibri"/>
            </a:endParaRPr>
          </a:p>
          <a:p>
            <a:pPr marL="184785" marR="133350" indent="-172720" algn="just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185420" algn="l"/>
              </a:tabLst>
            </a:pPr>
            <a:r>
              <a:rPr sz="2800" spc="-5" dirty="0">
                <a:solidFill>
                  <a:srgbClr val="203864"/>
                </a:solidFill>
                <a:latin typeface="Calibri"/>
                <a:cs typeface="Calibri"/>
              </a:rPr>
              <a:t>In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the </a:t>
            </a:r>
            <a:r>
              <a:rPr sz="2800" spc="-5" dirty="0">
                <a:solidFill>
                  <a:srgbClr val="203864"/>
                </a:solidFill>
                <a:latin typeface="Calibri"/>
                <a:cs typeface="Calibri"/>
              </a:rPr>
              <a:t>uluses,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the </a:t>
            </a:r>
            <a:r>
              <a:rPr sz="2800" spc="-5" dirty="0">
                <a:solidFill>
                  <a:srgbClr val="203864"/>
                </a:solidFill>
                <a:latin typeface="Calibri"/>
                <a:cs typeface="Calibri"/>
              </a:rPr>
              <a:t>sultans owned all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the </a:t>
            </a:r>
            <a:r>
              <a:rPr sz="2800" spc="-10" dirty="0">
                <a:solidFill>
                  <a:srgbClr val="203864"/>
                </a:solidFill>
                <a:latin typeface="Calibri"/>
                <a:cs typeface="Calibri"/>
              </a:rPr>
              <a:t>administrative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and judicial </a:t>
            </a:r>
            <a:r>
              <a:rPr sz="2800" spc="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rgbClr val="203864"/>
                </a:solidFill>
                <a:latin typeface="Calibri"/>
                <a:cs typeface="Calibri"/>
              </a:rPr>
              <a:t>power, </a:t>
            </a:r>
            <a:r>
              <a:rPr sz="2800" spc="-5" dirty="0">
                <a:solidFill>
                  <a:srgbClr val="203864"/>
                </a:solidFill>
                <a:latin typeface="Calibri"/>
                <a:cs typeface="Calibri"/>
              </a:rPr>
              <a:t>they </a:t>
            </a:r>
            <a:r>
              <a:rPr sz="2800" spc="-15" dirty="0">
                <a:solidFill>
                  <a:srgbClr val="203864"/>
                </a:solidFill>
                <a:latin typeface="Calibri"/>
                <a:cs typeface="Calibri"/>
              </a:rPr>
              <a:t>were </a:t>
            </a:r>
            <a:r>
              <a:rPr sz="2800" spc="-20" dirty="0">
                <a:solidFill>
                  <a:srgbClr val="203864"/>
                </a:solidFill>
                <a:latin typeface="Calibri"/>
                <a:cs typeface="Calibri"/>
              </a:rPr>
              <a:t>exempted </a:t>
            </a:r>
            <a:r>
              <a:rPr sz="2800" spc="-10" dirty="0">
                <a:solidFill>
                  <a:srgbClr val="203864"/>
                </a:solidFill>
                <a:latin typeface="Calibri"/>
                <a:cs typeface="Calibri"/>
              </a:rPr>
              <a:t>from performing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duties </a:t>
            </a:r>
            <a:r>
              <a:rPr sz="2800" spc="-5" dirty="0">
                <a:solidFill>
                  <a:srgbClr val="203864"/>
                </a:solidFill>
                <a:latin typeface="Calibri"/>
                <a:cs typeface="Calibri"/>
              </a:rPr>
              <a:t>in </a:t>
            </a:r>
            <a:r>
              <a:rPr sz="2800" spc="-25" dirty="0">
                <a:solidFill>
                  <a:srgbClr val="203864"/>
                </a:solidFill>
                <a:latin typeface="Calibri"/>
                <a:cs typeface="Calibri"/>
              </a:rPr>
              <a:t>favor </a:t>
            </a:r>
            <a:r>
              <a:rPr sz="2800" spc="-5" dirty="0">
                <a:solidFill>
                  <a:srgbClr val="203864"/>
                </a:solidFill>
                <a:latin typeface="Calibri"/>
                <a:cs typeface="Calibri"/>
              </a:rPr>
              <a:t>of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the </a:t>
            </a:r>
            <a:r>
              <a:rPr sz="2800" spc="-44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khan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split orient="vert" dir="in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533400"/>
            <a:ext cx="6150178" cy="1244936"/>
          </a:xfrm>
          <a:prstGeom prst="rect">
            <a:avLst/>
          </a:prstGeom>
        </p:spPr>
        <p:txBody>
          <a:bodyPr vert="horz" wrap="square" lIns="0" tIns="343896" rIns="0" bIns="0" rtlCol="0">
            <a:spAutoFit/>
          </a:bodyPr>
          <a:lstStyle/>
          <a:p>
            <a:pPr marL="1556385" marR="5080" indent="-1574165">
              <a:lnSpc>
                <a:spcPts val="3460"/>
              </a:lnSpc>
              <a:spcBef>
                <a:spcPts val="535"/>
              </a:spcBef>
            </a:pPr>
            <a:r>
              <a:rPr spc="-5" dirty="0" smtClean="0"/>
              <a:t>Socio-economic </a:t>
            </a:r>
            <a:r>
              <a:rPr spc="-10" dirty="0"/>
              <a:t>development </a:t>
            </a:r>
            <a:r>
              <a:rPr dirty="0"/>
              <a:t>of </a:t>
            </a:r>
            <a:r>
              <a:rPr spc="-710" dirty="0"/>
              <a:t> </a:t>
            </a:r>
            <a:r>
              <a:rPr spc="-15" dirty="0"/>
              <a:t>Kazakh</a:t>
            </a:r>
            <a:r>
              <a:rPr spc="-50" dirty="0"/>
              <a:t> </a:t>
            </a:r>
            <a:r>
              <a:rPr spc="-10" dirty="0"/>
              <a:t>Khanate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8380" y="2787209"/>
            <a:ext cx="6977380" cy="2973378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185420" algn="l"/>
              </a:tabLst>
            </a:pPr>
            <a:r>
              <a:rPr sz="2800" dirty="0" err="1" smtClean="0">
                <a:solidFill>
                  <a:srgbClr val="203864"/>
                </a:solidFill>
                <a:latin typeface="Calibri"/>
                <a:cs typeface="Calibri"/>
              </a:rPr>
              <a:t>ushur</a:t>
            </a:r>
            <a:r>
              <a:rPr sz="2800" spc="-45" dirty="0" smtClean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-</a:t>
            </a:r>
            <a:r>
              <a:rPr sz="2800" spc="-1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203864"/>
                </a:solidFill>
                <a:latin typeface="Calibri"/>
                <a:cs typeface="Calibri"/>
              </a:rPr>
              <a:t>soul</a:t>
            </a:r>
            <a:r>
              <a:rPr sz="2800" spc="-3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203864"/>
                </a:solidFill>
                <a:latin typeface="Calibri"/>
                <a:cs typeface="Calibri"/>
              </a:rPr>
              <a:t>tax;</a:t>
            </a:r>
            <a:endParaRPr sz="2800" dirty="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185420" algn="l"/>
              </a:tabLst>
            </a:pPr>
            <a:r>
              <a:rPr sz="2800" spc="-15" dirty="0">
                <a:solidFill>
                  <a:srgbClr val="203864"/>
                </a:solidFill>
                <a:latin typeface="Calibri"/>
                <a:cs typeface="Calibri"/>
              </a:rPr>
              <a:t>tagar</a:t>
            </a:r>
            <a:r>
              <a:rPr sz="2800" spc="-2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-</a:t>
            </a:r>
            <a:r>
              <a:rPr sz="2800" spc="-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a</a:t>
            </a:r>
            <a:r>
              <a:rPr sz="2800" spc="-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203864"/>
                </a:solidFill>
                <a:latin typeface="Calibri"/>
                <a:cs typeface="Calibri"/>
              </a:rPr>
              <a:t>tax</a:t>
            </a:r>
            <a:r>
              <a:rPr sz="2800" spc="-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203864"/>
                </a:solidFill>
                <a:latin typeface="Calibri"/>
                <a:cs typeface="Calibri"/>
              </a:rPr>
              <a:t>to</a:t>
            </a:r>
            <a:r>
              <a:rPr sz="2800" spc="-10" dirty="0">
                <a:solidFill>
                  <a:srgbClr val="203864"/>
                </a:solidFill>
                <a:latin typeface="Calibri"/>
                <a:cs typeface="Calibri"/>
              </a:rPr>
              <a:t> provide</a:t>
            </a:r>
            <a:r>
              <a:rPr sz="2800" spc="-1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03864"/>
                </a:solidFill>
                <a:latin typeface="Calibri"/>
                <a:cs typeface="Calibri"/>
              </a:rPr>
              <a:t>troops</a:t>
            </a:r>
            <a:r>
              <a:rPr sz="2800" spc="-1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203864"/>
                </a:solidFill>
                <a:latin typeface="Calibri"/>
                <a:cs typeface="Calibri"/>
              </a:rPr>
              <a:t>with</a:t>
            </a:r>
            <a:r>
              <a:rPr sz="2800" spc="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03864"/>
                </a:solidFill>
                <a:latin typeface="Calibri"/>
                <a:cs typeface="Calibri"/>
              </a:rPr>
              <a:t>food;</a:t>
            </a:r>
            <a:endParaRPr sz="2800" dirty="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185420" algn="l"/>
              </a:tabLst>
            </a:pP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budge</a:t>
            </a:r>
            <a:r>
              <a:rPr sz="2800" spc="-4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-</a:t>
            </a:r>
            <a:r>
              <a:rPr sz="2800" spc="-2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203864"/>
                </a:solidFill>
                <a:latin typeface="Calibri"/>
                <a:cs typeface="Calibri"/>
              </a:rPr>
              <a:t>tax</a:t>
            </a:r>
            <a:r>
              <a:rPr sz="2800" spc="-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203864"/>
                </a:solidFill>
                <a:latin typeface="Calibri"/>
                <a:cs typeface="Calibri"/>
              </a:rPr>
              <a:t>on</a:t>
            </a:r>
            <a:r>
              <a:rPr sz="2800" spc="-3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03864"/>
                </a:solidFill>
                <a:latin typeface="Calibri"/>
                <a:cs typeface="Calibri"/>
              </a:rPr>
              <a:t>cultivated</a:t>
            </a:r>
            <a:r>
              <a:rPr sz="2800" spc="-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land;</a:t>
            </a:r>
            <a:endParaRPr sz="2800" dirty="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185420" algn="l"/>
              </a:tabLst>
            </a:pPr>
            <a:r>
              <a:rPr sz="2800" spc="-15" dirty="0">
                <a:solidFill>
                  <a:srgbClr val="203864"/>
                </a:solidFill>
                <a:latin typeface="Calibri"/>
                <a:cs typeface="Calibri"/>
              </a:rPr>
              <a:t>kharaj</a:t>
            </a:r>
            <a:r>
              <a:rPr sz="2800" spc="-15" dirty="0">
                <a:solidFill>
                  <a:srgbClr val="203864"/>
                </a:solidFill>
                <a:latin typeface="Symbol"/>
                <a:cs typeface="Symbol"/>
              </a:rPr>
              <a:t></a:t>
            </a:r>
            <a:r>
              <a:rPr sz="2800" spc="-15" dirty="0">
                <a:solidFill>
                  <a:srgbClr val="203864"/>
                </a:solidFill>
                <a:latin typeface="Calibri"/>
                <a:cs typeface="Calibri"/>
              </a:rPr>
              <a:t>state</a:t>
            </a:r>
            <a:r>
              <a:rPr sz="2800" spc="-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land</a:t>
            </a:r>
            <a:r>
              <a:rPr sz="2800" spc="-15" dirty="0">
                <a:solidFill>
                  <a:srgbClr val="203864"/>
                </a:solidFill>
                <a:latin typeface="Calibri"/>
                <a:cs typeface="Calibri"/>
              </a:rPr>
              <a:t> tax.</a:t>
            </a:r>
            <a:endParaRPr sz="2800" dirty="0">
              <a:latin typeface="Calibri"/>
              <a:cs typeface="Calibri"/>
            </a:endParaRPr>
          </a:p>
          <a:p>
            <a:pPr marL="184785" marR="5080" indent="-172720">
              <a:lnSpc>
                <a:spcPct val="80000"/>
              </a:lnSpc>
              <a:spcBef>
                <a:spcPts val="710"/>
              </a:spcBef>
              <a:buFont typeface="Arial MT"/>
              <a:buChar char="•"/>
              <a:tabLst>
                <a:tab pos="185420" algn="l"/>
              </a:tabLst>
            </a:pPr>
            <a:r>
              <a:rPr sz="2800" spc="-50" dirty="0">
                <a:solidFill>
                  <a:srgbClr val="203864"/>
                </a:solidFill>
                <a:latin typeface="Calibri"/>
                <a:cs typeface="Calibri"/>
              </a:rPr>
              <a:t>Taxes </a:t>
            </a:r>
            <a:r>
              <a:rPr sz="2800" spc="-15" dirty="0">
                <a:solidFill>
                  <a:srgbClr val="203864"/>
                </a:solidFill>
                <a:latin typeface="Calibri"/>
                <a:cs typeface="Calibri"/>
              </a:rPr>
              <a:t>were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not </a:t>
            </a:r>
            <a:r>
              <a:rPr sz="2800" spc="-15" dirty="0">
                <a:solidFill>
                  <a:srgbClr val="203864"/>
                </a:solidFill>
                <a:latin typeface="Calibri"/>
                <a:cs typeface="Calibri"/>
              </a:rPr>
              <a:t>fixed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and </a:t>
            </a:r>
            <a:r>
              <a:rPr sz="2800" spc="-15" dirty="0">
                <a:solidFill>
                  <a:srgbClr val="203864"/>
                </a:solidFill>
                <a:latin typeface="Calibri"/>
                <a:cs typeface="Calibri"/>
              </a:rPr>
              <a:t>were </a:t>
            </a:r>
            <a:r>
              <a:rPr sz="2800" spc="-5" dirty="0">
                <a:solidFill>
                  <a:srgbClr val="203864"/>
                </a:solidFill>
                <a:latin typeface="Calibri"/>
                <a:cs typeface="Calibri"/>
              </a:rPr>
              <a:t>collected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depending </a:t>
            </a:r>
            <a:r>
              <a:rPr sz="2800" spc="-5" dirty="0">
                <a:solidFill>
                  <a:srgbClr val="203864"/>
                </a:solidFill>
                <a:latin typeface="Calibri"/>
                <a:cs typeface="Calibri"/>
              </a:rPr>
              <a:t>on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the </a:t>
            </a:r>
            <a:r>
              <a:rPr sz="2800" spc="-10" dirty="0">
                <a:solidFill>
                  <a:srgbClr val="203864"/>
                </a:solidFill>
                <a:latin typeface="Calibri"/>
                <a:cs typeface="Calibri"/>
              </a:rPr>
              <a:t>crop </a:t>
            </a:r>
            <a:r>
              <a:rPr sz="2800" spc="-5" dirty="0">
                <a:solidFill>
                  <a:srgbClr val="203864"/>
                </a:solidFill>
                <a:latin typeface="Calibri"/>
                <a:cs typeface="Calibri"/>
              </a:rPr>
              <a:t>or </a:t>
            </a:r>
            <a:r>
              <a:rPr sz="2800" spc="-44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the</a:t>
            </a:r>
            <a:r>
              <a:rPr sz="2800" spc="-1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3864"/>
                </a:solidFill>
                <a:latin typeface="Calibri"/>
                <a:cs typeface="Calibri"/>
              </a:rPr>
              <a:t>number</a:t>
            </a:r>
            <a:r>
              <a:rPr sz="2800" spc="-1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203864"/>
                </a:solidFill>
                <a:latin typeface="Calibri"/>
                <a:cs typeface="Calibri"/>
              </a:rPr>
              <a:t>of</a:t>
            </a:r>
            <a:r>
              <a:rPr sz="2800" spc="-2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203864"/>
                </a:solidFill>
                <a:latin typeface="Calibri"/>
                <a:cs typeface="Calibri"/>
              </a:rPr>
              <a:t>livestock</a:t>
            </a:r>
            <a:r>
              <a:rPr sz="2800" spc="2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03864"/>
                </a:solidFill>
                <a:latin typeface="Calibri"/>
                <a:cs typeface="Calibri"/>
              </a:rPr>
              <a:t>received.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split orient="vert" dir="in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8739" y="762000"/>
            <a:ext cx="62877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5" dirty="0"/>
              <a:t>2</a:t>
            </a:r>
            <a:r>
              <a:rPr spc="-5" dirty="0" smtClean="0"/>
              <a:t>.</a:t>
            </a:r>
            <a:r>
              <a:rPr spc="-10" dirty="0" smtClean="0"/>
              <a:t> </a:t>
            </a:r>
            <a:r>
              <a:rPr spc="-10" dirty="0"/>
              <a:t>Ethnogenesis</a:t>
            </a:r>
            <a:r>
              <a:rPr spc="-1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spc="-15" dirty="0"/>
              <a:t>Kazakh</a:t>
            </a:r>
            <a:r>
              <a:rPr spc="-45" dirty="0"/>
              <a:t> </a:t>
            </a:r>
            <a:r>
              <a:rPr dirty="0"/>
              <a:t>people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600200"/>
            <a:ext cx="8077200" cy="510845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185420" algn="l"/>
              </a:tabLst>
            </a:pPr>
            <a:r>
              <a:rPr lang="en-US" sz="2400" b="1" spc="-15" dirty="0">
                <a:solidFill>
                  <a:srgbClr val="203864"/>
                </a:solidFill>
                <a:cs typeface="Calibri"/>
              </a:rPr>
              <a:t>1 </a:t>
            </a:r>
            <a:r>
              <a:rPr lang="en-US" sz="2400" b="1" spc="-15" dirty="0" smtClean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b="1" spc="-15" dirty="0">
                <a:solidFill>
                  <a:srgbClr val="203864"/>
                </a:solidFill>
                <a:cs typeface="Calibri"/>
              </a:rPr>
              <a:t>period-the Bronze age The ancient tribes of the Bronze Age with the </a:t>
            </a:r>
            <a:r>
              <a:rPr lang="en-US" sz="2400" b="1" spc="-15" dirty="0" err="1">
                <a:solidFill>
                  <a:srgbClr val="203864"/>
                </a:solidFill>
                <a:cs typeface="Calibri"/>
              </a:rPr>
              <a:t>Andron</a:t>
            </a:r>
            <a:r>
              <a:rPr lang="en-US" sz="2400" b="1" spc="-15" dirty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b="1" spc="-15" dirty="0" err="1" smtClean="0">
                <a:solidFill>
                  <a:srgbClr val="203864"/>
                </a:solidFill>
                <a:cs typeface="Calibri"/>
              </a:rPr>
              <a:t>ethnocultural</a:t>
            </a:r>
            <a:r>
              <a:rPr lang="en-US" sz="2400" b="1" spc="-15" dirty="0" smtClean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b="1" spc="-15" dirty="0">
                <a:solidFill>
                  <a:srgbClr val="203864"/>
                </a:solidFill>
                <a:cs typeface="Calibri"/>
              </a:rPr>
              <a:t>appearances with Indo-European language, with European features factually were one of the far physical forbear forms of the Kazakh people. </a:t>
            </a:r>
            <a:endParaRPr lang="en-US" sz="2400" b="1" spc="-15" dirty="0" smtClean="0">
              <a:solidFill>
                <a:srgbClr val="203864"/>
              </a:solidFill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185420" algn="l"/>
              </a:tabLst>
            </a:pPr>
            <a:r>
              <a:rPr lang="en-US" sz="2400" b="1" spc="-15" dirty="0" smtClean="0">
                <a:solidFill>
                  <a:srgbClr val="203864"/>
                </a:solidFill>
                <a:cs typeface="Calibri"/>
              </a:rPr>
              <a:t>2  </a:t>
            </a:r>
            <a:r>
              <a:rPr lang="en-US" sz="2400" b="1" spc="-15" dirty="0">
                <a:solidFill>
                  <a:srgbClr val="203864"/>
                </a:solidFill>
                <a:cs typeface="Calibri"/>
              </a:rPr>
              <a:t>period </a:t>
            </a:r>
            <a:r>
              <a:rPr lang="en-US" sz="2400" b="1" spc="-15" dirty="0" smtClean="0">
                <a:solidFill>
                  <a:srgbClr val="203864"/>
                </a:solidFill>
                <a:cs typeface="Calibri"/>
              </a:rPr>
              <a:t>–</a:t>
            </a:r>
            <a:r>
              <a:rPr lang="en-US" sz="2400" b="1" spc="-15" dirty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b="1" spc="-15" dirty="0" smtClean="0">
                <a:solidFill>
                  <a:srgbClr val="203864"/>
                </a:solidFill>
                <a:cs typeface="Calibri"/>
              </a:rPr>
              <a:t>The Iron age </a:t>
            </a:r>
            <a:r>
              <a:rPr lang="en-US" sz="2400" b="1" spc="-15" dirty="0">
                <a:solidFill>
                  <a:srgbClr val="203864"/>
                </a:solidFill>
                <a:cs typeface="Calibri"/>
              </a:rPr>
              <a:t>In this period ancient Kazakhstan by its existence became the center of dissemination of the so called «nomadic tribes » characteristic of all Eurasian steppes, i. e. –</a:t>
            </a:r>
            <a:r>
              <a:rPr lang="en-US" sz="2400" b="1" spc="-15" dirty="0" err="1" smtClean="0">
                <a:solidFill>
                  <a:srgbClr val="203864"/>
                </a:solidFill>
                <a:cs typeface="Calibri"/>
              </a:rPr>
              <a:t>saks</a:t>
            </a:r>
            <a:r>
              <a:rPr lang="en-US" sz="2400" b="1" spc="-15" dirty="0" smtClean="0">
                <a:solidFill>
                  <a:srgbClr val="203864"/>
                </a:solidFill>
                <a:cs typeface="Calibri"/>
              </a:rPr>
              <a:t>, </a:t>
            </a:r>
            <a:r>
              <a:rPr lang="en-US" sz="2400" b="1" spc="-15" dirty="0">
                <a:solidFill>
                  <a:srgbClr val="203864"/>
                </a:solidFill>
                <a:cs typeface="Calibri"/>
              </a:rPr>
              <a:t>looking like European </a:t>
            </a:r>
            <a:r>
              <a:rPr lang="en-US" sz="2400" b="1" spc="-15" dirty="0" smtClean="0">
                <a:solidFill>
                  <a:srgbClr val="203864"/>
                </a:solidFill>
                <a:cs typeface="Calibri"/>
              </a:rPr>
              <a:t>shape.</a:t>
            </a:r>
          </a:p>
          <a:p>
            <a:pPr marL="184785" indent="-172720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185420" algn="l"/>
              </a:tabLst>
            </a:pPr>
            <a:r>
              <a:rPr lang="en-US" sz="2400" b="1" spc="-15" dirty="0" smtClean="0">
                <a:solidFill>
                  <a:srgbClr val="203864"/>
                </a:solidFill>
                <a:cs typeface="Calibri"/>
              </a:rPr>
              <a:t>3 period – </a:t>
            </a:r>
            <a:r>
              <a:rPr lang="en-US" sz="2400" b="1" spc="-15" dirty="0" smtClean="0">
                <a:solidFill>
                  <a:srgbClr val="203864"/>
                </a:solidFill>
                <a:cs typeface="Calibri"/>
              </a:rPr>
              <a:t>Hun</a:t>
            </a:r>
            <a:r>
              <a:rPr lang="en-US" sz="2400" b="1" spc="-15" dirty="0">
                <a:solidFill>
                  <a:srgbClr val="203864"/>
                </a:solidFill>
                <a:cs typeface="Calibri"/>
              </a:rPr>
              <a:t>s</a:t>
            </a:r>
            <a:r>
              <a:rPr lang="en-US" sz="2400" b="1" spc="-15" dirty="0" smtClean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b="1" spc="-15" dirty="0" smtClean="0">
                <a:solidFill>
                  <a:srgbClr val="203864"/>
                </a:solidFill>
                <a:cs typeface="Calibri"/>
              </a:rPr>
              <a:t>period  </a:t>
            </a:r>
            <a:r>
              <a:rPr lang="en-US" sz="2400" b="1" spc="-15" dirty="0">
                <a:solidFill>
                  <a:srgbClr val="203864"/>
                </a:solidFill>
                <a:cs typeface="Calibri"/>
              </a:rPr>
              <a:t>As a result of “the Great resettlement of people” which </a:t>
            </a:r>
            <a:r>
              <a:rPr lang="en-US" sz="2400" b="1" spc="-15" dirty="0" err="1">
                <a:solidFill>
                  <a:srgbClr val="203864"/>
                </a:solidFill>
                <a:cs typeface="Calibri"/>
              </a:rPr>
              <a:t>hunnu</a:t>
            </a:r>
            <a:r>
              <a:rPr lang="en-US" sz="2400" b="1" spc="-15" dirty="0">
                <a:solidFill>
                  <a:srgbClr val="203864"/>
                </a:solidFill>
                <a:cs typeface="Calibri"/>
              </a:rPr>
              <a:t> begun the Ethnic map of Eurasia changed. </a:t>
            </a:r>
            <a:r>
              <a:rPr lang="en-US" sz="2400" b="1" spc="-15" dirty="0" err="1">
                <a:solidFill>
                  <a:srgbClr val="203864"/>
                </a:solidFill>
                <a:cs typeface="Calibri"/>
              </a:rPr>
              <a:t>Hunny</a:t>
            </a:r>
            <a:r>
              <a:rPr lang="en-US" sz="2400" b="1" spc="-15" dirty="0">
                <a:solidFill>
                  <a:srgbClr val="203864"/>
                </a:solidFill>
                <a:cs typeface="Calibri"/>
              </a:rPr>
              <a:t> have for the first tribes who brought Mongol type to the </a:t>
            </a:r>
            <a:r>
              <a:rPr lang="en-US" sz="2400" b="1" spc="-15" dirty="0" smtClean="0">
                <a:solidFill>
                  <a:srgbClr val="203864"/>
                </a:solidFill>
                <a:cs typeface="Calibri"/>
              </a:rPr>
              <a:t>territory</a:t>
            </a:r>
            <a:r>
              <a:rPr lang="ru-RU" sz="2400" b="1" spc="-15" dirty="0" smtClean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b="1" spc="-15" dirty="0" smtClean="0">
                <a:solidFill>
                  <a:srgbClr val="203864"/>
                </a:solidFill>
                <a:cs typeface="Calibri"/>
              </a:rPr>
              <a:t>of </a:t>
            </a:r>
            <a:r>
              <a:rPr lang="en-US" sz="2400" b="1" spc="-15" dirty="0">
                <a:solidFill>
                  <a:srgbClr val="203864"/>
                </a:solidFill>
                <a:cs typeface="Calibri"/>
              </a:rPr>
              <a:t>Kazakhstan. After </a:t>
            </a:r>
            <a:r>
              <a:rPr lang="en-US" sz="2400" b="1" spc="-15" dirty="0" err="1" smtClean="0">
                <a:solidFill>
                  <a:srgbClr val="203864"/>
                </a:solidFill>
                <a:cs typeface="Calibri"/>
              </a:rPr>
              <a:t>huns</a:t>
            </a:r>
            <a:r>
              <a:rPr lang="en-US" sz="2400" b="1" spc="-15" dirty="0" smtClean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b="1" spc="-15" dirty="0">
                <a:solidFill>
                  <a:srgbClr val="203864"/>
                </a:solidFill>
                <a:cs typeface="Calibri"/>
              </a:rPr>
              <a:t>invasion local European tribes revealed 50% of Mongol type. </a:t>
            </a:r>
            <a:endParaRPr lang="en-US" sz="2400" spc="-15" dirty="0">
              <a:solidFill>
                <a:srgbClr val="203864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5960087"/>
      </p:ext>
    </p:extLst>
  </p:cSld>
  <p:clrMapOvr>
    <a:masterClrMapping/>
  </p:clrMapOvr>
  <p:transition>
    <p:split orient="vert" dir="in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8739" y="762000"/>
            <a:ext cx="62877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5" dirty="0"/>
              <a:t>2</a:t>
            </a:r>
            <a:r>
              <a:rPr spc="-5" dirty="0" smtClean="0"/>
              <a:t>.</a:t>
            </a:r>
            <a:r>
              <a:rPr spc="-10" dirty="0" smtClean="0"/>
              <a:t> </a:t>
            </a:r>
            <a:r>
              <a:rPr spc="-10" dirty="0"/>
              <a:t>Ethnogenesis</a:t>
            </a:r>
            <a:r>
              <a:rPr spc="-1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spc="-15" dirty="0"/>
              <a:t>Kazakh</a:t>
            </a:r>
            <a:r>
              <a:rPr spc="-45" dirty="0"/>
              <a:t> </a:t>
            </a:r>
            <a:r>
              <a:rPr dirty="0"/>
              <a:t>people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600200"/>
            <a:ext cx="8077200" cy="5211042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185420" algn="l"/>
              </a:tabLst>
            </a:pPr>
            <a:r>
              <a:rPr lang="en-US" sz="2400" b="1" spc="-15" dirty="0">
                <a:solidFill>
                  <a:srgbClr val="203864"/>
                </a:solidFill>
                <a:cs typeface="Calibri"/>
              </a:rPr>
              <a:t>4 </a:t>
            </a:r>
            <a:r>
              <a:rPr lang="en-US" sz="2400" b="1" spc="-15" dirty="0" smtClean="0">
                <a:solidFill>
                  <a:srgbClr val="203864"/>
                </a:solidFill>
                <a:cs typeface="Calibri"/>
              </a:rPr>
              <a:t>period </a:t>
            </a:r>
            <a:r>
              <a:rPr lang="en-US" sz="2400" b="1" spc="-15" dirty="0">
                <a:solidFill>
                  <a:srgbClr val="203864"/>
                </a:solidFill>
                <a:cs typeface="Calibri"/>
              </a:rPr>
              <a:t>-Turk period (VI-XII cc.) In the Turkic period vast territory of Kazakhstan for thousands years became bridge between East and West. Since that time vast territory of the Great Steppe became Turkestan, </a:t>
            </a:r>
            <a:r>
              <a:rPr lang="en-US" sz="2400" b="1" spc="-15" dirty="0" err="1">
                <a:solidFill>
                  <a:srgbClr val="203864"/>
                </a:solidFill>
                <a:cs typeface="Calibri"/>
              </a:rPr>
              <a:t>i</a:t>
            </a:r>
            <a:r>
              <a:rPr lang="en-US" sz="2400" b="1" spc="-15" dirty="0">
                <a:solidFill>
                  <a:srgbClr val="203864"/>
                </a:solidFill>
                <a:cs typeface="Calibri"/>
              </a:rPr>
              <a:t>. e. the country of the Turkic. Among the numerous Turkic tribes, such tribes as </a:t>
            </a:r>
            <a:r>
              <a:rPr lang="en-US" sz="2400" b="1" spc="-15" dirty="0" err="1">
                <a:solidFill>
                  <a:srgbClr val="203864"/>
                </a:solidFill>
                <a:cs typeface="Calibri"/>
              </a:rPr>
              <a:t>Ogyzes</a:t>
            </a:r>
            <a:r>
              <a:rPr lang="en-US" sz="2400" b="1" spc="-15" dirty="0">
                <a:solidFill>
                  <a:srgbClr val="203864"/>
                </a:solidFill>
                <a:cs typeface="Calibri"/>
              </a:rPr>
              <a:t> and </a:t>
            </a:r>
            <a:r>
              <a:rPr lang="en-US" sz="2400" b="1" spc="-15" dirty="0" err="1">
                <a:solidFill>
                  <a:srgbClr val="203864"/>
                </a:solidFill>
                <a:cs typeface="Calibri"/>
              </a:rPr>
              <a:t>Kypchaks</a:t>
            </a:r>
            <a:r>
              <a:rPr lang="en-US" sz="2400" b="1" spc="-15" dirty="0">
                <a:solidFill>
                  <a:srgbClr val="203864"/>
                </a:solidFill>
                <a:cs typeface="Calibri"/>
              </a:rPr>
              <a:t> played the most important role in ethno geneses.</a:t>
            </a:r>
          </a:p>
          <a:p>
            <a:pPr marL="184785" indent="-172720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185420" algn="l"/>
              </a:tabLst>
            </a:pPr>
            <a:r>
              <a:rPr lang="en-US" sz="2400" b="1" spc="-15" dirty="0" smtClean="0">
                <a:solidFill>
                  <a:srgbClr val="203864"/>
                </a:solidFill>
                <a:cs typeface="Calibri"/>
              </a:rPr>
              <a:t>5  </a:t>
            </a:r>
            <a:r>
              <a:rPr lang="en-US" sz="2400" b="1" spc="-15" dirty="0">
                <a:solidFill>
                  <a:srgbClr val="203864"/>
                </a:solidFill>
                <a:cs typeface="Calibri"/>
              </a:rPr>
              <a:t>period </a:t>
            </a:r>
            <a:r>
              <a:rPr lang="en-US" sz="2400" b="1" spc="-15" dirty="0" smtClean="0">
                <a:solidFill>
                  <a:srgbClr val="203864"/>
                </a:solidFill>
                <a:cs typeface="Calibri"/>
              </a:rPr>
              <a:t>– Mongol </a:t>
            </a:r>
            <a:r>
              <a:rPr lang="en-US" sz="2400" b="1" spc="-15" dirty="0" smtClean="0">
                <a:solidFill>
                  <a:srgbClr val="203864"/>
                </a:solidFill>
                <a:cs typeface="Calibri"/>
              </a:rPr>
              <a:t>period </a:t>
            </a:r>
            <a:r>
              <a:rPr lang="en-US" sz="2400" b="1" spc="-15" dirty="0">
                <a:solidFill>
                  <a:srgbClr val="203864"/>
                </a:solidFill>
                <a:cs typeface="Calibri"/>
              </a:rPr>
              <a:t>(</a:t>
            </a:r>
            <a:r>
              <a:rPr lang="en-US" sz="2400" b="1" spc="-15" dirty="0" smtClean="0">
                <a:solidFill>
                  <a:srgbClr val="203864"/>
                </a:solidFill>
                <a:cs typeface="Calibri"/>
              </a:rPr>
              <a:t>XIII-XIV cc</a:t>
            </a:r>
            <a:r>
              <a:rPr lang="en-US" sz="2400" b="1" spc="-15" dirty="0">
                <a:solidFill>
                  <a:srgbClr val="203864"/>
                </a:solidFill>
                <a:cs typeface="Calibri"/>
              </a:rPr>
              <a:t>.) </a:t>
            </a:r>
            <a:r>
              <a:rPr lang="en-US" sz="2400" b="1" spc="-15" dirty="0" smtClean="0">
                <a:solidFill>
                  <a:srgbClr val="203864"/>
                </a:solidFill>
                <a:cs typeface="Calibri"/>
              </a:rPr>
              <a:t>The </a:t>
            </a:r>
            <a:r>
              <a:rPr lang="en-US" sz="2400" b="1" spc="-15" dirty="0">
                <a:solidFill>
                  <a:srgbClr val="203864"/>
                </a:solidFill>
                <a:cs typeface="Calibri"/>
              </a:rPr>
              <a:t>Mongol conquests have definitively bolted Mongolian types in the external look of Turkic tribes. However, Mongols themselves disappeared among numerous Turkic tribes, have taken their language, customs</a:t>
            </a:r>
            <a:r>
              <a:rPr lang="en-US" sz="2400" b="1" spc="-15" dirty="0" smtClean="0">
                <a:solidFill>
                  <a:srgbClr val="203864"/>
                </a:solidFill>
                <a:cs typeface="Calibri"/>
              </a:rPr>
              <a:t>.</a:t>
            </a:r>
          </a:p>
          <a:p>
            <a:pPr marL="184785" indent="-172720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185420" algn="l"/>
              </a:tabLst>
            </a:pPr>
            <a:r>
              <a:rPr lang="en-US" sz="2400" b="1" spc="-15" dirty="0">
                <a:solidFill>
                  <a:srgbClr val="203864"/>
                </a:solidFill>
                <a:cs typeface="Calibri"/>
              </a:rPr>
              <a:t>6  </a:t>
            </a:r>
            <a:r>
              <a:rPr lang="en-US" sz="2400" b="1" spc="-15" dirty="0" smtClean="0">
                <a:solidFill>
                  <a:srgbClr val="203864"/>
                </a:solidFill>
                <a:cs typeface="Calibri"/>
              </a:rPr>
              <a:t>period -  </a:t>
            </a:r>
            <a:r>
              <a:rPr lang="en-US" sz="2400" b="1" spc="-15" dirty="0">
                <a:solidFill>
                  <a:srgbClr val="203864"/>
                </a:solidFill>
                <a:cs typeface="Calibri"/>
              </a:rPr>
              <a:t>Kazakh Khanate – final stage of formation </a:t>
            </a:r>
          </a:p>
          <a:p>
            <a:pPr marL="184785" indent="-172720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185420" algn="l"/>
              </a:tabLst>
            </a:pPr>
            <a:endParaRPr lang="en-US" sz="2400" b="1" spc="-15" dirty="0">
              <a:solidFill>
                <a:srgbClr val="203864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1761826"/>
      </p:ext>
    </p:extLst>
  </p:cSld>
  <p:clrMapOvr>
    <a:masterClrMapping/>
  </p:clrMapOvr>
  <p:transition>
    <p:split orient="vert" dir="in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8739" y="762000"/>
            <a:ext cx="62877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5" dirty="0"/>
              <a:t>2</a:t>
            </a:r>
            <a:r>
              <a:rPr spc="-5" dirty="0" smtClean="0"/>
              <a:t>.</a:t>
            </a:r>
            <a:r>
              <a:rPr spc="-10" dirty="0" smtClean="0"/>
              <a:t> </a:t>
            </a:r>
            <a:r>
              <a:rPr spc="-10" dirty="0"/>
              <a:t>Ethnogenesis</a:t>
            </a:r>
            <a:r>
              <a:rPr spc="-1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spc="-15" dirty="0"/>
              <a:t>Kazakh</a:t>
            </a:r>
            <a:r>
              <a:rPr spc="-45" dirty="0"/>
              <a:t> </a:t>
            </a:r>
            <a:r>
              <a:rPr dirty="0"/>
              <a:t>people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1752600"/>
            <a:ext cx="6760209" cy="3741409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84785" indent="-172720">
              <a:spcBef>
                <a:spcPts val="795"/>
              </a:spcBef>
              <a:buFont typeface="Arial MT"/>
              <a:buChar char="•"/>
              <a:tabLst>
                <a:tab pos="185420" algn="l"/>
              </a:tabLst>
            </a:pPr>
            <a:r>
              <a:rPr sz="2800" spc="-15" dirty="0" smtClean="0">
                <a:solidFill>
                  <a:srgbClr val="203864"/>
                </a:solidFill>
                <a:cs typeface="Calibri"/>
              </a:rPr>
              <a:t>Kazakhstan</a:t>
            </a:r>
            <a:r>
              <a:rPr sz="2800" spc="-10" dirty="0" smtClean="0">
                <a:solidFill>
                  <a:srgbClr val="203864"/>
                </a:solidFill>
                <a:cs typeface="Calibri"/>
              </a:rPr>
              <a:t> </a:t>
            </a:r>
            <a:r>
              <a:rPr sz="2800" dirty="0">
                <a:solidFill>
                  <a:srgbClr val="203864"/>
                </a:solidFill>
                <a:cs typeface="Calibri"/>
              </a:rPr>
              <a:t>has</a:t>
            </a:r>
            <a:r>
              <a:rPr sz="2800" spc="-15" dirty="0">
                <a:solidFill>
                  <a:srgbClr val="203864"/>
                </a:solidFill>
                <a:cs typeface="Calibri"/>
              </a:rPr>
              <a:t> </a:t>
            </a:r>
            <a:r>
              <a:rPr sz="2800" dirty="0">
                <a:solidFill>
                  <a:srgbClr val="203864"/>
                </a:solidFill>
                <a:cs typeface="Calibri"/>
              </a:rPr>
              <a:t>an</a:t>
            </a:r>
            <a:r>
              <a:rPr sz="2800" spc="-5" dirty="0">
                <a:solidFill>
                  <a:srgbClr val="203864"/>
                </a:solidFill>
                <a:cs typeface="Calibri"/>
              </a:rPr>
              <a:t> </a:t>
            </a:r>
            <a:r>
              <a:rPr sz="2800" spc="-10" dirty="0">
                <a:solidFill>
                  <a:srgbClr val="203864"/>
                </a:solidFill>
                <a:cs typeface="Calibri"/>
              </a:rPr>
              <a:t>extremely</a:t>
            </a:r>
            <a:r>
              <a:rPr sz="2800" spc="20" dirty="0">
                <a:solidFill>
                  <a:srgbClr val="203864"/>
                </a:solidFill>
                <a:cs typeface="Calibri"/>
              </a:rPr>
              <a:t> </a:t>
            </a:r>
            <a:r>
              <a:rPr sz="2800" spc="-10" dirty="0">
                <a:solidFill>
                  <a:srgbClr val="203864"/>
                </a:solidFill>
                <a:cs typeface="Calibri"/>
              </a:rPr>
              <a:t>complex </a:t>
            </a:r>
            <a:r>
              <a:rPr sz="2800" spc="-5" dirty="0">
                <a:solidFill>
                  <a:srgbClr val="203864"/>
                </a:solidFill>
                <a:cs typeface="Calibri"/>
              </a:rPr>
              <a:t>ethnic </a:t>
            </a:r>
            <a:r>
              <a:rPr sz="2800" spc="-25" dirty="0">
                <a:solidFill>
                  <a:srgbClr val="203864"/>
                </a:solidFill>
                <a:cs typeface="Calibri"/>
              </a:rPr>
              <a:t>history</a:t>
            </a:r>
            <a:r>
              <a:rPr sz="2800" spc="-25" dirty="0" smtClean="0">
                <a:solidFill>
                  <a:srgbClr val="203864"/>
                </a:solidFill>
                <a:cs typeface="Calibri"/>
              </a:rPr>
              <a:t>.</a:t>
            </a:r>
            <a:endParaRPr lang="en-US" sz="2800" spc="-25" dirty="0" smtClean="0">
              <a:solidFill>
                <a:srgbClr val="203864"/>
              </a:solidFill>
              <a:cs typeface="Calibri"/>
            </a:endParaRPr>
          </a:p>
          <a:p>
            <a:pPr marL="184785" indent="-172720">
              <a:spcBef>
                <a:spcPts val="795"/>
              </a:spcBef>
              <a:buFont typeface="Arial MT"/>
              <a:buChar char="•"/>
              <a:tabLst>
                <a:tab pos="185420" algn="l"/>
              </a:tabLst>
            </a:pPr>
            <a:endParaRPr sz="2800" dirty="0">
              <a:solidFill>
                <a:prstClr val="black"/>
              </a:solidFill>
              <a:cs typeface="Calibri"/>
            </a:endParaRPr>
          </a:p>
          <a:p>
            <a:pPr marL="184150" marR="5080" indent="-172085">
              <a:lnSpc>
                <a:spcPct val="100400"/>
              </a:lnSpc>
              <a:spcBef>
                <a:spcPts val="685"/>
              </a:spcBef>
              <a:buFont typeface="Arial MT"/>
              <a:buChar char="•"/>
              <a:tabLst>
                <a:tab pos="185420" algn="l"/>
              </a:tabLst>
            </a:pPr>
            <a:r>
              <a:rPr sz="2800" dirty="0">
                <a:solidFill>
                  <a:srgbClr val="203864"/>
                </a:solidFill>
                <a:cs typeface="Calibri"/>
              </a:rPr>
              <a:t>Due </a:t>
            </a:r>
            <a:r>
              <a:rPr sz="2800" spc="-15" dirty="0">
                <a:solidFill>
                  <a:srgbClr val="203864"/>
                </a:solidFill>
                <a:cs typeface="Calibri"/>
              </a:rPr>
              <a:t>to </a:t>
            </a:r>
            <a:r>
              <a:rPr sz="2800" dirty="0">
                <a:solidFill>
                  <a:srgbClr val="203864"/>
                </a:solidFill>
                <a:cs typeface="Calibri"/>
              </a:rPr>
              <a:t>the </a:t>
            </a:r>
            <a:r>
              <a:rPr sz="2800" spc="-10" dirty="0">
                <a:solidFill>
                  <a:srgbClr val="203864"/>
                </a:solidFill>
                <a:cs typeface="Calibri"/>
              </a:rPr>
              <a:t>natural geographical </a:t>
            </a:r>
            <a:r>
              <a:rPr sz="2800" dirty="0">
                <a:solidFill>
                  <a:srgbClr val="203864"/>
                </a:solidFill>
                <a:cs typeface="Calibri"/>
              </a:rPr>
              <a:t>and </a:t>
            </a:r>
            <a:r>
              <a:rPr sz="2800" spc="-5" dirty="0">
                <a:solidFill>
                  <a:srgbClr val="203864"/>
                </a:solidFill>
                <a:cs typeface="Calibri"/>
              </a:rPr>
              <a:t>economic conditions of </a:t>
            </a:r>
            <a:r>
              <a:rPr sz="2800" dirty="0">
                <a:solidFill>
                  <a:srgbClr val="203864"/>
                </a:solidFill>
                <a:cs typeface="Calibri"/>
              </a:rPr>
              <a:t>the </a:t>
            </a:r>
            <a:r>
              <a:rPr sz="2800" spc="-440" dirty="0">
                <a:solidFill>
                  <a:srgbClr val="203864"/>
                </a:solidFill>
                <a:cs typeface="Calibri"/>
              </a:rPr>
              <a:t> </a:t>
            </a:r>
            <a:r>
              <a:rPr sz="2800" spc="-10" dirty="0">
                <a:solidFill>
                  <a:srgbClr val="203864"/>
                </a:solidFill>
                <a:cs typeface="Calibri"/>
              </a:rPr>
              <a:t>habitat,</a:t>
            </a:r>
            <a:r>
              <a:rPr sz="2800" spc="-5" dirty="0">
                <a:solidFill>
                  <a:srgbClr val="203864"/>
                </a:solidFill>
                <a:cs typeface="Calibri"/>
              </a:rPr>
              <a:t> </a:t>
            </a:r>
            <a:r>
              <a:rPr sz="2800" dirty="0">
                <a:solidFill>
                  <a:srgbClr val="203864"/>
                </a:solidFill>
                <a:cs typeface="Calibri"/>
              </a:rPr>
              <a:t>the </a:t>
            </a:r>
            <a:r>
              <a:rPr sz="2800" spc="-5" dirty="0">
                <a:solidFill>
                  <a:srgbClr val="203864"/>
                </a:solidFill>
                <a:cs typeface="Calibri"/>
              </a:rPr>
              <a:t>entry</a:t>
            </a:r>
            <a:r>
              <a:rPr sz="2800" spc="-15" dirty="0">
                <a:solidFill>
                  <a:srgbClr val="203864"/>
                </a:solidFill>
                <a:cs typeface="Calibri"/>
              </a:rPr>
              <a:t> </a:t>
            </a:r>
            <a:r>
              <a:rPr sz="2800" spc="-5" dirty="0">
                <a:solidFill>
                  <a:srgbClr val="203864"/>
                </a:solidFill>
                <a:cs typeface="Calibri"/>
              </a:rPr>
              <a:t>of</a:t>
            </a:r>
            <a:r>
              <a:rPr sz="2800" spc="-10" dirty="0">
                <a:solidFill>
                  <a:srgbClr val="203864"/>
                </a:solidFill>
                <a:cs typeface="Calibri"/>
              </a:rPr>
              <a:t> </a:t>
            </a:r>
            <a:r>
              <a:rPr sz="2800" spc="-5" dirty="0">
                <a:solidFill>
                  <a:srgbClr val="203864"/>
                </a:solidFill>
                <a:cs typeface="Calibri"/>
              </a:rPr>
              <a:t>various</a:t>
            </a:r>
            <a:r>
              <a:rPr sz="2800" spc="-10" dirty="0">
                <a:solidFill>
                  <a:srgbClr val="203864"/>
                </a:solidFill>
                <a:cs typeface="Calibri"/>
              </a:rPr>
              <a:t> </a:t>
            </a:r>
            <a:r>
              <a:rPr sz="2800" spc="-5" dirty="0">
                <a:solidFill>
                  <a:srgbClr val="203864"/>
                </a:solidFill>
                <a:cs typeface="Calibri"/>
              </a:rPr>
              <a:t>tribes</a:t>
            </a:r>
            <a:r>
              <a:rPr sz="2800" spc="10" dirty="0">
                <a:solidFill>
                  <a:srgbClr val="203864"/>
                </a:solidFill>
                <a:cs typeface="Calibri"/>
              </a:rPr>
              <a:t> </a:t>
            </a:r>
            <a:r>
              <a:rPr sz="2800" spc="-15" dirty="0">
                <a:solidFill>
                  <a:srgbClr val="203864"/>
                </a:solidFill>
                <a:cs typeface="Calibri"/>
              </a:rPr>
              <a:t>into</a:t>
            </a:r>
            <a:r>
              <a:rPr sz="2800" spc="-5" dirty="0">
                <a:solidFill>
                  <a:srgbClr val="203864"/>
                </a:solidFill>
                <a:cs typeface="Calibri"/>
              </a:rPr>
              <a:t> </a:t>
            </a:r>
            <a:r>
              <a:rPr sz="2800" spc="-15" dirty="0">
                <a:solidFill>
                  <a:srgbClr val="203864"/>
                </a:solidFill>
                <a:cs typeface="Calibri"/>
              </a:rPr>
              <a:t>different</a:t>
            </a:r>
            <a:r>
              <a:rPr sz="2800" dirty="0">
                <a:solidFill>
                  <a:srgbClr val="203864"/>
                </a:solidFill>
                <a:cs typeface="Calibri"/>
              </a:rPr>
              <a:t> </a:t>
            </a:r>
            <a:r>
              <a:rPr sz="2800" spc="-5" dirty="0">
                <a:solidFill>
                  <a:srgbClr val="203864"/>
                </a:solidFill>
                <a:cs typeface="Calibri"/>
              </a:rPr>
              <a:t>tribal</a:t>
            </a:r>
            <a:r>
              <a:rPr sz="2800" spc="15" dirty="0">
                <a:solidFill>
                  <a:srgbClr val="203864"/>
                </a:solidFill>
                <a:cs typeface="Calibri"/>
              </a:rPr>
              <a:t> </a:t>
            </a:r>
            <a:r>
              <a:rPr sz="2800" dirty="0">
                <a:solidFill>
                  <a:srgbClr val="203864"/>
                </a:solidFill>
                <a:cs typeface="Calibri"/>
              </a:rPr>
              <a:t>unions </a:t>
            </a:r>
            <a:r>
              <a:rPr sz="2800" spc="5" dirty="0">
                <a:solidFill>
                  <a:srgbClr val="203864"/>
                </a:solidFill>
                <a:cs typeface="Calibri"/>
              </a:rPr>
              <a:t> </a:t>
            </a:r>
            <a:r>
              <a:rPr sz="2800" dirty="0">
                <a:solidFill>
                  <a:srgbClr val="203864"/>
                </a:solidFill>
                <a:cs typeface="Calibri"/>
              </a:rPr>
              <a:t>and </a:t>
            </a:r>
            <a:r>
              <a:rPr sz="2800" spc="-5" dirty="0">
                <a:solidFill>
                  <a:srgbClr val="203864"/>
                </a:solidFill>
                <a:cs typeface="Calibri"/>
              </a:rPr>
              <a:t>early </a:t>
            </a:r>
            <a:r>
              <a:rPr sz="2800" spc="-10" dirty="0">
                <a:solidFill>
                  <a:srgbClr val="203864"/>
                </a:solidFill>
                <a:cs typeface="Calibri"/>
              </a:rPr>
              <a:t>feudal </a:t>
            </a:r>
            <a:r>
              <a:rPr sz="2800" spc="-15" dirty="0">
                <a:solidFill>
                  <a:srgbClr val="203864"/>
                </a:solidFill>
                <a:cs typeface="Calibri"/>
              </a:rPr>
              <a:t>states, </a:t>
            </a:r>
            <a:r>
              <a:rPr sz="2800" spc="-10" dirty="0">
                <a:solidFill>
                  <a:srgbClr val="203864"/>
                </a:solidFill>
                <a:cs typeface="Calibri"/>
              </a:rPr>
              <a:t>three </a:t>
            </a:r>
            <a:r>
              <a:rPr sz="2800" spc="-5" dirty="0">
                <a:solidFill>
                  <a:srgbClr val="203864"/>
                </a:solidFill>
                <a:cs typeface="Calibri"/>
              </a:rPr>
              <a:t>ethno-cultural </a:t>
            </a:r>
            <a:r>
              <a:rPr sz="2800" spc="-10" dirty="0">
                <a:solidFill>
                  <a:srgbClr val="203864"/>
                </a:solidFill>
                <a:cs typeface="Calibri"/>
              </a:rPr>
              <a:t>groups are </a:t>
            </a:r>
            <a:r>
              <a:rPr sz="2800" spc="-5" dirty="0">
                <a:solidFill>
                  <a:srgbClr val="203864"/>
                </a:solidFill>
                <a:cs typeface="Calibri"/>
              </a:rPr>
              <a:t> </a:t>
            </a:r>
            <a:r>
              <a:rPr sz="2800" spc="-10" dirty="0">
                <a:solidFill>
                  <a:srgbClr val="203864"/>
                </a:solidFill>
                <a:cs typeface="Calibri"/>
              </a:rPr>
              <a:t>formed</a:t>
            </a:r>
            <a:r>
              <a:rPr sz="2800" spc="-10" dirty="0">
                <a:solidFill>
                  <a:srgbClr val="203864"/>
                </a:solidFill>
                <a:latin typeface="Symbol"/>
                <a:cs typeface="Symbol"/>
              </a:rPr>
              <a:t></a:t>
            </a:r>
            <a:r>
              <a:rPr sz="2800" spc="-10" dirty="0">
                <a:solidFill>
                  <a:srgbClr val="203864"/>
                </a:solidFill>
                <a:cs typeface="Calibri"/>
              </a:rPr>
              <a:t>zhuzes.</a:t>
            </a:r>
            <a:endParaRPr sz="2800" dirty="0">
              <a:solidFill>
                <a:prstClr val="black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5756601"/>
      </p:ext>
    </p:extLst>
  </p:cSld>
  <p:clrMapOvr>
    <a:masterClrMapping/>
  </p:clrMapOvr>
  <p:transition>
    <p:split orient="vert"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457200"/>
            <a:ext cx="634718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5" dirty="0"/>
              <a:t>2</a:t>
            </a:r>
            <a:r>
              <a:rPr spc="-5" dirty="0" smtClean="0"/>
              <a:t>.</a:t>
            </a:r>
            <a:r>
              <a:rPr spc="-10" dirty="0" smtClean="0"/>
              <a:t> </a:t>
            </a:r>
            <a:r>
              <a:rPr spc="-10" dirty="0"/>
              <a:t>Ethnogenesis</a:t>
            </a:r>
            <a:r>
              <a:rPr spc="-1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spc="-15" dirty="0"/>
              <a:t>Kazakh</a:t>
            </a:r>
            <a:r>
              <a:rPr spc="-45" dirty="0"/>
              <a:t> </a:t>
            </a:r>
            <a:r>
              <a:rPr dirty="0"/>
              <a:t>people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1295400"/>
            <a:ext cx="8229600" cy="5657318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84785" indent="-172720" algn="just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b="1" dirty="0">
                <a:solidFill>
                  <a:srgbClr val="203864"/>
                </a:solidFill>
                <a:latin typeface="Calibri"/>
                <a:cs typeface="Calibri"/>
              </a:rPr>
              <a:t>Senior</a:t>
            </a:r>
            <a:r>
              <a:rPr sz="2400" b="1" spc="-2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b="1" spc="-10" dirty="0" err="1">
                <a:solidFill>
                  <a:srgbClr val="203864"/>
                </a:solidFill>
                <a:latin typeface="Calibri"/>
                <a:cs typeface="Calibri"/>
              </a:rPr>
              <a:t>Zhuz</a:t>
            </a:r>
            <a:r>
              <a:rPr sz="2400" b="1" spc="-10" dirty="0" smtClean="0">
                <a:solidFill>
                  <a:srgbClr val="203864"/>
                </a:solidFill>
                <a:latin typeface="Calibri"/>
                <a:cs typeface="Calibri"/>
              </a:rPr>
              <a:t>:</a:t>
            </a:r>
            <a:r>
              <a:rPr lang="ru-RU" sz="2400" b="1" spc="-10" dirty="0" smtClean="0">
                <a:solidFill>
                  <a:srgbClr val="203864"/>
                </a:solidFill>
                <a:latin typeface="Calibri"/>
                <a:cs typeface="Calibri"/>
              </a:rPr>
              <a:t>  </a:t>
            </a:r>
            <a:r>
              <a:rPr lang="en-US" sz="2400" spc="-30" dirty="0" err="1" smtClean="0">
                <a:solidFill>
                  <a:srgbClr val="203864"/>
                </a:solidFill>
                <a:latin typeface="Calibri"/>
                <a:cs typeface="Calibri"/>
              </a:rPr>
              <a:t>Zhetysu</a:t>
            </a:r>
            <a:r>
              <a:rPr lang="en-US" sz="2400" spc="-30" dirty="0" smtClean="0">
                <a:solidFill>
                  <a:srgbClr val="203864"/>
                </a:solidFill>
                <a:latin typeface="Calibri"/>
                <a:cs typeface="Calibri"/>
              </a:rPr>
              <a:t>, </a:t>
            </a:r>
            <a:r>
              <a:rPr sz="2400" spc="-25" dirty="0" smtClean="0">
                <a:solidFill>
                  <a:srgbClr val="203864"/>
                </a:solidFill>
                <a:latin typeface="Calibri"/>
                <a:cs typeface="Calibri"/>
              </a:rPr>
              <a:t>Turkestan</a:t>
            </a:r>
            <a:r>
              <a:rPr sz="2400" spc="-25" dirty="0">
                <a:solidFill>
                  <a:srgbClr val="203864"/>
                </a:solidFill>
                <a:latin typeface="Calibri"/>
                <a:cs typeface="Calibri"/>
              </a:rPr>
              <a:t>;</a:t>
            </a:r>
            <a:endParaRPr sz="2400" dirty="0">
              <a:latin typeface="Calibri"/>
              <a:cs typeface="Calibri"/>
            </a:endParaRPr>
          </a:p>
          <a:p>
            <a:pPr marL="12065" marR="5080" algn="just">
              <a:lnSpc>
                <a:spcPct val="100000"/>
              </a:lnSpc>
              <a:spcBef>
                <a:spcPts val="695"/>
              </a:spcBef>
              <a:tabLst>
                <a:tab pos="185420" algn="l"/>
              </a:tabLst>
            </a:pPr>
            <a:r>
              <a:rPr lang="en-US" sz="2400" spc="-10" dirty="0" smtClean="0">
                <a:solidFill>
                  <a:srgbClr val="203864"/>
                </a:solidFill>
                <a:latin typeface="Calibri"/>
                <a:cs typeface="Calibri"/>
              </a:rPr>
              <a:t>Tribes</a:t>
            </a:r>
            <a:r>
              <a:rPr sz="2400" spc="-10" dirty="0" smtClean="0">
                <a:solidFill>
                  <a:srgbClr val="203864"/>
                </a:solidFill>
                <a:latin typeface="Calibri"/>
                <a:cs typeface="Calibri"/>
              </a:rPr>
              <a:t>: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Dulats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(4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generic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groups: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Boptai, </a:t>
            </a:r>
            <a:r>
              <a:rPr sz="2400" spc="-35" dirty="0">
                <a:solidFill>
                  <a:srgbClr val="203864"/>
                </a:solidFill>
                <a:latin typeface="Calibri"/>
                <a:cs typeface="Calibri"/>
              </a:rPr>
              <a:t>Shymyr,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Seykym,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Zhanys), </a:t>
            </a:r>
            <a:r>
              <a:rPr sz="2400" spc="-44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Uysun, </a:t>
            </a:r>
            <a:r>
              <a:rPr sz="2400" spc="-25" dirty="0">
                <a:solidFill>
                  <a:srgbClr val="203864"/>
                </a:solidFill>
                <a:latin typeface="Calibri"/>
                <a:cs typeface="Calibri"/>
              </a:rPr>
              <a:t>Zhalair, Kangly,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Suans,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Albans, 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Shaprppshty, </a:t>
            </a:r>
            <a:r>
              <a:rPr sz="2400" spc="-10" dirty="0" err="1" smtClean="0">
                <a:solidFill>
                  <a:srgbClr val="203864"/>
                </a:solidFill>
                <a:latin typeface="Calibri"/>
                <a:cs typeface="Calibri"/>
              </a:rPr>
              <a:t>S</a:t>
            </a:r>
            <a:r>
              <a:rPr lang="en-US" sz="2400" spc="-10" dirty="0" err="1">
                <a:solidFill>
                  <a:srgbClr val="203864"/>
                </a:solidFill>
                <a:latin typeface="Calibri"/>
                <a:cs typeface="Calibri"/>
              </a:rPr>
              <a:t>i</a:t>
            </a:r>
            <a:r>
              <a:rPr sz="2400" spc="-10" dirty="0" err="1" smtClean="0">
                <a:solidFill>
                  <a:srgbClr val="203864"/>
                </a:solidFill>
                <a:latin typeface="Calibri"/>
                <a:cs typeface="Calibri"/>
              </a:rPr>
              <a:t>rgels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, Zhalairs,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203864"/>
                </a:solidFill>
                <a:latin typeface="Calibri"/>
                <a:cs typeface="Calibri"/>
              </a:rPr>
              <a:t>Shakty.</a:t>
            </a:r>
            <a:endParaRPr sz="2400" dirty="0">
              <a:latin typeface="Calibri"/>
              <a:cs typeface="Calibri"/>
            </a:endParaRPr>
          </a:p>
          <a:p>
            <a:pPr marL="184785" indent="-172720" algn="just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185420" algn="l"/>
              </a:tabLst>
            </a:pPr>
            <a:r>
              <a:rPr sz="2400" b="1" dirty="0">
                <a:solidFill>
                  <a:srgbClr val="203864"/>
                </a:solidFill>
                <a:latin typeface="Calibri"/>
                <a:cs typeface="Calibri"/>
              </a:rPr>
              <a:t>Middle</a:t>
            </a:r>
            <a:r>
              <a:rPr sz="2400" b="1" spc="-1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b="1" spc="-10" dirty="0" err="1">
                <a:solidFill>
                  <a:srgbClr val="203864"/>
                </a:solidFill>
                <a:latin typeface="Calibri"/>
                <a:cs typeface="Calibri"/>
              </a:rPr>
              <a:t>zhuz</a:t>
            </a:r>
            <a:r>
              <a:rPr sz="2400" b="1" spc="-10" dirty="0" smtClean="0">
                <a:solidFill>
                  <a:srgbClr val="203864"/>
                </a:solidFill>
                <a:latin typeface="Calibri"/>
                <a:cs typeface="Calibri"/>
              </a:rPr>
              <a:t>:</a:t>
            </a:r>
            <a:r>
              <a:rPr lang="en-US" sz="2400" b="1" spc="-10" dirty="0" smtClean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0" dirty="0" smtClean="0">
                <a:solidFill>
                  <a:srgbClr val="203864"/>
                </a:solidFill>
                <a:latin typeface="Calibri"/>
                <a:cs typeface="Calibri"/>
              </a:rPr>
              <a:t>Central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,</a:t>
            </a:r>
            <a:r>
              <a:rPr sz="2400" spc="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Northern</a:t>
            </a:r>
            <a:r>
              <a:rPr sz="2400" spc="-2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and</a:t>
            </a:r>
            <a:r>
              <a:rPr sz="2400" spc="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Eastern</a:t>
            </a:r>
            <a:r>
              <a:rPr sz="2400" spc="1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Kazakhstan;</a:t>
            </a:r>
            <a:endParaRPr sz="2400" dirty="0">
              <a:latin typeface="Calibri"/>
              <a:cs typeface="Calibri"/>
            </a:endParaRPr>
          </a:p>
          <a:p>
            <a:pPr marL="12065" algn="just">
              <a:lnSpc>
                <a:spcPct val="100000"/>
              </a:lnSpc>
              <a:spcBef>
                <a:spcPts val="695"/>
              </a:spcBef>
              <a:tabLst>
                <a:tab pos="185420" algn="l"/>
              </a:tabLst>
            </a:pPr>
            <a:r>
              <a:rPr lang="en-US" sz="2400" spc="-10" dirty="0" smtClean="0">
                <a:solidFill>
                  <a:srgbClr val="203864"/>
                </a:solidFill>
                <a:latin typeface="Calibri"/>
                <a:cs typeface="Calibri"/>
              </a:rPr>
              <a:t>Tribes</a:t>
            </a:r>
            <a:r>
              <a:rPr sz="2400" spc="-10" dirty="0" smtClean="0">
                <a:solidFill>
                  <a:srgbClr val="203864"/>
                </a:solidFill>
                <a:latin typeface="Calibri"/>
                <a:cs typeface="Calibri"/>
              </a:rPr>
              <a:t>:</a:t>
            </a:r>
            <a:r>
              <a:rPr sz="2400" dirty="0" smtClean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03864"/>
                </a:solidFill>
                <a:latin typeface="Calibri"/>
                <a:cs typeface="Calibri"/>
              </a:rPr>
              <a:t>Argyns,</a:t>
            </a:r>
            <a:r>
              <a:rPr sz="2400" spc="-2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03864"/>
                </a:solidFill>
                <a:latin typeface="Calibri"/>
                <a:cs typeface="Calibri"/>
              </a:rPr>
              <a:t>Naimans,</a:t>
            </a:r>
            <a:r>
              <a:rPr sz="2400" spc="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Kypchaks,</a:t>
            </a:r>
            <a:r>
              <a:rPr sz="2400" spc="-2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203864"/>
                </a:solidFill>
                <a:latin typeface="Calibri"/>
                <a:cs typeface="Calibri"/>
              </a:rPr>
              <a:t>Kereis,</a:t>
            </a:r>
            <a:r>
              <a:rPr sz="2400" spc="15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03864"/>
                </a:solidFill>
                <a:latin typeface="Calibri"/>
                <a:cs typeface="Calibri"/>
              </a:rPr>
              <a:t>Uaks,</a:t>
            </a:r>
            <a:r>
              <a:rPr sz="2400" spc="10" dirty="0">
                <a:solidFill>
                  <a:srgbClr val="203864"/>
                </a:solidFill>
                <a:latin typeface="Calibri"/>
                <a:cs typeface="Calibri"/>
              </a:rPr>
              <a:t> </a:t>
            </a:r>
            <a:r>
              <a:rPr sz="2400" spc="-15" dirty="0" err="1" smtClean="0">
                <a:solidFill>
                  <a:srgbClr val="203864"/>
                </a:solidFill>
                <a:latin typeface="Calibri"/>
                <a:cs typeface="Calibri"/>
              </a:rPr>
              <a:t>Konrats</a:t>
            </a:r>
            <a:r>
              <a:rPr sz="2400" spc="-30" dirty="0" smtClean="0">
                <a:solidFill>
                  <a:srgbClr val="203864"/>
                </a:solidFill>
                <a:latin typeface="Calibri"/>
                <a:cs typeface="Calibri"/>
              </a:rPr>
              <a:t>.</a:t>
            </a:r>
            <a:endParaRPr lang="en-US" sz="2400" spc="-30" dirty="0" smtClean="0">
              <a:solidFill>
                <a:srgbClr val="203864"/>
              </a:solidFill>
              <a:latin typeface="Calibri"/>
              <a:cs typeface="Calibri"/>
            </a:endParaRPr>
          </a:p>
          <a:p>
            <a:pPr marL="184785" marR="341630" lvl="0" indent="-172720">
              <a:spcBef>
                <a:spcPts val="105"/>
              </a:spcBef>
              <a:buFont typeface="Arial MT"/>
              <a:buChar char="•"/>
              <a:tabLst>
                <a:tab pos="185420" algn="l"/>
              </a:tabLst>
            </a:pPr>
            <a:r>
              <a:rPr lang="en-US" sz="2400" b="1" dirty="0" smtClean="0">
                <a:solidFill>
                  <a:srgbClr val="203864"/>
                </a:solidFill>
                <a:cs typeface="Calibri"/>
              </a:rPr>
              <a:t>Junior </a:t>
            </a:r>
            <a:r>
              <a:rPr lang="en-US" sz="2400" b="1" spc="-5" dirty="0" err="1">
                <a:solidFill>
                  <a:srgbClr val="203864"/>
                </a:solidFill>
                <a:cs typeface="Calibri"/>
              </a:rPr>
              <a:t>zhuz</a:t>
            </a:r>
            <a:r>
              <a:rPr lang="en-US" sz="2400" spc="-5" dirty="0">
                <a:solidFill>
                  <a:srgbClr val="203864"/>
                </a:solidFill>
                <a:cs typeface="Calibri"/>
              </a:rPr>
              <a:t>: </a:t>
            </a:r>
            <a:r>
              <a:rPr lang="en-US" sz="2400" spc="-20" dirty="0">
                <a:solidFill>
                  <a:srgbClr val="203864"/>
                </a:solidFill>
                <a:cs typeface="Calibri"/>
              </a:rPr>
              <a:t>Western </a:t>
            </a:r>
            <a:r>
              <a:rPr lang="en-US" sz="2400" spc="-15" dirty="0">
                <a:solidFill>
                  <a:srgbClr val="203864"/>
                </a:solidFill>
                <a:cs typeface="Calibri"/>
              </a:rPr>
              <a:t>Kazakhstan, </a:t>
            </a:r>
            <a:r>
              <a:rPr lang="en-US" sz="2400" spc="-5" dirty="0">
                <a:solidFill>
                  <a:srgbClr val="203864"/>
                </a:solidFill>
                <a:cs typeface="Calibri"/>
              </a:rPr>
              <a:t>between </a:t>
            </a:r>
            <a:r>
              <a:rPr lang="en-US" sz="2400" dirty="0">
                <a:solidFill>
                  <a:srgbClr val="203864"/>
                </a:solidFill>
                <a:cs typeface="Calibri"/>
              </a:rPr>
              <a:t>the </a:t>
            </a:r>
            <a:r>
              <a:rPr lang="en-US" sz="2400" spc="-10" dirty="0">
                <a:solidFill>
                  <a:srgbClr val="203864"/>
                </a:solidFill>
                <a:cs typeface="Calibri"/>
              </a:rPr>
              <a:t>Urals </a:t>
            </a:r>
            <a:r>
              <a:rPr lang="en-US" sz="2400" dirty="0">
                <a:solidFill>
                  <a:srgbClr val="203864"/>
                </a:solidFill>
                <a:cs typeface="Calibri"/>
              </a:rPr>
              <a:t>and the </a:t>
            </a:r>
            <a:r>
              <a:rPr lang="en-US" sz="2400" spc="-440" dirty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spc="-20" dirty="0" smtClean="0">
                <a:solidFill>
                  <a:srgbClr val="203864"/>
                </a:solidFill>
                <a:cs typeface="Calibri"/>
              </a:rPr>
              <a:t>Volga.</a:t>
            </a:r>
            <a:endParaRPr lang="en-US" sz="2400" dirty="0" smtClean="0">
              <a:solidFill>
                <a:prstClr val="black"/>
              </a:solidFill>
              <a:cs typeface="Calibri"/>
            </a:endParaRPr>
          </a:p>
          <a:p>
            <a:pPr marL="12065" marR="341630" lvl="0">
              <a:spcBef>
                <a:spcPts val="105"/>
              </a:spcBef>
              <a:tabLst>
                <a:tab pos="185420" algn="l"/>
              </a:tabLst>
            </a:pPr>
            <a:r>
              <a:rPr lang="en-US" sz="2400" spc="-10" dirty="0" smtClean="0">
                <a:solidFill>
                  <a:srgbClr val="203864"/>
                </a:solidFill>
                <a:cs typeface="Calibri"/>
              </a:rPr>
              <a:t>Tribes:</a:t>
            </a:r>
            <a:r>
              <a:rPr lang="en-US" sz="2400" spc="-5" dirty="0" smtClean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dirty="0">
                <a:solidFill>
                  <a:srgbClr val="203864"/>
                </a:solidFill>
                <a:cs typeface="Calibri"/>
              </a:rPr>
              <a:t>3</a:t>
            </a:r>
            <a:r>
              <a:rPr lang="en-US" sz="2400" spc="-5" dirty="0">
                <a:solidFill>
                  <a:srgbClr val="203864"/>
                </a:solidFill>
                <a:cs typeface="Calibri"/>
              </a:rPr>
              <a:t> tribal</a:t>
            </a:r>
            <a:r>
              <a:rPr lang="en-US" sz="2400" dirty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spc="-5" dirty="0">
                <a:solidFill>
                  <a:srgbClr val="203864"/>
                </a:solidFill>
                <a:cs typeface="Calibri"/>
              </a:rPr>
              <a:t>associations</a:t>
            </a:r>
            <a:r>
              <a:rPr lang="en-US" sz="2400" spc="15" dirty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dirty="0">
                <a:solidFill>
                  <a:srgbClr val="203864"/>
                </a:solidFill>
                <a:cs typeface="Calibri"/>
              </a:rPr>
              <a:t>− </a:t>
            </a:r>
            <a:r>
              <a:rPr lang="en-US" sz="2400" spc="-5" dirty="0" err="1">
                <a:solidFill>
                  <a:srgbClr val="203864"/>
                </a:solidFill>
                <a:cs typeface="Calibri"/>
              </a:rPr>
              <a:t>Alimuly</a:t>
            </a:r>
            <a:r>
              <a:rPr lang="en-US" sz="2400" spc="-5" dirty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spc="-20" dirty="0">
                <a:solidFill>
                  <a:srgbClr val="203864"/>
                </a:solidFill>
                <a:cs typeface="Calibri"/>
              </a:rPr>
              <a:t>(</a:t>
            </a:r>
            <a:r>
              <a:rPr lang="en-US" sz="2400" spc="-20" dirty="0" err="1">
                <a:solidFill>
                  <a:srgbClr val="203864"/>
                </a:solidFill>
                <a:cs typeface="Calibri"/>
              </a:rPr>
              <a:t>Shekty</a:t>
            </a:r>
            <a:r>
              <a:rPr lang="en-US" sz="2400" spc="-20" dirty="0">
                <a:solidFill>
                  <a:srgbClr val="203864"/>
                </a:solidFill>
                <a:cs typeface="Calibri"/>
              </a:rPr>
              <a:t>,</a:t>
            </a:r>
            <a:r>
              <a:rPr lang="en-US" sz="2400" spc="-15" dirty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spc="-30" dirty="0" err="1">
                <a:solidFill>
                  <a:srgbClr val="203864"/>
                </a:solidFill>
                <a:cs typeface="Calibri"/>
              </a:rPr>
              <a:t>Tortkara</a:t>
            </a:r>
            <a:r>
              <a:rPr lang="en-US" sz="2400" spc="-30" dirty="0">
                <a:solidFill>
                  <a:srgbClr val="203864"/>
                </a:solidFill>
                <a:cs typeface="Calibri"/>
              </a:rPr>
              <a:t>, </a:t>
            </a:r>
            <a:r>
              <a:rPr lang="en-US" sz="2400" spc="-25" dirty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spc="-15" dirty="0" err="1">
                <a:solidFill>
                  <a:srgbClr val="203864"/>
                </a:solidFill>
                <a:cs typeface="Calibri"/>
              </a:rPr>
              <a:t>Karakesek</a:t>
            </a:r>
            <a:r>
              <a:rPr lang="en-US" sz="2400" spc="-15" dirty="0">
                <a:solidFill>
                  <a:srgbClr val="203864"/>
                </a:solidFill>
                <a:cs typeface="Calibri"/>
              </a:rPr>
              <a:t>,</a:t>
            </a:r>
            <a:r>
              <a:rPr lang="en-US" sz="2400" dirty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spc="-15" dirty="0" err="1">
                <a:solidFill>
                  <a:srgbClr val="203864"/>
                </a:solidFill>
                <a:cs typeface="Calibri"/>
              </a:rPr>
              <a:t>Karasakal</a:t>
            </a:r>
            <a:r>
              <a:rPr lang="en-US" sz="2400" spc="-15" dirty="0">
                <a:solidFill>
                  <a:srgbClr val="203864"/>
                </a:solidFill>
                <a:cs typeface="Calibri"/>
              </a:rPr>
              <a:t>,</a:t>
            </a:r>
            <a:r>
              <a:rPr lang="en-US" sz="2400" spc="10" dirty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spc="-15" dirty="0" err="1">
                <a:solidFill>
                  <a:srgbClr val="203864"/>
                </a:solidFill>
                <a:cs typeface="Calibri"/>
              </a:rPr>
              <a:t>Kete</a:t>
            </a:r>
            <a:r>
              <a:rPr lang="en-US" sz="2400" spc="-15" dirty="0">
                <a:solidFill>
                  <a:srgbClr val="203864"/>
                </a:solidFill>
                <a:cs typeface="Calibri"/>
              </a:rPr>
              <a:t>,</a:t>
            </a:r>
            <a:r>
              <a:rPr lang="en-US" sz="2400" spc="10" dirty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spc="-10" dirty="0" err="1">
                <a:solidFill>
                  <a:srgbClr val="203864"/>
                </a:solidFill>
                <a:cs typeface="Calibri"/>
              </a:rPr>
              <a:t>Shomekey</a:t>
            </a:r>
            <a:r>
              <a:rPr lang="en-US" sz="2400" spc="-10" dirty="0">
                <a:solidFill>
                  <a:srgbClr val="203864"/>
                </a:solidFill>
                <a:cs typeface="Calibri"/>
              </a:rPr>
              <a:t>),</a:t>
            </a:r>
            <a:r>
              <a:rPr lang="en-US" sz="2400" spc="-25" dirty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spc="-5" dirty="0">
                <a:solidFill>
                  <a:srgbClr val="203864"/>
                </a:solidFill>
                <a:cs typeface="Calibri"/>
              </a:rPr>
              <a:t>Baiuls</a:t>
            </a:r>
            <a:r>
              <a:rPr lang="en-US" sz="2400" spc="5" dirty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spc="-30" dirty="0">
                <a:solidFill>
                  <a:srgbClr val="203864"/>
                </a:solidFill>
                <a:cs typeface="Calibri"/>
              </a:rPr>
              <a:t>(</a:t>
            </a:r>
            <a:r>
              <a:rPr lang="en-US" sz="2400" spc="-30" dirty="0" err="1">
                <a:solidFill>
                  <a:srgbClr val="203864"/>
                </a:solidFill>
                <a:cs typeface="Calibri"/>
              </a:rPr>
              <a:t>Aday</a:t>
            </a:r>
            <a:r>
              <a:rPr lang="en-US" sz="2400" spc="-30" dirty="0">
                <a:solidFill>
                  <a:srgbClr val="203864"/>
                </a:solidFill>
                <a:cs typeface="Calibri"/>
              </a:rPr>
              <a:t>,</a:t>
            </a:r>
            <a:r>
              <a:rPr lang="en-US" sz="2400" spc="-25" dirty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spc="-5" dirty="0" err="1">
                <a:solidFill>
                  <a:srgbClr val="203864"/>
                </a:solidFill>
                <a:cs typeface="Calibri"/>
              </a:rPr>
              <a:t>Jappas</a:t>
            </a:r>
            <a:r>
              <a:rPr lang="en-US" sz="2400" spc="-5" dirty="0">
                <a:solidFill>
                  <a:srgbClr val="203864"/>
                </a:solidFill>
                <a:cs typeface="Calibri"/>
              </a:rPr>
              <a:t>, </a:t>
            </a:r>
            <a:r>
              <a:rPr lang="en-US" sz="2400" dirty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dirty="0" err="1">
                <a:solidFill>
                  <a:srgbClr val="203864"/>
                </a:solidFill>
                <a:cs typeface="Calibri"/>
              </a:rPr>
              <a:t>Alash</a:t>
            </a:r>
            <a:r>
              <a:rPr lang="en-US" sz="2400" dirty="0">
                <a:solidFill>
                  <a:srgbClr val="203864"/>
                </a:solidFill>
                <a:cs typeface="Calibri"/>
              </a:rPr>
              <a:t>,</a:t>
            </a:r>
            <a:r>
              <a:rPr lang="en-US" sz="2400" spc="-10" dirty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spc="-20" dirty="0" err="1">
                <a:solidFill>
                  <a:srgbClr val="203864"/>
                </a:solidFill>
                <a:cs typeface="Calibri"/>
              </a:rPr>
              <a:t>Baybakty</a:t>
            </a:r>
            <a:r>
              <a:rPr lang="en-US" sz="2400" spc="-20" dirty="0">
                <a:solidFill>
                  <a:srgbClr val="203864"/>
                </a:solidFill>
                <a:cs typeface="Calibri"/>
              </a:rPr>
              <a:t>,</a:t>
            </a:r>
            <a:r>
              <a:rPr lang="en-US" sz="2400" spc="-30" dirty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spc="-30" dirty="0" err="1">
                <a:solidFill>
                  <a:srgbClr val="203864"/>
                </a:solidFill>
                <a:cs typeface="Calibri"/>
              </a:rPr>
              <a:t>Maskar</a:t>
            </a:r>
            <a:r>
              <a:rPr lang="en-US" sz="2400" spc="-30" dirty="0">
                <a:solidFill>
                  <a:srgbClr val="203864"/>
                </a:solidFill>
                <a:cs typeface="Calibri"/>
              </a:rPr>
              <a:t>,</a:t>
            </a:r>
            <a:r>
              <a:rPr lang="en-US" sz="2400" spc="-5" dirty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spc="-10" dirty="0" err="1">
                <a:solidFill>
                  <a:srgbClr val="203864"/>
                </a:solidFill>
                <a:cs typeface="Calibri"/>
              </a:rPr>
              <a:t>Bersh</a:t>
            </a:r>
            <a:r>
              <a:rPr lang="en-US" sz="2400" spc="-10" dirty="0">
                <a:solidFill>
                  <a:srgbClr val="203864"/>
                </a:solidFill>
                <a:cs typeface="Calibri"/>
              </a:rPr>
              <a:t>, </a:t>
            </a:r>
            <a:r>
              <a:rPr lang="en-US" sz="2400" spc="-50" dirty="0" err="1">
                <a:solidFill>
                  <a:srgbClr val="203864"/>
                </a:solidFill>
                <a:cs typeface="Calibri"/>
              </a:rPr>
              <a:t>Tazlar</a:t>
            </a:r>
            <a:r>
              <a:rPr lang="en-US" sz="2400" spc="-50" dirty="0">
                <a:solidFill>
                  <a:srgbClr val="203864"/>
                </a:solidFill>
                <a:cs typeface="Calibri"/>
              </a:rPr>
              <a:t>,</a:t>
            </a:r>
            <a:r>
              <a:rPr lang="en-US" sz="2400" spc="5" dirty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spc="-25" dirty="0" err="1">
                <a:solidFill>
                  <a:srgbClr val="203864"/>
                </a:solidFill>
                <a:cs typeface="Calibri"/>
              </a:rPr>
              <a:t>Esentemir</a:t>
            </a:r>
            <a:r>
              <a:rPr lang="en-US" sz="2400" spc="-25" dirty="0">
                <a:solidFill>
                  <a:srgbClr val="203864"/>
                </a:solidFill>
                <a:cs typeface="Calibri"/>
              </a:rPr>
              <a:t>,</a:t>
            </a:r>
            <a:r>
              <a:rPr lang="en-US" sz="2400" spc="5" dirty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spc="-10" dirty="0" err="1">
                <a:solidFill>
                  <a:srgbClr val="203864"/>
                </a:solidFill>
                <a:cs typeface="Calibri"/>
              </a:rPr>
              <a:t>Serkesh</a:t>
            </a:r>
            <a:r>
              <a:rPr lang="en-US" sz="2400" spc="-10" dirty="0">
                <a:solidFill>
                  <a:srgbClr val="203864"/>
                </a:solidFill>
                <a:cs typeface="Calibri"/>
              </a:rPr>
              <a:t>, </a:t>
            </a:r>
            <a:r>
              <a:rPr lang="en-US" sz="2400" spc="-35" dirty="0" err="1">
                <a:solidFill>
                  <a:srgbClr val="203864"/>
                </a:solidFill>
                <a:cs typeface="Calibri"/>
              </a:rPr>
              <a:t>Tana</a:t>
            </a:r>
            <a:r>
              <a:rPr lang="en-US" sz="2400" spc="-35" dirty="0">
                <a:solidFill>
                  <a:srgbClr val="203864"/>
                </a:solidFill>
                <a:cs typeface="Calibri"/>
              </a:rPr>
              <a:t>, </a:t>
            </a:r>
            <a:r>
              <a:rPr lang="en-US" sz="2400" spc="-434" dirty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spc="-15" dirty="0" err="1">
                <a:solidFill>
                  <a:srgbClr val="203864"/>
                </a:solidFill>
                <a:cs typeface="Calibri"/>
              </a:rPr>
              <a:t>Kyzylkurt</a:t>
            </a:r>
            <a:r>
              <a:rPr lang="en-US" sz="2400" spc="-15" dirty="0">
                <a:solidFill>
                  <a:srgbClr val="203864"/>
                </a:solidFill>
                <a:cs typeface="Calibri"/>
              </a:rPr>
              <a:t>, </a:t>
            </a:r>
            <a:r>
              <a:rPr lang="en-US" sz="2400" spc="-25" dirty="0" err="1">
                <a:solidFill>
                  <a:srgbClr val="203864"/>
                </a:solidFill>
                <a:cs typeface="Calibri"/>
              </a:rPr>
              <a:t>Shihlar</a:t>
            </a:r>
            <a:r>
              <a:rPr lang="en-US" sz="2400" spc="-25" dirty="0">
                <a:solidFill>
                  <a:srgbClr val="203864"/>
                </a:solidFill>
                <a:cs typeface="Calibri"/>
              </a:rPr>
              <a:t>, </a:t>
            </a:r>
            <a:r>
              <a:rPr lang="en-US" sz="2400" dirty="0" err="1">
                <a:solidFill>
                  <a:srgbClr val="203864"/>
                </a:solidFill>
                <a:cs typeface="Calibri"/>
              </a:rPr>
              <a:t>Altyn</a:t>
            </a:r>
            <a:r>
              <a:rPr lang="en-US" sz="2400" dirty="0">
                <a:solidFill>
                  <a:srgbClr val="203864"/>
                </a:solidFill>
                <a:cs typeface="Calibri"/>
              </a:rPr>
              <a:t>, </a:t>
            </a:r>
            <a:r>
              <a:rPr lang="en-US" sz="2400" spc="-10" dirty="0" err="1">
                <a:solidFill>
                  <a:srgbClr val="203864"/>
                </a:solidFill>
                <a:cs typeface="Calibri"/>
              </a:rPr>
              <a:t>Isyk</a:t>
            </a:r>
            <a:r>
              <a:rPr lang="en-US" sz="2400" spc="-10" dirty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dirty="0">
                <a:solidFill>
                  <a:srgbClr val="203864"/>
                </a:solidFill>
                <a:cs typeface="Calibri"/>
              </a:rPr>
              <a:t>), </a:t>
            </a:r>
            <a:r>
              <a:rPr lang="en-US" sz="2400" spc="-5" dirty="0" err="1">
                <a:solidFill>
                  <a:srgbClr val="203864"/>
                </a:solidFill>
                <a:cs typeface="Calibri"/>
              </a:rPr>
              <a:t>zhetyru</a:t>
            </a:r>
            <a:r>
              <a:rPr lang="en-US" sz="2400" spc="-5" dirty="0">
                <a:solidFill>
                  <a:srgbClr val="203864"/>
                </a:solidFill>
                <a:cs typeface="Calibri"/>
              </a:rPr>
              <a:t> (</a:t>
            </a:r>
            <a:r>
              <a:rPr lang="en-US" sz="2400" spc="-5" dirty="0" err="1">
                <a:solidFill>
                  <a:srgbClr val="203864"/>
                </a:solidFill>
                <a:cs typeface="Calibri"/>
              </a:rPr>
              <a:t>tabyn</a:t>
            </a:r>
            <a:r>
              <a:rPr lang="en-US" sz="2400" spc="-5" dirty="0">
                <a:solidFill>
                  <a:srgbClr val="203864"/>
                </a:solidFill>
                <a:cs typeface="Calibri"/>
              </a:rPr>
              <a:t>, tama, </a:t>
            </a:r>
            <a:r>
              <a:rPr lang="en-US" sz="2400" spc="-15" dirty="0" err="1">
                <a:solidFill>
                  <a:srgbClr val="203864"/>
                </a:solidFill>
                <a:cs typeface="Calibri"/>
              </a:rPr>
              <a:t>kerderi</a:t>
            </a:r>
            <a:r>
              <a:rPr lang="en-US" sz="2400" spc="-15" dirty="0">
                <a:solidFill>
                  <a:srgbClr val="203864"/>
                </a:solidFill>
                <a:cs typeface="Calibri"/>
              </a:rPr>
              <a:t>, </a:t>
            </a:r>
            <a:r>
              <a:rPr lang="en-US" sz="2400" spc="-10" dirty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spc="-15" dirty="0" err="1">
                <a:solidFill>
                  <a:srgbClr val="203864"/>
                </a:solidFill>
                <a:cs typeface="Calibri"/>
              </a:rPr>
              <a:t>kereit</a:t>
            </a:r>
            <a:r>
              <a:rPr lang="en-US" sz="2400" spc="-15" dirty="0">
                <a:solidFill>
                  <a:srgbClr val="203864"/>
                </a:solidFill>
                <a:cs typeface="Calibri"/>
              </a:rPr>
              <a:t>,</a:t>
            </a:r>
            <a:r>
              <a:rPr lang="en-US" sz="2400" dirty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spc="-10" dirty="0" err="1">
                <a:solidFill>
                  <a:srgbClr val="203864"/>
                </a:solidFill>
                <a:cs typeface="Calibri"/>
              </a:rPr>
              <a:t>toleu</a:t>
            </a:r>
            <a:r>
              <a:rPr lang="en-US" sz="2400" spc="-10" dirty="0">
                <a:solidFill>
                  <a:srgbClr val="203864"/>
                </a:solidFill>
                <a:cs typeface="Calibri"/>
              </a:rPr>
              <a:t>, </a:t>
            </a:r>
            <a:r>
              <a:rPr lang="en-US" sz="2400" spc="-5" dirty="0" err="1">
                <a:solidFill>
                  <a:srgbClr val="203864"/>
                </a:solidFill>
                <a:cs typeface="Calibri"/>
              </a:rPr>
              <a:t>ramadan</a:t>
            </a:r>
            <a:r>
              <a:rPr lang="en-US" sz="2400" spc="-5" dirty="0">
                <a:solidFill>
                  <a:srgbClr val="203864"/>
                </a:solidFill>
                <a:cs typeface="Calibri"/>
              </a:rPr>
              <a:t>,</a:t>
            </a:r>
            <a:r>
              <a:rPr lang="en-US" sz="2400" spc="-20" dirty="0">
                <a:solidFill>
                  <a:srgbClr val="203864"/>
                </a:solidFill>
                <a:cs typeface="Calibri"/>
              </a:rPr>
              <a:t> </a:t>
            </a:r>
            <a:r>
              <a:rPr lang="en-US" sz="2400" spc="-10" dirty="0" err="1">
                <a:solidFill>
                  <a:srgbClr val="203864"/>
                </a:solidFill>
                <a:cs typeface="Calibri"/>
              </a:rPr>
              <a:t>zhagalbayly</a:t>
            </a:r>
            <a:r>
              <a:rPr lang="en-US" sz="2400" spc="-10" dirty="0">
                <a:solidFill>
                  <a:srgbClr val="203864"/>
                </a:solidFill>
                <a:cs typeface="Calibri"/>
              </a:rPr>
              <a:t>).</a:t>
            </a:r>
            <a:endParaRPr lang="en-US" sz="2400" dirty="0">
              <a:solidFill>
                <a:prstClr val="black"/>
              </a:solidFill>
              <a:cs typeface="Calibri"/>
            </a:endParaRPr>
          </a:p>
          <a:p>
            <a:pPr marL="12065" algn="just">
              <a:lnSpc>
                <a:spcPct val="100000"/>
              </a:lnSpc>
              <a:spcBef>
                <a:spcPts val="695"/>
              </a:spcBef>
              <a:tabLst>
                <a:tab pos="185420" algn="l"/>
              </a:tabLst>
            </a:pP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split orient="vert"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4709" y="381000"/>
            <a:ext cx="62877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pc="-5" dirty="0" smtClean="0"/>
              <a:t>Assignment</a:t>
            </a:r>
            <a:endParaRPr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383612"/>
              </p:ext>
            </p:extLst>
          </p:nvPr>
        </p:nvGraphicFramePr>
        <p:xfrm>
          <a:off x="457200" y="1600200"/>
          <a:ext cx="7543799" cy="3983101"/>
        </p:xfrm>
        <a:graphic>
          <a:graphicData uri="http://schemas.openxmlformats.org/drawingml/2006/table">
            <a:tbl>
              <a:tblPr firstRow="1" firstCol="1" bandRow="1"/>
              <a:tblGrid>
                <a:gridCol w="1524000">
                  <a:extLst>
                    <a:ext uri="{9D8B030D-6E8A-4147-A177-3AD203B41FA5}">
                      <a16:colId xmlns:a16="http://schemas.microsoft.com/office/drawing/2014/main" val="2283192970"/>
                    </a:ext>
                  </a:extLst>
                </a:gridCol>
                <a:gridCol w="1117805">
                  <a:extLst>
                    <a:ext uri="{9D8B030D-6E8A-4147-A177-3AD203B41FA5}">
                      <a16:colId xmlns:a16="http://schemas.microsoft.com/office/drawing/2014/main" val="2036379182"/>
                    </a:ext>
                  </a:extLst>
                </a:gridCol>
                <a:gridCol w="1734066">
                  <a:extLst>
                    <a:ext uri="{9D8B030D-6E8A-4147-A177-3AD203B41FA5}">
                      <a16:colId xmlns:a16="http://schemas.microsoft.com/office/drawing/2014/main" val="3016800191"/>
                    </a:ext>
                  </a:extLst>
                </a:gridCol>
                <a:gridCol w="1473549">
                  <a:extLst>
                    <a:ext uri="{9D8B030D-6E8A-4147-A177-3AD203B41FA5}">
                      <a16:colId xmlns:a16="http://schemas.microsoft.com/office/drawing/2014/main" val="2891548187"/>
                    </a:ext>
                  </a:extLst>
                </a:gridCol>
                <a:gridCol w="1694379">
                  <a:extLst>
                    <a:ext uri="{9D8B030D-6E8A-4147-A177-3AD203B41FA5}">
                      <a16:colId xmlns:a16="http://schemas.microsoft.com/office/drawing/2014/main" val="79709508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Years of reign 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Internal Policy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External Policy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Evaluation (role in KH)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962108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err="1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Kasym</a:t>
                      </a:r>
                      <a:r>
                        <a:rPr lang="en-US" sz="24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08985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Tahir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107424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Haqnazar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724226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Tauekel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734664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Esim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62605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Tauke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794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9512051"/>
      </p:ext>
    </p:extLst>
  </p:cSld>
  <p:clrMapOvr>
    <a:masterClrMapping/>
  </p:clrMapOvr>
  <p:transition>
    <p:split orient="vert" dir="in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</TotalTime>
  <Words>1019</Words>
  <Application>Microsoft Office PowerPoint</Application>
  <PresentationFormat>Экран (4:3)</PresentationFormat>
  <Paragraphs>141</Paragraphs>
  <Slides>17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Arial MT</vt:lpstr>
      <vt:lpstr>Calibri</vt:lpstr>
      <vt:lpstr>Symbol</vt:lpstr>
      <vt:lpstr>Times New Roman</vt:lpstr>
      <vt:lpstr>Verdana</vt:lpstr>
      <vt:lpstr>Office Theme</vt:lpstr>
      <vt:lpstr>1_Office Theme</vt:lpstr>
      <vt:lpstr>Lectures 4-5     Kazakh Khanate</vt:lpstr>
      <vt:lpstr>Plan</vt:lpstr>
      <vt:lpstr>1. Emergence of Kazakh Khanate</vt:lpstr>
      <vt:lpstr>1. Emergence of Kazakh Khanate</vt:lpstr>
      <vt:lpstr>Презентация PowerPoint</vt:lpstr>
      <vt:lpstr>Kazakh Khanate in the  XV century</vt:lpstr>
      <vt:lpstr>Kazakh Khans </vt:lpstr>
      <vt:lpstr>Презентация PowerPoint</vt:lpstr>
      <vt:lpstr>Socio-economic development of  Kazakh Khanate</vt:lpstr>
      <vt:lpstr>Презентация PowerPoint</vt:lpstr>
      <vt:lpstr>Social Structure</vt:lpstr>
      <vt:lpstr>Socio-economic development of  Kazakh Khanate</vt:lpstr>
      <vt:lpstr>2. Ethnogenesis of the Kazakh people</vt:lpstr>
      <vt:lpstr>2. Ethnogenesis of the Kazakh people</vt:lpstr>
      <vt:lpstr>2. Ethnogenesis of the Kazakh people</vt:lpstr>
      <vt:lpstr>2. Ethnogenesis of the Kazakh people</vt:lpstr>
      <vt:lpstr>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Казахское ханство</dc:title>
  <dc:creator>User</dc:creator>
  <cp:lastModifiedBy>Huawei</cp:lastModifiedBy>
  <cp:revision>13</cp:revision>
  <dcterms:created xsi:type="dcterms:W3CDTF">2024-02-12T05:53:24Z</dcterms:created>
  <dcterms:modified xsi:type="dcterms:W3CDTF">2026-02-09T04:29:37Z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2023-01-25T00:00:00Z</vt:filetime>
  </property>
  <property fmtid="{D5CDD505-2E9C-101B-9397-08002B2CF9AE}" pid="3" name="Creator">
    <vt:lpwstr>Acrobat PDFMaker 11 для PowerPoint</vt:lpwstr>
  </property>
  <property fmtid="{D5CDD505-2E9C-101B-9397-08002B2CF9AE}" pid="4" name="LastSaved">
    <vt:filetime>2024-02-12T00:00:00Z</vt:filetime>
  </property>
</Properties>
</file>