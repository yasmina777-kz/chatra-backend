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3.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0" r:id="rId8"/>
    <p:sldId id="271" r:id="rId9"/>
    <p:sldId id="272" r:id="rId10"/>
    <p:sldId id="273" r:id="rId11"/>
    <p:sldId id="274" r:id="rId12"/>
    <p:sldId id="275" r:id="rId13"/>
    <p:sldId id="276" r:id="rId14"/>
    <p:sldId id="277" r:id="rId15"/>
    <p:sldId id="278" r:id="rId16"/>
    <p:sldId id="279" r:id="rId17"/>
    <p:sldId id="263" r:id="rId18"/>
    <p:sldId id="264" r:id="rId19"/>
    <p:sldId id="265" r:id="rId20"/>
    <p:sldId id="266" r:id="rId21"/>
    <p:sldId id="267" r:id="rId22"/>
    <p:sldId id="268" r:id="rId23"/>
    <p:sldId id="269" r:id="rId24"/>
    <p:sldId id="262" r:id="rId25"/>
  </p:sldIdLst>
  <p:sldSz cx="9144000" cy="6858000" type="screen4x3"/>
  <p:notesSz cx="6858000" cy="9144000"/>
  <p:defaultText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78" y="81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10/6/2024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10/6/2024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AF463A-BC7C-46EE-9F1E-7F377CCA4891}" type="datetimeFigureOut">
              <a:rPr lang="en-US" smtClean="0"/>
              <a:pPr/>
              <a:t>10/6/2024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EAF463A-BC7C-46EE-9F1E-7F377CCA4891}" type="datetimeFigureOut">
              <a:rPr lang="en-US" smtClean="0"/>
              <a:pPr/>
              <a:t>10/6/2024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EAF463A-BC7C-46EE-9F1E-7F377CCA4891}" type="datetimeFigureOut">
              <a:rPr lang="en-US" smtClean="0"/>
              <a:pPr/>
              <a:t>10/6/2024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EAF463A-BC7C-46EE-9F1E-7F377CCA4891}" type="datetimeFigureOut">
              <a:rPr lang="en-US" smtClean="0"/>
              <a:pPr/>
              <a:t>10/6/2024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AF463A-BC7C-46EE-9F1E-7F377CCA4891}" type="datetimeFigureOut">
              <a:rPr lang="en-US" smtClean="0"/>
              <a:pPr/>
              <a:t>10/6/2024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AF463A-BC7C-46EE-9F1E-7F377CCA4891}" type="datetimeFigureOut">
              <a:rPr lang="en-US" smtClean="0"/>
              <a:pPr/>
              <a:t>10/6/2024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AF463A-BC7C-46EE-9F1E-7F377CCA4891}" type="datetimeFigureOut">
              <a:rPr lang="en-US" smtClean="0"/>
              <a:pPr/>
              <a:t>10/6/2024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10/6/2024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add title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10/6/2024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AF463A-BC7C-46EE-9F1E-7F377CCA4891}" type="datetimeFigureOut">
              <a:rPr lang="en-US" smtClean="0"/>
              <a:pPr/>
              <a:t>10/6/2024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83448D-3A78-4528-A469-B745A65DA4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latinLnBrk="0">
        <a:spcBef>
          <a:spcPct val="0"/>
        </a:spcBef>
        <a:buNone/>
        <a:defRPr sz="4400" kern="1200">
          <a:solidFill>
            <a:schemeClr val="tx1"/>
          </a:solidFill>
          <a:latin typeface="+mj-lt"/>
          <a:ea typeface="+mj-ea"/>
          <a:cs typeface="+mj-cs"/>
        </a:defRPr>
      </a:lvl1pPr>
    </p:titleStyle>
    <p:bodyStyle>
      <a:lvl1pPr marL="342900" indent="-342900" algn="l" defTabSz="914400" rtl="0" latinLnBrk="0">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latinLnBrk="0">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latinLnBrk="0">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latinLnBrk="0">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latinLnBrk="0">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latinLnBrk="0">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latinLnBrk="0">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latinLnBrk="0">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latinLnBrk="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Biological_cybernetics" TargetMode="External"/><Relationship Id="rId2" Type="http://schemas.openxmlformats.org/officeDocument/2006/relationships/hyperlink" Target="https://en.wikipedia.org/wiki/Feedback" TargetMode="External"/><Relationship Id="rId1" Type="http://schemas.openxmlformats.org/officeDocument/2006/relationships/slideLayout" Target="../slideLayouts/slideLayout2.xml"/><Relationship Id="rId6" Type="http://schemas.openxmlformats.org/officeDocument/2006/relationships/hyperlink" Target="https://en.wikipedia.org/wiki/Management_cybernetics" TargetMode="External"/><Relationship Id="rId5" Type="http://schemas.openxmlformats.org/officeDocument/2006/relationships/hyperlink" Target="https://en.wikipedia.org/wiki/Social_systems" TargetMode="External"/><Relationship Id="rId4" Type="http://schemas.openxmlformats.org/officeDocument/2006/relationships/hyperlink" Target="https://en.wikipedia.org/wiki/Cognitive_science"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43000" y="2209800"/>
            <a:ext cx="6477000" cy="2308324"/>
          </a:xfrm>
          <a:prstGeom prst="rect">
            <a:avLst/>
          </a:prstGeom>
        </p:spPr>
        <p:txBody>
          <a:bodyPr wrap="square">
            <a:spAutoFit/>
          </a:bodyPr>
          <a:lstStyle/>
          <a:p>
            <a:pPr algn="ctr"/>
            <a:r>
              <a:rPr lang="en-US" sz="2400" b="1" dirty="0" smtClean="0">
                <a:latin typeface="Times New Roman" pitchFamily="18" charset="0"/>
                <a:cs typeface="Times New Roman" pitchFamily="18" charset="0"/>
              </a:rPr>
              <a:t>Lecture 1</a:t>
            </a:r>
          </a:p>
          <a:p>
            <a:pPr algn="ctr"/>
            <a:endParaRPr lang="en-US" sz="2400" b="1" dirty="0" smtClean="0">
              <a:latin typeface="Times New Roman" pitchFamily="18" charset="0"/>
              <a:cs typeface="Times New Roman" pitchFamily="18" charset="0"/>
            </a:endParaRPr>
          </a:p>
          <a:p>
            <a:pPr algn="ctr"/>
            <a:r>
              <a:rPr lang="en-US" sz="2400" b="1" dirty="0" smtClean="0">
                <a:latin typeface="Times New Roman" pitchFamily="18" charset="0"/>
                <a:cs typeface="Times New Roman" pitchFamily="18" charset="0"/>
              </a:rPr>
              <a:t>Qualitative and quantitative methods of describing information systems. Problems of the theory of systems. The cybernetic approach. Dynamic description of IS.</a:t>
            </a:r>
            <a:endParaRPr lang="ru-RU" sz="2400" b="1" dirty="0" smtClean="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33400" y="381000"/>
            <a:ext cx="7924800" cy="1413336"/>
          </a:xfrm>
          <a:prstGeom prst="rect">
            <a:avLst/>
          </a:prstGeom>
        </p:spPr>
        <p:txBody>
          <a:bodyPr wrap="square">
            <a:spAutoFit/>
          </a:bodyPr>
          <a:lstStyle/>
          <a:p>
            <a:pPr algn="ctr">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Qualitative Methods</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ea typeface="Times New Roman" panose="02020603050405020304" pitchFamily="18" charset="0"/>
                <a:cs typeface="Times New Roman" panose="02020603050405020304" pitchFamily="18" charset="0"/>
              </a:rPr>
              <a:t> Qualitative methods focus on understanding the characteristics, qualities, and experiences associated with information systems. They are often exploratory and aim to provide depth and context.</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Прямоугольник 2"/>
          <p:cNvSpPr/>
          <p:nvPr/>
        </p:nvSpPr>
        <p:spPr>
          <a:xfrm>
            <a:off x="533400" y="2209800"/>
            <a:ext cx="8305800" cy="3547766"/>
          </a:xfrm>
          <a:prstGeom prst="rect">
            <a:avLst/>
          </a:prstGeom>
        </p:spPr>
        <p:txBody>
          <a:bodyPr wrap="square">
            <a:spAutoFit/>
          </a:bodyPr>
          <a:lstStyle/>
          <a:p>
            <a:pPr>
              <a:lnSpc>
                <a:spcPct val="107000"/>
              </a:lnSpc>
              <a:spcAft>
                <a:spcPts val="800"/>
              </a:spcAft>
            </a:pPr>
            <a:r>
              <a:rPr lang="ru-RU" sz="1600" b="1" dirty="0" err="1">
                <a:latin typeface="Times New Roman" panose="02020603050405020304" pitchFamily="18" charset="0"/>
                <a:ea typeface="Times New Roman" panose="02020603050405020304" pitchFamily="18" charset="0"/>
                <a:cs typeface="Times New Roman" panose="02020603050405020304" pitchFamily="18" charset="0"/>
              </a:rPr>
              <a:t>Key</a:t>
            </a:r>
            <a:r>
              <a:rPr lang="ru-RU" sz="1600" b="1" dirty="0">
                <a:latin typeface="Times New Roman" panose="02020603050405020304" pitchFamily="18" charset="0"/>
                <a:ea typeface="Times New Roman" panose="02020603050405020304" pitchFamily="18" charset="0"/>
                <a:cs typeface="Times New Roman" panose="02020603050405020304" pitchFamily="18" charset="0"/>
              </a:rPr>
              <a:t> </a:t>
            </a:r>
            <a:r>
              <a:rPr lang="ru-RU" sz="1600" b="1" dirty="0" err="1">
                <a:latin typeface="Times New Roman" panose="02020603050405020304" pitchFamily="18" charset="0"/>
                <a:ea typeface="Times New Roman" panose="02020603050405020304" pitchFamily="18" charset="0"/>
                <a:cs typeface="Times New Roman" panose="02020603050405020304" pitchFamily="18" charset="0"/>
              </a:rPr>
              <a:t>Methods</a:t>
            </a:r>
            <a:r>
              <a:rPr lang="ru-RU" sz="1600" b="1" dirty="0">
                <a:latin typeface="Times New Roman" panose="02020603050405020304" pitchFamily="18" charset="0"/>
                <a:ea typeface="Times New Roman" panose="02020603050405020304" pitchFamily="18" charset="0"/>
                <a:cs typeface="Times New Roman" panose="02020603050405020304" pitchFamily="18" charset="0"/>
              </a:rPr>
              <a:t>:</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ru-RU" sz="1600" b="1" dirty="0" err="1">
                <a:latin typeface="Times New Roman" panose="02020603050405020304" pitchFamily="18" charset="0"/>
                <a:ea typeface="Times New Roman" panose="02020603050405020304" pitchFamily="18" charset="0"/>
                <a:cs typeface="Times New Roman" panose="02020603050405020304" pitchFamily="18" charset="0"/>
              </a:rPr>
              <a:t>Interviews</a:t>
            </a:r>
            <a:r>
              <a:rPr lang="ru-RU" sz="1600" b="1" dirty="0">
                <a:latin typeface="Times New Roman" panose="02020603050405020304" pitchFamily="18" charset="0"/>
                <a:ea typeface="Times New Roman" panose="02020603050405020304" pitchFamily="18" charset="0"/>
                <a:cs typeface="Times New Roman" panose="02020603050405020304" pitchFamily="18" charset="0"/>
              </a:rPr>
              <a:t>:</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Description:</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Conducting one-on-one or group interviews with stakeholders.</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Purpose:</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To gather detailed insights, opinions, and experiences.</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Interviewing users about their experiences with a new CRM system.</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ru-RU" sz="1600" b="1" dirty="0" err="1">
                <a:latin typeface="Times New Roman" panose="02020603050405020304" pitchFamily="18" charset="0"/>
                <a:ea typeface="Times New Roman" panose="02020603050405020304" pitchFamily="18" charset="0"/>
                <a:cs typeface="Times New Roman" panose="02020603050405020304" pitchFamily="18" charset="0"/>
              </a:rPr>
              <a:t>Focus</a:t>
            </a:r>
            <a:r>
              <a:rPr lang="ru-RU" sz="1600" b="1" dirty="0">
                <a:latin typeface="Times New Roman" panose="02020603050405020304" pitchFamily="18" charset="0"/>
                <a:ea typeface="Times New Roman" panose="02020603050405020304" pitchFamily="18" charset="0"/>
                <a:cs typeface="Times New Roman" panose="02020603050405020304" pitchFamily="18" charset="0"/>
              </a:rPr>
              <a:t> </a:t>
            </a:r>
            <a:r>
              <a:rPr lang="ru-RU" sz="1600" b="1" dirty="0" err="1">
                <a:latin typeface="Times New Roman" panose="02020603050405020304" pitchFamily="18" charset="0"/>
                <a:ea typeface="Times New Roman" panose="02020603050405020304" pitchFamily="18" charset="0"/>
                <a:cs typeface="Times New Roman" panose="02020603050405020304" pitchFamily="18" charset="0"/>
              </a:rPr>
              <a:t>Groups</a:t>
            </a:r>
            <a:r>
              <a:rPr lang="ru-RU" sz="1600" b="1" dirty="0">
                <a:latin typeface="Times New Roman" panose="02020603050405020304" pitchFamily="18" charset="0"/>
                <a:ea typeface="Times New Roman" panose="02020603050405020304" pitchFamily="18" charset="0"/>
                <a:cs typeface="Times New Roman" panose="02020603050405020304" pitchFamily="18" charset="0"/>
              </a:rPr>
              <a:t>:</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Description:</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Group discussions guided by a facilitator to gather diverse perspectives.</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Purpose:</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To understand collective views and identify common issues.</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A focus group of employees discussing the usability of an internal knowledge management system</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ru-RU" sz="1400"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33400" y="4038600"/>
            <a:ext cx="8229600" cy="2383473"/>
          </a:xfrm>
          <a:prstGeom prst="rect">
            <a:avLst/>
          </a:prstGeom>
        </p:spPr>
        <p:txBody>
          <a:bodyPr wrap="square">
            <a:spAutoFit/>
          </a:bodyPr>
          <a:lstStyle/>
          <a:p>
            <a:pPr>
              <a:lnSpc>
                <a:spcPct val="107000"/>
              </a:lnSpc>
              <a:spcAft>
                <a:spcPts val="800"/>
              </a:spcAft>
            </a:pPr>
            <a:r>
              <a:rPr lang="ru-RU" b="1" dirty="0" err="1">
                <a:latin typeface="Times New Roman" panose="02020603050405020304" pitchFamily="18" charset="0"/>
                <a:ea typeface="Times New Roman" panose="02020603050405020304" pitchFamily="18" charset="0"/>
                <a:cs typeface="Times New Roman" panose="02020603050405020304" pitchFamily="18" charset="0"/>
              </a:rPr>
              <a:t>Advantages</a:t>
            </a:r>
            <a:r>
              <a:rPr lang="ru-RU" b="1" dirty="0">
                <a:latin typeface="Times New Roman" panose="02020603050405020304" pitchFamily="18" charset="0"/>
                <a:ea typeface="Times New Roman" panose="02020603050405020304" pitchFamily="18" charset="0"/>
                <a:cs typeface="Times New Roman" panose="02020603050405020304" pitchFamily="18" charset="0"/>
              </a:rPr>
              <a:t>:</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Provides rich, detailed, and contextually relevant data.</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Captures user experiences and perspectives that quantitative methods may miss.</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b="1" dirty="0" err="1">
                <a:latin typeface="Times New Roman" panose="02020603050405020304" pitchFamily="18" charset="0"/>
                <a:ea typeface="Times New Roman" panose="02020603050405020304" pitchFamily="18" charset="0"/>
                <a:cs typeface="Times New Roman" panose="02020603050405020304" pitchFamily="18" charset="0"/>
              </a:rPr>
              <a:t>Disadvantages</a:t>
            </a:r>
            <a:r>
              <a:rPr lang="ru-RU" b="1" dirty="0">
                <a:latin typeface="Times New Roman" panose="02020603050405020304" pitchFamily="18" charset="0"/>
                <a:ea typeface="Times New Roman" panose="02020603050405020304" pitchFamily="18" charset="0"/>
                <a:cs typeface="Times New Roman" panose="02020603050405020304" pitchFamily="18" charset="0"/>
              </a:rPr>
              <a:t>:</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Subjective and may lack generalizability.</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Time-consuming and may require specialized skills for analysis.</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Прямоугольник 4"/>
          <p:cNvSpPr/>
          <p:nvPr/>
        </p:nvSpPr>
        <p:spPr>
          <a:xfrm>
            <a:off x="381000" y="152400"/>
            <a:ext cx="8077200" cy="3708644"/>
          </a:xfrm>
          <a:prstGeom prst="rect">
            <a:avLst/>
          </a:prstGeom>
        </p:spPr>
        <p:txBody>
          <a:bodyPr wrap="square">
            <a:spAutoFit/>
          </a:bodyPr>
          <a:lstStyle/>
          <a:p>
            <a:pPr marL="342900" lvl="0" indent="-342900">
              <a:lnSpc>
                <a:spcPct val="107000"/>
              </a:lnSpc>
              <a:spcAft>
                <a:spcPts val="800"/>
              </a:spcAft>
              <a:buFont typeface="+mj-lt"/>
              <a:buAutoNum type="arabicPeriod"/>
              <a:tabLst>
                <a:tab pos="457200" algn="l"/>
              </a:tabLst>
            </a:pPr>
            <a:r>
              <a:rPr lang="ru-RU" sz="1600" b="1" dirty="0" err="1">
                <a:latin typeface="Times New Roman" panose="02020603050405020304" pitchFamily="18" charset="0"/>
                <a:ea typeface="Times New Roman" panose="02020603050405020304" pitchFamily="18" charset="0"/>
                <a:cs typeface="Times New Roman" panose="02020603050405020304" pitchFamily="18" charset="0"/>
              </a:rPr>
              <a:t>Case</a:t>
            </a:r>
            <a:r>
              <a:rPr lang="ru-RU" sz="1600" b="1" dirty="0">
                <a:latin typeface="Times New Roman" panose="02020603050405020304" pitchFamily="18" charset="0"/>
                <a:ea typeface="Times New Roman" panose="02020603050405020304" pitchFamily="18" charset="0"/>
                <a:cs typeface="Times New Roman" panose="02020603050405020304" pitchFamily="18" charset="0"/>
              </a:rPr>
              <a:t> </a:t>
            </a:r>
            <a:r>
              <a:rPr lang="ru-RU" sz="1600" b="1" dirty="0" err="1">
                <a:latin typeface="Times New Roman" panose="02020603050405020304" pitchFamily="18" charset="0"/>
                <a:ea typeface="Times New Roman" panose="02020603050405020304" pitchFamily="18" charset="0"/>
                <a:cs typeface="Times New Roman" panose="02020603050405020304" pitchFamily="18" charset="0"/>
              </a:rPr>
              <a:t>Studies</a:t>
            </a:r>
            <a:r>
              <a:rPr lang="ru-RU" sz="1600" b="1" dirty="0">
                <a:latin typeface="Times New Roman" panose="02020603050405020304" pitchFamily="18" charset="0"/>
                <a:ea typeface="Times New Roman" panose="02020603050405020304" pitchFamily="18" charset="0"/>
                <a:cs typeface="Times New Roman" panose="02020603050405020304" pitchFamily="18" charset="0"/>
              </a:rPr>
              <a:t>:</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Description:</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In-depth exploration of a single case or a small number of cases.</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Purpose:</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To provide detailed insights into the implementation and impact of an information system.</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A case study of how a hospital implemented an electronic health record (EHR) system.</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ru-RU" sz="1600" b="1" dirty="0" err="1">
                <a:latin typeface="Times New Roman" panose="02020603050405020304" pitchFamily="18" charset="0"/>
                <a:ea typeface="Times New Roman" panose="02020603050405020304" pitchFamily="18" charset="0"/>
                <a:cs typeface="Times New Roman" panose="02020603050405020304" pitchFamily="18" charset="0"/>
              </a:rPr>
              <a:t>Observations</a:t>
            </a:r>
            <a:r>
              <a:rPr lang="ru-RU" sz="1600" b="1" dirty="0">
                <a:latin typeface="Times New Roman" panose="02020603050405020304" pitchFamily="18" charset="0"/>
                <a:ea typeface="Times New Roman" panose="02020603050405020304" pitchFamily="18" charset="0"/>
                <a:cs typeface="Times New Roman" panose="02020603050405020304" pitchFamily="18" charset="0"/>
              </a:rPr>
              <a:t>:</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Description:</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Directly observing how users interact with the system.</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Purpose:</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To identify usability issues and understand real-world system use.</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Observing how employees use a new workflow management tool in their daily tasks.</a:t>
            </a:r>
            <a:endParaRPr lang="ru-RU"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96895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33400" y="304800"/>
            <a:ext cx="7696200" cy="1477328"/>
          </a:xfrm>
          <a:prstGeom prst="rect">
            <a:avLst/>
          </a:prstGeom>
        </p:spPr>
        <p:txBody>
          <a:bodyPr wrap="square">
            <a:spAutoFit/>
          </a:bodyPr>
          <a:lstStyle/>
          <a:p>
            <a:pPr algn="ctr"/>
            <a:r>
              <a:rPr lang="en-US" b="1" dirty="0"/>
              <a:t>Quantitative </a:t>
            </a:r>
            <a:r>
              <a:rPr lang="en-US" b="1" dirty="0" smtClean="0"/>
              <a:t>Methods</a:t>
            </a:r>
          </a:p>
          <a:p>
            <a:pPr algn="ctr"/>
            <a:endParaRPr lang="en-US" b="1" dirty="0"/>
          </a:p>
          <a:p>
            <a:r>
              <a:rPr lang="en-US" b="1" dirty="0"/>
              <a:t>Definition:</a:t>
            </a:r>
            <a:r>
              <a:rPr lang="en-US" dirty="0"/>
              <a:t> Quantitative methods involve numerical data and statistical analysis to describe and measure information systems. They are often used to validate hypotheses and make objective comparisons.</a:t>
            </a:r>
          </a:p>
        </p:txBody>
      </p:sp>
      <p:sp>
        <p:nvSpPr>
          <p:cNvPr id="5" name="Прямоугольник 4"/>
          <p:cNvSpPr/>
          <p:nvPr/>
        </p:nvSpPr>
        <p:spPr>
          <a:xfrm>
            <a:off x="533400" y="2286000"/>
            <a:ext cx="7924800" cy="3970318"/>
          </a:xfrm>
          <a:prstGeom prst="rect">
            <a:avLst/>
          </a:prstGeom>
        </p:spPr>
        <p:txBody>
          <a:bodyPr wrap="square">
            <a:spAutoFit/>
          </a:bodyPr>
          <a:lstStyle/>
          <a:p>
            <a:pPr algn="just"/>
            <a:r>
              <a:rPr lang="en-US" b="1" dirty="0">
                <a:latin typeface="Times New Roman" panose="02020603050405020304" pitchFamily="18" charset="0"/>
                <a:cs typeface="Times New Roman" panose="02020603050405020304" pitchFamily="18" charset="0"/>
              </a:rPr>
              <a:t>Key Methods:</a:t>
            </a:r>
            <a:endParaRPr lang="en-US" dirty="0">
              <a:latin typeface="Times New Roman" panose="02020603050405020304" pitchFamily="18" charset="0"/>
              <a:cs typeface="Times New Roman" panose="02020603050405020304" pitchFamily="18" charset="0"/>
            </a:endParaRPr>
          </a:p>
          <a:p>
            <a:pPr algn="just">
              <a:buFont typeface="+mj-lt"/>
              <a:buAutoNum type="arabicPeriod"/>
            </a:pPr>
            <a:r>
              <a:rPr lang="en-US" b="1" dirty="0">
                <a:latin typeface="Times New Roman" panose="02020603050405020304" pitchFamily="18" charset="0"/>
                <a:cs typeface="Times New Roman" panose="02020603050405020304" pitchFamily="18" charset="0"/>
              </a:rPr>
              <a:t>Surveys and Questionnaires:</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b="1" dirty="0">
                <a:latin typeface="Times New Roman" panose="02020603050405020304" pitchFamily="18" charset="0"/>
                <a:cs typeface="Times New Roman" panose="02020603050405020304" pitchFamily="18" charset="0"/>
              </a:rPr>
              <a:t>Description:</a:t>
            </a:r>
            <a:r>
              <a:rPr lang="en-US" dirty="0">
                <a:latin typeface="Times New Roman" panose="02020603050405020304" pitchFamily="18" charset="0"/>
                <a:cs typeface="Times New Roman" panose="02020603050405020304" pitchFamily="18" charset="0"/>
              </a:rPr>
              <a:t> Structured tools to collect data from a large number of respondents.</a:t>
            </a:r>
          </a:p>
          <a:p>
            <a:pPr marL="742950" lvl="1" indent="-285750" algn="just">
              <a:buFont typeface="+mj-lt"/>
              <a:buAutoNum type="arabicPeriod"/>
            </a:pPr>
            <a:r>
              <a:rPr lang="en-US" b="1" dirty="0">
                <a:latin typeface="Times New Roman" panose="02020603050405020304" pitchFamily="18" charset="0"/>
                <a:cs typeface="Times New Roman" panose="02020603050405020304" pitchFamily="18" charset="0"/>
              </a:rPr>
              <a:t>Purpose:</a:t>
            </a:r>
            <a:r>
              <a:rPr lang="en-US" dirty="0">
                <a:latin typeface="Times New Roman" panose="02020603050405020304" pitchFamily="18" charset="0"/>
                <a:cs typeface="Times New Roman" panose="02020603050405020304" pitchFamily="18" charset="0"/>
              </a:rPr>
              <a:t> To gather statistical information on user satisfaction, system performance, etc.</a:t>
            </a:r>
          </a:p>
          <a:p>
            <a:pPr marL="742950" lvl="1" indent="-285750" algn="just">
              <a:buFont typeface="+mj-lt"/>
              <a:buAutoNum type="arabicPeriod"/>
            </a:pPr>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 survey measuring user satisfaction with a new enterprise resource planning (ERP) system.</a:t>
            </a:r>
          </a:p>
          <a:p>
            <a:pPr algn="just">
              <a:buFont typeface="+mj-lt"/>
              <a:buAutoNum type="arabicPeriod"/>
            </a:pPr>
            <a:r>
              <a:rPr lang="en-US" b="1" dirty="0">
                <a:latin typeface="Times New Roman" panose="02020603050405020304" pitchFamily="18" charset="0"/>
                <a:cs typeface="Times New Roman" panose="02020603050405020304" pitchFamily="18" charset="0"/>
              </a:rPr>
              <a:t>Data Analytics:</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b="1" dirty="0">
                <a:latin typeface="Times New Roman" panose="02020603050405020304" pitchFamily="18" charset="0"/>
                <a:cs typeface="Times New Roman" panose="02020603050405020304" pitchFamily="18" charset="0"/>
              </a:rPr>
              <a:t>Description:</a:t>
            </a:r>
            <a:r>
              <a:rPr lang="en-US" dirty="0">
                <a:latin typeface="Times New Roman" panose="02020603050405020304" pitchFamily="18" charset="0"/>
                <a:cs typeface="Times New Roman" panose="02020603050405020304" pitchFamily="18" charset="0"/>
              </a:rPr>
              <a:t> Analyzing data generated by the system to identify trends and patterns.</a:t>
            </a:r>
          </a:p>
          <a:p>
            <a:pPr marL="742950" lvl="1" indent="-285750" algn="just">
              <a:buFont typeface="+mj-lt"/>
              <a:buAutoNum type="arabicPeriod"/>
            </a:pPr>
            <a:r>
              <a:rPr lang="en-US" b="1" dirty="0">
                <a:latin typeface="Times New Roman" panose="02020603050405020304" pitchFamily="18" charset="0"/>
                <a:cs typeface="Times New Roman" panose="02020603050405020304" pitchFamily="18" charset="0"/>
              </a:rPr>
              <a:t>Purpose:</a:t>
            </a:r>
            <a:r>
              <a:rPr lang="en-US" dirty="0">
                <a:latin typeface="Times New Roman" panose="02020603050405020304" pitchFamily="18" charset="0"/>
                <a:cs typeface="Times New Roman" panose="02020603050405020304" pitchFamily="18" charset="0"/>
              </a:rPr>
              <a:t> To gain insights into system usage, performance, and efficiency.</a:t>
            </a:r>
          </a:p>
          <a:p>
            <a:pPr marL="742950" lvl="1" indent="-285750" algn="just">
              <a:buFont typeface="+mj-lt"/>
              <a:buAutoNum type="arabicPeriod"/>
            </a:pPr>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Analyzing transaction data to evaluate the effectiveness of an online sales platform.</a:t>
            </a:r>
          </a:p>
        </p:txBody>
      </p:sp>
    </p:spTree>
    <p:extLst>
      <p:ext uri="{BB962C8B-B14F-4D97-AF65-F5344CB8AC3E}">
        <p14:creationId xmlns:p14="http://schemas.microsoft.com/office/powerpoint/2010/main" val="3603249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ChangeArrowheads="1"/>
          </p:cNvSpPr>
          <p:nvPr/>
        </p:nvSpPr>
        <p:spPr bwMode="auto">
          <a:xfrm>
            <a:off x="228601" y="286942"/>
            <a:ext cx="86106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lang="en-US" altLang="ru-RU" b="1" dirty="0">
                <a:latin typeface="Times New Roman" panose="02020603050405020304" pitchFamily="18" charset="0"/>
                <a:cs typeface="Times New Roman" panose="02020603050405020304" pitchFamily="18" charset="0"/>
              </a:rPr>
              <a:t>4. </a:t>
            </a:r>
            <a:r>
              <a:rPr lang="ru-RU" altLang="ru-RU" b="1" dirty="0" err="1">
                <a:latin typeface="Times New Roman" panose="02020603050405020304" pitchFamily="18" charset="0"/>
                <a:cs typeface="Times New Roman" panose="02020603050405020304" pitchFamily="18" charset="0"/>
              </a:rPr>
              <a:t>Metrics</a:t>
            </a:r>
            <a:r>
              <a:rPr lang="ru-RU" altLang="ru-RU" b="1" dirty="0">
                <a:latin typeface="Times New Roman" panose="02020603050405020304" pitchFamily="18" charset="0"/>
                <a:cs typeface="Times New Roman" panose="02020603050405020304" pitchFamily="18" charset="0"/>
              </a:rPr>
              <a:t> </a:t>
            </a:r>
            <a:r>
              <a:rPr lang="ru-RU" altLang="ru-RU" b="1" dirty="0" err="1">
                <a:latin typeface="Times New Roman" panose="02020603050405020304" pitchFamily="18" charset="0"/>
                <a:cs typeface="Times New Roman" panose="02020603050405020304" pitchFamily="18" charset="0"/>
              </a:rPr>
              <a:t>and</a:t>
            </a:r>
            <a:r>
              <a:rPr lang="ru-RU" altLang="ru-RU" b="1" dirty="0">
                <a:latin typeface="Times New Roman" panose="02020603050405020304" pitchFamily="18" charset="0"/>
                <a:cs typeface="Times New Roman" panose="02020603050405020304" pitchFamily="18" charset="0"/>
              </a:rPr>
              <a:t> </a:t>
            </a:r>
            <a:r>
              <a:rPr lang="ru-RU" altLang="ru-RU" b="1" dirty="0" err="1">
                <a:latin typeface="Times New Roman" panose="02020603050405020304" pitchFamily="18" charset="0"/>
                <a:cs typeface="Times New Roman" panose="02020603050405020304" pitchFamily="18" charset="0"/>
              </a:rPr>
              <a:t>Performance</a:t>
            </a:r>
            <a:r>
              <a:rPr lang="ru-RU" altLang="ru-RU" b="1" dirty="0">
                <a:latin typeface="Times New Roman" panose="02020603050405020304" pitchFamily="18" charset="0"/>
                <a:cs typeface="Times New Roman" panose="02020603050405020304" pitchFamily="18" charset="0"/>
              </a:rPr>
              <a:t> </a:t>
            </a:r>
            <a:r>
              <a:rPr lang="ru-RU" altLang="ru-RU" b="1" dirty="0" err="1">
                <a:latin typeface="Times New Roman" panose="02020603050405020304" pitchFamily="18" charset="0"/>
                <a:cs typeface="Times New Roman" panose="02020603050405020304" pitchFamily="18" charset="0"/>
              </a:rPr>
              <a:t>Indicators</a:t>
            </a:r>
            <a:r>
              <a:rPr lang="ru-RU" altLang="ru-RU" b="1" dirty="0">
                <a:latin typeface="Times New Roman" panose="02020603050405020304" pitchFamily="18" charset="0"/>
                <a:cs typeface="Times New Roman" panose="02020603050405020304" pitchFamily="18" charset="0"/>
              </a:rPr>
              <a:t>:</a:t>
            </a:r>
          </a:p>
          <a:p>
            <a:pPr marL="1057275"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ru-RU" altLang="ru-RU" dirty="0" err="1">
                <a:latin typeface="Times New Roman" panose="02020603050405020304" pitchFamily="18" charset="0"/>
                <a:cs typeface="Times New Roman" panose="02020603050405020304" pitchFamily="18" charset="0"/>
              </a:rPr>
              <a:t>Description</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Measuring</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specific</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aspects</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of</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system</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performance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using</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predefined</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metrics</a:t>
            </a:r>
            <a:r>
              <a:rPr lang="ru-RU" altLang="ru-RU" dirty="0">
                <a:latin typeface="Times New Roman" panose="02020603050405020304" pitchFamily="18" charset="0"/>
                <a:cs typeface="Times New Roman" panose="02020603050405020304" pitchFamily="18" charset="0"/>
              </a:rPr>
              <a:t>.</a:t>
            </a:r>
          </a:p>
          <a:p>
            <a:pPr marL="1057275"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ru-RU" altLang="ru-RU" dirty="0" err="1">
                <a:latin typeface="Times New Roman" panose="02020603050405020304" pitchFamily="18" charset="0"/>
                <a:cs typeface="Times New Roman" panose="02020603050405020304" pitchFamily="18" charset="0"/>
              </a:rPr>
              <a:t>Purpose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To</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assess</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efficiency</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effectiveness</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and</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quality</a:t>
            </a:r>
            <a:r>
              <a:rPr lang="ru-RU" altLang="ru-RU" dirty="0">
                <a:latin typeface="Times New Roman" panose="02020603050405020304" pitchFamily="18" charset="0"/>
                <a:cs typeface="Times New Roman" panose="02020603050405020304" pitchFamily="18" charset="0"/>
              </a:rPr>
              <a:t>.</a:t>
            </a:r>
          </a:p>
          <a:p>
            <a:pPr marL="1057275"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ru-RU" altLang="ru-RU" dirty="0" err="1">
                <a:latin typeface="Times New Roman" panose="02020603050405020304" pitchFamily="18" charset="0"/>
                <a:cs typeface="Times New Roman" panose="02020603050405020304" pitchFamily="18" charset="0"/>
              </a:rPr>
              <a:t>Example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Metrics</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like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system</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uptime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response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time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and</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user</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error</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rates</a:t>
            </a:r>
            <a:r>
              <a:rPr lang="ru-RU" altLang="ru-RU" dirty="0">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lang="en-US" altLang="ru-RU"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lang="en-US" altLang="ru-RU" b="1" dirty="0" smtClean="0">
                <a:latin typeface="Times New Roman" panose="02020603050405020304" pitchFamily="18" charset="0"/>
                <a:cs typeface="Times New Roman" panose="02020603050405020304" pitchFamily="18" charset="0"/>
              </a:rPr>
              <a:t>5. </a:t>
            </a:r>
            <a:r>
              <a:rPr lang="ru-RU" altLang="ru-RU" b="1" dirty="0" err="1" smtClean="0">
                <a:latin typeface="Times New Roman" panose="02020603050405020304" pitchFamily="18" charset="0"/>
                <a:cs typeface="Times New Roman" panose="02020603050405020304" pitchFamily="18" charset="0"/>
              </a:rPr>
              <a:t>Experimental</a:t>
            </a:r>
            <a:r>
              <a:rPr lang="ru-RU" altLang="ru-RU" b="1" dirty="0" smtClean="0">
                <a:latin typeface="Times New Roman" panose="02020603050405020304" pitchFamily="18" charset="0"/>
                <a:cs typeface="Times New Roman" panose="02020603050405020304" pitchFamily="18" charset="0"/>
              </a:rPr>
              <a:t> </a:t>
            </a:r>
            <a:r>
              <a:rPr lang="ru-RU" altLang="ru-RU" b="1" dirty="0" err="1">
                <a:latin typeface="Times New Roman" panose="02020603050405020304" pitchFamily="18" charset="0"/>
                <a:cs typeface="Times New Roman" panose="02020603050405020304" pitchFamily="18" charset="0"/>
              </a:rPr>
              <a:t>Studies</a:t>
            </a:r>
            <a:r>
              <a:rPr lang="ru-RU" altLang="ru-RU" b="1" dirty="0">
                <a:latin typeface="Times New Roman" panose="02020603050405020304" pitchFamily="18" charset="0"/>
                <a:cs typeface="Times New Roman" panose="02020603050405020304" pitchFamily="18" charset="0"/>
              </a:rPr>
              <a:t>:</a:t>
            </a:r>
          </a:p>
          <a:p>
            <a:pPr marL="714375" marR="0" lvl="0" algn="just" defTabSz="914400" rtl="0" eaLnBrk="0" fontAlgn="base" latinLnBrk="0" hangingPunct="0">
              <a:lnSpc>
                <a:spcPct val="100000"/>
              </a:lnSpc>
              <a:spcBef>
                <a:spcPct val="0"/>
              </a:spcBef>
              <a:spcAft>
                <a:spcPct val="0"/>
              </a:spcAft>
              <a:buClrTx/>
              <a:buSzTx/>
              <a:buFontTx/>
              <a:buChar char="•"/>
              <a:tabLst/>
            </a:pPr>
            <a:r>
              <a:rPr lang="en-US" altLang="ru-RU" dirty="0" smtClean="0">
                <a:latin typeface="Times New Roman" panose="02020603050405020304" pitchFamily="18" charset="0"/>
                <a:cs typeface="Times New Roman" panose="02020603050405020304" pitchFamily="18" charset="0"/>
              </a:rPr>
              <a:t>     </a:t>
            </a:r>
            <a:r>
              <a:rPr lang="ru-RU" altLang="ru-RU" dirty="0" err="1" smtClean="0">
                <a:latin typeface="Times New Roman" panose="02020603050405020304" pitchFamily="18" charset="0"/>
                <a:cs typeface="Times New Roman" panose="02020603050405020304" pitchFamily="18" charset="0"/>
              </a:rPr>
              <a:t>Description</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Conducting</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controlled</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experiments</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to</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evaluate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the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impact</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of</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changes</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or</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interventions</a:t>
            </a:r>
            <a:r>
              <a:rPr lang="ru-RU" altLang="ru-RU" dirty="0">
                <a:latin typeface="Times New Roman" panose="02020603050405020304" pitchFamily="18" charset="0"/>
                <a:cs typeface="Times New Roman" panose="02020603050405020304" pitchFamily="18" charset="0"/>
              </a:rPr>
              <a:t>.</a:t>
            </a:r>
          </a:p>
          <a:p>
            <a:pPr marL="714375" marR="0" lvl="0" algn="just" defTabSz="914400" rtl="0" eaLnBrk="0" fontAlgn="base" latinLnBrk="0" hangingPunct="0">
              <a:lnSpc>
                <a:spcPct val="100000"/>
              </a:lnSpc>
              <a:spcBef>
                <a:spcPct val="0"/>
              </a:spcBef>
              <a:spcAft>
                <a:spcPct val="0"/>
              </a:spcAft>
              <a:buClrTx/>
              <a:buSzTx/>
              <a:buFontTx/>
              <a:buChar char="•"/>
              <a:tabLst/>
            </a:pPr>
            <a:r>
              <a:rPr lang="en-US" altLang="ru-RU" dirty="0" smtClean="0">
                <a:latin typeface="Times New Roman" panose="02020603050405020304" pitchFamily="18" charset="0"/>
                <a:cs typeface="Times New Roman" panose="02020603050405020304" pitchFamily="18" charset="0"/>
              </a:rPr>
              <a:t>     </a:t>
            </a:r>
            <a:r>
              <a:rPr lang="ru-RU" altLang="ru-RU" dirty="0" err="1" smtClean="0">
                <a:latin typeface="Times New Roman" panose="02020603050405020304" pitchFamily="18" charset="0"/>
                <a:cs typeface="Times New Roman" panose="02020603050405020304" pitchFamily="18" charset="0"/>
              </a:rPr>
              <a:t>Purpose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To</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determine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causality</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and</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measure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the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effects</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of</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modifications</a:t>
            </a:r>
            <a:r>
              <a:rPr lang="ru-RU" altLang="ru-RU" dirty="0">
                <a:latin typeface="Times New Roman" panose="02020603050405020304" pitchFamily="18" charset="0"/>
                <a:cs typeface="Times New Roman" panose="02020603050405020304" pitchFamily="18" charset="0"/>
              </a:rPr>
              <a:t>.</a:t>
            </a:r>
          </a:p>
          <a:p>
            <a:pPr marL="714375" marR="0" lvl="0" algn="just" defTabSz="914400" rtl="0" eaLnBrk="0" fontAlgn="base" latinLnBrk="0" hangingPunct="0">
              <a:lnSpc>
                <a:spcPct val="100000"/>
              </a:lnSpc>
              <a:spcBef>
                <a:spcPct val="0"/>
              </a:spcBef>
              <a:spcAft>
                <a:spcPct val="0"/>
              </a:spcAft>
              <a:buClrTx/>
              <a:buSzTx/>
              <a:buFontTx/>
              <a:buChar char="•"/>
              <a:tabLst/>
            </a:pPr>
            <a:r>
              <a:rPr lang="en-US" altLang="ru-RU" dirty="0" smtClean="0">
                <a:latin typeface="Times New Roman" panose="02020603050405020304" pitchFamily="18" charset="0"/>
                <a:cs typeface="Times New Roman" panose="02020603050405020304" pitchFamily="18" charset="0"/>
              </a:rPr>
              <a:t>     </a:t>
            </a:r>
            <a:r>
              <a:rPr lang="ru-RU" altLang="ru-RU" dirty="0" err="1" smtClean="0">
                <a:latin typeface="Times New Roman" panose="02020603050405020304" pitchFamily="18" charset="0"/>
                <a:cs typeface="Times New Roman" panose="02020603050405020304" pitchFamily="18" charset="0"/>
              </a:rPr>
              <a:t>Example</a:t>
            </a:r>
            <a:r>
              <a:rPr lang="ru-RU" altLang="ru-RU" dirty="0">
                <a:latin typeface="Times New Roman" panose="02020603050405020304" pitchFamily="18" charset="0"/>
                <a:cs typeface="Times New Roman" panose="02020603050405020304" pitchFamily="18" charset="0"/>
              </a:rPr>
              <a:t>: A/B </a:t>
            </a:r>
            <a:r>
              <a:rPr lang="ru-RU" altLang="ru-RU" dirty="0" err="1">
                <a:latin typeface="Times New Roman" panose="02020603050405020304" pitchFamily="18" charset="0"/>
                <a:cs typeface="Times New Roman" panose="02020603050405020304" pitchFamily="18" charset="0"/>
              </a:rPr>
              <a:t>testing</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different</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interface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designs</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to</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see</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which</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leads</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to</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better</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user</a:t>
            </a:r>
            <a:r>
              <a:rPr lang="ru-RU" altLang="ru-RU" dirty="0">
                <a:latin typeface="Times New Roman" panose="02020603050405020304" pitchFamily="18" charset="0"/>
                <a:cs typeface="Times New Roman" panose="02020603050405020304" pitchFamily="18" charset="0"/>
              </a:rPr>
              <a:t> </a:t>
            </a:r>
            <a:r>
              <a:rPr lang="ru-RU" altLang="ru-RU" dirty="0" err="1">
                <a:latin typeface="Times New Roman" panose="02020603050405020304" pitchFamily="18" charset="0"/>
                <a:cs typeface="Times New Roman" panose="02020603050405020304" pitchFamily="18" charset="0"/>
              </a:rPr>
              <a:t>engagement</a:t>
            </a:r>
            <a:r>
              <a:rPr lang="ru-RU" altLang="ru-RU" dirty="0">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lang="ru-RU" altLang="ru-RU" dirty="0">
              <a:latin typeface="Times New Roman" panose="02020603050405020304" pitchFamily="18" charset="0"/>
              <a:cs typeface="Times New Roman" panose="02020603050405020304" pitchFamily="18" charset="0"/>
            </a:endParaRPr>
          </a:p>
        </p:txBody>
      </p:sp>
      <p:sp>
        <p:nvSpPr>
          <p:cNvPr id="9" name="Прямоугольник 8"/>
          <p:cNvSpPr/>
          <p:nvPr/>
        </p:nvSpPr>
        <p:spPr>
          <a:xfrm>
            <a:off x="381000" y="4267200"/>
            <a:ext cx="8153400" cy="2031325"/>
          </a:xfrm>
          <a:prstGeom prst="rect">
            <a:avLst/>
          </a:prstGeom>
        </p:spPr>
        <p:txBody>
          <a:bodyPr wrap="square">
            <a:spAutoFit/>
          </a:bodyPr>
          <a:lstStyle/>
          <a:p>
            <a:pPr algn="just"/>
            <a:r>
              <a:rPr lang="en-US" b="1"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objective, quantifiable data that can be statistically analyzed.</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Useful for making comparisons and generalizing findings to larger populations.</a:t>
            </a:r>
          </a:p>
          <a:p>
            <a:pPr algn="just"/>
            <a:endParaRPr lang="ru-RU" b="1"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Disadvantages</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May overlook qualitative nuances and contextual factors.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Requires careful design to ensure valid and reliable results.</a:t>
            </a:r>
          </a:p>
        </p:txBody>
      </p:sp>
    </p:spTree>
    <p:extLst>
      <p:ext uri="{BB962C8B-B14F-4D97-AF65-F5344CB8AC3E}">
        <p14:creationId xmlns:p14="http://schemas.microsoft.com/office/powerpoint/2010/main" val="603750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362200" y="457200"/>
            <a:ext cx="4572000" cy="646331"/>
          </a:xfrm>
          <a:prstGeom prst="rect">
            <a:avLst/>
          </a:prstGeom>
        </p:spPr>
        <p:txBody>
          <a:bodyPr>
            <a:spAutoFit/>
          </a:bodyPr>
          <a:lstStyle/>
          <a:p>
            <a:pPr algn="ctr"/>
            <a:r>
              <a:rPr lang="en-US" b="1" dirty="0">
                <a:latin typeface="Times New Roman" panose="02020603050405020304" pitchFamily="18" charset="0"/>
                <a:cs typeface="Times New Roman" panose="02020603050405020304" pitchFamily="18" charset="0"/>
              </a:rPr>
              <a:t>Comparing Qualitative and Quantitative Methods</a:t>
            </a:r>
            <a:endParaRPr lang="ru-RU" b="1" dirty="0">
              <a:latin typeface="Times New Roman" panose="02020603050405020304" pitchFamily="18" charset="0"/>
              <a:cs typeface="Times New Roman" panose="02020603050405020304" pitchFamily="18" charset="0"/>
            </a:endParaRPr>
          </a:p>
        </p:txBody>
      </p:sp>
      <p:sp>
        <p:nvSpPr>
          <p:cNvPr id="6" name="Прямоугольник 5"/>
          <p:cNvSpPr/>
          <p:nvPr/>
        </p:nvSpPr>
        <p:spPr>
          <a:xfrm>
            <a:off x="152400" y="1600200"/>
            <a:ext cx="3810000" cy="2759602"/>
          </a:xfrm>
          <a:prstGeom prst="rect">
            <a:avLst/>
          </a:prstGeom>
        </p:spPr>
        <p:txBody>
          <a:bodyPr wrap="square">
            <a:spAutoFit/>
          </a:bodyPr>
          <a:lstStyle/>
          <a:p>
            <a:pPr lvl="0" algn="just">
              <a:lnSpc>
                <a:spcPct val="107000"/>
              </a:lnSpc>
              <a:spcAft>
                <a:spcPts val="0"/>
              </a:spcAft>
              <a:buSzPts val="1000"/>
              <a:tabLst>
                <a:tab pos="457200" algn="l"/>
              </a:tabLst>
            </a:pPr>
            <a:r>
              <a:rPr lang="ru-RU" dirty="0">
                <a:latin typeface="Symbol" panose="05050102010706020507" pitchFamily="18" charset="2"/>
                <a:ea typeface="Times New Roman" panose="02020603050405020304" pitchFamily="18" charset="0"/>
                <a:cs typeface="Times New Roman" panose="02020603050405020304" pitchFamily="18" charset="0"/>
              </a:rPr>
              <a:t>·</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a:latin typeface="Times New Roman" panose="02020603050405020304" pitchFamily="18" charset="0"/>
                <a:ea typeface="Times New Roman" panose="02020603050405020304" pitchFamily="18" charset="0"/>
                <a:cs typeface="Times New Roman" panose="02020603050405020304" pitchFamily="18" charset="0"/>
              </a:rPr>
              <a:t>Complementary Nature:</a:t>
            </a:r>
            <a:r>
              <a:rPr lang="en-US" dirty="0">
                <a:latin typeface="Times New Roman" panose="02020603050405020304" pitchFamily="18" charset="0"/>
                <a:ea typeface="Times New Roman" panose="02020603050405020304" pitchFamily="18" charset="0"/>
                <a:cs typeface="Times New Roman" panose="02020603050405020304" pitchFamily="18" charset="0"/>
              </a:rPr>
              <a:t> Qualitative methods provide depth, while quantitative methods offer breadth. Combining both can provide a comprehensive understanding of information systems.</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lvl="0" algn="just">
              <a:lnSpc>
                <a:spcPct val="107000"/>
              </a:lnSpc>
              <a:spcAft>
                <a:spcPts val="800"/>
              </a:spcAft>
              <a:buSzPts val="1000"/>
              <a:tabLst>
                <a:tab pos="457200" algn="l"/>
              </a:tabLst>
            </a:pPr>
            <a:r>
              <a:rPr lang="ru-RU" dirty="0">
                <a:latin typeface="Symbol" panose="05050102010706020507" pitchFamily="18" charset="2"/>
                <a:ea typeface="Times New Roman" panose="02020603050405020304" pitchFamily="18" charset="0"/>
                <a:cs typeface="Times New Roman" panose="02020603050405020304" pitchFamily="18" charset="0"/>
              </a:rPr>
              <a:t>·</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a:latin typeface="Times New Roman" panose="02020603050405020304" pitchFamily="18" charset="0"/>
                <a:ea typeface="Times New Roman" panose="02020603050405020304" pitchFamily="18" charset="0"/>
                <a:cs typeface="Times New Roman" panose="02020603050405020304" pitchFamily="18" charset="0"/>
              </a:rPr>
              <a:t>Choosing the Right Method:</a:t>
            </a:r>
            <a:r>
              <a:rPr lang="en-US" dirty="0">
                <a:latin typeface="Times New Roman" panose="02020603050405020304" pitchFamily="18" charset="0"/>
                <a:ea typeface="Times New Roman" panose="02020603050405020304" pitchFamily="18" charset="0"/>
                <a:cs typeface="Times New Roman" panose="02020603050405020304" pitchFamily="18" charset="0"/>
              </a:rPr>
              <a:t> Depends on the research question, objectives, and available resources.</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Прямоугольник 6"/>
          <p:cNvSpPr/>
          <p:nvPr/>
        </p:nvSpPr>
        <p:spPr>
          <a:xfrm>
            <a:off x="4267200" y="3482639"/>
            <a:ext cx="4572000" cy="1754326"/>
          </a:xfrm>
          <a:prstGeom prst="rect">
            <a:avLst/>
          </a:prstGeom>
        </p:spPr>
        <p:txBody>
          <a:bodyPr>
            <a:spAutoFit/>
          </a:bodyPr>
          <a:lstStyle/>
          <a:p>
            <a:pPr algn="just"/>
            <a:r>
              <a:rPr lang="en-US" b="1" dirty="0">
                <a:latin typeface="Times New Roman" panose="02020603050405020304" pitchFamily="18" charset="0"/>
                <a:cs typeface="Times New Roman" panose="02020603050405020304" pitchFamily="18" charset="0"/>
              </a:rPr>
              <a:t>Case Examples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Qualitative Example:</a:t>
            </a:r>
            <a:r>
              <a:rPr lang="en-US" dirty="0">
                <a:latin typeface="Times New Roman" panose="02020603050405020304" pitchFamily="18" charset="0"/>
                <a:cs typeface="Times New Roman" panose="02020603050405020304" pitchFamily="18" charset="0"/>
              </a:rPr>
              <a:t> Understanding user adoption of a new system through interviews and focus groups.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Quantitative Example:</a:t>
            </a:r>
            <a:r>
              <a:rPr lang="en-US" dirty="0">
                <a:latin typeface="Times New Roman" panose="02020603050405020304" pitchFamily="18" charset="0"/>
                <a:cs typeface="Times New Roman" panose="02020603050405020304" pitchFamily="18" charset="0"/>
              </a:rPr>
              <a:t> Evaluating system performance through metrics and data analysis.</a:t>
            </a:r>
          </a:p>
        </p:txBody>
      </p:sp>
    </p:spTree>
    <p:extLst>
      <p:ext uri="{BB962C8B-B14F-4D97-AF65-F5344CB8AC3E}">
        <p14:creationId xmlns:p14="http://schemas.microsoft.com/office/powerpoint/2010/main" val="1543104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38200" y="990600"/>
            <a:ext cx="7696200" cy="646331"/>
          </a:xfrm>
          <a:prstGeom prst="rect">
            <a:avLst/>
          </a:prstGeom>
        </p:spPr>
        <p:txBody>
          <a:bodyPr wrap="square">
            <a:spAutoFit/>
          </a:bodyPr>
          <a:lstStyle/>
          <a:p>
            <a:r>
              <a:rPr lang="en-US" b="1" dirty="0"/>
              <a:t>Information </a:t>
            </a:r>
            <a:r>
              <a:rPr lang="en-US" dirty="0"/>
              <a:t>is information that removes uncertainty about the surrounding world, which is the object of storage, transformation, transmission and use. </a:t>
            </a:r>
          </a:p>
        </p:txBody>
      </p:sp>
      <p:pic>
        <p:nvPicPr>
          <p:cNvPr id="5" name="Рисунок 4"/>
          <p:cNvPicPr>
            <a:picLocks noChangeAspect="1"/>
          </p:cNvPicPr>
          <p:nvPr/>
        </p:nvPicPr>
        <p:blipFill>
          <a:blip r:embed="rId2"/>
          <a:stretch>
            <a:fillRect/>
          </a:stretch>
        </p:blipFill>
        <p:spPr>
          <a:xfrm>
            <a:off x="1676400" y="1828800"/>
            <a:ext cx="5867400" cy="2331156"/>
          </a:xfrm>
          <a:prstGeom prst="rect">
            <a:avLst/>
          </a:prstGeom>
        </p:spPr>
      </p:pic>
      <p:sp>
        <p:nvSpPr>
          <p:cNvPr id="6" name="Прямоугольник 5"/>
          <p:cNvSpPr/>
          <p:nvPr/>
        </p:nvSpPr>
        <p:spPr>
          <a:xfrm>
            <a:off x="838200" y="4351825"/>
            <a:ext cx="3017236" cy="369332"/>
          </a:xfrm>
          <a:prstGeom prst="rect">
            <a:avLst/>
          </a:prstGeom>
        </p:spPr>
        <p:txBody>
          <a:bodyPr wrap="none">
            <a:spAutoFit/>
          </a:bodyPr>
          <a:lstStyle/>
          <a:p>
            <a:r>
              <a:rPr lang="en-US" b="1" dirty="0"/>
              <a:t>Ways to measure information</a:t>
            </a:r>
          </a:p>
        </p:txBody>
      </p:sp>
      <p:sp>
        <p:nvSpPr>
          <p:cNvPr id="7" name="Прямоугольник 6"/>
          <p:cNvSpPr/>
          <p:nvPr/>
        </p:nvSpPr>
        <p:spPr>
          <a:xfrm>
            <a:off x="3048000" y="276964"/>
            <a:ext cx="2627771" cy="461665"/>
          </a:xfrm>
          <a:prstGeom prst="rect">
            <a:avLst/>
          </a:prstGeom>
        </p:spPr>
        <p:txBody>
          <a:bodyPr wrap="none">
            <a:spAutoFit/>
          </a:bodyPr>
          <a:lstStyle/>
          <a:p>
            <a:r>
              <a:rPr lang="en-US" sz="2400" b="1" dirty="0" smtClean="0"/>
              <a:t>Information theory</a:t>
            </a:r>
            <a:endParaRPr lang="en-US" sz="2400" b="1" dirty="0"/>
          </a:p>
        </p:txBody>
      </p:sp>
      <p:sp>
        <p:nvSpPr>
          <p:cNvPr id="9" name="Прямоугольник 8"/>
          <p:cNvSpPr/>
          <p:nvPr/>
        </p:nvSpPr>
        <p:spPr>
          <a:xfrm>
            <a:off x="838200" y="4913026"/>
            <a:ext cx="7696200" cy="646331"/>
          </a:xfrm>
          <a:prstGeom prst="rect">
            <a:avLst/>
          </a:prstGeom>
        </p:spPr>
        <p:txBody>
          <a:bodyPr wrap="square">
            <a:spAutoFit/>
          </a:bodyPr>
          <a:lstStyle/>
          <a:p>
            <a:pPr algn="just"/>
            <a:r>
              <a:rPr lang="en-US" b="1" dirty="0"/>
              <a:t>ENTROPY</a:t>
            </a:r>
            <a:r>
              <a:rPr lang="en-US" dirty="0"/>
              <a:t> (from the Greek. </a:t>
            </a:r>
            <a:r>
              <a:rPr lang="en-US" dirty="0" err="1"/>
              <a:t>en</a:t>
            </a:r>
            <a:r>
              <a:rPr lang="en-US" dirty="0"/>
              <a:t>, </a:t>
            </a:r>
            <a:r>
              <a:rPr lang="en-US" dirty="0" err="1"/>
              <a:t>tropē</a:t>
            </a:r>
            <a:r>
              <a:rPr lang="en-US" dirty="0"/>
              <a:t> – turn, transformation) — in information theory: a quantity characterizing the degree of uncertainty of a system.</a:t>
            </a:r>
          </a:p>
        </p:txBody>
      </p:sp>
    </p:spTree>
    <p:extLst>
      <p:ext uri="{BB962C8B-B14F-4D97-AF65-F5344CB8AC3E}">
        <p14:creationId xmlns:p14="http://schemas.microsoft.com/office/powerpoint/2010/main" val="2868990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04800" y="1676400"/>
            <a:ext cx="7772400" cy="923330"/>
          </a:xfrm>
          <a:prstGeom prst="rect">
            <a:avLst/>
          </a:prstGeom>
        </p:spPr>
        <p:txBody>
          <a:bodyPr wrap="square">
            <a:spAutoFit/>
          </a:bodyPr>
          <a:lstStyle/>
          <a:p>
            <a:pPr algn="just"/>
            <a:r>
              <a:rPr lang="en-US" b="1" dirty="0"/>
              <a:t>The amount of information </a:t>
            </a:r>
            <a:r>
              <a:rPr lang="en-US" dirty="0"/>
              <a:t>is a numerical value that adequately characterizes the updated information in terms of diversity, complexity, structuring, certainty, and choice (probability) of the states of the displayed system.</a:t>
            </a:r>
          </a:p>
        </p:txBody>
      </p:sp>
      <p:sp>
        <p:nvSpPr>
          <p:cNvPr id="5" name="Прямоугольник 4"/>
          <p:cNvSpPr/>
          <p:nvPr/>
        </p:nvSpPr>
        <p:spPr>
          <a:xfrm>
            <a:off x="533400" y="3276600"/>
            <a:ext cx="7759148" cy="1754326"/>
          </a:xfrm>
          <a:prstGeom prst="rect">
            <a:avLst/>
          </a:prstGeom>
        </p:spPr>
        <p:txBody>
          <a:bodyPr wrap="square">
            <a:spAutoFit/>
          </a:bodyPr>
          <a:lstStyle/>
          <a:p>
            <a:pPr algn="just"/>
            <a:r>
              <a:rPr lang="en-US" dirty="0"/>
              <a:t>If a system is considered that can accept one of n possible states, then the task of evaluating such a choice, outcome, is relevant. Such an assessment can be a measure of information (or an event). </a:t>
            </a:r>
            <a:endParaRPr lang="en-US" dirty="0" smtClean="0"/>
          </a:p>
          <a:p>
            <a:pPr algn="just"/>
            <a:r>
              <a:rPr lang="en-US" b="1" dirty="0" smtClean="0"/>
              <a:t>A </a:t>
            </a:r>
            <a:r>
              <a:rPr lang="en-US" b="1" dirty="0"/>
              <a:t>measure </a:t>
            </a:r>
            <a:r>
              <a:rPr lang="en-US" dirty="0"/>
              <a:t>is some continuous real non–negative function defined on a set of events and is additive, i.e. the measure of a finite combination of events (sets) is equal to the sum of the measures of each event.</a:t>
            </a:r>
          </a:p>
        </p:txBody>
      </p:sp>
    </p:spTree>
    <p:extLst>
      <p:ext uri="{BB962C8B-B14F-4D97-AF65-F5344CB8AC3E}">
        <p14:creationId xmlns:p14="http://schemas.microsoft.com/office/powerpoint/2010/main" val="4220179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57200" y="457200"/>
            <a:ext cx="7924800" cy="2308324"/>
          </a:xfrm>
          <a:prstGeom prst="rect">
            <a:avLst/>
          </a:prstGeom>
        </p:spPr>
        <p:txBody>
          <a:bodyPr wrap="square">
            <a:spAutoFit/>
          </a:bodyPr>
          <a:lstStyle/>
          <a:p>
            <a:pPr algn="just"/>
            <a:r>
              <a:rPr lang="en-US" b="1" dirty="0"/>
              <a:t>Measure by R. Hartley. </a:t>
            </a:r>
            <a:endParaRPr lang="en-US" b="1" dirty="0" smtClean="0"/>
          </a:p>
          <a:p>
            <a:pPr algn="just"/>
            <a:r>
              <a:rPr lang="en-US" dirty="0" smtClean="0"/>
              <a:t>Let </a:t>
            </a:r>
            <a:r>
              <a:rPr lang="en-US" dirty="0"/>
              <a:t>there be N states of the system S or N experiments with different, equally possible sequential states of the system</a:t>
            </a:r>
            <a:r>
              <a:rPr lang="en-US" dirty="0" smtClean="0"/>
              <a:t>.</a:t>
            </a:r>
          </a:p>
          <a:p>
            <a:pPr algn="just"/>
            <a:r>
              <a:rPr lang="en-US" dirty="0" smtClean="0"/>
              <a:t> </a:t>
            </a:r>
            <a:r>
              <a:rPr lang="en-US" dirty="0"/>
              <a:t>If each state of the system is encoded, for example, with binary codes of a certain length d, then this length must be chosen so that the number of all different combinations would not be less than N. The smallest number at which this is possible or a measure of the diversity of the set of states of the system is given by R. Hartley's formula:</a:t>
            </a:r>
          </a:p>
        </p:txBody>
      </p:sp>
      <p:pic>
        <p:nvPicPr>
          <p:cNvPr id="5" name="Рисунок 4"/>
          <p:cNvPicPr>
            <a:picLocks noChangeAspect="1"/>
          </p:cNvPicPr>
          <p:nvPr/>
        </p:nvPicPr>
        <p:blipFill>
          <a:blip r:embed="rId2"/>
          <a:stretch>
            <a:fillRect/>
          </a:stretch>
        </p:blipFill>
        <p:spPr>
          <a:xfrm>
            <a:off x="2895600" y="2772150"/>
            <a:ext cx="1905000" cy="470222"/>
          </a:xfrm>
          <a:prstGeom prst="rect">
            <a:avLst/>
          </a:prstGeom>
        </p:spPr>
      </p:pic>
      <p:sp>
        <p:nvSpPr>
          <p:cNvPr id="6" name="Прямоугольник 5"/>
          <p:cNvSpPr/>
          <p:nvPr/>
        </p:nvSpPr>
        <p:spPr>
          <a:xfrm>
            <a:off x="457200" y="3962400"/>
            <a:ext cx="7772400" cy="1754326"/>
          </a:xfrm>
          <a:prstGeom prst="rect">
            <a:avLst/>
          </a:prstGeom>
        </p:spPr>
        <p:txBody>
          <a:bodyPr wrap="square">
            <a:spAutoFit/>
          </a:bodyPr>
          <a:lstStyle/>
          <a:p>
            <a:pPr algn="just"/>
            <a:r>
              <a:rPr lang="en-US" dirty="0"/>
              <a:t>where </a:t>
            </a:r>
            <a:r>
              <a:rPr lang="en-US" b="1" dirty="0"/>
              <a:t>k</a:t>
            </a:r>
            <a:r>
              <a:rPr lang="en-US" dirty="0"/>
              <a:t> is the coefficient of proportionality (scaling, depending on the selected unit of measure), and </a:t>
            </a:r>
            <a:r>
              <a:rPr lang="en-US" b="1" dirty="0"/>
              <a:t>a</a:t>
            </a:r>
            <a:r>
              <a:rPr lang="en-US" dirty="0"/>
              <a:t> is the base of the measure system. </a:t>
            </a:r>
            <a:endParaRPr lang="en-US" dirty="0" smtClean="0"/>
          </a:p>
          <a:p>
            <a:pPr algn="just"/>
            <a:r>
              <a:rPr lang="en-US" dirty="0" smtClean="0"/>
              <a:t>If </a:t>
            </a:r>
            <a:r>
              <a:rPr lang="en-US" dirty="0"/>
              <a:t>the measurement is carried out: </a:t>
            </a:r>
            <a:endParaRPr lang="en-US" dirty="0" smtClean="0"/>
          </a:p>
          <a:p>
            <a:pPr algn="just"/>
            <a:r>
              <a:rPr lang="en-US" dirty="0" smtClean="0"/>
              <a:t>• </a:t>
            </a:r>
            <a:r>
              <a:rPr lang="en-US" dirty="0"/>
              <a:t>in the exponential system, then k=1, H=ln (</a:t>
            </a:r>
            <a:r>
              <a:rPr lang="en-US" dirty="0" err="1"/>
              <a:t>nat</a:t>
            </a:r>
            <a:r>
              <a:rPr lang="en-US" dirty="0"/>
              <a:t>); </a:t>
            </a:r>
            <a:endParaRPr lang="en-US" dirty="0" smtClean="0"/>
          </a:p>
          <a:p>
            <a:pPr algn="just"/>
            <a:r>
              <a:rPr lang="en-US" dirty="0" smtClean="0"/>
              <a:t>• </a:t>
            </a:r>
            <a:r>
              <a:rPr lang="en-US" dirty="0"/>
              <a:t>in the binary system, then k=1/n 2, H=log2N (bit</a:t>
            </a:r>
            <a:r>
              <a:rPr lang="en-US" dirty="0" smtClean="0"/>
              <a:t>);</a:t>
            </a:r>
          </a:p>
          <a:p>
            <a:pPr algn="just"/>
            <a:r>
              <a:rPr lang="en-US" dirty="0" smtClean="0"/>
              <a:t>• </a:t>
            </a:r>
            <a:r>
              <a:rPr lang="en-US" dirty="0"/>
              <a:t>in the decimal system, then k=1/ln10, H=</a:t>
            </a:r>
            <a:r>
              <a:rPr lang="en-US" dirty="0" err="1"/>
              <a:t>lgN</a:t>
            </a:r>
            <a:r>
              <a:rPr lang="en-US" dirty="0"/>
              <a:t> (</a:t>
            </a:r>
            <a:r>
              <a:rPr lang="en-US" dirty="0" err="1"/>
              <a:t>dit</a:t>
            </a:r>
            <a:r>
              <a:rPr lang="en-US" dirty="0"/>
              <a:t>). </a:t>
            </a:r>
            <a:endParaRPr lang="en-US" dirty="0" smtClean="0"/>
          </a:p>
        </p:txBody>
      </p:sp>
    </p:spTree>
    <p:extLst>
      <p:ext uri="{BB962C8B-B14F-4D97-AF65-F5344CB8AC3E}">
        <p14:creationId xmlns:p14="http://schemas.microsoft.com/office/powerpoint/2010/main" val="1226815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33400" y="685800"/>
            <a:ext cx="7924800" cy="1200329"/>
          </a:xfrm>
          <a:prstGeom prst="rect">
            <a:avLst/>
          </a:prstGeom>
        </p:spPr>
        <p:txBody>
          <a:bodyPr wrap="square">
            <a:spAutoFit/>
          </a:bodyPr>
          <a:lstStyle/>
          <a:p>
            <a:pPr algn="just"/>
            <a:r>
              <a:rPr lang="en-US" dirty="0"/>
              <a:t>Suppose some message contains information that one of </a:t>
            </a:r>
            <a:r>
              <a:rPr lang="en-US" b="1" dirty="0"/>
              <a:t>N</a:t>
            </a:r>
            <a:r>
              <a:rPr lang="en-US" dirty="0"/>
              <a:t> equally probable events occurred (equal probability means that none of the events has advantages over the others). Then the amount of information contained in this message is </a:t>
            </a:r>
            <a:r>
              <a:rPr lang="en-US" b="1" dirty="0"/>
              <a:t>x</a:t>
            </a:r>
            <a:r>
              <a:rPr lang="en-US" dirty="0"/>
              <a:t> bits and the number </a:t>
            </a:r>
            <a:r>
              <a:rPr lang="en-US" b="1" dirty="0"/>
              <a:t>N</a:t>
            </a:r>
            <a:r>
              <a:rPr lang="en-US" dirty="0"/>
              <a:t> are related by the formula:</a:t>
            </a:r>
            <a:endParaRPr lang="en-US" dirty="0"/>
          </a:p>
        </p:txBody>
      </p:sp>
      <p:pic>
        <p:nvPicPr>
          <p:cNvPr id="5" name="Рисунок 4"/>
          <p:cNvPicPr>
            <a:picLocks noChangeAspect="1"/>
          </p:cNvPicPr>
          <p:nvPr/>
        </p:nvPicPr>
        <p:blipFill>
          <a:blip r:embed="rId2"/>
          <a:stretch>
            <a:fillRect/>
          </a:stretch>
        </p:blipFill>
        <p:spPr>
          <a:xfrm>
            <a:off x="3886200" y="1922572"/>
            <a:ext cx="914400" cy="471488"/>
          </a:xfrm>
          <a:prstGeom prst="rect">
            <a:avLst/>
          </a:prstGeom>
        </p:spPr>
      </p:pic>
      <p:sp>
        <p:nvSpPr>
          <p:cNvPr id="6" name="Прямоугольник 5"/>
          <p:cNvSpPr/>
          <p:nvPr/>
        </p:nvSpPr>
        <p:spPr>
          <a:xfrm>
            <a:off x="762000" y="2667001"/>
            <a:ext cx="7848600" cy="646331"/>
          </a:xfrm>
          <a:prstGeom prst="rect">
            <a:avLst/>
          </a:prstGeom>
        </p:spPr>
        <p:txBody>
          <a:bodyPr wrap="square">
            <a:spAutoFit/>
          </a:bodyPr>
          <a:lstStyle/>
          <a:p>
            <a:r>
              <a:rPr lang="en-US" dirty="0"/>
              <a:t>This formula is an exponential equation with respect to the unknown </a:t>
            </a:r>
            <a:r>
              <a:rPr lang="en-US" b="1" dirty="0" smtClean="0"/>
              <a:t>x</a:t>
            </a:r>
            <a:r>
              <a:rPr lang="en-US" dirty="0" smtClean="0"/>
              <a:t>. </a:t>
            </a:r>
            <a:r>
              <a:rPr lang="en-US" dirty="0"/>
              <a:t>It is known from mathematics that the solution of such an equation has the form:</a:t>
            </a:r>
          </a:p>
        </p:txBody>
      </p:sp>
      <p:pic>
        <p:nvPicPr>
          <p:cNvPr id="7" name="Рисунок 6"/>
          <p:cNvPicPr>
            <a:picLocks noChangeAspect="1"/>
          </p:cNvPicPr>
          <p:nvPr/>
        </p:nvPicPr>
        <p:blipFill>
          <a:blip r:embed="rId3"/>
          <a:stretch>
            <a:fillRect/>
          </a:stretch>
        </p:blipFill>
        <p:spPr>
          <a:xfrm>
            <a:off x="3849757" y="3625312"/>
            <a:ext cx="1162050" cy="359682"/>
          </a:xfrm>
          <a:prstGeom prst="rect">
            <a:avLst/>
          </a:prstGeom>
        </p:spPr>
      </p:pic>
      <p:sp>
        <p:nvSpPr>
          <p:cNvPr id="8" name="Прямоугольник 7"/>
          <p:cNvSpPr/>
          <p:nvPr/>
        </p:nvSpPr>
        <p:spPr>
          <a:xfrm>
            <a:off x="5018433" y="3586273"/>
            <a:ext cx="2641942" cy="369332"/>
          </a:xfrm>
          <a:prstGeom prst="rect">
            <a:avLst/>
          </a:prstGeom>
        </p:spPr>
        <p:txBody>
          <a:bodyPr wrap="none">
            <a:spAutoFit/>
          </a:bodyPr>
          <a:lstStyle/>
          <a:p>
            <a:r>
              <a:rPr lang="en-US" dirty="0"/>
              <a:t>(logarithm of N </a:t>
            </a:r>
            <a:r>
              <a:rPr lang="en-US" dirty="0" smtClean="0"/>
              <a:t>to </a:t>
            </a:r>
            <a:r>
              <a:rPr lang="en-US" dirty="0"/>
              <a:t>base 2)</a:t>
            </a:r>
          </a:p>
        </p:txBody>
      </p:sp>
      <p:sp>
        <p:nvSpPr>
          <p:cNvPr id="9" name="Прямоугольник 8"/>
          <p:cNvSpPr/>
          <p:nvPr/>
        </p:nvSpPr>
        <p:spPr>
          <a:xfrm>
            <a:off x="685800" y="4267585"/>
            <a:ext cx="7772400" cy="2585323"/>
          </a:xfrm>
          <a:prstGeom prst="rect">
            <a:avLst/>
          </a:prstGeom>
        </p:spPr>
        <p:txBody>
          <a:bodyPr wrap="square">
            <a:spAutoFit/>
          </a:bodyPr>
          <a:lstStyle/>
          <a:p>
            <a:pPr algn="just"/>
            <a:r>
              <a:rPr lang="en-US" b="1" dirty="0"/>
              <a:t>Example. </a:t>
            </a:r>
            <a:r>
              <a:rPr lang="en-US" dirty="0"/>
              <a:t>There are 32 balls in the lottery drawing reel. How much information does the message contain about the first number that fell out (for example, number 15 fell out)? </a:t>
            </a:r>
            <a:endParaRPr lang="en-US" dirty="0" smtClean="0"/>
          </a:p>
          <a:p>
            <a:pPr algn="just"/>
            <a:r>
              <a:rPr lang="en-US" b="1" dirty="0" smtClean="0"/>
              <a:t>Solution</a:t>
            </a:r>
            <a:r>
              <a:rPr lang="en-US" b="1" dirty="0"/>
              <a:t>: </a:t>
            </a:r>
            <a:r>
              <a:rPr lang="en-US" dirty="0"/>
              <a:t>Since pulling out any of the 32 balls is equally likely, the amount of information about one dropped number is out of the equation: </a:t>
            </a:r>
            <a:r>
              <a:rPr lang="en-US" dirty="0" smtClean="0"/>
              <a:t>                   . But               </a:t>
            </a:r>
          </a:p>
          <a:p>
            <a:pPr algn="just"/>
            <a:endParaRPr lang="en-US" dirty="0"/>
          </a:p>
          <a:p>
            <a:pPr algn="just"/>
            <a:endParaRPr lang="en-US" dirty="0" smtClean="0"/>
          </a:p>
          <a:p>
            <a:pPr algn="just"/>
            <a:r>
              <a:rPr lang="en-US" dirty="0" smtClean="0"/>
              <a:t>Therefore</a:t>
            </a:r>
            <a:r>
              <a:rPr lang="en-US" dirty="0"/>
              <a:t>, x = 5 bits. Obviously, the answer does not depend on which number exactly fell out.</a:t>
            </a:r>
          </a:p>
        </p:txBody>
      </p:sp>
      <p:pic>
        <p:nvPicPr>
          <p:cNvPr id="10" name="Рисунок 9"/>
          <p:cNvPicPr>
            <a:picLocks noChangeAspect="1"/>
          </p:cNvPicPr>
          <p:nvPr/>
        </p:nvPicPr>
        <p:blipFill>
          <a:blip r:embed="rId4"/>
          <a:stretch>
            <a:fillRect/>
          </a:stretch>
        </p:blipFill>
        <p:spPr>
          <a:xfrm>
            <a:off x="7050775" y="5421652"/>
            <a:ext cx="609600" cy="269823"/>
          </a:xfrm>
          <a:prstGeom prst="rect">
            <a:avLst/>
          </a:prstGeom>
        </p:spPr>
      </p:pic>
      <p:pic>
        <p:nvPicPr>
          <p:cNvPr id="11" name="Рисунок 10"/>
          <p:cNvPicPr>
            <a:picLocks noChangeAspect="1"/>
          </p:cNvPicPr>
          <p:nvPr/>
        </p:nvPicPr>
        <p:blipFill>
          <a:blip r:embed="rId5"/>
          <a:stretch>
            <a:fillRect/>
          </a:stretch>
        </p:blipFill>
        <p:spPr>
          <a:xfrm>
            <a:off x="762000" y="5691476"/>
            <a:ext cx="824354" cy="337850"/>
          </a:xfrm>
          <a:prstGeom prst="rect">
            <a:avLst/>
          </a:prstGeom>
        </p:spPr>
      </p:pic>
    </p:spTree>
    <p:extLst>
      <p:ext uri="{BB962C8B-B14F-4D97-AF65-F5344CB8AC3E}">
        <p14:creationId xmlns:p14="http://schemas.microsoft.com/office/powerpoint/2010/main" val="2840912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09600" y="533400"/>
            <a:ext cx="7772400" cy="3139321"/>
          </a:xfrm>
          <a:prstGeom prst="rect">
            <a:avLst/>
          </a:prstGeom>
        </p:spPr>
        <p:txBody>
          <a:bodyPr wrap="square">
            <a:spAutoFit/>
          </a:bodyPr>
          <a:lstStyle/>
          <a:p>
            <a:pPr algn="just"/>
            <a:r>
              <a:rPr lang="en-US" b="1" dirty="0"/>
              <a:t>The law of information additivity </a:t>
            </a:r>
            <a:endParaRPr lang="en-US" b="1" dirty="0" smtClean="0"/>
          </a:p>
          <a:p>
            <a:pPr algn="just"/>
            <a:r>
              <a:rPr lang="en-US" b="1" i="1" dirty="0" smtClean="0"/>
              <a:t>The </a:t>
            </a:r>
            <a:r>
              <a:rPr lang="en-US" b="1" i="1" dirty="0"/>
              <a:t>amount of information H(x1, x2) required to establish a pair (x1, x2) is equal to the sum of the amounts of information H(x1) and H(x2) required to independently establish elements x1, x2. </a:t>
            </a:r>
            <a:endParaRPr lang="en-US" b="1" i="1" dirty="0" smtClean="0"/>
          </a:p>
          <a:p>
            <a:pPr algn="just"/>
            <a:r>
              <a:rPr lang="en-US" dirty="0" smtClean="0"/>
              <a:t>H(x1</a:t>
            </a:r>
            <a:r>
              <a:rPr lang="en-US" dirty="0"/>
              <a:t>, x2) = H(x1) + H(x2) </a:t>
            </a:r>
            <a:endParaRPr lang="en-US" dirty="0" smtClean="0"/>
          </a:p>
          <a:p>
            <a:pPr algn="just"/>
            <a:r>
              <a:rPr lang="en-US" b="1" dirty="0" smtClean="0"/>
              <a:t>Example</a:t>
            </a:r>
            <a:r>
              <a:rPr lang="en-US" b="1" dirty="0"/>
              <a:t>: </a:t>
            </a:r>
            <a:r>
              <a:rPr lang="en-US" dirty="0"/>
              <a:t>Using the law of additivity and the Hartley formula, calculate how much information a reliable weather forecast carries. </a:t>
            </a:r>
            <a:endParaRPr lang="en-US" dirty="0" smtClean="0"/>
          </a:p>
          <a:p>
            <a:pPr algn="just"/>
            <a:r>
              <a:rPr lang="en-US" b="1" dirty="0" smtClean="0"/>
              <a:t>Solution</a:t>
            </a:r>
            <a:r>
              <a:rPr lang="en-US" b="1" dirty="0"/>
              <a:t>: </a:t>
            </a:r>
            <a:r>
              <a:rPr lang="en-US" dirty="0"/>
              <a:t>Let's assume that the weather forecast for the next day consists in predicting the daytime temperature (usually a choice is made from 16 possible values for a given season) and one of 4 cloud cover values (sunny, partly cloudy, cloudy, rain).</a:t>
            </a:r>
          </a:p>
        </p:txBody>
      </p:sp>
      <p:sp>
        <p:nvSpPr>
          <p:cNvPr id="5" name="Прямоугольник 4"/>
          <p:cNvSpPr/>
          <p:nvPr/>
        </p:nvSpPr>
        <p:spPr>
          <a:xfrm>
            <a:off x="838200" y="3886200"/>
            <a:ext cx="655949" cy="369332"/>
          </a:xfrm>
          <a:prstGeom prst="rect">
            <a:avLst/>
          </a:prstGeom>
        </p:spPr>
        <p:txBody>
          <a:bodyPr wrap="none">
            <a:spAutoFit/>
          </a:bodyPr>
          <a:lstStyle/>
          <a:p>
            <a:r>
              <a:rPr lang="en-US" dirty="0"/>
              <a:t>Then</a:t>
            </a:r>
          </a:p>
        </p:txBody>
      </p:sp>
      <p:pic>
        <p:nvPicPr>
          <p:cNvPr id="6" name="Рисунок 5"/>
          <p:cNvPicPr>
            <a:picLocks noChangeAspect="1"/>
          </p:cNvPicPr>
          <p:nvPr/>
        </p:nvPicPr>
        <p:blipFill>
          <a:blip r:embed="rId2"/>
          <a:stretch>
            <a:fillRect/>
          </a:stretch>
        </p:blipFill>
        <p:spPr>
          <a:xfrm>
            <a:off x="1530592" y="3886200"/>
            <a:ext cx="4448175" cy="409575"/>
          </a:xfrm>
          <a:prstGeom prst="rect">
            <a:avLst/>
          </a:prstGeom>
        </p:spPr>
      </p:pic>
      <p:sp>
        <p:nvSpPr>
          <p:cNvPr id="7" name="Прямоугольник 6"/>
          <p:cNvSpPr/>
          <p:nvPr/>
        </p:nvSpPr>
        <p:spPr>
          <a:xfrm>
            <a:off x="838200" y="4800600"/>
            <a:ext cx="3608104" cy="369332"/>
          </a:xfrm>
          <a:prstGeom prst="rect">
            <a:avLst/>
          </a:prstGeom>
        </p:spPr>
        <p:txBody>
          <a:bodyPr wrap="none">
            <a:spAutoFit/>
          </a:bodyPr>
          <a:lstStyle/>
          <a:p>
            <a:r>
              <a:rPr lang="en-US" dirty="0"/>
              <a:t>Complete the tasks </a:t>
            </a:r>
            <a:r>
              <a:rPr lang="en-US" dirty="0" smtClean="0"/>
              <a:t>(Practice 4.1 file)</a:t>
            </a:r>
            <a:endParaRPr lang="en-US" dirty="0"/>
          </a:p>
        </p:txBody>
      </p:sp>
    </p:spTree>
    <p:extLst>
      <p:ext uri="{BB962C8B-B14F-4D97-AF65-F5344CB8AC3E}">
        <p14:creationId xmlns:p14="http://schemas.microsoft.com/office/powerpoint/2010/main" val="3850102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609600" y="609600"/>
            <a:ext cx="8001000" cy="1015663"/>
          </a:xfrm>
          <a:prstGeom prst="rect">
            <a:avLst/>
          </a:prstGeom>
        </p:spPr>
        <p:txBody>
          <a:bodyPr wrap="square">
            <a:spAutoFit/>
          </a:bodyPr>
          <a:lstStyle/>
          <a:p>
            <a:r>
              <a:rPr lang="en-US" sz="2000" b="1" dirty="0"/>
              <a:t>The measure of K. Shannon</a:t>
            </a:r>
            <a:r>
              <a:rPr lang="en-US" sz="2000" b="1" dirty="0" smtClean="0"/>
              <a:t>.</a:t>
            </a:r>
          </a:p>
          <a:p>
            <a:r>
              <a:rPr lang="en-US" sz="2000" dirty="0" smtClean="0"/>
              <a:t>The </a:t>
            </a:r>
            <a:r>
              <a:rPr lang="en-US" sz="2000" dirty="0"/>
              <a:t>Shannon formula evaluates information independently, abstractly from its meaning.</a:t>
            </a:r>
          </a:p>
        </p:txBody>
      </p:sp>
      <p:sp>
        <p:nvSpPr>
          <p:cNvPr id="6" name="Прямоугольник 5"/>
          <p:cNvSpPr/>
          <p:nvPr/>
        </p:nvSpPr>
        <p:spPr>
          <a:xfrm>
            <a:off x="609600" y="1539556"/>
            <a:ext cx="7772400" cy="1631216"/>
          </a:xfrm>
          <a:prstGeom prst="rect">
            <a:avLst/>
          </a:prstGeom>
        </p:spPr>
        <p:txBody>
          <a:bodyPr wrap="square">
            <a:spAutoFit/>
          </a:bodyPr>
          <a:lstStyle/>
          <a:p>
            <a:pPr algn="just"/>
            <a:r>
              <a:rPr lang="en-US" sz="2000" dirty="0"/>
              <a:t>Consider an example: there are 50 balls in a box. Of these, 40 are white and 10 are black. Obviously, the probability that a white ball will come across when pulling out "without looking" is greater than the probability of hitting a black one. Let's denote </a:t>
            </a:r>
            <a:r>
              <a:rPr lang="en-US" sz="2000" dirty="0" err="1" smtClean="0"/>
              <a:t>r</a:t>
            </a:r>
            <a:r>
              <a:rPr lang="en-US" sz="1600" dirty="0" err="1" smtClean="0"/>
              <a:t>b</a:t>
            </a:r>
            <a:r>
              <a:rPr lang="en-US" sz="2000" dirty="0" smtClean="0"/>
              <a:t> </a:t>
            </a:r>
            <a:r>
              <a:rPr lang="en-US" sz="2000" dirty="0"/>
              <a:t>– the probability of hitting when pulling out a black ball, </a:t>
            </a:r>
            <a:r>
              <a:rPr lang="en-US" sz="2000" dirty="0" err="1" smtClean="0"/>
              <a:t>r</a:t>
            </a:r>
            <a:r>
              <a:rPr lang="en-US" sz="1600" dirty="0" err="1" smtClean="0"/>
              <a:t>w</a:t>
            </a:r>
            <a:r>
              <a:rPr lang="en-US" sz="2000" dirty="0" smtClean="0"/>
              <a:t> </a:t>
            </a:r>
            <a:r>
              <a:rPr lang="en-US" sz="2000" dirty="0"/>
              <a:t>– the probability of hitting a white ball.</a:t>
            </a:r>
          </a:p>
        </p:txBody>
      </p:sp>
      <p:sp>
        <p:nvSpPr>
          <p:cNvPr id="7" name="Прямоугольник 6"/>
          <p:cNvSpPr/>
          <p:nvPr/>
        </p:nvSpPr>
        <p:spPr>
          <a:xfrm>
            <a:off x="2057400" y="3825783"/>
            <a:ext cx="655949"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Then</a:t>
            </a:r>
          </a:p>
        </p:txBody>
      </p:sp>
      <p:pic>
        <p:nvPicPr>
          <p:cNvPr id="8" name="Рисунок 7"/>
          <p:cNvPicPr>
            <a:picLocks noChangeAspect="1"/>
          </p:cNvPicPr>
          <p:nvPr/>
        </p:nvPicPr>
        <p:blipFill>
          <a:blip r:embed="rId2"/>
          <a:stretch>
            <a:fillRect/>
          </a:stretch>
        </p:blipFill>
        <p:spPr>
          <a:xfrm>
            <a:off x="3657600" y="3831859"/>
            <a:ext cx="2895600" cy="421178"/>
          </a:xfrm>
          <a:prstGeom prst="rect">
            <a:avLst/>
          </a:prstGeom>
        </p:spPr>
      </p:pic>
      <p:sp>
        <p:nvSpPr>
          <p:cNvPr id="9" name="Прямоугольник 8"/>
          <p:cNvSpPr/>
          <p:nvPr/>
        </p:nvSpPr>
        <p:spPr>
          <a:xfrm>
            <a:off x="762000" y="4419600"/>
            <a:ext cx="8001000" cy="646331"/>
          </a:xfrm>
          <a:prstGeom prst="rect">
            <a:avLst/>
          </a:prstGeom>
        </p:spPr>
        <p:txBody>
          <a:bodyPr wrap="square">
            <a:spAutoFit/>
          </a:bodyPr>
          <a:lstStyle/>
          <a:p>
            <a:pPr algn="just"/>
            <a:r>
              <a:rPr lang="en-US" dirty="0"/>
              <a:t>From here it can be seen that the probability of hitting a white ball is 4 times greater than a black one. </a:t>
            </a:r>
          </a:p>
        </p:txBody>
      </p:sp>
    </p:spTree>
    <p:extLst>
      <p:ext uri="{BB962C8B-B14F-4D97-AF65-F5344CB8AC3E}">
        <p14:creationId xmlns:p14="http://schemas.microsoft.com/office/powerpoint/2010/main" val="2030873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33400" y="533400"/>
            <a:ext cx="7696200" cy="3970318"/>
          </a:xfrm>
          <a:prstGeom prst="rect">
            <a:avLst/>
          </a:prstGeom>
        </p:spPr>
        <p:txBody>
          <a:bodyPr wrap="square">
            <a:spAutoFit/>
          </a:bodyPr>
          <a:lstStyle/>
          <a:p>
            <a:pPr algn="just"/>
            <a:r>
              <a:rPr lang="en-US" dirty="0"/>
              <a:t>From the example, we can conclude: </a:t>
            </a:r>
            <a:endParaRPr lang="en-US" dirty="0" smtClean="0"/>
          </a:p>
          <a:p>
            <a:pPr algn="just"/>
            <a:r>
              <a:rPr lang="en-US" b="1" i="1" dirty="0" smtClean="0"/>
              <a:t>if </a:t>
            </a:r>
            <a:r>
              <a:rPr lang="en-US" b="1" i="1" dirty="0"/>
              <a:t>N is the total number of possible outcomes of a process (pulling out a ball), and the event of interest to us (pulling out a white ball) can occur K times, then the probability of this event is K/N. </a:t>
            </a:r>
            <a:endParaRPr lang="en-US" b="1" i="1" dirty="0" smtClean="0"/>
          </a:p>
          <a:p>
            <a:pPr algn="just"/>
            <a:r>
              <a:rPr lang="en-US" dirty="0" smtClean="0"/>
              <a:t>The </a:t>
            </a:r>
            <a:r>
              <a:rPr lang="en-US" dirty="0"/>
              <a:t>probability is expressed in fractions of one. In a particular case, the probability of a reliable event is 1 (a white ball is pulled out of 50 white balls); the probability of an impossible event is zero (a black ball is pulled out of 50 white balls). </a:t>
            </a:r>
            <a:endParaRPr lang="en-US" dirty="0" smtClean="0"/>
          </a:p>
          <a:p>
            <a:pPr algn="just"/>
            <a:r>
              <a:rPr lang="en-US" dirty="0" smtClean="0"/>
              <a:t>The </a:t>
            </a:r>
            <a:r>
              <a:rPr lang="en-US" dirty="0"/>
              <a:t>qualitative relationship between the probability of an event and the amount of information in a message about this event can be expressed as follows: </a:t>
            </a:r>
            <a:r>
              <a:rPr lang="en-US" b="1" i="1" dirty="0"/>
              <a:t>the less likely a certain event is, the more information the message about this event contains</a:t>
            </a:r>
            <a:r>
              <a:rPr lang="en-US" b="1" i="1" dirty="0" smtClean="0"/>
              <a:t>.</a:t>
            </a:r>
          </a:p>
          <a:p>
            <a:pPr algn="just"/>
            <a:r>
              <a:rPr lang="en-US" dirty="0" smtClean="0"/>
              <a:t> </a:t>
            </a:r>
            <a:r>
              <a:rPr lang="en-US" dirty="0"/>
              <a:t>The quantitative relationship between the probability of an event (p) and the amount of information in the message about it (</a:t>
            </a:r>
            <a:r>
              <a:rPr lang="en-US" dirty="0" err="1"/>
              <a:t>i</a:t>
            </a:r>
            <a:r>
              <a:rPr lang="en-US" dirty="0"/>
              <a:t>) is expressed by the formula:</a:t>
            </a:r>
            <a:endParaRPr lang="en-US" dirty="0"/>
          </a:p>
        </p:txBody>
      </p:sp>
      <p:pic>
        <p:nvPicPr>
          <p:cNvPr id="5" name="Рисунок 4"/>
          <p:cNvPicPr>
            <a:picLocks noChangeAspect="1"/>
          </p:cNvPicPr>
          <p:nvPr/>
        </p:nvPicPr>
        <p:blipFill>
          <a:blip r:embed="rId2"/>
          <a:stretch>
            <a:fillRect/>
          </a:stretch>
        </p:blipFill>
        <p:spPr>
          <a:xfrm>
            <a:off x="3548216" y="4503718"/>
            <a:ext cx="1666568" cy="457200"/>
          </a:xfrm>
          <a:prstGeom prst="rect">
            <a:avLst/>
          </a:prstGeom>
        </p:spPr>
      </p:pic>
    </p:spTree>
    <p:extLst>
      <p:ext uri="{BB962C8B-B14F-4D97-AF65-F5344CB8AC3E}">
        <p14:creationId xmlns:p14="http://schemas.microsoft.com/office/powerpoint/2010/main" val="3601127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09600" y="533400"/>
            <a:ext cx="7848600" cy="646331"/>
          </a:xfrm>
          <a:prstGeom prst="rect">
            <a:avLst/>
          </a:prstGeom>
        </p:spPr>
        <p:txBody>
          <a:bodyPr wrap="square">
            <a:spAutoFit/>
          </a:bodyPr>
          <a:lstStyle/>
          <a:p>
            <a:r>
              <a:rPr lang="en-US" b="1" dirty="0"/>
              <a:t>Example. </a:t>
            </a:r>
            <a:r>
              <a:rPr lang="en-US" dirty="0"/>
              <a:t>In the problem of balls, we will determine the amount of information in the message about the hit of a white ball and a black ball:</a:t>
            </a:r>
          </a:p>
        </p:txBody>
      </p:sp>
      <p:pic>
        <p:nvPicPr>
          <p:cNvPr id="7" name="Рисунок 6"/>
          <p:cNvPicPr>
            <a:picLocks noChangeAspect="1"/>
          </p:cNvPicPr>
          <p:nvPr/>
        </p:nvPicPr>
        <p:blipFill>
          <a:blip r:embed="rId2"/>
          <a:stretch>
            <a:fillRect/>
          </a:stretch>
        </p:blipFill>
        <p:spPr>
          <a:xfrm>
            <a:off x="2362200" y="1295400"/>
            <a:ext cx="4326340" cy="914400"/>
          </a:xfrm>
          <a:prstGeom prst="rect">
            <a:avLst/>
          </a:prstGeom>
        </p:spPr>
      </p:pic>
      <p:sp>
        <p:nvSpPr>
          <p:cNvPr id="8" name="Прямоугольник 7"/>
          <p:cNvSpPr/>
          <p:nvPr/>
        </p:nvSpPr>
        <p:spPr>
          <a:xfrm>
            <a:off x="914400" y="2350050"/>
            <a:ext cx="7543800" cy="646331"/>
          </a:xfrm>
          <a:prstGeom prst="rect">
            <a:avLst/>
          </a:prstGeom>
        </p:spPr>
        <p:txBody>
          <a:bodyPr wrap="square">
            <a:spAutoFit/>
          </a:bodyPr>
          <a:lstStyle/>
          <a:p>
            <a:r>
              <a:rPr lang="en-US" dirty="0"/>
              <a:t>According to </a:t>
            </a:r>
            <a:r>
              <a:rPr lang="en-US" dirty="0" smtClean="0"/>
              <a:t>Shannon </a:t>
            </a:r>
            <a:r>
              <a:rPr lang="en-US" dirty="0"/>
              <a:t>formula, the amount of information is determined by the formula:</a:t>
            </a:r>
          </a:p>
        </p:txBody>
      </p:sp>
      <p:pic>
        <p:nvPicPr>
          <p:cNvPr id="9" name="Рисунок 8"/>
          <p:cNvPicPr>
            <a:picLocks noChangeAspect="1"/>
          </p:cNvPicPr>
          <p:nvPr/>
        </p:nvPicPr>
        <p:blipFill>
          <a:blip r:embed="rId3"/>
          <a:stretch>
            <a:fillRect/>
          </a:stretch>
        </p:blipFill>
        <p:spPr>
          <a:xfrm>
            <a:off x="3124200" y="3010250"/>
            <a:ext cx="2417355" cy="739737"/>
          </a:xfrm>
          <a:prstGeom prst="rect">
            <a:avLst/>
          </a:prstGeom>
        </p:spPr>
      </p:pic>
      <p:sp>
        <p:nvSpPr>
          <p:cNvPr id="10" name="Прямоугольник 9"/>
          <p:cNvSpPr/>
          <p:nvPr/>
        </p:nvSpPr>
        <p:spPr>
          <a:xfrm>
            <a:off x="1066800" y="3705034"/>
            <a:ext cx="7391400" cy="1323439"/>
          </a:xfrm>
          <a:prstGeom prst="rect">
            <a:avLst/>
          </a:prstGeom>
        </p:spPr>
        <p:txBody>
          <a:bodyPr wrap="square">
            <a:spAutoFit/>
          </a:bodyPr>
          <a:lstStyle/>
          <a:p>
            <a:r>
              <a:rPr lang="en-US" sz="2000" dirty="0" smtClean="0"/>
              <a:t>where</a:t>
            </a:r>
          </a:p>
          <a:p>
            <a:r>
              <a:rPr lang="en-US" sz="2000" dirty="0" smtClean="0"/>
              <a:t> </a:t>
            </a:r>
            <a:r>
              <a:rPr lang="en-US" sz="2000" dirty="0"/>
              <a:t>I is the amount of information; </a:t>
            </a:r>
            <a:endParaRPr lang="en-US" sz="2000" dirty="0" smtClean="0"/>
          </a:p>
          <a:p>
            <a:r>
              <a:rPr lang="en-US" sz="2000" dirty="0" smtClean="0"/>
              <a:t>N </a:t>
            </a:r>
            <a:r>
              <a:rPr lang="en-US" sz="2000" dirty="0"/>
              <a:t>is the number of possible events; </a:t>
            </a:r>
            <a:endParaRPr lang="en-US" sz="2000" dirty="0" smtClean="0"/>
          </a:p>
          <a:p>
            <a:r>
              <a:rPr lang="en-US" sz="2000" dirty="0" smtClean="0"/>
              <a:t>p</a:t>
            </a:r>
            <a:r>
              <a:rPr lang="en-US" sz="1600" dirty="0" smtClean="0"/>
              <a:t>i</a:t>
            </a:r>
            <a:r>
              <a:rPr lang="en-US" sz="2000" dirty="0" smtClean="0"/>
              <a:t> </a:t>
            </a:r>
            <a:r>
              <a:rPr lang="en-US" sz="2000" dirty="0"/>
              <a:t>is the probability of the </a:t>
            </a:r>
            <a:r>
              <a:rPr lang="en-US" sz="2000" dirty="0" err="1"/>
              <a:t>i-th</a:t>
            </a:r>
            <a:r>
              <a:rPr lang="en-US" sz="2000" dirty="0"/>
              <a:t> event.</a:t>
            </a:r>
          </a:p>
        </p:txBody>
      </p:sp>
    </p:spTree>
    <p:extLst>
      <p:ext uri="{BB962C8B-B14F-4D97-AF65-F5344CB8AC3E}">
        <p14:creationId xmlns:p14="http://schemas.microsoft.com/office/powerpoint/2010/main" val="4106237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762000" y="685800"/>
            <a:ext cx="7620000" cy="2031325"/>
          </a:xfrm>
          <a:prstGeom prst="rect">
            <a:avLst/>
          </a:prstGeom>
        </p:spPr>
        <p:txBody>
          <a:bodyPr wrap="square">
            <a:spAutoFit/>
          </a:bodyPr>
          <a:lstStyle/>
          <a:p>
            <a:r>
              <a:rPr lang="en-US" b="1" dirty="0"/>
              <a:t>For example, </a:t>
            </a:r>
            <a:r>
              <a:rPr lang="en-US" dirty="0"/>
              <a:t>let's assume that when throwing an asymmetric four-sided pyramid, the probabilities of individual events will be equal: </a:t>
            </a:r>
            <a:endParaRPr lang="en-US" dirty="0" smtClean="0"/>
          </a:p>
          <a:p>
            <a:endParaRPr lang="en-US" dirty="0"/>
          </a:p>
          <a:p>
            <a:endParaRPr lang="en-US" dirty="0" smtClean="0"/>
          </a:p>
          <a:p>
            <a:endParaRPr lang="en-US" dirty="0"/>
          </a:p>
          <a:p>
            <a:r>
              <a:rPr lang="en-US" dirty="0" smtClean="0"/>
              <a:t>Then </a:t>
            </a:r>
            <a:r>
              <a:rPr lang="en-US" dirty="0"/>
              <a:t>the amount of information that we will receive after implementing one of them can be calculated using the formula</a:t>
            </a:r>
          </a:p>
        </p:txBody>
      </p:sp>
      <p:pic>
        <p:nvPicPr>
          <p:cNvPr id="5" name="Рисунок 4"/>
          <p:cNvPicPr>
            <a:picLocks noChangeAspect="1"/>
          </p:cNvPicPr>
          <p:nvPr/>
        </p:nvPicPr>
        <p:blipFill>
          <a:blip r:embed="rId2"/>
          <a:stretch>
            <a:fillRect/>
          </a:stretch>
        </p:blipFill>
        <p:spPr>
          <a:xfrm>
            <a:off x="3090862" y="1501437"/>
            <a:ext cx="2962275" cy="400050"/>
          </a:xfrm>
          <a:prstGeom prst="rect">
            <a:avLst/>
          </a:prstGeom>
        </p:spPr>
      </p:pic>
      <p:pic>
        <p:nvPicPr>
          <p:cNvPr id="6" name="Рисунок 5"/>
          <p:cNvPicPr>
            <a:picLocks noChangeAspect="1"/>
          </p:cNvPicPr>
          <p:nvPr/>
        </p:nvPicPr>
        <p:blipFill>
          <a:blip r:embed="rId3"/>
          <a:stretch>
            <a:fillRect/>
          </a:stretch>
        </p:blipFill>
        <p:spPr>
          <a:xfrm>
            <a:off x="2057400" y="2895600"/>
            <a:ext cx="5048250" cy="766609"/>
          </a:xfrm>
          <a:prstGeom prst="rect">
            <a:avLst/>
          </a:prstGeom>
        </p:spPr>
      </p:pic>
      <p:sp>
        <p:nvSpPr>
          <p:cNvPr id="7" name="Прямоугольник 6"/>
          <p:cNvSpPr/>
          <p:nvPr/>
        </p:nvSpPr>
        <p:spPr>
          <a:xfrm>
            <a:off x="914400" y="3615558"/>
            <a:ext cx="7467600" cy="1477328"/>
          </a:xfrm>
          <a:prstGeom prst="rect">
            <a:avLst/>
          </a:prstGeom>
        </p:spPr>
        <p:txBody>
          <a:bodyPr wrap="square">
            <a:spAutoFit/>
          </a:bodyPr>
          <a:lstStyle/>
          <a:p>
            <a:pPr algn="just"/>
            <a:r>
              <a:rPr lang="en-US" dirty="0"/>
              <a:t>This approach to determining the amount of information is called </a:t>
            </a:r>
            <a:r>
              <a:rPr lang="en-US" b="1" dirty="0"/>
              <a:t>probabilistic. </a:t>
            </a:r>
            <a:endParaRPr lang="en-US" b="1" dirty="0" smtClean="0"/>
          </a:p>
          <a:p>
            <a:pPr algn="just"/>
            <a:r>
              <a:rPr lang="en-US" dirty="0" smtClean="0"/>
              <a:t>For </a:t>
            </a:r>
            <a:r>
              <a:rPr lang="en-US" dirty="0"/>
              <a:t>a particular, but widespread and considered above case, when events are equally probable (pi – 1/N), the amount of information </a:t>
            </a:r>
            <a:r>
              <a:rPr lang="en-US" b="1" dirty="0"/>
              <a:t>I</a:t>
            </a:r>
            <a:r>
              <a:rPr lang="en-US" dirty="0"/>
              <a:t> can be calculated using the formula:</a:t>
            </a:r>
          </a:p>
        </p:txBody>
      </p:sp>
      <p:pic>
        <p:nvPicPr>
          <p:cNvPr id="8" name="Рисунок 7"/>
          <p:cNvPicPr>
            <a:picLocks noChangeAspect="1"/>
          </p:cNvPicPr>
          <p:nvPr/>
        </p:nvPicPr>
        <p:blipFill>
          <a:blip r:embed="rId4"/>
          <a:stretch>
            <a:fillRect/>
          </a:stretch>
        </p:blipFill>
        <p:spPr>
          <a:xfrm>
            <a:off x="3030336" y="4846375"/>
            <a:ext cx="3396573" cy="751913"/>
          </a:xfrm>
          <a:prstGeom prst="rect">
            <a:avLst/>
          </a:prstGeom>
        </p:spPr>
      </p:pic>
      <p:sp>
        <p:nvSpPr>
          <p:cNvPr id="9" name="Прямоугольник 8"/>
          <p:cNvSpPr/>
          <p:nvPr/>
        </p:nvSpPr>
        <p:spPr>
          <a:xfrm>
            <a:off x="907026" y="5598288"/>
            <a:ext cx="7611551" cy="923330"/>
          </a:xfrm>
          <a:prstGeom prst="rect">
            <a:avLst/>
          </a:prstGeom>
        </p:spPr>
        <p:txBody>
          <a:bodyPr wrap="square">
            <a:spAutoFit/>
          </a:bodyPr>
          <a:lstStyle/>
          <a:p>
            <a:r>
              <a:rPr lang="en-US" dirty="0"/>
              <a:t>The formula can be used to determine, for example, the amount of information that we will receive when throwing a symmetrical and homogeneous four-sided pyramid:</a:t>
            </a:r>
          </a:p>
        </p:txBody>
      </p:sp>
      <p:pic>
        <p:nvPicPr>
          <p:cNvPr id="10" name="Рисунок 9"/>
          <p:cNvPicPr>
            <a:picLocks noChangeAspect="1"/>
          </p:cNvPicPr>
          <p:nvPr/>
        </p:nvPicPr>
        <p:blipFill>
          <a:blip r:embed="rId5"/>
          <a:stretch>
            <a:fillRect/>
          </a:stretch>
        </p:blipFill>
        <p:spPr>
          <a:xfrm>
            <a:off x="3898413" y="6206328"/>
            <a:ext cx="2154724" cy="541831"/>
          </a:xfrm>
          <a:prstGeom prst="rect">
            <a:avLst/>
          </a:prstGeom>
        </p:spPr>
      </p:pic>
    </p:spTree>
    <p:extLst>
      <p:ext uri="{BB962C8B-B14F-4D97-AF65-F5344CB8AC3E}">
        <p14:creationId xmlns:p14="http://schemas.microsoft.com/office/powerpoint/2010/main" val="1274458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38200" y="1447800"/>
            <a:ext cx="7620000" cy="2585323"/>
          </a:xfrm>
          <a:prstGeom prst="rect">
            <a:avLst/>
          </a:prstGeom>
        </p:spPr>
        <p:txBody>
          <a:bodyPr wrap="square">
            <a:spAutoFit/>
          </a:bodyPr>
          <a:lstStyle/>
          <a:p>
            <a:pPr algn="just"/>
            <a:r>
              <a:rPr lang="en-US" dirty="0"/>
              <a:t>Thus, when throwing a symmetrical pyramid, when events are equally likely, we will receive more information (2 bits) than when throwing an asymmetric one (1.75 bits), when events are not equally likely. </a:t>
            </a:r>
            <a:endParaRPr lang="en-US" dirty="0" smtClean="0"/>
          </a:p>
          <a:p>
            <a:pPr algn="just"/>
            <a:r>
              <a:rPr lang="en-US" dirty="0" smtClean="0"/>
              <a:t>The </a:t>
            </a:r>
            <a:r>
              <a:rPr lang="en-US" dirty="0"/>
              <a:t>amount of information we receive reaches its maximum value if the events are equally likely. </a:t>
            </a:r>
            <a:endParaRPr lang="en-US" dirty="0" smtClean="0"/>
          </a:p>
          <a:p>
            <a:pPr algn="just"/>
            <a:endParaRPr lang="en-US" dirty="0" smtClean="0"/>
          </a:p>
          <a:p>
            <a:pPr algn="just"/>
            <a:r>
              <a:rPr lang="en-US" dirty="0" smtClean="0"/>
              <a:t>Thus</a:t>
            </a:r>
            <a:r>
              <a:rPr lang="en-US" dirty="0"/>
              <a:t>, K. Shannon proved the theorem on the uniqueness of the measure of the amount of information. For the case of a uniform probability density distribution law, the Shannon measure coincides with the Hartley measure.</a:t>
            </a:r>
          </a:p>
        </p:txBody>
      </p:sp>
      <p:sp>
        <p:nvSpPr>
          <p:cNvPr id="5" name="Прямоугольник 4"/>
          <p:cNvSpPr/>
          <p:nvPr/>
        </p:nvSpPr>
        <p:spPr>
          <a:xfrm>
            <a:off x="1040096" y="4572000"/>
            <a:ext cx="3608104" cy="369332"/>
          </a:xfrm>
          <a:prstGeom prst="rect">
            <a:avLst/>
          </a:prstGeom>
        </p:spPr>
        <p:txBody>
          <a:bodyPr wrap="none">
            <a:spAutoFit/>
          </a:bodyPr>
          <a:lstStyle/>
          <a:p>
            <a:r>
              <a:rPr lang="en-US" dirty="0"/>
              <a:t>Complete the tasks (Practice </a:t>
            </a:r>
            <a:r>
              <a:rPr lang="en-US" dirty="0" smtClean="0"/>
              <a:t>4.2 </a:t>
            </a:r>
            <a:r>
              <a:rPr lang="en-US" dirty="0"/>
              <a:t>file)</a:t>
            </a:r>
            <a:endParaRPr lang="en-US" dirty="0"/>
          </a:p>
        </p:txBody>
      </p:sp>
    </p:spTree>
    <p:extLst>
      <p:ext uri="{BB962C8B-B14F-4D97-AF65-F5344CB8AC3E}">
        <p14:creationId xmlns:p14="http://schemas.microsoft.com/office/powerpoint/2010/main" val="1101650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38200" y="990600"/>
            <a:ext cx="7543800" cy="923330"/>
          </a:xfrm>
          <a:prstGeom prst="rect">
            <a:avLst/>
          </a:prstGeom>
        </p:spPr>
        <p:txBody>
          <a:bodyPr wrap="square">
            <a:spAutoFit/>
          </a:bodyPr>
          <a:lstStyle/>
          <a:p>
            <a:pPr algn="just"/>
            <a:r>
              <a:rPr lang="en-US" dirty="0" smtClean="0"/>
              <a:t>System </a:t>
            </a:r>
            <a:r>
              <a:rPr lang="en-US" dirty="0"/>
              <a:t>theory is a set of principles (or a theoretical framework) that apply to various types of systems. The general principles are used to understand the behavior of the system, or to solve problems that relate to a system.</a:t>
            </a:r>
            <a:endParaRPr lang="ru-RU" dirty="0"/>
          </a:p>
        </p:txBody>
      </p:sp>
      <p:sp>
        <p:nvSpPr>
          <p:cNvPr id="5" name="Прямоугольник 4"/>
          <p:cNvSpPr/>
          <p:nvPr/>
        </p:nvSpPr>
        <p:spPr>
          <a:xfrm>
            <a:off x="2590800" y="457200"/>
            <a:ext cx="3495509" cy="369332"/>
          </a:xfrm>
          <a:prstGeom prst="rect">
            <a:avLst/>
          </a:prstGeom>
        </p:spPr>
        <p:txBody>
          <a:bodyPr wrap="none">
            <a:spAutoFit/>
          </a:bodyPr>
          <a:lstStyle/>
          <a:p>
            <a:r>
              <a:rPr lang="en-US" b="1" dirty="0">
                <a:latin typeface="Times New Roman" pitchFamily="18" charset="0"/>
                <a:cs typeface="Times New Roman" pitchFamily="18" charset="0"/>
              </a:rPr>
              <a:t>Problems of the theory of systems</a:t>
            </a:r>
            <a:endParaRPr lang="ru-RU" dirty="0"/>
          </a:p>
        </p:txBody>
      </p:sp>
      <p:sp>
        <p:nvSpPr>
          <p:cNvPr id="6" name="Прямоугольник 5"/>
          <p:cNvSpPr/>
          <p:nvPr/>
        </p:nvSpPr>
        <p:spPr>
          <a:xfrm>
            <a:off x="952500" y="2514600"/>
            <a:ext cx="7315200" cy="2862322"/>
          </a:xfrm>
          <a:prstGeom prst="rect">
            <a:avLst/>
          </a:prstGeom>
        </p:spPr>
        <p:txBody>
          <a:bodyPr wrap="square">
            <a:spAutoFit/>
          </a:bodyPr>
          <a:lstStyle/>
          <a:p>
            <a:pPr algn="just"/>
            <a:r>
              <a:rPr lang="en-US" dirty="0"/>
              <a:t>The set of principles used in systems theory come from many </a:t>
            </a:r>
            <a:r>
              <a:rPr lang="en-US" i="1" dirty="0"/>
              <a:t>disciplines</a:t>
            </a:r>
            <a:r>
              <a:rPr lang="en-US" dirty="0" smtClean="0"/>
              <a:t>.</a:t>
            </a:r>
          </a:p>
          <a:p>
            <a:pPr algn="just"/>
            <a:endParaRPr lang="en-US" dirty="0" smtClean="0"/>
          </a:p>
          <a:p>
            <a:pPr algn="just"/>
            <a:r>
              <a:rPr lang="en-US" b="1" dirty="0" smtClean="0"/>
              <a:t>For example: </a:t>
            </a:r>
            <a:r>
              <a:rPr lang="en-US" dirty="0"/>
              <a:t>the set of principles of physics and chemistry, including the formulas, can be used to evaluate, and solve problems that occur in many types of systems, such as plants, animals, and agricultural and ecological systems. </a:t>
            </a:r>
            <a:endParaRPr lang="en-US" dirty="0" smtClean="0"/>
          </a:p>
          <a:p>
            <a:pPr algn="just"/>
            <a:r>
              <a:rPr lang="en-US" dirty="0" smtClean="0"/>
              <a:t>However</a:t>
            </a:r>
            <a:r>
              <a:rPr lang="en-US" dirty="0"/>
              <a:t>, the principles and formulas of physics and chemistry cannot be used for social systems, but there are other principles that can be used. For example, input, output, feedback, correction, and control would apply to social systems, as well as the biology of plants and animals.</a:t>
            </a:r>
            <a:endParaRPr lang="ru-RU" dirty="0"/>
          </a:p>
        </p:txBody>
      </p:sp>
    </p:spTree>
    <p:extLst>
      <p:ext uri="{BB962C8B-B14F-4D97-AF65-F5344CB8AC3E}">
        <p14:creationId xmlns:p14="http://schemas.microsoft.com/office/powerpoint/2010/main" val="820749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90800" y="457200"/>
            <a:ext cx="4416978" cy="400110"/>
          </a:xfrm>
          <a:prstGeom prst="rect">
            <a:avLst/>
          </a:prstGeom>
        </p:spPr>
        <p:txBody>
          <a:bodyPr wrap="none">
            <a:spAutoFit/>
          </a:bodyPr>
          <a:lstStyle/>
          <a:p>
            <a:r>
              <a:rPr lang="en-US" sz="2000" b="1" dirty="0">
                <a:latin typeface="Times New Roman" panose="02020603050405020304" pitchFamily="18" charset="0"/>
                <a:cs typeface="Times New Roman" panose="02020603050405020304" pitchFamily="18" charset="0"/>
              </a:rPr>
              <a:t>General Problems with System Theory</a:t>
            </a:r>
            <a:endParaRPr lang="ru-RU" sz="2000" b="1"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228600" y="1524000"/>
            <a:ext cx="8305800" cy="3693319"/>
          </a:xfrm>
          <a:prstGeom prst="rect">
            <a:avLst/>
          </a:prstGeom>
        </p:spPr>
        <p:txBody>
          <a:bodyPr wrap="square">
            <a:spAutoFit/>
          </a:bodyPr>
          <a:lstStyle/>
          <a:p>
            <a:pPr algn="just"/>
            <a:r>
              <a:rPr lang="en-US" b="1" dirty="0">
                <a:latin typeface="Times New Roman" panose="02020603050405020304" pitchFamily="18" charset="0"/>
                <a:cs typeface="Times New Roman" panose="02020603050405020304" pitchFamily="18" charset="0"/>
              </a:rPr>
              <a:t>1. Definition and Boundaries:</a:t>
            </a: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Problem:</a:t>
            </a:r>
            <a:r>
              <a:rPr lang="en-US" dirty="0">
                <a:latin typeface="Times New Roman" panose="02020603050405020304" pitchFamily="18" charset="0"/>
                <a:cs typeface="Times New Roman" panose="02020603050405020304" pitchFamily="18" charset="0"/>
              </a:rPr>
              <a:t> Difficulty in defining clear boundaries for systems.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Implications:</a:t>
            </a:r>
            <a:r>
              <a:rPr lang="en-US" dirty="0">
                <a:latin typeface="Times New Roman" panose="02020603050405020304" pitchFamily="18" charset="0"/>
                <a:cs typeface="Times New Roman" panose="02020603050405020304" pitchFamily="18" charset="0"/>
              </a:rPr>
              <a:t> Overlapping systems and subsystems can lead to ambiguity and complexity.</a:t>
            </a:r>
          </a:p>
          <a:p>
            <a:pPr algn="just"/>
            <a:r>
              <a:rPr lang="en-US" b="1" dirty="0" smtClean="0">
                <a:latin typeface="Times New Roman" panose="02020603050405020304" pitchFamily="18" charset="0"/>
                <a:cs typeface="Times New Roman" panose="02020603050405020304" pitchFamily="18" charset="0"/>
              </a:rPr>
              <a:t>2</a:t>
            </a:r>
            <a:r>
              <a:rPr lang="en-US" b="1" dirty="0">
                <a:latin typeface="Times New Roman" panose="02020603050405020304" pitchFamily="18" charset="0"/>
                <a:cs typeface="Times New Roman" panose="02020603050405020304" pitchFamily="18" charset="0"/>
              </a:rPr>
              <a:t>. Complexity and Emergence:</a:t>
            </a: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Problem:</a:t>
            </a:r>
            <a:r>
              <a:rPr lang="en-US" dirty="0">
                <a:latin typeface="Times New Roman" panose="02020603050405020304" pitchFamily="18" charset="0"/>
                <a:cs typeface="Times New Roman" panose="02020603050405020304" pitchFamily="18" charset="0"/>
              </a:rPr>
              <a:t> Managing and understanding complex systems with emergent properties.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Implications:</a:t>
            </a:r>
            <a:r>
              <a:rPr lang="en-US" dirty="0">
                <a:latin typeface="Times New Roman" panose="02020603050405020304" pitchFamily="18" charset="0"/>
                <a:cs typeface="Times New Roman" panose="02020603050405020304" pitchFamily="18" charset="0"/>
              </a:rPr>
              <a:t> Emergent properties cannot be predicted from the properties of individual components.</a:t>
            </a:r>
          </a:p>
          <a:p>
            <a:pPr algn="just"/>
            <a:r>
              <a:rPr lang="en-US" b="1" dirty="0" smtClean="0">
                <a:latin typeface="Times New Roman" panose="02020603050405020304" pitchFamily="18" charset="0"/>
                <a:cs typeface="Times New Roman" panose="02020603050405020304" pitchFamily="18" charset="0"/>
              </a:rPr>
              <a:t>3</a:t>
            </a:r>
            <a:r>
              <a:rPr lang="en-US" b="1" dirty="0">
                <a:latin typeface="Times New Roman" panose="02020603050405020304" pitchFamily="18" charset="0"/>
                <a:cs typeface="Times New Roman" panose="02020603050405020304" pitchFamily="18" charset="0"/>
              </a:rPr>
              <a:t>. Reductionism vs. Holism:</a:t>
            </a: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Problem:</a:t>
            </a:r>
            <a:r>
              <a:rPr lang="en-US" dirty="0">
                <a:latin typeface="Times New Roman" panose="02020603050405020304" pitchFamily="18" charset="0"/>
                <a:cs typeface="Times New Roman" panose="02020603050405020304" pitchFamily="18" charset="0"/>
              </a:rPr>
              <a:t> Balancing reductionist approaches (analyzing components) with holistic perspectives (understanding the system as a whole).</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Implications:</a:t>
            </a:r>
            <a:r>
              <a:rPr lang="en-US" dirty="0">
                <a:latin typeface="Times New Roman" panose="02020603050405020304" pitchFamily="18" charset="0"/>
                <a:cs typeface="Times New Roman" panose="02020603050405020304" pitchFamily="18" charset="0"/>
              </a:rPr>
              <a:t> Reductionism may overlook interactions and emergent properties, while holism may lack detailed understanding of components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5367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85800" y="1066800"/>
            <a:ext cx="7772400" cy="4524315"/>
          </a:xfrm>
          <a:prstGeom prst="rect">
            <a:avLst/>
          </a:prstGeom>
        </p:spPr>
        <p:txBody>
          <a:bodyPr wrap="square">
            <a:spAutoFit/>
          </a:bodyPr>
          <a:lstStyle/>
          <a:p>
            <a:pPr algn="just"/>
            <a:r>
              <a:rPr lang="en-US" b="1" dirty="0">
                <a:latin typeface="Times New Roman" panose="02020603050405020304" pitchFamily="18" charset="0"/>
                <a:cs typeface="Times New Roman" panose="02020603050405020304" pitchFamily="18" charset="0"/>
              </a:rPr>
              <a:t>4. Modeling and Representation:</a:t>
            </a: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Problem:</a:t>
            </a:r>
            <a:r>
              <a:rPr lang="en-US" dirty="0">
                <a:latin typeface="Times New Roman" panose="02020603050405020304" pitchFamily="18" charset="0"/>
                <a:cs typeface="Times New Roman" panose="02020603050405020304" pitchFamily="18" charset="0"/>
              </a:rPr>
              <a:t> Limitations in accurately modeling and representing real-world systems.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Implications:</a:t>
            </a:r>
            <a:r>
              <a:rPr lang="en-US" dirty="0">
                <a:latin typeface="Times New Roman" panose="02020603050405020304" pitchFamily="18" charset="0"/>
                <a:cs typeface="Times New Roman" panose="02020603050405020304" pitchFamily="18" charset="0"/>
              </a:rPr>
              <a:t> Models may oversimplify or fail to capture critical dynamics.</a:t>
            </a:r>
          </a:p>
          <a:p>
            <a:pPr algn="just"/>
            <a:r>
              <a:rPr lang="en-US" b="1" dirty="0">
                <a:latin typeface="Times New Roman" panose="02020603050405020304" pitchFamily="18" charset="0"/>
                <a:cs typeface="Times New Roman" panose="02020603050405020304" pitchFamily="18" charset="0"/>
              </a:rPr>
              <a:t>5. Dynamic Changes and Adaptability:</a:t>
            </a: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Problem:</a:t>
            </a:r>
            <a:r>
              <a:rPr lang="en-US" dirty="0">
                <a:latin typeface="Times New Roman" panose="02020603050405020304" pitchFamily="18" charset="0"/>
                <a:cs typeface="Times New Roman" panose="02020603050405020304" pitchFamily="18" charset="0"/>
              </a:rPr>
              <a:t> Difficulty in accounting for dynamic changes and adaptability within systems.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Implications:</a:t>
            </a:r>
            <a:r>
              <a:rPr lang="en-US" dirty="0">
                <a:latin typeface="Times New Roman" panose="02020603050405020304" pitchFamily="18" charset="0"/>
                <a:cs typeface="Times New Roman" panose="02020603050405020304" pitchFamily="18" charset="0"/>
              </a:rPr>
              <a:t> Systems evolve over time, making static models and analyses less effective.</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Organizational systems must adapt to changing market conditions, which static models may not address.</a:t>
            </a:r>
          </a:p>
          <a:p>
            <a:pPr algn="just"/>
            <a:r>
              <a:rPr lang="en-US" b="1" dirty="0">
                <a:latin typeface="Times New Roman" panose="02020603050405020304" pitchFamily="18" charset="0"/>
                <a:cs typeface="Times New Roman" panose="02020603050405020304" pitchFamily="18" charset="0"/>
              </a:rPr>
              <a:t>6. Interdisciplinary Integration:</a:t>
            </a: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Problem:</a:t>
            </a:r>
            <a:r>
              <a:rPr lang="en-US" dirty="0">
                <a:latin typeface="Times New Roman" panose="02020603050405020304" pitchFamily="18" charset="0"/>
                <a:cs typeface="Times New Roman" panose="02020603050405020304" pitchFamily="18" charset="0"/>
              </a:rPr>
              <a:t> Integrating insights from various disciplines to understand complex systems.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Implications:</a:t>
            </a:r>
            <a:r>
              <a:rPr lang="en-US" dirty="0">
                <a:latin typeface="Times New Roman" panose="02020603050405020304" pitchFamily="18" charset="0"/>
                <a:cs typeface="Times New Roman" panose="02020603050405020304" pitchFamily="18" charset="0"/>
              </a:rPr>
              <a:t> Different fields may use different methodologies and terminologies, complicating integration.</a:t>
            </a:r>
          </a:p>
        </p:txBody>
      </p:sp>
    </p:spTree>
    <p:extLst>
      <p:ext uri="{BB962C8B-B14F-4D97-AF65-F5344CB8AC3E}">
        <p14:creationId xmlns:p14="http://schemas.microsoft.com/office/powerpoint/2010/main" val="2487959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819400" y="381000"/>
            <a:ext cx="3460434" cy="461665"/>
          </a:xfrm>
          <a:prstGeom prst="rect">
            <a:avLst/>
          </a:prstGeom>
        </p:spPr>
        <p:txBody>
          <a:bodyPr wrap="none">
            <a:spAutoFit/>
          </a:bodyPr>
          <a:lstStyle/>
          <a:p>
            <a:r>
              <a:rPr lang="en-US" sz="2400" b="1" dirty="0">
                <a:latin typeface="Times New Roman" pitchFamily="18" charset="0"/>
                <a:cs typeface="Times New Roman" pitchFamily="18" charset="0"/>
              </a:rPr>
              <a:t>The cybernetic approach</a:t>
            </a:r>
            <a:endParaRPr lang="ru-RU" sz="2400" dirty="0"/>
          </a:p>
        </p:txBody>
      </p:sp>
      <p:sp>
        <p:nvSpPr>
          <p:cNvPr id="2" name="Rectangle 1"/>
          <p:cNvSpPr>
            <a:spLocks noChangeArrowheads="1"/>
          </p:cNvSpPr>
          <p:nvPr/>
        </p:nvSpPr>
        <p:spPr bwMode="auto">
          <a:xfrm>
            <a:off x="609600" y="1044595"/>
            <a:ext cx="76200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Definition of Cybernetics: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study of control, communication, and observation in complex systems, especially in living organisms and machines.</a:t>
            </a:r>
          </a:p>
          <a:p>
            <a:pPr lvl="0" algn="just" eaLnBrk="0" fontAlgn="base" hangingPunct="0">
              <a:spcBef>
                <a:spcPct val="0"/>
              </a:spcBef>
              <a:spcAft>
                <a:spcPct val="0"/>
              </a:spcAft>
            </a:pPr>
            <a:r>
              <a:rPr lang="en-US" b="1" dirty="0"/>
              <a:t>Cybernetics</a:t>
            </a:r>
            <a:r>
              <a:rPr lang="en-US" dirty="0"/>
              <a:t> </a:t>
            </a:r>
            <a:r>
              <a:rPr lang="en-US" sz="2000" dirty="0">
                <a:latin typeface="Times New Roman" panose="02020603050405020304" pitchFamily="18" charset="0"/>
                <a:cs typeface="Times New Roman" panose="02020603050405020304" pitchFamily="18" charset="0"/>
              </a:rPr>
              <a:t>is the transdisciplinary study of circular processes such as </a:t>
            </a:r>
            <a:r>
              <a:rPr lang="en-US" sz="2000" dirty="0">
                <a:latin typeface="Times New Roman" panose="02020603050405020304" pitchFamily="18" charset="0"/>
                <a:cs typeface="Times New Roman" panose="02020603050405020304" pitchFamily="18" charset="0"/>
                <a:hlinkClick r:id="rId2" tooltip="Feedback"/>
              </a:rPr>
              <a:t>feedback</a:t>
            </a:r>
            <a:r>
              <a:rPr lang="en-US" sz="2000" dirty="0">
                <a:latin typeface="Times New Roman" panose="02020603050405020304" pitchFamily="18" charset="0"/>
                <a:cs typeface="Times New Roman" panose="02020603050405020304" pitchFamily="18" charset="0"/>
              </a:rPr>
              <a:t> systems where outputs are also inputs. It is concerned with general principles that are relevant across multiple contexts,[1] including in ecological, technological, </a:t>
            </a:r>
            <a:r>
              <a:rPr lang="en-US" sz="2000" dirty="0">
                <a:latin typeface="Times New Roman" panose="02020603050405020304" pitchFamily="18" charset="0"/>
                <a:cs typeface="Times New Roman" panose="02020603050405020304" pitchFamily="18" charset="0"/>
                <a:hlinkClick r:id="rId3" tooltip="Biological cybernetics"/>
              </a:rPr>
              <a:t>biological</a:t>
            </a:r>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hlinkClick r:id="rId4" tooltip="Cognitive science"/>
              </a:rPr>
              <a:t>cognitive</a:t>
            </a:r>
            <a:r>
              <a:rPr lang="en-US" sz="2000" dirty="0">
                <a:latin typeface="Times New Roman" panose="02020603050405020304" pitchFamily="18" charset="0"/>
                <a:cs typeface="Times New Roman" panose="02020603050405020304" pitchFamily="18" charset="0"/>
              </a:rPr>
              <a:t> and </a:t>
            </a:r>
            <a:r>
              <a:rPr lang="en-US" sz="2000" dirty="0">
                <a:latin typeface="Times New Roman" panose="02020603050405020304" pitchFamily="18" charset="0"/>
                <a:cs typeface="Times New Roman" panose="02020603050405020304" pitchFamily="18" charset="0"/>
                <a:hlinkClick r:id="rId5" tooltip="Social systems"/>
              </a:rPr>
              <a:t>social systems</a:t>
            </a:r>
            <a:r>
              <a:rPr lang="en-US" sz="2000" dirty="0">
                <a:latin typeface="Times New Roman" panose="02020603050405020304" pitchFamily="18" charset="0"/>
                <a:cs typeface="Times New Roman" panose="02020603050405020304" pitchFamily="18" charset="0"/>
              </a:rPr>
              <a:t> and also in practical activities such as designing, learning, and </a:t>
            </a:r>
            <a:r>
              <a:rPr lang="en-US" sz="2000" dirty="0">
                <a:latin typeface="Times New Roman" panose="02020603050405020304" pitchFamily="18" charset="0"/>
                <a:cs typeface="Times New Roman" panose="02020603050405020304" pitchFamily="18" charset="0"/>
                <a:hlinkClick r:id="rId6" tooltip="Management cybernetics"/>
              </a:rPr>
              <a:t>managing</a:t>
            </a:r>
            <a:r>
              <a:rPr lang="en-US" sz="2000" dirty="0" smtClean="0">
                <a:latin typeface="Times New Roman" panose="02020603050405020304" pitchFamily="18" charset="0"/>
                <a:cs typeface="Times New Roman" panose="02020603050405020304" pitchFamily="18" charset="0"/>
              </a:rPr>
              <a:t>.</a:t>
            </a:r>
          </a:p>
          <a:p>
            <a:pPr lvl="0" algn="just"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Relevance to Information Systems: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How cybernetic principles can be applied to understand and design complex information systems. </a:t>
            </a:r>
          </a:p>
        </p:txBody>
      </p:sp>
      <p:sp>
        <p:nvSpPr>
          <p:cNvPr id="3" name="Прямоугольник 2"/>
          <p:cNvSpPr/>
          <p:nvPr/>
        </p:nvSpPr>
        <p:spPr>
          <a:xfrm>
            <a:off x="609600" y="4724400"/>
            <a:ext cx="7696200" cy="1631216"/>
          </a:xfrm>
          <a:prstGeom prst="rect">
            <a:avLst/>
          </a:prstGeom>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Cybernetic Models of Information Systems</a:t>
            </a:r>
            <a:endParaRPr 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General Systems Theory:</a:t>
            </a:r>
            <a:r>
              <a:rPr lang="en-US" sz="2000" dirty="0">
                <a:latin typeface="Times New Roman" panose="02020603050405020304" pitchFamily="18" charset="0"/>
                <a:cs typeface="Times New Roman" panose="02020603050405020304" pitchFamily="18" charset="0"/>
              </a:rPr>
              <a:t> A framework for understanding complex systems, including information systems.</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Control Theory:</a:t>
            </a:r>
            <a:r>
              <a:rPr lang="en-US" sz="2000" dirty="0">
                <a:latin typeface="Times New Roman" panose="02020603050405020304" pitchFamily="18" charset="0"/>
                <a:cs typeface="Times New Roman" panose="02020603050405020304" pitchFamily="18" charset="0"/>
              </a:rPr>
              <a:t> The study of how systems are controlled.</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Information Theory:</a:t>
            </a:r>
            <a:r>
              <a:rPr lang="en-US" sz="2000" dirty="0">
                <a:latin typeface="Times New Roman" panose="02020603050405020304" pitchFamily="18" charset="0"/>
                <a:cs typeface="Times New Roman" panose="02020603050405020304" pitchFamily="18" charset="0"/>
              </a:rPr>
              <a:t> The study of the quantification of information.</a:t>
            </a:r>
          </a:p>
        </p:txBody>
      </p:sp>
    </p:spTree>
    <p:extLst>
      <p:ext uri="{BB962C8B-B14F-4D97-AF65-F5344CB8AC3E}">
        <p14:creationId xmlns:p14="http://schemas.microsoft.com/office/powerpoint/2010/main" val="1258413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rotWithShape="1">
          <a:blip r:embed="rId2"/>
          <a:srcRect l="60417" t="33333" r="5416" b="34074"/>
          <a:stretch/>
        </p:blipFill>
        <p:spPr>
          <a:xfrm>
            <a:off x="304800" y="1066800"/>
            <a:ext cx="8520545" cy="4572000"/>
          </a:xfrm>
          <a:prstGeom prst="rect">
            <a:avLst/>
          </a:prstGeom>
        </p:spPr>
      </p:pic>
    </p:spTree>
    <p:extLst>
      <p:ext uri="{BB962C8B-B14F-4D97-AF65-F5344CB8AC3E}">
        <p14:creationId xmlns:p14="http://schemas.microsoft.com/office/powerpoint/2010/main" val="4169074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758228" y="1143000"/>
            <a:ext cx="7391400" cy="1846659"/>
          </a:xfrm>
          <a:prstGeom prst="rect">
            <a:avLst/>
          </a:prstGeom>
        </p:spPr>
        <p:txBody>
          <a:bodyPr wrap="square">
            <a:spAutoFit/>
          </a:bodyPr>
          <a:lstStyle/>
          <a:p>
            <a:pPr algn="just"/>
            <a:r>
              <a:rPr lang="en-US" sz="1600" dirty="0">
                <a:latin typeface="Times New Roman" panose="02020603050405020304" pitchFamily="18" charset="0"/>
                <a:cs typeface="Times New Roman" panose="02020603050405020304" pitchFamily="18" charset="0"/>
              </a:rPr>
              <a:t>A dynamic information system is a system that can adapt and evolve over time in response to changes in its environment or internal state. Unlike static systems that remain fixed, dynamic systems are characterized by</a:t>
            </a:r>
            <a:r>
              <a:rPr lang="en-US" sz="1600" dirty="0" smtClean="0">
                <a:latin typeface="Times New Roman" panose="02020603050405020304" pitchFamily="18" charset="0"/>
                <a:cs typeface="Times New Roman" panose="02020603050405020304" pitchFamily="18" charset="0"/>
              </a:rPr>
              <a:t>:</a:t>
            </a:r>
          </a:p>
          <a:p>
            <a:pPr algn="just"/>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Flexibility:</a:t>
            </a:r>
            <a:r>
              <a:rPr lang="en-US" sz="1600" dirty="0">
                <a:latin typeface="Times New Roman" panose="02020603050405020304" pitchFamily="18" charset="0"/>
                <a:cs typeface="Times New Roman" panose="02020603050405020304" pitchFamily="18" charset="0"/>
              </a:rPr>
              <a:t> The ability to adjust to new circumstances or requirements.</a:t>
            </a:r>
          </a:p>
          <a:p>
            <a:pPr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Adaptability:</a:t>
            </a:r>
            <a:r>
              <a:rPr lang="en-US" sz="1600" dirty="0">
                <a:latin typeface="Times New Roman" panose="02020603050405020304" pitchFamily="18" charset="0"/>
                <a:cs typeface="Times New Roman" panose="02020603050405020304" pitchFamily="18" charset="0"/>
              </a:rPr>
              <a:t> The capacity to learn from experience and modify behavior accordingly.</a:t>
            </a:r>
          </a:p>
          <a:p>
            <a:pPr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Autonomy:</a:t>
            </a:r>
            <a:r>
              <a:rPr lang="en-US" sz="1600" dirty="0">
                <a:latin typeface="Times New Roman" panose="02020603050405020304" pitchFamily="18" charset="0"/>
                <a:cs typeface="Times New Roman" panose="02020603050405020304" pitchFamily="18" charset="0"/>
              </a:rPr>
              <a:t> The degree of self-governance and independence.</a:t>
            </a:r>
          </a:p>
        </p:txBody>
      </p:sp>
      <p:sp>
        <p:nvSpPr>
          <p:cNvPr id="5" name="Прямоугольник 4"/>
          <p:cNvSpPr/>
          <p:nvPr/>
        </p:nvSpPr>
        <p:spPr>
          <a:xfrm>
            <a:off x="776335" y="3429000"/>
            <a:ext cx="7239000" cy="2893100"/>
          </a:xfrm>
          <a:prstGeom prst="rect">
            <a:avLst/>
          </a:prstGeom>
        </p:spPr>
        <p:txBody>
          <a:bodyPr wrap="square">
            <a:spAutoFit/>
          </a:bodyPr>
          <a:lstStyle/>
          <a:p>
            <a:pPr algn="just"/>
            <a:r>
              <a:rPr lang="en-US" sz="1400" b="1" dirty="0"/>
              <a:t>Key Components of Dynamic Information Systems</a:t>
            </a:r>
            <a:endParaRPr lang="en-US" sz="1400" dirty="0"/>
          </a:p>
          <a:p>
            <a:pPr algn="just">
              <a:buFont typeface="+mj-lt"/>
              <a:buAutoNum type="arabicPeriod"/>
            </a:pPr>
            <a:r>
              <a:rPr lang="en-US" sz="1400" b="1" dirty="0"/>
              <a:t>Feedback Loops:</a:t>
            </a:r>
            <a:endParaRPr lang="en-US" sz="1400" dirty="0"/>
          </a:p>
          <a:p>
            <a:pPr marL="742950" lvl="1" indent="-285750" algn="just">
              <a:buFont typeface="+mj-lt"/>
              <a:buAutoNum type="arabicPeriod"/>
            </a:pPr>
            <a:r>
              <a:rPr lang="en-US" sz="1400" b="1" dirty="0"/>
              <a:t>Positive feedback:</a:t>
            </a:r>
            <a:r>
              <a:rPr lang="en-US" sz="1400" dirty="0"/>
              <a:t> Amplifies change, leading to exponential growth or decline.</a:t>
            </a:r>
          </a:p>
          <a:p>
            <a:pPr marL="742950" lvl="1" indent="-285750" algn="just">
              <a:buFont typeface="+mj-lt"/>
              <a:buAutoNum type="arabicPeriod"/>
            </a:pPr>
            <a:r>
              <a:rPr lang="en-US" sz="1400" b="1" dirty="0"/>
              <a:t>Negative feedback:</a:t>
            </a:r>
            <a:r>
              <a:rPr lang="en-US" sz="1400" dirty="0"/>
              <a:t> Reduces change, maintaining stability or equilibrium.</a:t>
            </a:r>
          </a:p>
          <a:p>
            <a:pPr algn="just">
              <a:buFont typeface="+mj-lt"/>
              <a:buAutoNum type="arabicPeriod"/>
            </a:pPr>
            <a:r>
              <a:rPr lang="en-US" sz="1400" b="1" dirty="0"/>
              <a:t>Learning and Adaptation Mechanisms:</a:t>
            </a:r>
            <a:endParaRPr lang="en-US" sz="1400" dirty="0"/>
          </a:p>
          <a:p>
            <a:pPr marL="742950" lvl="1" indent="-285750" algn="just">
              <a:buFont typeface="+mj-lt"/>
              <a:buAutoNum type="arabicPeriod"/>
            </a:pPr>
            <a:r>
              <a:rPr lang="en-US" sz="1400" b="1" dirty="0"/>
              <a:t>Machine learning:</a:t>
            </a:r>
            <a:r>
              <a:rPr lang="en-US" sz="1400" dirty="0"/>
              <a:t> Algorithms that enable systems to improve performance through experience.</a:t>
            </a:r>
          </a:p>
          <a:p>
            <a:pPr marL="742950" lvl="1" indent="-285750" algn="just">
              <a:buFont typeface="+mj-lt"/>
              <a:buAutoNum type="arabicPeriod"/>
            </a:pPr>
            <a:r>
              <a:rPr lang="en-US" sz="1400" b="1" dirty="0"/>
              <a:t>Reinforcement learning:</a:t>
            </a:r>
            <a:r>
              <a:rPr lang="en-US" sz="1400" dirty="0"/>
              <a:t> A type of machine learning where systems learn by trial and error, receiving rewards or penalties for their actions.</a:t>
            </a:r>
          </a:p>
          <a:p>
            <a:pPr algn="just">
              <a:buFont typeface="+mj-lt"/>
              <a:buAutoNum type="arabicPeriod"/>
            </a:pPr>
            <a:r>
              <a:rPr lang="en-US" sz="1400" b="1" dirty="0"/>
              <a:t>Autonomy and Self-Organization:</a:t>
            </a:r>
            <a:endParaRPr lang="en-US" sz="1400" dirty="0"/>
          </a:p>
          <a:p>
            <a:pPr marL="742950" lvl="1" indent="-285750" algn="just">
              <a:buFont typeface="+mj-lt"/>
              <a:buAutoNum type="arabicPeriod"/>
            </a:pPr>
            <a:r>
              <a:rPr lang="en-US" sz="1400" b="1" dirty="0"/>
              <a:t>Decentralized decision-making:</a:t>
            </a:r>
            <a:r>
              <a:rPr lang="en-US" sz="1400" dirty="0"/>
              <a:t> The ability to make decisions without central control.</a:t>
            </a:r>
          </a:p>
          <a:p>
            <a:pPr marL="742950" lvl="1" indent="-285750" algn="just">
              <a:buFont typeface="+mj-lt"/>
              <a:buAutoNum type="arabicPeriod"/>
            </a:pPr>
            <a:r>
              <a:rPr lang="en-US" sz="1400" b="1" dirty="0"/>
              <a:t>Emergent properties:</a:t>
            </a:r>
            <a:r>
              <a:rPr lang="en-US" sz="1400" dirty="0"/>
              <a:t> Behaviors that arise from the interactions of individual components within the system.</a:t>
            </a:r>
          </a:p>
        </p:txBody>
      </p:sp>
      <p:sp>
        <p:nvSpPr>
          <p:cNvPr id="6" name="Прямоугольник 5"/>
          <p:cNvSpPr/>
          <p:nvPr/>
        </p:nvSpPr>
        <p:spPr>
          <a:xfrm>
            <a:off x="3200400" y="338854"/>
            <a:ext cx="2755883" cy="369332"/>
          </a:xfrm>
          <a:prstGeom prst="rect">
            <a:avLst/>
          </a:prstGeom>
        </p:spPr>
        <p:txBody>
          <a:bodyPr wrap="none">
            <a:spAutoFit/>
          </a:bodyPr>
          <a:lstStyle/>
          <a:p>
            <a:r>
              <a:rPr lang="en-US" b="1" dirty="0">
                <a:latin typeface="Times New Roman" pitchFamily="18" charset="0"/>
                <a:cs typeface="Times New Roman" pitchFamily="18" charset="0"/>
              </a:rPr>
              <a:t>Dynamic description of IS</a:t>
            </a:r>
            <a:endParaRPr lang="en-US" dirty="0"/>
          </a:p>
        </p:txBody>
      </p:sp>
    </p:spTree>
    <p:extLst>
      <p:ext uri="{BB962C8B-B14F-4D97-AF65-F5344CB8AC3E}">
        <p14:creationId xmlns:p14="http://schemas.microsoft.com/office/powerpoint/2010/main" val="2836588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33400" y="533400"/>
            <a:ext cx="7772400" cy="4801314"/>
          </a:xfrm>
          <a:prstGeom prst="rect">
            <a:avLst/>
          </a:prstGeom>
        </p:spPr>
        <p:txBody>
          <a:bodyPr wrap="square">
            <a:spAutoFit/>
          </a:bodyPr>
          <a:lstStyle/>
          <a:p>
            <a:pPr algn="just"/>
            <a:r>
              <a:rPr lang="en-US" b="1" dirty="0"/>
              <a:t>Examples of Dynamic Information Systems</a:t>
            </a:r>
            <a:endParaRPr lang="en-US" dirty="0"/>
          </a:p>
          <a:p>
            <a:pPr algn="just">
              <a:buFont typeface="Arial" panose="020B0604020202020204" pitchFamily="34" charset="0"/>
              <a:buChar char="•"/>
            </a:pPr>
            <a:r>
              <a:rPr lang="en-US" b="1" dirty="0"/>
              <a:t>Artificial Intelligence (AI):</a:t>
            </a:r>
            <a:r>
              <a:rPr lang="en-US" dirty="0"/>
              <a:t> AI systems can learn from data and adapt to new situations, such as self-driving cars or virtual assistants.</a:t>
            </a:r>
          </a:p>
          <a:p>
            <a:pPr algn="just">
              <a:buFont typeface="Arial" panose="020B0604020202020204" pitchFamily="34" charset="0"/>
              <a:buChar char="•"/>
            </a:pPr>
            <a:r>
              <a:rPr lang="en-US" b="1" dirty="0"/>
              <a:t>Cyber-Physical Systems (CPS):</a:t>
            </a:r>
            <a:r>
              <a:rPr lang="en-US" dirty="0"/>
              <a:t> These systems integrate physical and digital components, often using feedback loops to control and optimize processes.</a:t>
            </a:r>
          </a:p>
          <a:p>
            <a:pPr algn="just">
              <a:buFont typeface="Arial" panose="020B0604020202020204" pitchFamily="34" charset="0"/>
              <a:buChar char="•"/>
            </a:pPr>
            <a:r>
              <a:rPr lang="en-US" b="1" dirty="0"/>
              <a:t>Social Networks:</a:t>
            </a:r>
            <a:r>
              <a:rPr lang="en-US" dirty="0"/>
              <a:t> Social networks constantly evolve based on user interactions, content creation, and algorithm changes.</a:t>
            </a:r>
          </a:p>
          <a:p>
            <a:pPr algn="just">
              <a:buFont typeface="Arial" panose="020B0604020202020204" pitchFamily="34" charset="0"/>
              <a:buChar char="•"/>
            </a:pPr>
            <a:r>
              <a:rPr lang="en-US" b="1" dirty="0"/>
              <a:t>Biological Systems:</a:t>
            </a:r>
            <a:r>
              <a:rPr lang="en-US" dirty="0"/>
              <a:t> Living organisms are dynamic systems that adapt to their environments through natural selection and evolution.</a:t>
            </a:r>
          </a:p>
          <a:p>
            <a:pPr algn="just"/>
            <a:endParaRPr lang="en-US" b="1" dirty="0" smtClean="0"/>
          </a:p>
          <a:p>
            <a:pPr algn="just"/>
            <a:endParaRPr lang="en-US" b="1" dirty="0"/>
          </a:p>
          <a:p>
            <a:pPr algn="just"/>
            <a:endParaRPr lang="en-US" b="1" dirty="0" smtClean="0"/>
          </a:p>
          <a:p>
            <a:pPr algn="just"/>
            <a:r>
              <a:rPr lang="en-US" b="1" dirty="0" smtClean="0"/>
              <a:t>Benefits </a:t>
            </a:r>
            <a:r>
              <a:rPr lang="en-US" b="1" dirty="0"/>
              <a:t>of Dynamic Information Systems</a:t>
            </a:r>
            <a:endParaRPr lang="en-US" dirty="0"/>
          </a:p>
          <a:p>
            <a:pPr algn="just">
              <a:buFont typeface="Arial" panose="020B0604020202020204" pitchFamily="34" charset="0"/>
              <a:buChar char="•"/>
            </a:pPr>
            <a:r>
              <a:rPr lang="en-US" b="1" dirty="0"/>
              <a:t>Increased resilience:</a:t>
            </a:r>
            <a:r>
              <a:rPr lang="en-US" dirty="0"/>
              <a:t> The ability to withstand disruptions and recover quickly.</a:t>
            </a:r>
          </a:p>
          <a:p>
            <a:pPr algn="just">
              <a:buFont typeface="Arial" panose="020B0604020202020204" pitchFamily="34" charset="0"/>
              <a:buChar char="•"/>
            </a:pPr>
            <a:r>
              <a:rPr lang="en-US" b="1" dirty="0"/>
              <a:t>Enhanced efficiency:</a:t>
            </a:r>
            <a:r>
              <a:rPr lang="en-US" dirty="0"/>
              <a:t> Optimization of processes and resource allocation.</a:t>
            </a:r>
          </a:p>
          <a:p>
            <a:pPr algn="just">
              <a:buFont typeface="Arial" panose="020B0604020202020204" pitchFamily="34" charset="0"/>
              <a:buChar char="•"/>
            </a:pPr>
            <a:r>
              <a:rPr lang="en-US" b="1" dirty="0"/>
              <a:t>Improved decision-making:</a:t>
            </a:r>
            <a:r>
              <a:rPr lang="en-US" dirty="0"/>
              <a:t> Data-driven insights and adaptive strategies.</a:t>
            </a:r>
          </a:p>
          <a:p>
            <a:pPr algn="just">
              <a:buFont typeface="Arial" panose="020B0604020202020204" pitchFamily="34" charset="0"/>
              <a:buChar char="•"/>
            </a:pPr>
            <a:r>
              <a:rPr lang="en-US" b="1" dirty="0"/>
              <a:t>Innovation:</a:t>
            </a:r>
            <a:r>
              <a:rPr lang="en-US" dirty="0"/>
              <a:t> The potential for new and creative solutions.</a:t>
            </a:r>
          </a:p>
        </p:txBody>
      </p:sp>
    </p:spTree>
    <p:extLst>
      <p:ext uri="{BB962C8B-B14F-4D97-AF65-F5344CB8AC3E}">
        <p14:creationId xmlns:p14="http://schemas.microsoft.com/office/powerpoint/2010/main" val="42570725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66800" y="914400"/>
            <a:ext cx="7315200" cy="4524315"/>
          </a:xfrm>
          <a:prstGeom prst="rect">
            <a:avLst/>
          </a:prstGeom>
        </p:spPr>
        <p:txBody>
          <a:bodyPr wrap="square">
            <a:spAutoFit/>
          </a:bodyPr>
          <a:lstStyle/>
          <a:p>
            <a:pPr algn="ctr"/>
            <a:r>
              <a:rPr lang="en-US" sz="2400" b="1" dirty="0" smtClean="0">
                <a:latin typeface="Times New Roman" panose="02020603050405020304" pitchFamily="18" charset="0"/>
                <a:cs typeface="Times New Roman" panose="02020603050405020304" pitchFamily="18" charset="0"/>
              </a:rPr>
              <a:t>Conclusion</a:t>
            </a:r>
            <a:endParaRPr lang="ru-RU" sz="2400" b="1" dirty="0" smtClean="0">
              <a:latin typeface="Times New Roman" panose="02020603050405020304" pitchFamily="18" charset="0"/>
              <a:cs typeface="Times New Roman" panose="02020603050405020304" pitchFamily="18" charset="0"/>
            </a:endParaRPr>
          </a:p>
          <a:p>
            <a:pPr algn="ctr"/>
            <a:endParaRPr lang="ru-RU"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Summary:</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smtClean="0">
                <a:latin typeface="Times New Roman" panose="02020603050405020304" pitchFamily="18" charset="0"/>
                <a:cs typeface="Times New Roman" panose="02020603050405020304" pitchFamily="18" charset="0"/>
              </a:rPr>
              <a:t>Both </a:t>
            </a:r>
            <a:r>
              <a:rPr lang="en-US" sz="2400" dirty="0">
                <a:latin typeface="Times New Roman" panose="02020603050405020304" pitchFamily="18" charset="0"/>
                <a:cs typeface="Times New Roman" panose="02020603050405020304" pitchFamily="18" charset="0"/>
              </a:rPr>
              <a:t>qualitative and quantitative methods are essential for describing and evaluating information systems</a:t>
            </a:r>
            <a:r>
              <a:rPr lang="en-US" sz="2400" dirty="0" smtClean="0">
                <a:latin typeface="Times New Roman" panose="02020603050405020304" pitchFamily="18" charset="0"/>
                <a:cs typeface="Times New Roman" panose="02020603050405020304" pitchFamily="18" charset="0"/>
              </a:rPr>
              <a:t>.</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While system theory provides valuable insights, it faces several challenges that need to be addressed through improved methodologies and interdisciplinary approaches.</a:t>
            </a:r>
          </a:p>
          <a:p>
            <a:pPr algn="just"/>
            <a:r>
              <a:rPr lang="en-US" sz="2400" b="1" dirty="0" smtClean="0">
                <a:latin typeface="Times New Roman" panose="02020603050405020304" pitchFamily="18" charset="0"/>
                <a:cs typeface="Times New Roman" panose="02020603050405020304" pitchFamily="18" charset="0"/>
              </a:rPr>
              <a:t>Directions</a:t>
            </a:r>
            <a:r>
              <a:rPr lang="ru-RU" sz="2400" b="1" dirty="0" smtClean="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of </a:t>
            </a:r>
            <a:r>
              <a:rPr lang="en-US" sz="2400" b="1" dirty="0" err="1" smtClean="0">
                <a:latin typeface="Times New Roman" panose="02020603050405020304" pitchFamily="18" charset="0"/>
                <a:cs typeface="Times New Roman" panose="02020603050405020304" pitchFamily="18" charset="0"/>
              </a:rPr>
              <a:t>selfwork</a:t>
            </a:r>
            <a:r>
              <a:rPr lang="en-US" sz="2400" b="1"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 I</a:t>
            </a:r>
            <a:r>
              <a:rPr lang="en-US" sz="2400" dirty="0" smtClean="0"/>
              <a:t>ntegrating </a:t>
            </a:r>
            <a:r>
              <a:rPr lang="en-US" sz="2400" dirty="0"/>
              <a:t>new techniques and perspectives to overcome existing problems.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4428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66E912E346B2474297E98B983B6B7B1E" ma:contentTypeVersion="4" ma:contentTypeDescription="Создание документа." ma:contentTypeScope="" ma:versionID="6da09faed6b6beed1a9920e761ef9e64">
  <xsd:schema xmlns:xsd="http://www.w3.org/2001/XMLSchema" xmlns:xs="http://www.w3.org/2001/XMLSchema" xmlns:p="http://schemas.microsoft.com/office/2006/metadata/properties" xmlns:ns2="d91a7476-afa8-4b10-9836-4ddd5fa9bd7a" targetNamespace="http://schemas.microsoft.com/office/2006/metadata/properties" ma:root="true" ma:fieldsID="c00886adbc6a801d11f676da9b84085d" ns2:_="">
    <xsd:import namespace="d91a7476-afa8-4b10-9836-4ddd5fa9bd7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1a7476-afa8-4b10-9836-4ddd5fa9bd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5FA5328-4703-477C-8C9B-69E5858FEFBD}"/>
</file>

<file path=customXml/itemProps2.xml><?xml version="1.0" encoding="utf-8"?>
<ds:datastoreItem xmlns:ds="http://schemas.openxmlformats.org/officeDocument/2006/customXml" ds:itemID="{79C97343-4BCA-43C0-8804-1EC85EEB5DA7}"/>
</file>

<file path=customXml/itemProps3.xml><?xml version="1.0" encoding="utf-8"?>
<ds:datastoreItem xmlns:ds="http://schemas.openxmlformats.org/officeDocument/2006/customXml" ds:itemID="{64F0FFAB-9428-4536-A971-FCE7104B6F7D}"/>
</file>

<file path=docProps/app.xml><?xml version="1.0" encoding="utf-8"?>
<Properties xmlns="http://schemas.openxmlformats.org/officeDocument/2006/extended-properties" xmlns:vt="http://schemas.openxmlformats.org/officeDocument/2006/docPropsVTypes">
  <TotalTime>281</TotalTime>
  <Words>2725</Words>
  <Application>Microsoft Office PowerPoint</Application>
  <PresentationFormat>Экран (4:3)</PresentationFormat>
  <Paragraphs>192</Paragraphs>
  <Slides>24</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24</vt:i4>
      </vt:variant>
    </vt:vector>
  </HeadingPairs>
  <TitlesOfParts>
    <vt:vector size="30" baseType="lpstr">
      <vt:lpstr>Arial</vt:lpstr>
      <vt:lpstr>Calibri</vt:lpstr>
      <vt:lpstr>Courier New</vt:lpstr>
      <vt:lpstr>Symbol</vt:lpstr>
      <vt:lpstr>Times New Roman</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Ким Гульнар Амангельдыевна</dc:creator>
  <cp:lastModifiedBy>user</cp:lastModifiedBy>
  <cp:revision>22</cp:revision>
  <dcterms:created xsi:type="dcterms:W3CDTF">2024-09-09T11:15:15Z</dcterms:created>
  <dcterms:modified xsi:type="dcterms:W3CDTF">2024-10-06T07:17:56Z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0x01010066E912E346B2474297E98B983B6B7B1E</vt:lpwstr>
  </property>
</Properties>
</file>