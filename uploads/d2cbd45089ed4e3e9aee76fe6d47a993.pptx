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58" r:id="rId7"/>
    <p:sldId id="259" r:id="rId8"/>
    <p:sldId id="260" r:id="rId9"/>
    <p:sldId id="261" r:id="rId10"/>
    <p:sldId id="263" r:id="rId11"/>
    <p:sldId id="264" r:id="rId12"/>
    <p:sldId id="265" r:id="rId13"/>
    <p:sldId id="266" r:id="rId14"/>
    <p:sldId id="267" r:id="rId15"/>
    <p:sldId id="268" r:id="rId16"/>
    <p:sldId id="269" r:id="rId17"/>
    <p:sldId id="270" r:id="rId18"/>
    <p:sldId id="271" r:id="rId19"/>
    <p:sldId id="272" r:id="rId20"/>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5197BD-122C-4F7A-8B15-44552C002547}" v="6" dt="2026-02-17T05:58:23.1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9" autoAdjust="0"/>
    <p:restoredTop sz="94660"/>
  </p:normalViewPr>
  <p:slideViewPr>
    <p:cSldViewPr snapToGrid="0">
      <p:cViewPr varScale="1">
        <p:scale>
          <a:sx n="49" d="100"/>
          <a:sy n="49" d="100"/>
        </p:scale>
        <p:origin x="72" y="5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Ким Гульнар Амангельдыевна" userId="S::gakim@ku.edu.kz::b72cbb20-62a4-4ce6-b395-6a6528ca72b3" providerId="AD" clId="Web-{D35197BD-122C-4F7A-8B15-44552C002547}"/>
    <pc:docChg chg="modSld">
      <pc:chgData name="Ким Гульнар Амангельдыевна" userId="S::gakim@ku.edu.kz::b72cbb20-62a4-4ce6-b395-6a6528ca72b3" providerId="AD" clId="Web-{D35197BD-122C-4F7A-8B15-44552C002547}" dt="2026-02-17T05:58:23.125" v="5" actId="1076"/>
      <pc:docMkLst>
        <pc:docMk/>
      </pc:docMkLst>
      <pc:sldChg chg="modSp">
        <pc:chgData name="Ким Гульнар Амангельдыевна" userId="S::gakim@ku.edu.kz::b72cbb20-62a4-4ce6-b395-6a6528ca72b3" providerId="AD" clId="Web-{D35197BD-122C-4F7A-8B15-44552C002547}" dt="2026-02-17T05:52:26.123" v="1" actId="1076"/>
        <pc:sldMkLst>
          <pc:docMk/>
          <pc:sldMk cId="2968046777" sldId="257"/>
        </pc:sldMkLst>
        <pc:picChg chg="mod">
          <ac:chgData name="Ким Гульнар Амангельдыевна" userId="S::gakim@ku.edu.kz::b72cbb20-62a4-4ce6-b395-6a6528ca72b3" providerId="AD" clId="Web-{D35197BD-122C-4F7A-8B15-44552C002547}" dt="2026-02-17T05:51:48.263" v="0" actId="1076"/>
          <ac:picMkLst>
            <pc:docMk/>
            <pc:sldMk cId="2968046777" sldId="257"/>
            <ac:picMk id="7" creationId="{00000000-0000-0000-0000-000000000000}"/>
          </ac:picMkLst>
        </pc:picChg>
        <pc:picChg chg="mod">
          <ac:chgData name="Ким Гульнар Амангельдыевна" userId="S::gakim@ku.edu.kz::b72cbb20-62a4-4ce6-b395-6a6528ca72b3" providerId="AD" clId="Web-{D35197BD-122C-4F7A-8B15-44552C002547}" dt="2026-02-17T05:52:26.123" v="1" actId="1076"/>
          <ac:picMkLst>
            <pc:docMk/>
            <pc:sldMk cId="2968046777" sldId="257"/>
            <ac:picMk id="9" creationId="{00000000-0000-0000-0000-000000000000}"/>
          </ac:picMkLst>
        </pc:picChg>
      </pc:sldChg>
      <pc:sldChg chg="modSp">
        <pc:chgData name="Ким Гульнар Амангельдыевна" userId="S::gakim@ku.edu.kz::b72cbb20-62a4-4ce6-b395-6a6528ca72b3" providerId="AD" clId="Web-{D35197BD-122C-4F7A-8B15-44552C002547}" dt="2026-02-17T05:52:52.388" v="2" actId="1076"/>
        <pc:sldMkLst>
          <pc:docMk/>
          <pc:sldMk cId="714861123" sldId="258"/>
        </pc:sldMkLst>
        <pc:picChg chg="mod">
          <ac:chgData name="Ким Гульнар Амангельдыевна" userId="S::gakim@ku.edu.kz::b72cbb20-62a4-4ce6-b395-6a6528ca72b3" providerId="AD" clId="Web-{D35197BD-122C-4F7A-8B15-44552C002547}" dt="2026-02-17T05:52:52.388" v="2" actId="1076"/>
          <ac:picMkLst>
            <pc:docMk/>
            <pc:sldMk cId="714861123" sldId="258"/>
            <ac:picMk id="6" creationId="{00000000-0000-0000-0000-000000000000}"/>
          </ac:picMkLst>
        </pc:picChg>
      </pc:sldChg>
      <pc:sldChg chg="modSp">
        <pc:chgData name="Ким Гульнар Амангельдыевна" userId="S::gakim@ku.edu.kz::b72cbb20-62a4-4ce6-b395-6a6528ca72b3" providerId="AD" clId="Web-{D35197BD-122C-4F7A-8B15-44552C002547}" dt="2026-02-17T05:58:23.125" v="5" actId="1076"/>
        <pc:sldMkLst>
          <pc:docMk/>
          <pc:sldMk cId="829502121" sldId="263"/>
        </pc:sldMkLst>
        <pc:picChg chg="mod">
          <ac:chgData name="Ким Гульнар Амангельдыевна" userId="S::gakim@ku.edu.kz::b72cbb20-62a4-4ce6-b395-6a6528ca72b3" providerId="AD" clId="Web-{D35197BD-122C-4F7A-8B15-44552C002547}" dt="2026-02-17T05:57:04.256" v="3" actId="1076"/>
          <ac:picMkLst>
            <pc:docMk/>
            <pc:sldMk cId="829502121" sldId="263"/>
            <ac:picMk id="6" creationId="{00000000-0000-0000-0000-000000000000}"/>
          </ac:picMkLst>
        </pc:picChg>
        <pc:picChg chg="mod">
          <ac:chgData name="Ким Гульнар Амангельдыевна" userId="S::gakim@ku.edu.kz::b72cbb20-62a4-4ce6-b395-6a6528ca72b3" providerId="AD" clId="Web-{D35197BD-122C-4F7A-8B15-44552C002547}" dt="2026-02-17T05:58:23.125" v="5" actId="1076"/>
          <ac:picMkLst>
            <pc:docMk/>
            <pc:sldMk cId="829502121" sldId="263"/>
            <ac:picMk id="7" creationId="{00000000-0000-0000-0000-000000000000}"/>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p:cNvSpPr>
            <a:spLocks noGrp="1"/>
          </p:cNvSpPr>
          <p:nvPr>
            <p:ph type="dt" sz="half" idx="10"/>
          </p:nvPr>
        </p:nvSpPr>
        <p:spPr/>
        <p:txBody>
          <a:bodyPr/>
          <a:lstStyle/>
          <a:p>
            <a:fld id="{8E2C52F1-0B38-422E-9AF0-B4F0D87DA11E}" type="datetimeFigureOut">
              <a:rPr lang="ru-RU" smtClean="0"/>
              <a:t>16.02.2026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4038BDAE-F56C-4205-87E9-0AFE3E479EA7}" type="slidenum">
              <a:rPr lang="ru-RU" smtClean="0"/>
              <a:t>‹#›</a:t>
            </a:fld>
            <a:endParaRPr lang="ru-RU"/>
          </a:p>
        </p:txBody>
      </p:sp>
    </p:spTree>
    <p:extLst>
      <p:ext uri="{BB962C8B-B14F-4D97-AF65-F5344CB8AC3E}">
        <p14:creationId xmlns:p14="http://schemas.microsoft.com/office/powerpoint/2010/main" val="666218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8E2C52F1-0B38-422E-9AF0-B4F0D87DA11E}" type="datetimeFigureOut">
              <a:rPr lang="ru-RU" smtClean="0"/>
              <a:t>16.02.2026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4038BDAE-F56C-4205-87E9-0AFE3E479EA7}" type="slidenum">
              <a:rPr lang="ru-RU" smtClean="0"/>
              <a:t>‹#›</a:t>
            </a:fld>
            <a:endParaRPr lang="ru-RU"/>
          </a:p>
        </p:txBody>
      </p:sp>
    </p:spTree>
    <p:extLst>
      <p:ext uri="{BB962C8B-B14F-4D97-AF65-F5344CB8AC3E}">
        <p14:creationId xmlns:p14="http://schemas.microsoft.com/office/powerpoint/2010/main" val="30535128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8E2C52F1-0B38-422E-9AF0-B4F0D87DA11E}" type="datetimeFigureOut">
              <a:rPr lang="ru-RU" smtClean="0"/>
              <a:t>16.02.2026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4038BDAE-F56C-4205-87E9-0AFE3E479EA7}" type="slidenum">
              <a:rPr lang="ru-RU" smtClean="0"/>
              <a:t>‹#›</a:t>
            </a:fld>
            <a:endParaRPr lang="ru-RU"/>
          </a:p>
        </p:txBody>
      </p:sp>
    </p:spTree>
    <p:extLst>
      <p:ext uri="{BB962C8B-B14F-4D97-AF65-F5344CB8AC3E}">
        <p14:creationId xmlns:p14="http://schemas.microsoft.com/office/powerpoint/2010/main" val="23518932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8E2C52F1-0B38-422E-9AF0-B4F0D87DA11E}" type="datetimeFigureOut">
              <a:rPr lang="ru-RU" smtClean="0"/>
              <a:t>16.02.2026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4038BDAE-F56C-4205-87E9-0AFE3E479EA7}" type="slidenum">
              <a:rPr lang="ru-RU" smtClean="0"/>
              <a:t>‹#›</a:t>
            </a:fld>
            <a:endParaRPr lang="ru-RU"/>
          </a:p>
        </p:txBody>
      </p:sp>
    </p:spTree>
    <p:extLst>
      <p:ext uri="{BB962C8B-B14F-4D97-AF65-F5344CB8AC3E}">
        <p14:creationId xmlns:p14="http://schemas.microsoft.com/office/powerpoint/2010/main" val="17360929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8E2C52F1-0B38-422E-9AF0-B4F0D87DA11E}" type="datetimeFigureOut">
              <a:rPr lang="ru-RU" smtClean="0"/>
              <a:t>16.02.2026</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4038BDAE-F56C-4205-87E9-0AFE3E479EA7}" type="slidenum">
              <a:rPr lang="ru-RU" smtClean="0"/>
              <a:t>‹#›</a:t>
            </a:fld>
            <a:endParaRPr lang="ru-RU"/>
          </a:p>
        </p:txBody>
      </p:sp>
    </p:spTree>
    <p:extLst>
      <p:ext uri="{BB962C8B-B14F-4D97-AF65-F5344CB8AC3E}">
        <p14:creationId xmlns:p14="http://schemas.microsoft.com/office/powerpoint/2010/main" val="41113041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8E2C52F1-0B38-422E-9AF0-B4F0D87DA11E}" type="datetimeFigureOut">
              <a:rPr lang="ru-RU" smtClean="0"/>
              <a:t>16.02.2026</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4038BDAE-F56C-4205-87E9-0AFE3E479EA7}" type="slidenum">
              <a:rPr lang="ru-RU" smtClean="0"/>
              <a:t>‹#›</a:t>
            </a:fld>
            <a:endParaRPr lang="ru-RU"/>
          </a:p>
        </p:txBody>
      </p:sp>
    </p:spTree>
    <p:extLst>
      <p:ext uri="{BB962C8B-B14F-4D97-AF65-F5344CB8AC3E}">
        <p14:creationId xmlns:p14="http://schemas.microsoft.com/office/powerpoint/2010/main" val="25041644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8E2C52F1-0B38-422E-9AF0-B4F0D87DA11E}" type="datetimeFigureOut">
              <a:rPr lang="ru-RU" smtClean="0"/>
              <a:t>16.02.2026</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4038BDAE-F56C-4205-87E9-0AFE3E479EA7}" type="slidenum">
              <a:rPr lang="ru-RU" smtClean="0"/>
              <a:t>‹#›</a:t>
            </a:fld>
            <a:endParaRPr lang="ru-RU"/>
          </a:p>
        </p:txBody>
      </p:sp>
    </p:spTree>
    <p:extLst>
      <p:ext uri="{BB962C8B-B14F-4D97-AF65-F5344CB8AC3E}">
        <p14:creationId xmlns:p14="http://schemas.microsoft.com/office/powerpoint/2010/main" val="29061686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8E2C52F1-0B38-422E-9AF0-B4F0D87DA11E}" type="datetimeFigureOut">
              <a:rPr lang="ru-RU" smtClean="0"/>
              <a:t>16.02.2026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4038BDAE-F56C-4205-87E9-0AFE3E479EA7}" type="slidenum">
              <a:rPr lang="ru-RU" smtClean="0"/>
              <a:t>‹#›</a:t>
            </a:fld>
            <a:endParaRPr lang="ru-RU"/>
          </a:p>
        </p:txBody>
      </p:sp>
    </p:spTree>
    <p:extLst>
      <p:ext uri="{BB962C8B-B14F-4D97-AF65-F5344CB8AC3E}">
        <p14:creationId xmlns:p14="http://schemas.microsoft.com/office/powerpoint/2010/main" val="36752606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8E2C52F1-0B38-422E-9AF0-B4F0D87DA11E}" type="datetimeFigureOut">
              <a:rPr lang="ru-RU" smtClean="0"/>
              <a:t>16.02.2026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4038BDAE-F56C-4205-87E9-0AFE3E479EA7}" type="slidenum">
              <a:rPr lang="ru-RU" smtClean="0"/>
              <a:t>‹#›</a:t>
            </a:fld>
            <a:endParaRPr lang="ru-RU"/>
          </a:p>
        </p:txBody>
      </p:sp>
    </p:spTree>
    <p:extLst>
      <p:ext uri="{BB962C8B-B14F-4D97-AF65-F5344CB8AC3E}">
        <p14:creationId xmlns:p14="http://schemas.microsoft.com/office/powerpoint/2010/main" val="41113357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8E2C52F1-0B38-422E-9AF0-B4F0D87DA11E}" type="datetimeFigureOut">
              <a:rPr lang="ru-RU" smtClean="0"/>
              <a:t>16.02.2026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4038BDAE-F56C-4205-87E9-0AFE3E479EA7}" type="slidenum">
              <a:rPr lang="ru-RU" smtClean="0"/>
              <a:t>‹#›</a:t>
            </a:fld>
            <a:endParaRPr lang="ru-RU"/>
          </a:p>
        </p:txBody>
      </p:sp>
    </p:spTree>
    <p:extLst>
      <p:ext uri="{BB962C8B-B14F-4D97-AF65-F5344CB8AC3E}">
        <p14:creationId xmlns:p14="http://schemas.microsoft.com/office/powerpoint/2010/main" val="35436273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8E2C52F1-0B38-422E-9AF0-B4F0D87DA11E}" type="datetimeFigureOut">
              <a:rPr lang="ru-RU" smtClean="0"/>
              <a:t>16.02.2026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4038BDAE-F56C-4205-87E9-0AFE3E479EA7}" type="slidenum">
              <a:rPr lang="ru-RU" smtClean="0"/>
              <a:t>‹#›</a:t>
            </a:fld>
            <a:endParaRPr lang="ru-RU"/>
          </a:p>
        </p:txBody>
      </p:sp>
    </p:spTree>
    <p:extLst>
      <p:ext uri="{BB962C8B-B14F-4D97-AF65-F5344CB8AC3E}">
        <p14:creationId xmlns:p14="http://schemas.microsoft.com/office/powerpoint/2010/main" val="31512278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2C52F1-0B38-422E-9AF0-B4F0D87DA11E}" type="datetimeFigureOut">
              <a:rPr lang="ru-RU" smtClean="0"/>
              <a:t>16.02.2026</a:t>
            </a:fld>
            <a:endParaRPr lang="ru-RU"/>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38BDAE-F56C-4205-87E9-0AFE3E479EA7}" type="slidenum">
              <a:rPr lang="ru-RU" smtClean="0"/>
              <a:t>‹#›</a:t>
            </a:fld>
            <a:endParaRPr lang="ru-RU"/>
          </a:p>
        </p:txBody>
      </p:sp>
    </p:spTree>
    <p:extLst>
      <p:ext uri="{BB962C8B-B14F-4D97-AF65-F5344CB8AC3E}">
        <p14:creationId xmlns:p14="http://schemas.microsoft.com/office/powerpoint/2010/main" val="11764004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1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5146248" y="1541040"/>
            <a:ext cx="1853969" cy="584775"/>
          </a:xfrm>
          <a:prstGeom prst="rect">
            <a:avLst/>
          </a:prstGeom>
        </p:spPr>
        <p:txBody>
          <a:bodyPr wrap="none">
            <a:spAutoFit/>
          </a:bodyPr>
          <a:lstStyle/>
          <a:p>
            <a:r>
              <a:rPr lang="en-US" sz="3200" b="1" i="0" dirty="0">
                <a:solidFill>
                  <a:srgbClr val="002033"/>
                </a:solidFill>
                <a:effectLst/>
                <a:latin typeface="Times New Roman" panose="02020603050405020304" pitchFamily="18" charset="0"/>
                <a:cs typeface="Times New Roman" panose="02020603050405020304" pitchFamily="18" charset="0"/>
              </a:rPr>
              <a:t>Lecture 3</a:t>
            </a:r>
            <a:endParaRPr lang="ru-RU" sz="3200" b="1" dirty="0">
              <a:latin typeface="Times New Roman" panose="02020603050405020304" pitchFamily="18" charset="0"/>
              <a:cs typeface="Times New Roman" panose="02020603050405020304" pitchFamily="18" charset="0"/>
            </a:endParaRPr>
          </a:p>
        </p:txBody>
      </p:sp>
      <p:sp>
        <p:nvSpPr>
          <p:cNvPr id="5" name="Прямоугольник 4"/>
          <p:cNvSpPr/>
          <p:nvPr/>
        </p:nvSpPr>
        <p:spPr>
          <a:xfrm>
            <a:off x="1979515" y="3316052"/>
            <a:ext cx="7742825" cy="584775"/>
          </a:xfrm>
          <a:prstGeom prst="rect">
            <a:avLst/>
          </a:prstGeom>
        </p:spPr>
        <p:txBody>
          <a:bodyPr wrap="none">
            <a:spAutoFit/>
          </a:bodyPr>
          <a:lstStyle/>
          <a:p>
            <a:r>
              <a:rPr lang="en-US" sz="3200" dirty="0">
                <a:solidFill>
                  <a:srgbClr val="002033"/>
                </a:solidFill>
                <a:latin typeface="Times New Roman" panose="02020603050405020304" pitchFamily="18" charset="0"/>
                <a:cs typeface="Times New Roman" panose="02020603050405020304" pitchFamily="18" charset="0"/>
              </a:rPr>
              <a:t>Solving nonlinear equations with one variable</a:t>
            </a:r>
            <a:endParaRPr lang="ru-RU" sz="3200" dirty="0">
              <a:solidFill>
                <a:srgbClr val="002033"/>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39125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4598977" y="626640"/>
            <a:ext cx="2715808" cy="584775"/>
          </a:xfrm>
          <a:prstGeom prst="rect">
            <a:avLst/>
          </a:prstGeom>
        </p:spPr>
        <p:txBody>
          <a:bodyPr wrap="none">
            <a:spAutoFit/>
          </a:bodyPr>
          <a:lstStyle/>
          <a:p>
            <a:r>
              <a:rPr lang="en-US" sz="3200" b="0" i="0" dirty="0">
                <a:solidFill>
                  <a:srgbClr val="002033"/>
                </a:solidFill>
                <a:effectLst/>
                <a:latin typeface="Times New Roman" panose="02020603050405020304" pitchFamily="18" charset="0"/>
                <a:cs typeface="Times New Roman" panose="02020603050405020304" pitchFamily="18" charset="0"/>
              </a:rPr>
              <a:t>Setting the task</a:t>
            </a:r>
            <a:endParaRPr lang="ru-RU" sz="3200" dirty="0">
              <a:latin typeface="Times New Roman" panose="02020603050405020304" pitchFamily="18" charset="0"/>
              <a:cs typeface="Times New Roman" panose="02020603050405020304" pitchFamily="18" charset="0"/>
            </a:endParaRPr>
          </a:p>
        </p:txBody>
      </p:sp>
      <p:sp>
        <p:nvSpPr>
          <p:cNvPr id="5" name="Прямоугольник 4"/>
          <p:cNvSpPr/>
          <p:nvPr/>
        </p:nvSpPr>
        <p:spPr>
          <a:xfrm>
            <a:off x="950259" y="1595718"/>
            <a:ext cx="10578352" cy="3539430"/>
          </a:xfrm>
          <a:prstGeom prst="rect">
            <a:avLst/>
          </a:prstGeom>
        </p:spPr>
        <p:txBody>
          <a:bodyPr wrap="square">
            <a:spAutoFit/>
          </a:bodyPr>
          <a:lstStyle/>
          <a:p>
            <a:pPr indent="717550"/>
            <a:r>
              <a:rPr lang="en-US" sz="3200" b="0" i="0" dirty="0">
                <a:solidFill>
                  <a:srgbClr val="002033"/>
                </a:solidFill>
                <a:effectLst/>
                <a:latin typeface="Times New Roman" panose="02020603050405020304" pitchFamily="18" charset="0"/>
                <a:cs typeface="Times New Roman" panose="02020603050405020304" pitchFamily="18" charset="0"/>
              </a:rPr>
              <a:t>An equation </a:t>
            </a:r>
            <a:r>
              <a:rPr lang="ru-RU" sz="3200" b="0" i="0" dirty="0">
                <a:solidFill>
                  <a:srgbClr val="002033"/>
                </a:solidFill>
                <a:effectLst/>
                <a:latin typeface="Times New Roman" panose="02020603050405020304" pitchFamily="18" charset="0"/>
                <a:cs typeface="Times New Roman" panose="02020603050405020304" pitchFamily="18" charset="0"/>
              </a:rPr>
              <a:t>               </a:t>
            </a:r>
            <a:r>
              <a:rPr lang="en-US" sz="3200" b="0" i="0" dirty="0">
                <a:solidFill>
                  <a:srgbClr val="002033"/>
                </a:solidFill>
                <a:effectLst/>
                <a:latin typeface="Times New Roman" panose="02020603050405020304" pitchFamily="18" charset="0"/>
                <a:cs typeface="Times New Roman" panose="02020603050405020304" pitchFamily="18" charset="0"/>
              </a:rPr>
              <a:t>is given</a:t>
            </a:r>
            <a:r>
              <a:rPr lang="ru-RU" sz="3200" b="0" i="0" dirty="0">
                <a:solidFill>
                  <a:srgbClr val="002033"/>
                </a:solidFill>
                <a:effectLst/>
                <a:latin typeface="Times New Roman" panose="02020603050405020304" pitchFamily="18" charset="0"/>
                <a:cs typeface="Times New Roman" panose="02020603050405020304" pitchFamily="18" charset="0"/>
              </a:rPr>
              <a:t>,</a:t>
            </a:r>
            <a:r>
              <a:rPr lang="en-US" sz="3200" b="0" i="0" dirty="0">
                <a:solidFill>
                  <a:srgbClr val="002033"/>
                </a:solidFill>
                <a:effectLst/>
                <a:latin typeface="Times New Roman" panose="02020603050405020304" pitchFamily="18" charset="0"/>
                <a:cs typeface="Times New Roman" panose="02020603050405020304" pitchFamily="18" charset="0"/>
              </a:rPr>
              <a:t> where</a:t>
            </a:r>
            <a:r>
              <a:rPr lang="ru-RU" sz="3200" b="0" i="0" dirty="0">
                <a:solidFill>
                  <a:srgbClr val="002033"/>
                </a:solidFill>
                <a:effectLst/>
                <a:latin typeface="Times New Roman" panose="02020603050405020304" pitchFamily="18" charset="0"/>
                <a:cs typeface="Times New Roman" panose="02020603050405020304" pitchFamily="18" charset="0"/>
              </a:rPr>
              <a:t> </a:t>
            </a:r>
            <a:r>
              <a:rPr lang="en-US" sz="3200" b="0" i="0" dirty="0">
                <a:solidFill>
                  <a:srgbClr val="002033"/>
                </a:solidFill>
                <a:effectLst/>
                <a:latin typeface="Times New Roman" panose="02020603050405020304" pitchFamily="18" charset="0"/>
                <a:cs typeface="Times New Roman" panose="02020603050405020304" pitchFamily="18" charset="0"/>
              </a:rPr>
              <a:t>the function </a:t>
            </a:r>
            <a:r>
              <a:rPr lang="ru-RU" sz="3200" b="0" i="0" dirty="0">
                <a:solidFill>
                  <a:srgbClr val="002033"/>
                </a:solidFill>
                <a:effectLst/>
                <a:latin typeface="Times New Roman" panose="02020603050405020304" pitchFamily="18" charset="0"/>
                <a:cs typeface="Times New Roman" panose="02020603050405020304" pitchFamily="18" charset="0"/>
              </a:rPr>
              <a:t>       </a:t>
            </a:r>
            <a:r>
              <a:rPr lang="en-US" sz="3200" b="0" i="0" dirty="0">
                <a:solidFill>
                  <a:srgbClr val="002033"/>
                </a:solidFill>
                <a:effectLst/>
                <a:latin typeface="Times New Roman" panose="02020603050405020304" pitchFamily="18" charset="0"/>
                <a:cs typeface="Times New Roman" panose="02020603050405020304" pitchFamily="18" charset="0"/>
              </a:rPr>
              <a:t>is defined and continuous in a certain interval</a:t>
            </a:r>
            <a:r>
              <a:rPr lang="ru-RU" sz="3200" b="0" i="0" dirty="0">
                <a:solidFill>
                  <a:srgbClr val="002033"/>
                </a:solidFill>
                <a:effectLst/>
                <a:latin typeface="Times New Roman" panose="02020603050405020304" pitchFamily="18" charset="0"/>
                <a:cs typeface="Times New Roman" panose="02020603050405020304" pitchFamily="18" charset="0"/>
              </a:rPr>
              <a:t>                         (</a:t>
            </a:r>
            <a:r>
              <a:rPr lang="en-US" sz="3200" dirty="0">
                <a:solidFill>
                  <a:srgbClr val="002033"/>
                </a:solidFill>
                <a:latin typeface="Times New Roman" panose="02020603050405020304" pitchFamily="18" charset="0"/>
                <a:cs typeface="Times New Roman" panose="02020603050405020304" pitchFamily="18" charset="0"/>
              </a:rPr>
              <a:t>finite or infinite</a:t>
            </a:r>
            <a:r>
              <a:rPr lang="ru-RU" sz="3200" b="0" i="0" dirty="0">
                <a:solidFill>
                  <a:srgbClr val="002033"/>
                </a:solidFill>
                <a:effectLst/>
                <a:latin typeface="Times New Roman" panose="02020603050405020304" pitchFamily="18" charset="0"/>
                <a:cs typeface="Times New Roman" panose="02020603050405020304" pitchFamily="18" charset="0"/>
              </a:rPr>
              <a:t>)</a:t>
            </a:r>
            <a:r>
              <a:rPr lang="en-US" sz="3200" b="0" i="0" dirty="0">
                <a:solidFill>
                  <a:srgbClr val="002033"/>
                </a:solidFill>
                <a:effectLst/>
                <a:latin typeface="Times New Roman" panose="02020603050405020304" pitchFamily="18" charset="0"/>
                <a:cs typeface="Times New Roman" panose="02020603050405020304" pitchFamily="18" charset="0"/>
              </a:rPr>
              <a:t>. Continuity of the first or </a:t>
            </a:r>
            <a:r>
              <a:rPr lang="en-US" sz="3200" dirty="0">
                <a:solidFill>
                  <a:srgbClr val="002033"/>
                </a:solidFill>
                <a:latin typeface="Times New Roman" panose="02020603050405020304" pitchFamily="18" charset="0"/>
                <a:cs typeface="Times New Roman" panose="02020603050405020304" pitchFamily="18" charset="0"/>
              </a:rPr>
              <a:t>even</a:t>
            </a:r>
            <a:r>
              <a:rPr lang="en-US" sz="3200" b="0" i="0" dirty="0">
                <a:solidFill>
                  <a:srgbClr val="002033"/>
                </a:solidFill>
                <a:effectLst/>
                <a:latin typeface="Times New Roman" panose="02020603050405020304" pitchFamily="18" charset="0"/>
                <a:cs typeface="Times New Roman" panose="02020603050405020304" pitchFamily="18" charset="0"/>
              </a:rPr>
              <a:t> the second derivative is required. </a:t>
            </a:r>
            <a:endParaRPr lang="ru-RU" sz="3200" b="0" i="0" dirty="0">
              <a:solidFill>
                <a:srgbClr val="002033"/>
              </a:solidFill>
              <a:effectLst/>
              <a:latin typeface="Times New Roman" panose="02020603050405020304" pitchFamily="18" charset="0"/>
              <a:cs typeface="Times New Roman" panose="02020603050405020304" pitchFamily="18" charset="0"/>
            </a:endParaRPr>
          </a:p>
          <a:p>
            <a:pPr indent="717550"/>
            <a:r>
              <a:rPr lang="en-US" sz="3200" b="1" i="0" dirty="0">
                <a:solidFill>
                  <a:srgbClr val="002033"/>
                </a:solidFill>
                <a:effectLst/>
                <a:latin typeface="Times New Roman" panose="02020603050405020304" pitchFamily="18" charset="0"/>
                <a:cs typeface="Times New Roman" panose="02020603050405020304" pitchFamily="18" charset="0"/>
              </a:rPr>
              <a:t>Definition: </a:t>
            </a:r>
            <a:r>
              <a:rPr lang="en-US" sz="3200" b="0" i="0" dirty="0">
                <a:solidFill>
                  <a:srgbClr val="002033"/>
                </a:solidFill>
                <a:effectLst/>
                <a:latin typeface="Times New Roman" panose="02020603050405020304" pitchFamily="18" charset="0"/>
                <a:cs typeface="Times New Roman" panose="02020603050405020304" pitchFamily="18" charset="0"/>
              </a:rPr>
              <a:t>Any value</a:t>
            </a:r>
            <a:r>
              <a:rPr lang="ru-RU" sz="3200" b="0" i="0" dirty="0">
                <a:solidFill>
                  <a:srgbClr val="002033"/>
                </a:solidFill>
                <a:effectLst/>
                <a:latin typeface="Times New Roman" panose="02020603050405020304" pitchFamily="18" charset="0"/>
                <a:cs typeface="Times New Roman" panose="02020603050405020304" pitchFamily="18" charset="0"/>
              </a:rPr>
              <a:t>             </a:t>
            </a:r>
            <a:r>
              <a:rPr lang="en-US" sz="3200" b="0" i="0" dirty="0">
                <a:solidFill>
                  <a:srgbClr val="002033"/>
                </a:solidFill>
                <a:effectLst/>
                <a:latin typeface="Times New Roman" panose="02020603050405020304" pitchFamily="18" charset="0"/>
                <a:cs typeface="Times New Roman" panose="02020603050405020304" pitchFamily="18" charset="0"/>
              </a:rPr>
              <a:t> that converts an equation into an identity is called the root of the equation or the root (zero) of the function</a:t>
            </a:r>
            <a:r>
              <a:rPr lang="ru-RU" sz="3200" b="0" i="0" dirty="0">
                <a:solidFill>
                  <a:srgbClr val="002033"/>
                </a:solidFill>
                <a:effectLst/>
                <a:latin typeface="Times New Roman" panose="02020603050405020304" pitchFamily="18" charset="0"/>
                <a:cs typeface="Times New Roman" panose="02020603050405020304" pitchFamily="18" charset="0"/>
              </a:rPr>
              <a:t>          </a:t>
            </a:r>
            <a:r>
              <a:rPr lang="en-US" sz="3200" b="0" i="0" dirty="0">
                <a:solidFill>
                  <a:srgbClr val="002033"/>
                </a:solidFill>
                <a:effectLst/>
                <a:latin typeface="Times New Roman" panose="02020603050405020304" pitchFamily="18" charset="0"/>
                <a:cs typeface="Times New Roman" panose="02020603050405020304" pitchFamily="18" charset="0"/>
              </a:rPr>
              <a:t>.</a:t>
            </a:r>
            <a:endParaRPr lang="ru-RU" sz="3200" dirty="0">
              <a:latin typeface="Times New Roman" panose="02020603050405020304" pitchFamily="18" charset="0"/>
              <a:cs typeface="Times New Roman" panose="02020603050405020304" pitchFamily="18" charset="0"/>
            </a:endParaRPr>
          </a:p>
        </p:txBody>
      </p:sp>
      <p:pic>
        <p:nvPicPr>
          <p:cNvPr id="6" name="Рисунок 5"/>
          <p:cNvPicPr>
            <a:picLocks noChangeAspect="1"/>
          </p:cNvPicPr>
          <p:nvPr/>
        </p:nvPicPr>
        <p:blipFill>
          <a:blip r:embed="rId2"/>
          <a:stretch>
            <a:fillRect/>
          </a:stretch>
        </p:blipFill>
        <p:spPr>
          <a:xfrm>
            <a:off x="4141713" y="1729099"/>
            <a:ext cx="1021958" cy="383234"/>
          </a:xfrm>
          <a:prstGeom prst="rect">
            <a:avLst/>
          </a:prstGeom>
        </p:spPr>
      </p:pic>
      <p:pic>
        <p:nvPicPr>
          <p:cNvPr id="7" name="Рисунок 6"/>
          <p:cNvPicPr>
            <a:picLocks noChangeAspect="1"/>
          </p:cNvPicPr>
          <p:nvPr/>
        </p:nvPicPr>
        <p:blipFill>
          <a:blip r:embed="rId3"/>
          <a:stretch>
            <a:fillRect/>
          </a:stretch>
        </p:blipFill>
        <p:spPr>
          <a:xfrm>
            <a:off x="9847496" y="1682746"/>
            <a:ext cx="614116" cy="475940"/>
          </a:xfrm>
          <a:prstGeom prst="rect">
            <a:avLst/>
          </a:prstGeom>
        </p:spPr>
      </p:pic>
      <p:pic>
        <p:nvPicPr>
          <p:cNvPr id="8" name="Рисунок 7"/>
          <p:cNvPicPr>
            <a:picLocks noChangeAspect="1"/>
          </p:cNvPicPr>
          <p:nvPr/>
        </p:nvPicPr>
        <p:blipFill>
          <a:blip r:embed="rId4"/>
          <a:stretch>
            <a:fillRect/>
          </a:stretch>
        </p:blipFill>
        <p:spPr>
          <a:xfrm>
            <a:off x="8409434" y="2158685"/>
            <a:ext cx="2054030" cy="384303"/>
          </a:xfrm>
          <a:prstGeom prst="rect">
            <a:avLst/>
          </a:prstGeom>
        </p:spPr>
      </p:pic>
      <p:pic>
        <p:nvPicPr>
          <p:cNvPr id="9" name="Рисунок 8"/>
          <p:cNvPicPr>
            <a:picLocks noChangeAspect="1"/>
          </p:cNvPicPr>
          <p:nvPr/>
        </p:nvPicPr>
        <p:blipFill>
          <a:blip r:embed="rId5"/>
          <a:stretch>
            <a:fillRect/>
          </a:stretch>
        </p:blipFill>
        <p:spPr>
          <a:xfrm>
            <a:off x="5329431" y="3684192"/>
            <a:ext cx="909680" cy="476499"/>
          </a:xfrm>
          <a:prstGeom prst="rect">
            <a:avLst/>
          </a:prstGeom>
        </p:spPr>
      </p:pic>
      <p:pic>
        <p:nvPicPr>
          <p:cNvPr id="10" name="Рисунок 9"/>
          <p:cNvPicPr>
            <a:picLocks noChangeAspect="1"/>
          </p:cNvPicPr>
          <p:nvPr/>
        </p:nvPicPr>
        <p:blipFill>
          <a:blip r:embed="rId3"/>
          <a:stretch>
            <a:fillRect/>
          </a:stretch>
        </p:blipFill>
        <p:spPr>
          <a:xfrm>
            <a:off x="4699241" y="4506628"/>
            <a:ext cx="614116" cy="475940"/>
          </a:xfrm>
          <a:prstGeom prst="rect">
            <a:avLst/>
          </a:prstGeom>
        </p:spPr>
      </p:pic>
    </p:spTree>
    <p:extLst>
      <p:ext uri="{BB962C8B-B14F-4D97-AF65-F5344CB8AC3E}">
        <p14:creationId xmlns:p14="http://schemas.microsoft.com/office/powerpoint/2010/main" val="29680467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824754" y="820741"/>
            <a:ext cx="10650070" cy="3970318"/>
          </a:xfrm>
          <a:prstGeom prst="rect">
            <a:avLst/>
          </a:prstGeom>
        </p:spPr>
        <p:txBody>
          <a:bodyPr wrap="square">
            <a:spAutoFit/>
          </a:bodyPr>
          <a:lstStyle/>
          <a:p>
            <a:r>
              <a:rPr lang="en-US" sz="2800" b="1" i="0" dirty="0">
                <a:solidFill>
                  <a:srgbClr val="002033"/>
                </a:solidFill>
                <a:effectLst/>
                <a:latin typeface="Times New Roman" panose="02020603050405020304" pitchFamily="18" charset="0"/>
                <a:cs typeface="Times New Roman" panose="02020603050405020304" pitchFamily="18" charset="0"/>
              </a:rPr>
              <a:t>Definition: </a:t>
            </a:r>
            <a:r>
              <a:rPr lang="en-US" sz="2800" b="0" i="0" dirty="0">
                <a:solidFill>
                  <a:srgbClr val="002033"/>
                </a:solidFill>
                <a:effectLst/>
                <a:latin typeface="Times New Roman" panose="02020603050405020304" pitchFamily="18" charset="0"/>
                <a:cs typeface="Times New Roman" panose="02020603050405020304" pitchFamily="18" charset="0"/>
              </a:rPr>
              <a:t>A number </a:t>
            </a:r>
            <a:r>
              <a:rPr lang="ru-RU" sz="2800" b="0" i="0" dirty="0">
                <a:solidFill>
                  <a:srgbClr val="002033"/>
                </a:solidFill>
                <a:effectLst/>
                <a:latin typeface="Times New Roman" panose="02020603050405020304" pitchFamily="18" charset="0"/>
                <a:cs typeface="Times New Roman" panose="02020603050405020304" pitchFamily="18" charset="0"/>
              </a:rPr>
              <a:t>        </a:t>
            </a:r>
            <a:r>
              <a:rPr lang="en-US" sz="2800" b="0" i="0" dirty="0">
                <a:solidFill>
                  <a:srgbClr val="002033"/>
                </a:solidFill>
                <a:effectLst/>
                <a:latin typeface="Times New Roman" panose="02020603050405020304" pitchFamily="18" charset="0"/>
                <a:cs typeface="Times New Roman" panose="02020603050405020304" pitchFamily="18" charset="0"/>
              </a:rPr>
              <a:t>is called the root of the k-</a:t>
            </a:r>
            <a:r>
              <a:rPr lang="en-US" sz="2800" b="0" i="0" dirty="0" err="1">
                <a:solidFill>
                  <a:srgbClr val="002033"/>
                </a:solidFill>
                <a:effectLst/>
                <a:latin typeface="Times New Roman" panose="02020603050405020304" pitchFamily="18" charset="0"/>
                <a:cs typeface="Times New Roman" panose="02020603050405020304" pitchFamily="18" charset="0"/>
              </a:rPr>
              <a:t>th</a:t>
            </a:r>
            <a:r>
              <a:rPr lang="en-US" sz="2800" b="0" i="0" dirty="0">
                <a:solidFill>
                  <a:srgbClr val="002033"/>
                </a:solidFill>
                <a:effectLst/>
                <a:latin typeface="Times New Roman" panose="02020603050405020304" pitchFamily="18" charset="0"/>
                <a:cs typeface="Times New Roman" panose="02020603050405020304" pitchFamily="18" charset="0"/>
              </a:rPr>
              <a:t> multiplicity if, for </a:t>
            </a:r>
            <a:r>
              <a:rPr lang="ru-RU" sz="2800" b="0" i="0" dirty="0">
                <a:solidFill>
                  <a:srgbClr val="002033"/>
                </a:solidFill>
                <a:effectLst/>
                <a:latin typeface="Times New Roman" panose="02020603050405020304" pitchFamily="18" charset="0"/>
                <a:cs typeface="Times New Roman" panose="02020603050405020304" pitchFamily="18" charset="0"/>
              </a:rPr>
              <a:t>           </a:t>
            </a:r>
            <a:r>
              <a:rPr lang="en-US" sz="2800" b="0" i="0" dirty="0">
                <a:solidFill>
                  <a:srgbClr val="002033"/>
                </a:solidFill>
                <a:effectLst/>
                <a:latin typeface="Times New Roman" panose="02020603050405020304" pitchFamily="18" charset="0"/>
                <a:cs typeface="Times New Roman" panose="02020603050405020304" pitchFamily="18" charset="0"/>
              </a:rPr>
              <a:t> with a function</a:t>
            </a:r>
            <a:r>
              <a:rPr lang="ru-RU" sz="2800" b="0" i="0" dirty="0">
                <a:solidFill>
                  <a:srgbClr val="002033"/>
                </a:solidFill>
                <a:effectLst/>
                <a:latin typeface="Times New Roman" panose="02020603050405020304" pitchFamily="18" charset="0"/>
                <a:cs typeface="Times New Roman" panose="02020603050405020304" pitchFamily="18" charset="0"/>
              </a:rPr>
              <a:t>          </a:t>
            </a:r>
            <a:r>
              <a:rPr lang="en-US" sz="2800" b="0" i="0" dirty="0">
                <a:solidFill>
                  <a:srgbClr val="002033"/>
                </a:solidFill>
                <a:effectLst/>
                <a:latin typeface="Times New Roman" panose="02020603050405020304" pitchFamily="18" charset="0"/>
                <a:cs typeface="Times New Roman" panose="02020603050405020304" pitchFamily="18" charset="0"/>
              </a:rPr>
              <a:t>, its derivatives up to and including (k-1)</a:t>
            </a:r>
            <a:r>
              <a:rPr lang="en-US" sz="2800" b="0" i="0" dirty="0" err="1">
                <a:solidFill>
                  <a:srgbClr val="002033"/>
                </a:solidFill>
                <a:effectLst/>
                <a:latin typeface="Times New Roman" panose="02020603050405020304" pitchFamily="18" charset="0"/>
                <a:cs typeface="Times New Roman" panose="02020603050405020304" pitchFamily="18" charset="0"/>
              </a:rPr>
              <a:t>th</a:t>
            </a:r>
            <a:r>
              <a:rPr lang="en-US" sz="2800" b="0" i="0" dirty="0">
                <a:solidFill>
                  <a:srgbClr val="002033"/>
                </a:solidFill>
                <a:effectLst/>
                <a:latin typeface="Times New Roman" panose="02020603050405020304" pitchFamily="18" charset="0"/>
                <a:cs typeface="Times New Roman" panose="02020603050405020304" pitchFamily="18" charset="0"/>
              </a:rPr>
              <a:t> order are zero: </a:t>
            </a:r>
            <a:endParaRPr lang="ru-RU" sz="2800" b="0" i="0" dirty="0">
              <a:solidFill>
                <a:srgbClr val="002033"/>
              </a:solidFill>
              <a:effectLst/>
              <a:latin typeface="Times New Roman" panose="02020603050405020304" pitchFamily="18" charset="0"/>
              <a:cs typeface="Times New Roman" panose="02020603050405020304" pitchFamily="18" charset="0"/>
            </a:endParaRPr>
          </a:p>
          <a:p>
            <a:endParaRPr lang="ru-RU" sz="2800" dirty="0">
              <a:solidFill>
                <a:srgbClr val="002033"/>
              </a:solidFill>
              <a:latin typeface="Times New Roman" panose="02020603050405020304" pitchFamily="18" charset="0"/>
              <a:cs typeface="Times New Roman" panose="02020603050405020304" pitchFamily="18" charset="0"/>
            </a:endParaRPr>
          </a:p>
          <a:p>
            <a:endParaRPr lang="ru-RU" sz="2800" b="1" i="0" dirty="0">
              <a:solidFill>
                <a:srgbClr val="002033"/>
              </a:solidFill>
              <a:effectLst/>
              <a:latin typeface="Times New Roman" panose="02020603050405020304" pitchFamily="18" charset="0"/>
              <a:cs typeface="Times New Roman" panose="02020603050405020304" pitchFamily="18" charset="0"/>
            </a:endParaRPr>
          </a:p>
          <a:p>
            <a:endParaRPr lang="ru-RU" sz="2800" b="1" dirty="0">
              <a:solidFill>
                <a:srgbClr val="002033"/>
              </a:solidFill>
              <a:latin typeface="Times New Roman" panose="02020603050405020304" pitchFamily="18" charset="0"/>
              <a:cs typeface="Times New Roman" panose="02020603050405020304" pitchFamily="18" charset="0"/>
            </a:endParaRPr>
          </a:p>
          <a:p>
            <a:endParaRPr lang="ru-RU" sz="2800" b="1" i="0" dirty="0">
              <a:solidFill>
                <a:srgbClr val="002033"/>
              </a:solidFill>
              <a:effectLst/>
              <a:latin typeface="Times New Roman" panose="02020603050405020304" pitchFamily="18" charset="0"/>
              <a:cs typeface="Times New Roman" panose="02020603050405020304" pitchFamily="18" charset="0"/>
            </a:endParaRPr>
          </a:p>
          <a:p>
            <a:endParaRPr lang="ru-RU" sz="2800" b="1" dirty="0">
              <a:solidFill>
                <a:srgbClr val="002033"/>
              </a:solidFill>
              <a:latin typeface="Times New Roman" panose="02020603050405020304" pitchFamily="18" charset="0"/>
              <a:cs typeface="Times New Roman" panose="02020603050405020304" pitchFamily="18" charset="0"/>
            </a:endParaRPr>
          </a:p>
          <a:p>
            <a:r>
              <a:rPr lang="en-US" sz="2800" b="1" i="0" dirty="0">
                <a:solidFill>
                  <a:srgbClr val="002033"/>
                </a:solidFill>
                <a:effectLst/>
                <a:latin typeface="Times New Roman" panose="02020603050405020304" pitchFamily="18" charset="0"/>
                <a:cs typeface="Times New Roman" panose="02020603050405020304" pitchFamily="18" charset="0"/>
              </a:rPr>
              <a:t>Definition:</a:t>
            </a:r>
            <a:r>
              <a:rPr lang="en-US" sz="2800" b="0" i="0" dirty="0">
                <a:solidFill>
                  <a:srgbClr val="002033"/>
                </a:solidFill>
                <a:effectLst/>
                <a:latin typeface="Times New Roman" panose="02020603050405020304" pitchFamily="18" charset="0"/>
                <a:cs typeface="Times New Roman" panose="02020603050405020304" pitchFamily="18" charset="0"/>
              </a:rPr>
              <a:t> A single root is called a simple one.</a:t>
            </a:r>
            <a:endParaRPr lang="ru-RU" sz="2800" dirty="0">
              <a:latin typeface="Times New Roman" panose="02020603050405020304" pitchFamily="18" charset="0"/>
              <a:cs typeface="Times New Roman" panose="02020603050405020304" pitchFamily="18" charset="0"/>
            </a:endParaRPr>
          </a:p>
        </p:txBody>
      </p:sp>
      <p:pic>
        <p:nvPicPr>
          <p:cNvPr id="5" name="Рисунок 4"/>
          <p:cNvPicPr>
            <a:picLocks noChangeAspect="1"/>
          </p:cNvPicPr>
          <p:nvPr/>
        </p:nvPicPr>
        <p:blipFill>
          <a:blip r:embed="rId2"/>
          <a:stretch>
            <a:fillRect/>
          </a:stretch>
        </p:blipFill>
        <p:spPr>
          <a:xfrm>
            <a:off x="4369160" y="587659"/>
            <a:ext cx="400064" cy="720114"/>
          </a:xfrm>
          <a:prstGeom prst="rect">
            <a:avLst/>
          </a:prstGeom>
        </p:spPr>
      </p:pic>
      <p:pic>
        <p:nvPicPr>
          <p:cNvPr id="6" name="Рисунок 5"/>
          <p:cNvPicPr>
            <a:picLocks noChangeAspect="1"/>
          </p:cNvPicPr>
          <p:nvPr/>
        </p:nvPicPr>
        <p:blipFill>
          <a:blip r:embed="rId3"/>
          <a:stretch>
            <a:fillRect/>
          </a:stretch>
        </p:blipFill>
        <p:spPr>
          <a:xfrm>
            <a:off x="1556600" y="1326134"/>
            <a:ext cx="863006" cy="379341"/>
          </a:xfrm>
          <a:prstGeom prst="rect">
            <a:avLst/>
          </a:prstGeom>
        </p:spPr>
      </p:pic>
      <p:pic>
        <p:nvPicPr>
          <p:cNvPr id="7" name="Рисунок 6"/>
          <p:cNvPicPr>
            <a:picLocks noChangeAspect="1"/>
          </p:cNvPicPr>
          <p:nvPr/>
        </p:nvPicPr>
        <p:blipFill>
          <a:blip r:embed="rId4"/>
          <a:stretch>
            <a:fillRect/>
          </a:stretch>
        </p:blipFill>
        <p:spPr>
          <a:xfrm>
            <a:off x="5025810" y="1270046"/>
            <a:ext cx="509748" cy="417067"/>
          </a:xfrm>
          <a:prstGeom prst="rect">
            <a:avLst/>
          </a:prstGeom>
        </p:spPr>
      </p:pic>
      <p:pic>
        <p:nvPicPr>
          <p:cNvPr id="8" name="Рисунок 7"/>
          <p:cNvPicPr>
            <a:picLocks noChangeAspect="1"/>
          </p:cNvPicPr>
          <p:nvPr/>
        </p:nvPicPr>
        <p:blipFill>
          <a:blip r:embed="rId5"/>
          <a:stretch>
            <a:fillRect/>
          </a:stretch>
        </p:blipFill>
        <p:spPr>
          <a:xfrm>
            <a:off x="3394471" y="2626351"/>
            <a:ext cx="4566802" cy="565084"/>
          </a:xfrm>
          <a:prstGeom prst="rect">
            <a:avLst/>
          </a:prstGeom>
        </p:spPr>
      </p:pic>
    </p:spTree>
    <p:extLst>
      <p:ext uri="{BB962C8B-B14F-4D97-AF65-F5344CB8AC3E}">
        <p14:creationId xmlns:p14="http://schemas.microsoft.com/office/powerpoint/2010/main" val="7148611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627529" y="669248"/>
            <a:ext cx="10919012" cy="5078313"/>
          </a:xfrm>
          <a:prstGeom prst="rect">
            <a:avLst/>
          </a:prstGeom>
        </p:spPr>
        <p:txBody>
          <a:bodyPr wrap="square">
            <a:spAutoFit/>
          </a:bodyPr>
          <a:lstStyle/>
          <a:p>
            <a:pPr algn="just"/>
            <a:r>
              <a:rPr lang="en-US" sz="3600" b="1" i="0" dirty="0">
                <a:solidFill>
                  <a:srgbClr val="002033"/>
                </a:solidFill>
                <a:effectLst/>
                <a:latin typeface="Times New Roman" panose="02020603050405020304" pitchFamily="18" charset="0"/>
                <a:cs typeface="Times New Roman" panose="02020603050405020304" pitchFamily="18" charset="0"/>
              </a:rPr>
              <a:t>Definition: </a:t>
            </a:r>
            <a:r>
              <a:rPr lang="en-US" sz="3600" b="0" i="0" dirty="0">
                <a:solidFill>
                  <a:srgbClr val="002033"/>
                </a:solidFill>
                <a:effectLst/>
                <a:latin typeface="Times New Roman" panose="02020603050405020304" pitchFamily="18" charset="0"/>
                <a:cs typeface="Times New Roman" panose="02020603050405020304" pitchFamily="18" charset="0"/>
              </a:rPr>
              <a:t>Equations </a:t>
            </a:r>
            <a:r>
              <a:rPr lang="ru-RU" sz="3600" b="0" i="0" dirty="0">
                <a:solidFill>
                  <a:srgbClr val="002033"/>
                </a:solidFill>
                <a:effectLst/>
                <a:latin typeface="Times New Roman" panose="02020603050405020304" pitchFamily="18" charset="0"/>
                <a:cs typeface="Times New Roman" panose="02020603050405020304" pitchFamily="18" charset="0"/>
              </a:rPr>
              <a:t>       </a:t>
            </a:r>
            <a:r>
              <a:rPr lang="en-US" sz="3600" b="0" i="0" dirty="0">
                <a:solidFill>
                  <a:srgbClr val="002033"/>
                </a:solidFill>
                <a:effectLst/>
                <a:latin typeface="Times New Roman" panose="02020603050405020304" pitchFamily="18" charset="0"/>
                <a:cs typeface="Times New Roman" panose="02020603050405020304" pitchFamily="18" charset="0"/>
              </a:rPr>
              <a:t> and </a:t>
            </a:r>
            <a:r>
              <a:rPr lang="ru-RU" sz="3600" b="0" i="0" dirty="0">
                <a:solidFill>
                  <a:srgbClr val="002033"/>
                </a:solidFill>
                <a:effectLst/>
                <a:latin typeface="Times New Roman" panose="02020603050405020304" pitchFamily="18" charset="0"/>
                <a:cs typeface="Times New Roman" panose="02020603050405020304" pitchFamily="18" charset="0"/>
              </a:rPr>
              <a:t>          </a:t>
            </a:r>
            <a:r>
              <a:rPr lang="en-US" sz="3600" b="0" i="0" dirty="0">
                <a:solidFill>
                  <a:srgbClr val="002033"/>
                </a:solidFill>
                <a:effectLst/>
                <a:latin typeface="Times New Roman" panose="02020603050405020304" pitchFamily="18" charset="0"/>
                <a:cs typeface="Times New Roman" panose="02020603050405020304" pitchFamily="18" charset="0"/>
              </a:rPr>
              <a:t>are called equivalent if the sets of solutions to these equations coincide. </a:t>
            </a:r>
            <a:endParaRPr lang="ru-RU" sz="3600" b="0" i="0" dirty="0">
              <a:solidFill>
                <a:srgbClr val="002033"/>
              </a:solidFill>
              <a:effectLst/>
              <a:latin typeface="Times New Roman" panose="02020603050405020304" pitchFamily="18" charset="0"/>
              <a:cs typeface="Times New Roman" panose="02020603050405020304" pitchFamily="18" charset="0"/>
            </a:endParaRPr>
          </a:p>
          <a:p>
            <a:pPr algn="just"/>
            <a:r>
              <a:rPr lang="en-US" sz="3600" b="1" i="0" dirty="0">
                <a:solidFill>
                  <a:srgbClr val="002033"/>
                </a:solidFill>
                <a:effectLst/>
                <a:latin typeface="Times New Roman" panose="02020603050405020304" pitchFamily="18" charset="0"/>
                <a:cs typeface="Times New Roman" panose="02020603050405020304" pitchFamily="18" charset="0"/>
              </a:rPr>
              <a:t>Definition: </a:t>
            </a:r>
            <a:r>
              <a:rPr lang="en-US" sz="3600" b="0" i="0" dirty="0">
                <a:solidFill>
                  <a:srgbClr val="002033"/>
                </a:solidFill>
                <a:effectLst/>
                <a:latin typeface="Times New Roman" panose="02020603050405020304" pitchFamily="18" charset="0"/>
                <a:cs typeface="Times New Roman" panose="02020603050405020304" pitchFamily="18" charset="0"/>
              </a:rPr>
              <a:t>To solve an equation </a:t>
            </a:r>
            <a:r>
              <a:rPr lang="ru-RU" sz="3600" b="0" i="0" dirty="0">
                <a:solidFill>
                  <a:srgbClr val="002033"/>
                </a:solidFill>
                <a:effectLst/>
                <a:latin typeface="Times New Roman" panose="02020603050405020304" pitchFamily="18" charset="0"/>
                <a:cs typeface="Times New Roman" panose="02020603050405020304" pitchFamily="18" charset="0"/>
              </a:rPr>
              <a:t>             </a:t>
            </a:r>
            <a:r>
              <a:rPr lang="en-US" sz="3600" b="0" i="0" dirty="0">
                <a:solidFill>
                  <a:srgbClr val="002033"/>
                </a:solidFill>
                <a:effectLst/>
                <a:latin typeface="Times New Roman" panose="02020603050405020304" pitchFamily="18" charset="0"/>
                <a:cs typeface="Times New Roman" panose="02020603050405020304" pitchFamily="18" charset="0"/>
              </a:rPr>
              <a:t>means the following: </a:t>
            </a:r>
            <a:endParaRPr lang="ru-RU" sz="3600" b="0" i="0" dirty="0">
              <a:solidFill>
                <a:srgbClr val="002033"/>
              </a:solidFill>
              <a:effectLst/>
              <a:latin typeface="Times New Roman" panose="02020603050405020304" pitchFamily="18" charset="0"/>
              <a:cs typeface="Times New Roman" panose="02020603050405020304" pitchFamily="18" charset="0"/>
            </a:endParaRPr>
          </a:p>
          <a:p>
            <a:pPr marL="742950" indent="-742950" algn="just">
              <a:buAutoNum type="arabicPeriod"/>
            </a:pPr>
            <a:r>
              <a:rPr lang="en-US" sz="3600" b="0" i="0" dirty="0">
                <a:solidFill>
                  <a:srgbClr val="002033"/>
                </a:solidFill>
                <a:effectLst/>
                <a:latin typeface="Times New Roman" panose="02020603050405020304" pitchFamily="18" charset="0"/>
                <a:cs typeface="Times New Roman" panose="02020603050405020304" pitchFamily="18" charset="0"/>
              </a:rPr>
              <a:t>To determine whether the equation has roots; </a:t>
            </a:r>
            <a:endParaRPr lang="ru-RU" sz="3600" b="0" i="0" dirty="0">
              <a:solidFill>
                <a:srgbClr val="002033"/>
              </a:solidFill>
              <a:effectLst/>
              <a:latin typeface="Times New Roman" panose="02020603050405020304" pitchFamily="18" charset="0"/>
              <a:cs typeface="Times New Roman" panose="02020603050405020304" pitchFamily="18" charset="0"/>
            </a:endParaRPr>
          </a:p>
          <a:p>
            <a:pPr marL="742950" indent="-742950" algn="just">
              <a:buAutoNum type="arabicPeriod"/>
            </a:pPr>
            <a:r>
              <a:rPr lang="en-US" sz="3600" b="0" i="0" dirty="0">
                <a:solidFill>
                  <a:srgbClr val="002033"/>
                </a:solidFill>
                <a:effectLst/>
                <a:latin typeface="Times New Roman" panose="02020603050405020304" pitchFamily="18" charset="0"/>
                <a:cs typeface="Times New Roman" panose="02020603050405020304" pitchFamily="18" charset="0"/>
              </a:rPr>
              <a:t>Determine the number of roots of the equation; </a:t>
            </a:r>
            <a:endParaRPr lang="ru-RU" sz="3600" b="0" i="0" dirty="0">
              <a:solidFill>
                <a:srgbClr val="002033"/>
              </a:solidFill>
              <a:effectLst/>
              <a:latin typeface="Times New Roman" panose="02020603050405020304" pitchFamily="18" charset="0"/>
              <a:cs typeface="Times New Roman" panose="02020603050405020304" pitchFamily="18" charset="0"/>
            </a:endParaRPr>
          </a:p>
          <a:p>
            <a:pPr marL="742950" indent="-742950" algn="just">
              <a:buAutoNum type="arabicPeriod"/>
            </a:pPr>
            <a:r>
              <a:rPr lang="en-US" sz="3600" b="0" i="0" dirty="0">
                <a:solidFill>
                  <a:srgbClr val="002033"/>
                </a:solidFill>
                <a:effectLst/>
                <a:latin typeface="Times New Roman" panose="02020603050405020304" pitchFamily="18" charset="0"/>
                <a:cs typeface="Times New Roman" panose="02020603050405020304" pitchFamily="18" charset="0"/>
              </a:rPr>
              <a:t>Find the values of the roots of the equation with a given accuracy.</a:t>
            </a:r>
            <a:endParaRPr lang="ru-RU" sz="3600" dirty="0">
              <a:latin typeface="Times New Roman" panose="02020603050405020304" pitchFamily="18" charset="0"/>
              <a:cs typeface="Times New Roman" panose="02020603050405020304" pitchFamily="18" charset="0"/>
            </a:endParaRPr>
          </a:p>
        </p:txBody>
      </p:sp>
      <p:pic>
        <p:nvPicPr>
          <p:cNvPr id="5" name="Рисунок 4"/>
          <p:cNvPicPr>
            <a:picLocks noChangeAspect="1"/>
          </p:cNvPicPr>
          <p:nvPr/>
        </p:nvPicPr>
        <p:blipFill>
          <a:blip r:embed="rId2"/>
          <a:stretch>
            <a:fillRect/>
          </a:stretch>
        </p:blipFill>
        <p:spPr>
          <a:xfrm>
            <a:off x="5111772" y="832292"/>
            <a:ext cx="1151747" cy="448575"/>
          </a:xfrm>
          <a:prstGeom prst="rect">
            <a:avLst/>
          </a:prstGeom>
        </p:spPr>
      </p:pic>
      <p:pic>
        <p:nvPicPr>
          <p:cNvPr id="6" name="Рисунок 5"/>
          <p:cNvPicPr>
            <a:picLocks noChangeAspect="1"/>
          </p:cNvPicPr>
          <p:nvPr/>
        </p:nvPicPr>
        <p:blipFill>
          <a:blip r:embed="rId3"/>
          <a:stretch>
            <a:fillRect/>
          </a:stretch>
        </p:blipFill>
        <p:spPr>
          <a:xfrm>
            <a:off x="7711537" y="832292"/>
            <a:ext cx="1235239" cy="376454"/>
          </a:xfrm>
          <a:prstGeom prst="rect">
            <a:avLst/>
          </a:prstGeom>
        </p:spPr>
      </p:pic>
      <p:pic>
        <p:nvPicPr>
          <p:cNvPr id="7" name="Рисунок 6"/>
          <p:cNvPicPr>
            <a:picLocks noChangeAspect="1"/>
          </p:cNvPicPr>
          <p:nvPr/>
        </p:nvPicPr>
        <p:blipFill>
          <a:blip r:embed="rId2"/>
          <a:stretch>
            <a:fillRect/>
          </a:stretch>
        </p:blipFill>
        <p:spPr>
          <a:xfrm>
            <a:off x="7666713" y="2463644"/>
            <a:ext cx="1151747" cy="448575"/>
          </a:xfrm>
          <a:prstGeom prst="rect">
            <a:avLst/>
          </a:prstGeom>
        </p:spPr>
      </p:pic>
    </p:spTree>
    <p:extLst>
      <p:ext uri="{BB962C8B-B14F-4D97-AF65-F5344CB8AC3E}">
        <p14:creationId xmlns:p14="http://schemas.microsoft.com/office/powerpoint/2010/main" val="1456899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591670" y="1191014"/>
            <a:ext cx="10972800" cy="3970318"/>
          </a:xfrm>
          <a:prstGeom prst="rect">
            <a:avLst/>
          </a:prstGeom>
        </p:spPr>
        <p:txBody>
          <a:bodyPr wrap="square">
            <a:spAutoFit/>
          </a:bodyPr>
          <a:lstStyle/>
          <a:p>
            <a:pPr indent="717550" algn="just"/>
            <a:r>
              <a:rPr lang="en-US" sz="2800" b="0" i="0" dirty="0">
                <a:solidFill>
                  <a:srgbClr val="002033"/>
                </a:solidFill>
                <a:effectLst/>
                <a:latin typeface="Times New Roman" panose="02020603050405020304" pitchFamily="18" charset="0"/>
                <a:cs typeface="Times New Roman" panose="02020603050405020304" pitchFamily="18" charset="0"/>
              </a:rPr>
              <a:t>We will consider the case of isolated roots, that is, for each root there is a neighborhood that does not contain other roots. </a:t>
            </a:r>
            <a:endParaRPr lang="ru-RU" sz="2800" b="0" i="0" dirty="0">
              <a:solidFill>
                <a:srgbClr val="002033"/>
              </a:solidFill>
              <a:effectLst/>
              <a:latin typeface="Times New Roman" panose="02020603050405020304" pitchFamily="18" charset="0"/>
              <a:cs typeface="Times New Roman" panose="02020603050405020304" pitchFamily="18" charset="0"/>
            </a:endParaRPr>
          </a:p>
          <a:p>
            <a:pPr indent="717550" algn="just"/>
            <a:r>
              <a:rPr lang="en-US" sz="2800" b="0" i="0" dirty="0">
                <a:solidFill>
                  <a:srgbClr val="002033"/>
                </a:solidFill>
                <a:effectLst/>
                <a:latin typeface="Times New Roman" panose="02020603050405020304" pitchFamily="18" charset="0"/>
                <a:cs typeface="Times New Roman" panose="02020603050405020304" pitchFamily="18" charset="0"/>
              </a:rPr>
              <a:t>It is often difficult to find the roots, because the function is very complex and does not have explicit expressions for the roots, or the recommended algorithms are very complex. In these cases, the task can be formulated differently: find the approximate values of the roots, and then refine their approximate values to the required accuracy. </a:t>
            </a:r>
            <a:endParaRPr lang="ru-RU" sz="2800" b="0" i="0" dirty="0">
              <a:solidFill>
                <a:srgbClr val="002033"/>
              </a:solidFill>
              <a:effectLst/>
              <a:latin typeface="Times New Roman" panose="02020603050405020304" pitchFamily="18" charset="0"/>
              <a:cs typeface="Times New Roman" panose="02020603050405020304" pitchFamily="18" charset="0"/>
            </a:endParaRPr>
          </a:p>
          <a:p>
            <a:pPr indent="717550" algn="just"/>
            <a:r>
              <a:rPr lang="en-US" sz="2800" b="0" i="0" dirty="0">
                <a:solidFill>
                  <a:srgbClr val="002033"/>
                </a:solidFill>
                <a:effectLst/>
                <a:latin typeface="Times New Roman" panose="02020603050405020304" pitchFamily="18" charset="0"/>
                <a:cs typeface="Times New Roman" panose="02020603050405020304" pitchFamily="18" charset="0"/>
              </a:rPr>
              <a:t>A number of numerical methods have been developed to solve the problem in this formulation.</a:t>
            </a:r>
            <a:endParaRPr lang="ru-RU"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193260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075765" y="749024"/>
            <a:ext cx="10488706" cy="3416320"/>
          </a:xfrm>
          <a:prstGeom prst="rect">
            <a:avLst/>
          </a:prstGeom>
        </p:spPr>
        <p:txBody>
          <a:bodyPr wrap="square">
            <a:spAutoFit/>
          </a:bodyPr>
          <a:lstStyle/>
          <a:p>
            <a:r>
              <a:rPr lang="en-US" sz="3600" b="0" i="0" dirty="0">
                <a:solidFill>
                  <a:srgbClr val="002033"/>
                </a:solidFill>
                <a:effectLst/>
                <a:latin typeface="Times New Roman" panose="02020603050405020304" pitchFamily="18" charset="0"/>
                <a:cs typeface="Times New Roman" panose="02020603050405020304" pitchFamily="18" charset="0"/>
              </a:rPr>
              <a:t>The approximate finding of isolated real roots usually consists of two stages: </a:t>
            </a:r>
            <a:endParaRPr lang="ru-RU" sz="3600" b="0" i="0" dirty="0">
              <a:solidFill>
                <a:srgbClr val="002033"/>
              </a:solidFill>
              <a:effectLst/>
              <a:latin typeface="Times New Roman" panose="02020603050405020304" pitchFamily="18" charset="0"/>
              <a:cs typeface="Times New Roman" panose="02020603050405020304" pitchFamily="18" charset="0"/>
            </a:endParaRPr>
          </a:p>
          <a:p>
            <a:endParaRPr lang="ru-RU" sz="3600" b="0" i="0" dirty="0">
              <a:solidFill>
                <a:srgbClr val="002033"/>
              </a:solidFill>
              <a:effectLst/>
              <a:latin typeface="Times New Roman" panose="02020603050405020304" pitchFamily="18" charset="0"/>
              <a:cs typeface="Times New Roman" panose="02020603050405020304" pitchFamily="18" charset="0"/>
            </a:endParaRPr>
          </a:p>
          <a:p>
            <a:pPr marL="571500" indent="-571500">
              <a:buFont typeface="Arial" panose="020B0604020202020204" pitchFamily="34" charset="0"/>
              <a:buChar char="•"/>
            </a:pPr>
            <a:r>
              <a:rPr lang="en-US" sz="3600" b="0" i="0" dirty="0">
                <a:solidFill>
                  <a:srgbClr val="002033"/>
                </a:solidFill>
                <a:effectLst/>
                <a:latin typeface="Times New Roman" panose="02020603050405020304" pitchFamily="18" charset="0"/>
                <a:cs typeface="Times New Roman" panose="02020603050405020304" pitchFamily="18" charset="0"/>
              </a:rPr>
              <a:t>the definition of roots, that is, the establishment of possibly close intervals containing the root; </a:t>
            </a:r>
            <a:endParaRPr lang="ru-RU" sz="3600" b="0" i="0" dirty="0">
              <a:solidFill>
                <a:srgbClr val="002033"/>
              </a:solidFill>
              <a:effectLst/>
              <a:latin typeface="Times New Roman" panose="02020603050405020304" pitchFamily="18" charset="0"/>
              <a:cs typeface="Times New Roman" panose="02020603050405020304" pitchFamily="18" charset="0"/>
            </a:endParaRPr>
          </a:p>
          <a:p>
            <a:pPr marL="571500" indent="-571500">
              <a:buFont typeface="Arial" panose="020B0604020202020204" pitchFamily="34" charset="0"/>
              <a:buChar char="•"/>
            </a:pPr>
            <a:r>
              <a:rPr lang="en-US" sz="3600" b="0" i="0" dirty="0">
                <a:solidFill>
                  <a:srgbClr val="002033"/>
                </a:solidFill>
                <a:effectLst/>
                <a:latin typeface="Times New Roman" panose="02020603050405020304" pitchFamily="18" charset="0"/>
                <a:cs typeface="Times New Roman" panose="02020603050405020304" pitchFamily="18" charset="0"/>
              </a:rPr>
              <a:t>refinement of approximate roots</a:t>
            </a:r>
            <a:endParaRPr lang="ru-RU"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23466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4415551" y="518388"/>
            <a:ext cx="3111686" cy="523220"/>
          </a:xfrm>
          <a:prstGeom prst="rect">
            <a:avLst/>
          </a:prstGeom>
        </p:spPr>
        <p:txBody>
          <a:bodyPr wrap="none">
            <a:spAutoFit/>
          </a:bodyPr>
          <a:lstStyle/>
          <a:p>
            <a:r>
              <a:rPr lang="ru-RU" sz="2800" b="1" dirty="0" err="1">
                <a:latin typeface="Times New Roman" panose="02020603050405020304" pitchFamily="18" charset="0"/>
                <a:cs typeface="Times New Roman" panose="02020603050405020304" pitchFamily="18" charset="0"/>
              </a:rPr>
              <a:t>Separation</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of</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roots</a:t>
            </a:r>
            <a:endParaRPr lang="ru-RU" sz="2800" b="1" dirty="0">
              <a:latin typeface="Times New Roman" panose="02020603050405020304" pitchFamily="18" charset="0"/>
              <a:cs typeface="Times New Roman" panose="02020603050405020304" pitchFamily="18" charset="0"/>
            </a:endParaRPr>
          </a:p>
        </p:txBody>
      </p:sp>
      <p:sp>
        <p:nvSpPr>
          <p:cNvPr id="5" name="Прямоугольник 4"/>
          <p:cNvSpPr/>
          <p:nvPr/>
        </p:nvSpPr>
        <p:spPr>
          <a:xfrm>
            <a:off x="866845" y="1689195"/>
            <a:ext cx="10209098" cy="2677656"/>
          </a:xfrm>
          <a:prstGeom prst="rect">
            <a:avLst/>
          </a:prstGeom>
        </p:spPr>
        <p:txBody>
          <a:bodyPr wrap="square">
            <a:spAutoFit/>
          </a:bodyPr>
          <a:lstStyle/>
          <a:p>
            <a:pPr indent="723900" algn="just"/>
            <a:r>
              <a:rPr lang="ru-RU" sz="2400" b="1" dirty="0" err="1">
                <a:latin typeface="Times New Roman" panose="02020603050405020304" pitchFamily="18" charset="0"/>
                <a:cs typeface="Times New Roman" panose="02020603050405020304" pitchFamily="18" charset="0"/>
              </a:rPr>
              <a:t>Definition</a:t>
            </a:r>
            <a:r>
              <a:rPr lang="ru-RU" sz="2400" b="1" dirty="0">
                <a:latin typeface="Times New Roman" panose="02020603050405020304" pitchFamily="18" charset="0"/>
                <a:cs typeface="Times New Roman" panose="02020603050405020304" pitchFamily="18" charset="0"/>
              </a:rPr>
              <a:t>: </a:t>
            </a:r>
            <a:r>
              <a:rPr lang="ru-RU" sz="2400" b="1" dirty="0" err="1">
                <a:latin typeface="Times New Roman" panose="02020603050405020304" pitchFamily="18" charset="0"/>
                <a:cs typeface="Times New Roman" panose="02020603050405020304" pitchFamily="18" charset="0"/>
              </a:rPr>
              <a:t>Root</a:t>
            </a:r>
            <a:r>
              <a:rPr lang="ru-RU" sz="2400" b="1" dirty="0">
                <a:latin typeface="Times New Roman" panose="02020603050405020304" pitchFamily="18" charset="0"/>
                <a:cs typeface="Times New Roman" panose="02020603050405020304" pitchFamily="18" charset="0"/>
              </a:rPr>
              <a:t> </a:t>
            </a:r>
            <a:r>
              <a:rPr lang="ru-RU" sz="2400" b="1" dirty="0" err="1">
                <a:latin typeface="Times New Roman" panose="02020603050405020304" pitchFamily="18" charset="0"/>
                <a:cs typeface="Times New Roman" panose="02020603050405020304" pitchFamily="18" charset="0"/>
              </a:rPr>
              <a:t>separation</a:t>
            </a:r>
            <a:r>
              <a:rPr lang="ru-RU" sz="2400" b="1"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is</a:t>
            </a:r>
            <a:r>
              <a:rPr lang="ru-RU" sz="2400" dirty="0">
                <a:latin typeface="Times New Roman" panose="02020603050405020304" pitchFamily="18" charset="0"/>
                <a:cs typeface="Times New Roman" panose="02020603050405020304" pitchFamily="18" charset="0"/>
              </a:rPr>
              <a:t> a </a:t>
            </a:r>
            <a:r>
              <a:rPr lang="ru-RU" sz="2400" dirty="0" err="1">
                <a:latin typeface="Times New Roman" panose="02020603050405020304" pitchFamily="18" charset="0"/>
                <a:cs typeface="Times New Roman" panose="02020603050405020304" pitchFamily="18" charset="0"/>
              </a:rPr>
              <a:t>procedure</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for</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finding</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segments</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on</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which</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the</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equation</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has</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only</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one</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solution</a:t>
            </a:r>
            <a:r>
              <a:rPr lang="ru-RU" sz="2400" dirty="0">
                <a:latin typeface="Times New Roman" panose="02020603050405020304" pitchFamily="18" charset="0"/>
                <a:cs typeface="Times New Roman" panose="02020603050405020304" pitchFamily="18" charset="0"/>
              </a:rPr>
              <a:t>.</a:t>
            </a:r>
          </a:p>
          <a:p>
            <a:pPr indent="723900" algn="just"/>
            <a:r>
              <a:rPr lang="ru-RU" sz="2400" dirty="0" err="1">
                <a:latin typeface="Times New Roman" panose="02020603050405020304" pitchFamily="18" charset="0"/>
                <a:cs typeface="Times New Roman" panose="02020603050405020304" pitchFamily="18" charset="0"/>
              </a:rPr>
              <a:t>Theorem</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If</a:t>
            </a:r>
            <a:r>
              <a:rPr lang="ru-RU" sz="2400" dirty="0">
                <a:latin typeface="Times New Roman" panose="02020603050405020304" pitchFamily="18" charset="0"/>
                <a:cs typeface="Times New Roman" panose="02020603050405020304" pitchFamily="18" charset="0"/>
              </a:rPr>
              <a:t> a </a:t>
            </a:r>
            <a:r>
              <a:rPr lang="ru-RU" sz="2400" dirty="0" err="1">
                <a:latin typeface="Times New Roman" panose="02020603050405020304" pitchFamily="18" charset="0"/>
                <a:cs typeface="Times New Roman" panose="02020603050405020304" pitchFamily="18" charset="0"/>
              </a:rPr>
              <a:t>continuous</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function</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takes</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values</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of</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different</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signs</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at</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the</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ends</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of</a:t>
            </a:r>
            <a:r>
              <a:rPr lang="ru-RU" sz="2400" dirty="0">
                <a:latin typeface="Times New Roman" panose="02020603050405020304" pitchFamily="18" charset="0"/>
                <a:cs typeface="Times New Roman" panose="02020603050405020304" pitchFamily="18" charset="0"/>
              </a:rPr>
              <a:t> a </a:t>
            </a:r>
            <a:r>
              <a:rPr lang="ru-RU" sz="2400" dirty="0" err="1">
                <a:latin typeface="Times New Roman" panose="02020603050405020304" pitchFamily="18" charset="0"/>
                <a:cs typeface="Times New Roman" panose="02020603050405020304" pitchFamily="18" charset="0"/>
              </a:rPr>
              <a:t>segment</a:t>
            </a:r>
            <a:r>
              <a:rPr lang="ru-RU" sz="2400" dirty="0">
                <a:latin typeface="Times New Roman" panose="02020603050405020304" pitchFamily="18" charset="0"/>
                <a:cs typeface="Times New Roman" panose="02020603050405020304" pitchFamily="18" charset="0"/>
              </a:rPr>
              <a:t>             , </a:t>
            </a:r>
            <a:r>
              <a:rPr lang="ru-RU" sz="2400" dirty="0" err="1">
                <a:latin typeface="Times New Roman" panose="02020603050405020304" pitchFamily="18" charset="0"/>
                <a:cs typeface="Times New Roman" panose="02020603050405020304" pitchFamily="18" charset="0"/>
              </a:rPr>
              <a:t>i.e</a:t>
            </a:r>
            <a:r>
              <a:rPr lang="ru-RU" sz="2400" dirty="0">
                <a:latin typeface="Times New Roman" panose="02020603050405020304" pitchFamily="18" charset="0"/>
                <a:cs typeface="Times New Roman" panose="02020603050405020304" pitchFamily="18" charset="0"/>
              </a:rPr>
              <a:t>.                  , </a:t>
            </a:r>
            <a:r>
              <a:rPr lang="ru-RU" sz="2400" dirty="0" err="1">
                <a:latin typeface="Times New Roman" panose="02020603050405020304" pitchFamily="18" charset="0"/>
                <a:cs typeface="Times New Roman" panose="02020603050405020304" pitchFamily="18" charset="0"/>
              </a:rPr>
              <a:t>then</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at</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least</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one</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root</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of</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the</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equation</a:t>
            </a:r>
            <a:r>
              <a:rPr lang="en-US"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is</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contained</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inside</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this</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segment</a:t>
            </a:r>
            <a:r>
              <a:rPr lang="ru-RU" sz="2400" dirty="0">
                <a:latin typeface="Times New Roman" panose="02020603050405020304" pitchFamily="18" charset="0"/>
                <a:cs typeface="Times New Roman" panose="02020603050405020304" pitchFamily="18" charset="0"/>
              </a:rPr>
              <a:t>.</a:t>
            </a:r>
          </a:p>
          <a:p>
            <a:pPr indent="723900" algn="just"/>
            <a:r>
              <a:rPr lang="ru-RU"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root</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will</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obviously</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be</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the</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only</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one</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if</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the</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derivative</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exists</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and</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retains</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the</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sign</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inside</a:t>
            </a:r>
            <a:r>
              <a:rPr lang="ru-RU" sz="2400" dirty="0">
                <a:latin typeface="Times New Roman" panose="02020603050405020304" pitchFamily="18" charset="0"/>
                <a:cs typeface="Times New Roman" panose="02020603050405020304" pitchFamily="18" charset="0"/>
              </a:rPr>
              <a:t>             .</a:t>
            </a:r>
          </a:p>
        </p:txBody>
      </p:sp>
      <p:pic>
        <p:nvPicPr>
          <p:cNvPr id="6" name="Рисунок 5"/>
          <p:cNvPicPr>
            <a:picLocks noChangeAspect="1"/>
          </p:cNvPicPr>
          <p:nvPr/>
        </p:nvPicPr>
        <p:blipFill>
          <a:blip r:embed="rId2"/>
          <a:stretch>
            <a:fillRect/>
          </a:stretch>
        </p:blipFill>
        <p:spPr>
          <a:xfrm>
            <a:off x="2711356" y="2843357"/>
            <a:ext cx="666843" cy="352474"/>
          </a:xfrm>
          <a:prstGeom prst="rect">
            <a:avLst/>
          </a:prstGeom>
        </p:spPr>
      </p:pic>
      <p:pic>
        <p:nvPicPr>
          <p:cNvPr id="7" name="Рисунок 6"/>
          <p:cNvPicPr>
            <a:picLocks noChangeAspect="1"/>
          </p:cNvPicPr>
          <p:nvPr/>
        </p:nvPicPr>
        <p:blipFill>
          <a:blip r:embed="rId3"/>
          <a:stretch>
            <a:fillRect/>
          </a:stretch>
        </p:blipFill>
        <p:spPr>
          <a:xfrm>
            <a:off x="4029961" y="2928403"/>
            <a:ext cx="1333686" cy="212344"/>
          </a:xfrm>
          <a:prstGeom prst="rect">
            <a:avLst/>
          </a:prstGeom>
        </p:spPr>
      </p:pic>
      <p:pic>
        <p:nvPicPr>
          <p:cNvPr id="8" name="Рисунок 7"/>
          <p:cNvPicPr>
            <a:picLocks noChangeAspect="1"/>
          </p:cNvPicPr>
          <p:nvPr/>
        </p:nvPicPr>
        <p:blipFill>
          <a:blip r:embed="rId4"/>
          <a:stretch>
            <a:fillRect/>
          </a:stretch>
        </p:blipFill>
        <p:spPr>
          <a:xfrm>
            <a:off x="10039969" y="2910041"/>
            <a:ext cx="677729" cy="285790"/>
          </a:xfrm>
          <a:prstGeom prst="rect">
            <a:avLst/>
          </a:prstGeom>
        </p:spPr>
      </p:pic>
      <p:pic>
        <p:nvPicPr>
          <p:cNvPr id="9" name="Рисунок 8"/>
          <p:cNvPicPr>
            <a:picLocks noChangeAspect="1"/>
          </p:cNvPicPr>
          <p:nvPr/>
        </p:nvPicPr>
        <p:blipFill>
          <a:blip r:embed="rId5"/>
          <a:stretch>
            <a:fillRect/>
          </a:stretch>
        </p:blipFill>
        <p:spPr>
          <a:xfrm>
            <a:off x="9340923" y="3701233"/>
            <a:ext cx="523948" cy="371527"/>
          </a:xfrm>
          <a:prstGeom prst="rect">
            <a:avLst/>
          </a:prstGeom>
        </p:spPr>
      </p:pic>
      <p:pic>
        <p:nvPicPr>
          <p:cNvPr id="10" name="Рисунок 9"/>
          <p:cNvPicPr>
            <a:picLocks noChangeAspect="1"/>
          </p:cNvPicPr>
          <p:nvPr/>
        </p:nvPicPr>
        <p:blipFill>
          <a:blip r:embed="rId6"/>
          <a:stretch>
            <a:fillRect/>
          </a:stretch>
        </p:blipFill>
        <p:spPr>
          <a:xfrm>
            <a:off x="4415551" y="3976271"/>
            <a:ext cx="562053" cy="390580"/>
          </a:xfrm>
          <a:prstGeom prst="rect">
            <a:avLst/>
          </a:prstGeom>
        </p:spPr>
      </p:pic>
    </p:spTree>
    <p:extLst>
      <p:ext uri="{BB962C8B-B14F-4D97-AF65-F5344CB8AC3E}">
        <p14:creationId xmlns:p14="http://schemas.microsoft.com/office/powerpoint/2010/main" val="8295021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5"/>
          <p:cNvGraphicFramePr>
            <a:graphicFrameLocks noChangeAspect="1"/>
          </p:cNvGraphicFramePr>
          <p:nvPr>
            <p:extLst>
              <p:ext uri="{D42A27DB-BD31-4B8C-83A1-F6EECF244321}">
                <p14:modId xmlns:p14="http://schemas.microsoft.com/office/powerpoint/2010/main" val="3710374553"/>
              </p:ext>
            </p:extLst>
          </p:nvPr>
        </p:nvGraphicFramePr>
        <p:xfrm>
          <a:off x="2610569" y="2014778"/>
          <a:ext cx="7058025" cy="4570412"/>
        </p:xfrm>
        <a:graphic>
          <a:graphicData uri="http://schemas.openxmlformats.org/presentationml/2006/ole">
            <mc:AlternateContent xmlns:mc="http://schemas.openxmlformats.org/markup-compatibility/2006">
              <mc:Choice xmlns:v="urn:schemas-microsoft-com:vml" Requires="v">
                <p:oleObj name="Точечный рисунок" r:id="rId2" imgW="3561905" imgH="2305372" progId="Paint.Picture">
                  <p:embed/>
                </p:oleObj>
              </mc:Choice>
              <mc:Fallback>
                <p:oleObj name="Точечный рисунок" r:id="rId2" imgW="3561905" imgH="2305372" progId="Paint.Picture">
                  <p:embed/>
                  <p:pic>
                    <p:nvPicPr>
                      <p:cNvPr id="922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10569" y="2014778"/>
                        <a:ext cx="7058025" cy="457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Прямоугольник 1"/>
          <p:cNvSpPr/>
          <p:nvPr/>
        </p:nvSpPr>
        <p:spPr>
          <a:xfrm>
            <a:off x="2266036" y="545515"/>
            <a:ext cx="7747089" cy="830997"/>
          </a:xfrm>
          <a:prstGeom prst="rect">
            <a:avLst/>
          </a:prstGeom>
        </p:spPr>
        <p:txBody>
          <a:bodyPr wrap="square">
            <a:spAutoFit/>
          </a:bodyPr>
          <a:lstStyle/>
          <a:p>
            <a:pPr algn="ctr"/>
            <a:r>
              <a:rPr lang="ru-RU" sz="2400" b="1" dirty="0" err="1">
                <a:latin typeface="Times New Roman" panose="02020603050405020304" pitchFamily="18" charset="0"/>
                <a:cs typeface="Times New Roman" panose="02020603050405020304" pitchFamily="18" charset="0"/>
              </a:rPr>
              <a:t>The</a:t>
            </a:r>
            <a:r>
              <a:rPr lang="ru-RU" sz="2400" b="1" dirty="0">
                <a:latin typeface="Times New Roman" panose="02020603050405020304" pitchFamily="18" charset="0"/>
                <a:cs typeface="Times New Roman" panose="02020603050405020304" pitchFamily="18" charset="0"/>
              </a:rPr>
              <a:t> </a:t>
            </a:r>
            <a:r>
              <a:rPr lang="ru-RU" sz="2400" b="1" dirty="0" err="1">
                <a:latin typeface="Times New Roman" panose="02020603050405020304" pitchFamily="18" charset="0"/>
                <a:cs typeface="Times New Roman" panose="02020603050405020304" pitchFamily="18" charset="0"/>
              </a:rPr>
              <a:t>scheme</a:t>
            </a:r>
            <a:r>
              <a:rPr lang="ru-RU" sz="2400" b="1" dirty="0">
                <a:latin typeface="Times New Roman" panose="02020603050405020304" pitchFamily="18" charset="0"/>
                <a:cs typeface="Times New Roman" panose="02020603050405020304" pitchFamily="18" charset="0"/>
              </a:rPr>
              <a:t> </a:t>
            </a:r>
            <a:r>
              <a:rPr lang="ru-RU" sz="2400" b="1" dirty="0" err="1">
                <a:latin typeface="Times New Roman" panose="02020603050405020304" pitchFamily="18" charset="0"/>
                <a:cs typeface="Times New Roman" panose="02020603050405020304" pitchFamily="18" charset="0"/>
              </a:rPr>
              <a:t>of</a:t>
            </a:r>
            <a:r>
              <a:rPr lang="ru-RU" sz="2400" b="1" dirty="0">
                <a:latin typeface="Times New Roman" panose="02020603050405020304" pitchFamily="18" charset="0"/>
                <a:cs typeface="Times New Roman" panose="02020603050405020304" pitchFamily="18" charset="0"/>
              </a:rPr>
              <a:t> </a:t>
            </a:r>
            <a:r>
              <a:rPr lang="ru-RU" sz="2400" b="1" dirty="0" err="1">
                <a:latin typeface="Times New Roman" panose="02020603050405020304" pitchFamily="18" charset="0"/>
                <a:cs typeface="Times New Roman" panose="02020603050405020304" pitchFamily="18" charset="0"/>
              </a:rPr>
              <a:t>determining</a:t>
            </a:r>
            <a:r>
              <a:rPr lang="ru-RU" sz="2400" b="1" dirty="0">
                <a:latin typeface="Times New Roman" panose="02020603050405020304" pitchFamily="18" charset="0"/>
                <a:cs typeface="Times New Roman" panose="02020603050405020304" pitchFamily="18" charset="0"/>
              </a:rPr>
              <a:t> </a:t>
            </a:r>
            <a:r>
              <a:rPr lang="ru-RU" sz="2400" b="1" dirty="0" err="1">
                <a:latin typeface="Times New Roman" panose="02020603050405020304" pitchFamily="18" charset="0"/>
                <a:cs typeface="Times New Roman" panose="02020603050405020304" pitchFamily="18" charset="0"/>
              </a:rPr>
              <a:t>the</a:t>
            </a:r>
            <a:r>
              <a:rPr lang="ru-RU" sz="2400" b="1" dirty="0">
                <a:latin typeface="Times New Roman" panose="02020603050405020304" pitchFamily="18" charset="0"/>
                <a:cs typeface="Times New Roman" panose="02020603050405020304" pitchFamily="18" charset="0"/>
              </a:rPr>
              <a:t> </a:t>
            </a:r>
            <a:r>
              <a:rPr lang="ru-RU" sz="2400" b="1" dirty="0" err="1">
                <a:latin typeface="Times New Roman" panose="02020603050405020304" pitchFamily="18" charset="0"/>
                <a:cs typeface="Times New Roman" panose="02020603050405020304" pitchFamily="18" charset="0"/>
              </a:rPr>
              <a:t>roots</a:t>
            </a:r>
            <a:r>
              <a:rPr lang="ru-RU" sz="2400" b="1" dirty="0">
                <a:latin typeface="Times New Roman" panose="02020603050405020304" pitchFamily="18" charset="0"/>
                <a:cs typeface="Times New Roman" panose="02020603050405020304" pitchFamily="18" charset="0"/>
              </a:rPr>
              <a:t> </a:t>
            </a:r>
            <a:r>
              <a:rPr lang="ru-RU" sz="2400" b="1" dirty="0" err="1">
                <a:latin typeface="Times New Roman" panose="02020603050405020304" pitchFamily="18" charset="0"/>
                <a:cs typeface="Times New Roman" panose="02020603050405020304" pitchFamily="18" charset="0"/>
              </a:rPr>
              <a:t>of</a:t>
            </a:r>
            <a:r>
              <a:rPr lang="ru-RU" sz="2400" b="1" dirty="0">
                <a:latin typeface="Times New Roman" panose="02020603050405020304" pitchFamily="18" charset="0"/>
                <a:cs typeface="Times New Roman" panose="02020603050405020304" pitchFamily="18" charset="0"/>
              </a:rPr>
              <a:t> </a:t>
            </a:r>
            <a:r>
              <a:rPr lang="ru-RU" sz="2400" b="1" dirty="0" err="1">
                <a:latin typeface="Times New Roman" panose="02020603050405020304" pitchFamily="18" charset="0"/>
                <a:cs typeface="Times New Roman" panose="02020603050405020304" pitchFamily="18" charset="0"/>
              </a:rPr>
              <a:t>the</a:t>
            </a:r>
            <a:r>
              <a:rPr lang="ru-RU" sz="2400" b="1" dirty="0">
                <a:latin typeface="Times New Roman" panose="02020603050405020304" pitchFamily="18" charset="0"/>
                <a:cs typeface="Times New Roman" panose="02020603050405020304" pitchFamily="18" charset="0"/>
              </a:rPr>
              <a:t> </a:t>
            </a:r>
            <a:r>
              <a:rPr lang="ru-RU" sz="2400" b="1" dirty="0" err="1">
                <a:latin typeface="Times New Roman" panose="02020603050405020304" pitchFamily="18" charset="0"/>
                <a:cs typeface="Times New Roman" panose="02020603050405020304" pitchFamily="18" charset="0"/>
              </a:rPr>
              <a:t>equation</a:t>
            </a:r>
            <a:r>
              <a:rPr lang="ru-RU" sz="2400" b="1" dirty="0">
                <a:latin typeface="Times New Roman" panose="02020603050405020304" pitchFamily="18" charset="0"/>
                <a:cs typeface="Times New Roman" panose="02020603050405020304" pitchFamily="18" charset="0"/>
              </a:rPr>
              <a:t> </a:t>
            </a:r>
            <a:r>
              <a:rPr lang="ru-RU" sz="2400" b="1" dirty="0" err="1">
                <a:latin typeface="Times New Roman" panose="02020603050405020304" pitchFamily="18" charset="0"/>
                <a:cs typeface="Times New Roman" panose="02020603050405020304" pitchFamily="18" charset="0"/>
              </a:rPr>
              <a:t>by</a:t>
            </a:r>
            <a:r>
              <a:rPr lang="ru-RU" sz="2400" b="1" dirty="0">
                <a:latin typeface="Times New Roman" panose="02020603050405020304" pitchFamily="18" charset="0"/>
                <a:cs typeface="Times New Roman" panose="02020603050405020304" pitchFamily="18" charset="0"/>
              </a:rPr>
              <a:t> </a:t>
            </a:r>
            <a:r>
              <a:rPr lang="ru-RU" sz="2400" b="1" dirty="0" err="1">
                <a:latin typeface="Times New Roman" panose="02020603050405020304" pitchFamily="18" charset="0"/>
                <a:cs typeface="Times New Roman" panose="02020603050405020304" pitchFamily="18" charset="0"/>
              </a:rPr>
              <a:t>the</a:t>
            </a:r>
            <a:r>
              <a:rPr lang="ru-RU" sz="2400" b="1" dirty="0">
                <a:latin typeface="Times New Roman" panose="02020603050405020304" pitchFamily="18" charset="0"/>
                <a:cs typeface="Times New Roman" panose="02020603050405020304" pitchFamily="18" charset="0"/>
              </a:rPr>
              <a:t> </a:t>
            </a:r>
            <a:r>
              <a:rPr lang="ru-RU" sz="2400" b="1" dirty="0" err="1">
                <a:latin typeface="Times New Roman" panose="02020603050405020304" pitchFamily="18" charset="0"/>
                <a:cs typeface="Times New Roman" panose="02020603050405020304" pitchFamily="18" charset="0"/>
              </a:rPr>
              <a:t>method</a:t>
            </a:r>
            <a:r>
              <a:rPr lang="ru-RU" sz="2400" b="1" dirty="0">
                <a:latin typeface="Times New Roman" panose="02020603050405020304" pitchFamily="18" charset="0"/>
                <a:cs typeface="Times New Roman" panose="02020603050405020304" pitchFamily="18" charset="0"/>
              </a:rPr>
              <a:t> </a:t>
            </a:r>
            <a:r>
              <a:rPr lang="ru-RU" sz="2400" b="1" dirty="0" err="1">
                <a:latin typeface="Times New Roman" panose="02020603050405020304" pitchFamily="18" charset="0"/>
                <a:cs typeface="Times New Roman" panose="02020603050405020304" pitchFamily="18" charset="0"/>
              </a:rPr>
              <a:t>of</a:t>
            </a:r>
            <a:r>
              <a:rPr lang="ru-RU" sz="2400" b="1" dirty="0">
                <a:latin typeface="Times New Roman" panose="02020603050405020304" pitchFamily="18" charset="0"/>
                <a:cs typeface="Times New Roman" panose="02020603050405020304" pitchFamily="18" charset="0"/>
              </a:rPr>
              <a:t> </a:t>
            </a:r>
            <a:r>
              <a:rPr lang="ru-RU" sz="2400" b="1" dirty="0" err="1">
                <a:latin typeface="Times New Roman" panose="02020603050405020304" pitchFamily="18" charset="0"/>
                <a:cs typeface="Times New Roman" panose="02020603050405020304" pitchFamily="18" charset="0"/>
              </a:rPr>
              <a:t>separating</a:t>
            </a:r>
            <a:r>
              <a:rPr lang="ru-RU" sz="2400" b="1" dirty="0">
                <a:latin typeface="Times New Roman" panose="02020603050405020304" pitchFamily="18" charset="0"/>
                <a:cs typeface="Times New Roman" panose="02020603050405020304" pitchFamily="18" charset="0"/>
              </a:rPr>
              <a:t> </a:t>
            </a:r>
            <a:r>
              <a:rPr lang="ru-RU" sz="2400" b="1" dirty="0" err="1">
                <a:latin typeface="Times New Roman" panose="02020603050405020304" pitchFamily="18" charset="0"/>
                <a:cs typeface="Times New Roman" panose="02020603050405020304" pitchFamily="18" charset="0"/>
              </a:rPr>
              <a:t>the</a:t>
            </a:r>
            <a:r>
              <a:rPr lang="ru-RU" sz="2400" b="1" dirty="0">
                <a:latin typeface="Times New Roman" panose="02020603050405020304" pitchFamily="18" charset="0"/>
                <a:cs typeface="Times New Roman" panose="02020603050405020304" pitchFamily="18" charset="0"/>
              </a:rPr>
              <a:t> </a:t>
            </a:r>
            <a:r>
              <a:rPr lang="ru-RU" sz="2400" b="1" dirty="0" err="1">
                <a:latin typeface="Times New Roman" panose="02020603050405020304" pitchFamily="18" charset="0"/>
                <a:cs typeface="Times New Roman" panose="02020603050405020304" pitchFamily="18" charset="0"/>
              </a:rPr>
              <a:t>roots</a:t>
            </a:r>
            <a:endParaRPr lang="ru-RU"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004408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Прямоугольник 4"/>
          <p:cNvSpPr/>
          <p:nvPr/>
        </p:nvSpPr>
        <p:spPr>
          <a:xfrm>
            <a:off x="1003068" y="889291"/>
            <a:ext cx="10401994" cy="3539430"/>
          </a:xfrm>
          <a:prstGeom prst="rect">
            <a:avLst/>
          </a:prstGeom>
        </p:spPr>
        <p:txBody>
          <a:bodyPr wrap="square">
            <a:spAutoFit/>
          </a:bodyPr>
          <a:lstStyle/>
          <a:p>
            <a:pPr algn="just"/>
            <a:r>
              <a:rPr lang="ru-RU" sz="3200" b="1" dirty="0" err="1">
                <a:latin typeface="Times New Roman" panose="02020603050405020304" pitchFamily="18" charset="0"/>
                <a:cs typeface="Times New Roman" panose="02020603050405020304" pitchFamily="18" charset="0"/>
              </a:rPr>
              <a:t>The</a:t>
            </a:r>
            <a:r>
              <a:rPr lang="ru-RU" sz="3200" b="1" dirty="0">
                <a:latin typeface="Times New Roman" panose="02020603050405020304" pitchFamily="18" charset="0"/>
                <a:cs typeface="Times New Roman" panose="02020603050405020304" pitchFamily="18" charset="0"/>
              </a:rPr>
              <a:t> </a:t>
            </a:r>
            <a:r>
              <a:rPr lang="ru-RU" sz="3200" b="1" dirty="0" err="1">
                <a:latin typeface="Times New Roman" panose="02020603050405020304" pitchFamily="18" charset="0"/>
                <a:cs typeface="Times New Roman" panose="02020603050405020304" pitchFamily="18" charset="0"/>
              </a:rPr>
              <a:t>process</a:t>
            </a:r>
            <a:r>
              <a:rPr lang="ru-RU" sz="3200" b="1" dirty="0">
                <a:latin typeface="Times New Roman" panose="02020603050405020304" pitchFamily="18" charset="0"/>
                <a:cs typeface="Times New Roman" panose="02020603050405020304" pitchFamily="18" charset="0"/>
              </a:rPr>
              <a:t> </a:t>
            </a:r>
            <a:r>
              <a:rPr lang="ru-RU" sz="3200" b="1" dirty="0" err="1">
                <a:latin typeface="Times New Roman" panose="02020603050405020304" pitchFamily="18" charset="0"/>
                <a:cs typeface="Times New Roman" panose="02020603050405020304" pitchFamily="18" charset="0"/>
              </a:rPr>
              <a:t>of</a:t>
            </a:r>
            <a:r>
              <a:rPr lang="ru-RU" sz="3200" b="1" dirty="0">
                <a:latin typeface="Times New Roman" panose="02020603050405020304" pitchFamily="18" charset="0"/>
                <a:cs typeface="Times New Roman" panose="02020603050405020304" pitchFamily="18" charset="0"/>
              </a:rPr>
              <a:t> </a:t>
            </a:r>
            <a:r>
              <a:rPr lang="ru-RU" sz="3200" b="1" dirty="0" err="1">
                <a:latin typeface="Times New Roman" panose="02020603050405020304" pitchFamily="18" charset="0"/>
                <a:cs typeface="Times New Roman" panose="02020603050405020304" pitchFamily="18" charset="0"/>
              </a:rPr>
              <a:t>determining</a:t>
            </a:r>
            <a:r>
              <a:rPr lang="ru-RU" sz="3200" b="1" dirty="0">
                <a:latin typeface="Times New Roman" panose="02020603050405020304" pitchFamily="18" charset="0"/>
                <a:cs typeface="Times New Roman" panose="02020603050405020304" pitchFamily="18" charset="0"/>
              </a:rPr>
              <a:t> </a:t>
            </a:r>
            <a:r>
              <a:rPr lang="ru-RU" sz="3200" b="1" dirty="0" err="1">
                <a:latin typeface="Times New Roman" panose="02020603050405020304" pitchFamily="18" charset="0"/>
                <a:cs typeface="Times New Roman" panose="02020603050405020304" pitchFamily="18" charset="0"/>
              </a:rPr>
              <a:t>the</a:t>
            </a:r>
            <a:r>
              <a:rPr lang="ru-RU" sz="3200" b="1" dirty="0">
                <a:latin typeface="Times New Roman" panose="02020603050405020304" pitchFamily="18" charset="0"/>
                <a:cs typeface="Times New Roman" panose="02020603050405020304" pitchFamily="18" charset="0"/>
              </a:rPr>
              <a:t> </a:t>
            </a:r>
            <a:r>
              <a:rPr lang="ru-RU" sz="3200" b="1" dirty="0" err="1">
                <a:latin typeface="Times New Roman" panose="02020603050405020304" pitchFamily="18" charset="0"/>
                <a:cs typeface="Times New Roman" panose="02020603050405020304" pitchFamily="18" charset="0"/>
              </a:rPr>
              <a:t>roots</a:t>
            </a:r>
            <a:r>
              <a:rPr lang="ru-RU" sz="3200" b="1" dirty="0">
                <a:latin typeface="Times New Roman" panose="02020603050405020304" pitchFamily="18" charset="0"/>
                <a:cs typeface="Times New Roman" panose="02020603050405020304" pitchFamily="18" charset="0"/>
              </a:rPr>
              <a:t>:</a:t>
            </a:r>
          </a:p>
          <a:p>
            <a:pPr marL="457200" indent="-457200" algn="just">
              <a:buFont typeface="Arial" panose="020B0604020202020204" pitchFamily="34" charset="0"/>
              <a:buChar char="•"/>
            </a:pPr>
            <a:r>
              <a:rPr lang="ru-RU" sz="3200" dirty="0" err="1">
                <a:latin typeface="Times New Roman" panose="02020603050405020304" pitchFamily="18" charset="0"/>
                <a:cs typeface="Times New Roman" panose="02020603050405020304" pitchFamily="18" charset="0"/>
              </a:rPr>
              <a:t>the</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signs</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of</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the</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function</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are</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determined</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at</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the</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boundary</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points</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of</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the</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domain</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of</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its</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existence</a:t>
            </a:r>
            <a:r>
              <a:rPr lang="ru-RU" sz="3200" dirty="0">
                <a:latin typeface="Times New Roman" panose="02020603050405020304" pitchFamily="18" charset="0"/>
                <a:cs typeface="Times New Roman" panose="02020603050405020304" pitchFamily="18" charset="0"/>
              </a:rPr>
              <a:t>                       </a:t>
            </a:r>
          </a:p>
          <a:p>
            <a:pPr marL="457200" indent="-457200" algn="just">
              <a:buFont typeface="Arial" panose="020B0604020202020204" pitchFamily="34" charset="0"/>
              <a:buChar char="•"/>
            </a:pPr>
            <a:r>
              <a:rPr lang="ru-RU" sz="3200" dirty="0" err="1">
                <a:latin typeface="Times New Roman" panose="02020603050405020304" pitchFamily="18" charset="0"/>
                <a:cs typeface="Times New Roman" panose="02020603050405020304" pitchFamily="18" charset="0"/>
              </a:rPr>
              <a:t>the</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signs</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of</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the</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function</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are</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determined</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in</a:t>
            </a:r>
            <a:r>
              <a:rPr lang="ru-RU" sz="3200" dirty="0">
                <a:latin typeface="Times New Roman" panose="02020603050405020304" pitchFamily="18" charset="0"/>
                <a:cs typeface="Times New Roman" panose="02020603050405020304" pitchFamily="18" charset="0"/>
              </a:rPr>
              <a:t> a </a:t>
            </a:r>
            <a:r>
              <a:rPr lang="ru-RU" sz="3200" dirty="0" err="1">
                <a:latin typeface="Times New Roman" panose="02020603050405020304" pitchFamily="18" charset="0"/>
                <a:cs typeface="Times New Roman" panose="02020603050405020304" pitchFamily="18" charset="0"/>
              </a:rPr>
              <a:t>number</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of</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intermediate</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points</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the</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choice</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of</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which</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depends</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on</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the</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nature</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of</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the</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function</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if</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it</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turns</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out</a:t>
            </a:r>
            <a:r>
              <a:rPr lang="ru-RU" sz="3200" dirty="0">
                <a:latin typeface="Times New Roman" panose="02020603050405020304" pitchFamily="18" charset="0"/>
                <a:cs typeface="Times New Roman" panose="02020603050405020304" pitchFamily="18" charset="0"/>
              </a:rPr>
              <a:t>                                                           __________</a:t>
            </a:r>
            <a:r>
              <a:rPr lang="ru-RU" sz="3200" dirty="0" err="1">
                <a:latin typeface="Times New Roman" panose="02020603050405020304" pitchFamily="18" charset="0"/>
                <a:cs typeface="Times New Roman" panose="02020603050405020304" pitchFamily="18" charset="0"/>
              </a:rPr>
              <a:t>then</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there</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is</a:t>
            </a:r>
            <a:r>
              <a:rPr lang="ru-RU" sz="3200" dirty="0">
                <a:latin typeface="Times New Roman" panose="02020603050405020304" pitchFamily="18" charset="0"/>
                <a:cs typeface="Times New Roman" panose="02020603050405020304" pitchFamily="18" charset="0"/>
              </a:rPr>
              <a:t> a </a:t>
            </a:r>
            <a:r>
              <a:rPr lang="ru-RU" sz="3200" dirty="0" err="1">
                <a:latin typeface="Times New Roman" panose="02020603050405020304" pitchFamily="18" charset="0"/>
                <a:cs typeface="Times New Roman" panose="02020603050405020304" pitchFamily="18" charset="0"/>
              </a:rPr>
              <a:t>root</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in</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the</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interval</a:t>
            </a:r>
            <a:endParaRPr lang="ru-RU" sz="3200" dirty="0">
              <a:latin typeface="Times New Roman" panose="02020603050405020304" pitchFamily="18" charset="0"/>
              <a:cs typeface="Times New Roman" panose="02020603050405020304" pitchFamily="18" charset="0"/>
            </a:endParaRPr>
          </a:p>
        </p:txBody>
      </p:sp>
      <p:pic>
        <p:nvPicPr>
          <p:cNvPr id="6" name="Рисунок 5"/>
          <p:cNvPicPr>
            <a:picLocks noChangeAspect="1"/>
          </p:cNvPicPr>
          <p:nvPr/>
        </p:nvPicPr>
        <p:blipFill>
          <a:blip r:embed="rId2"/>
          <a:stretch>
            <a:fillRect/>
          </a:stretch>
        </p:blipFill>
        <p:spPr>
          <a:xfrm>
            <a:off x="7934472" y="2013044"/>
            <a:ext cx="2539084" cy="480774"/>
          </a:xfrm>
          <a:prstGeom prst="rect">
            <a:avLst/>
          </a:prstGeom>
        </p:spPr>
      </p:pic>
      <p:pic>
        <p:nvPicPr>
          <p:cNvPr id="7" name="Рисунок 6"/>
          <p:cNvPicPr>
            <a:picLocks noChangeAspect="1"/>
          </p:cNvPicPr>
          <p:nvPr/>
        </p:nvPicPr>
        <p:blipFill>
          <a:blip r:embed="rId3"/>
          <a:stretch>
            <a:fillRect/>
          </a:stretch>
        </p:blipFill>
        <p:spPr>
          <a:xfrm>
            <a:off x="5075195" y="3043822"/>
            <a:ext cx="2257740" cy="304843"/>
          </a:xfrm>
          <a:prstGeom prst="rect">
            <a:avLst/>
          </a:prstGeom>
        </p:spPr>
      </p:pic>
      <p:pic>
        <p:nvPicPr>
          <p:cNvPr id="8" name="Рисунок 7"/>
          <p:cNvPicPr>
            <a:picLocks noChangeAspect="1"/>
          </p:cNvPicPr>
          <p:nvPr/>
        </p:nvPicPr>
        <p:blipFill>
          <a:blip r:embed="rId4"/>
          <a:stretch>
            <a:fillRect/>
          </a:stretch>
        </p:blipFill>
        <p:spPr>
          <a:xfrm>
            <a:off x="1718888" y="3932070"/>
            <a:ext cx="1638529" cy="323895"/>
          </a:xfrm>
          <a:prstGeom prst="rect">
            <a:avLst/>
          </a:prstGeom>
        </p:spPr>
      </p:pic>
      <p:pic>
        <p:nvPicPr>
          <p:cNvPr id="9" name="Рисунок 8"/>
          <p:cNvPicPr>
            <a:picLocks noChangeAspect="1"/>
          </p:cNvPicPr>
          <p:nvPr/>
        </p:nvPicPr>
        <p:blipFill>
          <a:blip r:embed="rId5"/>
          <a:stretch>
            <a:fillRect/>
          </a:stretch>
        </p:blipFill>
        <p:spPr>
          <a:xfrm>
            <a:off x="9204014" y="3988895"/>
            <a:ext cx="1057423" cy="390580"/>
          </a:xfrm>
          <a:prstGeom prst="rect">
            <a:avLst/>
          </a:prstGeom>
        </p:spPr>
      </p:pic>
    </p:spTree>
    <p:extLst>
      <p:ext uri="{BB962C8B-B14F-4D97-AF65-F5344CB8AC3E}">
        <p14:creationId xmlns:p14="http://schemas.microsoft.com/office/powerpoint/2010/main" val="25656796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104703" y="1140707"/>
            <a:ext cx="9969731" cy="3539430"/>
          </a:xfrm>
          <a:prstGeom prst="rect">
            <a:avLst/>
          </a:prstGeom>
        </p:spPr>
        <p:txBody>
          <a:bodyPr wrap="square">
            <a:spAutoFit/>
          </a:bodyPr>
          <a:lstStyle/>
          <a:p>
            <a:pPr indent="723900" algn="just"/>
            <a:r>
              <a:rPr lang="ru-RU" sz="2800" dirty="0" err="1">
                <a:latin typeface="Times New Roman" panose="02020603050405020304" pitchFamily="18" charset="0"/>
                <a:cs typeface="Times New Roman" panose="02020603050405020304" pitchFamily="18" charset="0"/>
              </a:rPr>
              <a:t>The</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method</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of</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half</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division</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is</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often</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used</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approximately</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dividing</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this</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interval</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into</a:t>
            </a:r>
            <a:r>
              <a:rPr lang="ru-RU" sz="2800" dirty="0">
                <a:latin typeface="Times New Roman" panose="02020603050405020304" pitchFamily="18" charset="0"/>
                <a:cs typeface="Times New Roman" panose="02020603050405020304" pitchFamily="18" charset="0"/>
              </a:rPr>
              <a:t> 2, 4, 8, </a:t>
            </a:r>
            <a:r>
              <a:rPr lang="ru-RU" sz="2800" dirty="0" err="1">
                <a:latin typeface="Times New Roman" panose="02020603050405020304" pitchFamily="18" charset="0"/>
                <a:cs typeface="Times New Roman" panose="02020603050405020304" pitchFamily="18" charset="0"/>
              </a:rPr>
              <a:t>etc</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parts</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and</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determining</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the</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signs</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of</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the</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function</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at</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the</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points</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of</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division</a:t>
            </a:r>
            <a:r>
              <a:rPr lang="ru-RU" sz="2800" dirty="0">
                <a:latin typeface="Times New Roman" panose="02020603050405020304" pitchFamily="18" charset="0"/>
                <a:cs typeface="Times New Roman" panose="02020603050405020304" pitchFamily="18" charset="0"/>
              </a:rPr>
              <a:t>.</a:t>
            </a:r>
          </a:p>
          <a:p>
            <a:pPr indent="723900" algn="just"/>
            <a:r>
              <a:rPr lang="ru-RU" sz="2800" dirty="0" err="1">
                <a:latin typeface="Times New Roman" panose="02020603050405020304" pitchFamily="18" charset="0"/>
                <a:cs typeface="Times New Roman" panose="02020603050405020304" pitchFamily="18" charset="0"/>
              </a:rPr>
              <a:t>It</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is</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useful</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to</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remember</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the</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rule</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that</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an</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algebraic</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equation</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of</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the</a:t>
            </a:r>
            <a:r>
              <a:rPr lang="ru-RU" sz="2800" dirty="0">
                <a:latin typeface="Times New Roman" panose="02020603050405020304" pitchFamily="18" charset="0"/>
                <a:cs typeface="Times New Roman" panose="02020603050405020304" pitchFamily="18" charset="0"/>
              </a:rPr>
              <a:t> n-</a:t>
            </a:r>
            <a:r>
              <a:rPr lang="ru-RU" sz="2800" dirty="0" err="1">
                <a:latin typeface="Times New Roman" panose="02020603050405020304" pitchFamily="18" charset="0"/>
                <a:cs typeface="Times New Roman" panose="02020603050405020304" pitchFamily="18" charset="0"/>
              </a:rPr>
              <a:t>th</a:t>
            </a:r>
            <a:r>
              <a:rPr lang="ru-RU" sz="28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power</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has</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no</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more</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than</a:t>
            </a:r>
            <a:r>
              <a:rPr lang="ru-RU" sz="2800" dirty="0">
                <a:latin typeface="Times New Roman" panose="02020603050405020304" pitchFamily="18" charset="0"/>
                <a:cs typeface="Times New Roman" panose="02020603050405020304" pitchFamily="18" charset="0"/>
              </a:rPr>
              <a:t> n </a:t>
            </a:r>
            <a:r>
              <a:rPr lang="ru-RU" sz="2800" dirty="0" err="1">
                <a:latin typeface="Times New Roman" panose="02020603050405020304" pitchFamily="18" charset="0"/>
                <a:cs typeface="Times New Roman" panose="02020603050405020304" pitchFamily="18" charset="0"/>
              </a:rPr>
              <a:t>roots</a:t>
            </a:r>
            <a:r>
              <a:rPr lang="ru-RU" sz="2800" dirty="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indent="723900" algn="just"/>
            <a:r>
              <a:rPr lang="ru-RU" sz="2800" dirty="0" err="1">
                <a:latin typeface="Times New Roman" panose="02020603050405020304" pitchFamily="18" charset="0"/>
                <a:cs typeface="Times New Roman" panose="02020603050405020304" pitchFamily="18" charset="0"/>
              </a:rPr>
              <a:t>Separating</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the</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roots</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already</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means</a:t>
            </a:r>
            <a:r>
              <a:rPr lang="ru-RU" sz="2800" dirty="0">
                <a:latin typeface="Times New Roman" panose="02020603050405020304" pitchFamily="18" charset="0"/>
                <a:cs typeface="Times New Roman" panose="02020603050405020304" pitchFamily="18" charset="0"/>
              </a:rPr>
              <a:t> a </a:t>
            </a:r>
            <a:r>
              <a:rPr lang="ru-RU" sz="2800" dirty="0" err="1">
                <a:latin typeface="Times New Roman" panose="02020603050405020304" pitchFamily="18" charset="0"/>
                <a:cs typeface="Times New Roman" panose="02020603050405020304" pitchFamily="18" charset="0"/>
              </a:rPr>
              <a:t>rough</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assessment</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of</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them</a:t>
            </a:r>
            <a:r>
              <a:rPr lang="en-US" sz="2800" dirty="0">
                <a:latin typeface="Times New Roman" panose="02020603050405020304" pitchFamily="18" charset="0"/>
                <a:cs typeface="Times New Roman" panose="02020603050405020304" pitchFamily="18" charset="0"/>
              </a:rPr>
              <a:t>.</a:t>
            </a:r>
          </a:p>
          <a:p>
            <a:pPr indent="723900" algn="just"/>
            <a:r>
              <a:rPr lang="ru-RU" sz="2800" dirty="0" err="1">
                <a:latin typeface="Times New Roman" panose="02020603050405020304" pitchFamily="18" charset="0"/>
                <a:cs typeface="Times New Roman" panose="02020603050405020304" pitchFamily="18" charset="0"/>
              </a:rPr>
              <a:t>The</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absolute</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error</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of</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such</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an</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estimate</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does</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not</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exceed</a:t>
            </a:r>
            <a:r>
              <a:rPr lang="en-US" sz="2800" dirty="0">
                <a:latin typeface="Times New Roman" panose="02020603050405020304" pitchFamily="18" charset="0"/>
                <a:cs typeface="Times New Roman" panose="02020603050405020304" pitchFamily="18" charset="0"/>
              </a:rPr>
              <a:t> </a:t>
            </a:r>
            <a:endParaRPr lang="ru-RU" sz="2800" dirty="0">
              <a:latin typeface="Times New Roman" panose="02020603050405020304" pitchFamily="18" charset="0"/>
              <a:cs typeface="Times New Roman" panose="02020603050405020304" pitchFamily="18" charset="0"/>
            </a:endParaRPr>
          </a:p>
        </p:txBody>
      </p:sp>
      <p:pic>
        <p:nvPicPr>
          <p:cNvPr id="5" name="Рисунок 4"/>
          <p:cNvPicPr>
            <a:picLocks noChangeAspect="1"/>
          </p:cNvPicPr>
          <p:nvPr/>
        </p:nvPicPr>
        <p:blipFill>
          <a:blip r:embed="rId2"/>
          <a:stretch>
            <a:fillRect/>
          </a:stretch>
        </p:blipFill>
        <p:spPr>
          <a:xfrm>
            <a:off x="9887854" y="4263145"/>
            <a:ext cx="899557" cy="366924"/>
          </a:xfrm>
          <a:prstGeom prst="rect">
            <a:avLst/>
          </a:prstGeom>
        </p:spPr>
      </p:pic>
    </p:spTree>
    <p:extLst>
      <p:ext uri="{BB962C8B-B14F-4D97-AF65-F5344CB8AC3E}">
        <p14:creationId xmlns:p14="http://schemas.microsoft.com/office/powerpoint/2010/main" val="22263905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3165984" y="587399"/>
            <a:ext cx="6527556" cy="523220"/>
          </a:xfrm>
          <a:prstGeom prst="rect">
            <a:avLst/>
          </a:prstGeom>
        </p:spPr>
        <p:txBody>
          <a:bodyPr wrap="none">
            <a:spAutoFit/>
          </a:bodyPr>
          <a:lstStyle/>
          <a:p>
            <a:r>
              <a:rPr lang="ru-RU" sz="2800" b="1" dirty="0" err="1">
                <a:latin typeface="Times New Roman" panose="02020603050405020304" pitchFamily="18" charset="0"/>
                <a:cs typeface="Times New Roman" panose="02020603050405020304" pitchFamily="18" charset="0"/>
              </a:rPr>
              <a:t>Methods</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for</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clarifying</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approximate</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roots</a:t>
            </a:r>
            <a:endParaRPr lang="ru-RU" sz="2800" b="1" dirty="0">
              <a:latin typeface="Times New Roman" panose="02020603050405020304" pitchFamily="18" charset="0"/>
              <a:cs typeface="Times New Roman" panose="02020603050405020304" pitchFamily="18" charset="0"/>
            </a:endParaRPr>
          </a:p>
        </p:txBody>
      </p:sp>
      <p:sp>
        <p:nvSpPr>
          <p:cNvPr id="5" name="Прямоугольник 4"/>
          <p:cNvSpPr/>
          <p:nvPr/>
        </p:nvSpPr>
        <p:spPr>
          <a:xfrm>
            <a:off x="960407" y="1637913"/>
            <a:ext cx="10650747" cy="2677656"/>
          </a:xfrm>
          <a:prstGeom prst="rect">
            <a:avLst/>
          </a:prstGeom>
        </p:spPr>
        <p:txBody>
          <a:bodyPr wrap="square">
            <a:spAutoFit/>
          </a:bodyPr>
          <a:lstStyle/>
          <a:p>
            <a:pPr algn="just"/>
            <a:r>
              <a:rPr lang="ru-RU" sz="2800" b="1" dirty="0" err="1">
                <a:latin typeface="Times New Roman" panose="02020603050405020304" pitchFamily="18" charset="0"/>
                <a:cs typeface="Times New Roman" panose="02020603050405020304" pitchFamily="18" charset="0"/>
              </a:rPr>
              <a:t>The</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graphical</a:t>
            </a:r>
            <a:r>
              <a:rPr lang="ru-RU" sz="2800" b="1" dirty="0">
                <a:latin typeface="Times New Roman" panose="02020603050405020304" pitchFamily="18" charset="0"/>
                <a:cs typeface="Times New Roman" panose="02020603050405020304" pitchFamily="18" charset="0"/>
              </a:rPr>
              <a:t> </a:t>
            </a:r>
            <a:r>
              <a:rPr lang="ru-RU" sz="2800" b="1" dirty="0" err="1">
                <a:latin typeface="Times New Roman" panose="02020603050405020304" pitchFamily="18" charset="0"/>
                <a:cs typeface="Times New Roman" panose="02020603050405020304" pitchFamily="18" charset="0"/>
              </a:rPr>
              <a:t>method</a:t>
            </a:r>
            <a:endParaRPr lang="ru-RU" sz="2800" b="1"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Implementing this method, t</a:t>
            </a:r>
            <a:r>
              <a:rPr lang="ru-RU" sz="2800" dirty="0" err="1">
                <a:latin typeface="Times New Roman" panose="02020603050405020304" pitchFamily="18" charset="0"/>
                <a:cs typeface="Times New Roman" panose="02020603050405020304" pitchFamily="18" charset="0"/>
              </a:rPr>
              <a:t>he</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function</a:t>
            </a:r>
            <a:r>
              <a:rPr lang="en-US" sz="2800" dirty="0">
                <a:latin typeface="Times New Roman" panose="02020603050405020304" pitchFamily="18" charset="0"/>
                <a:cs typeface="Times New Roman" panose="02020603050405020304" pitchFamily="18" charset="0"/>
              </a:rPr>
              <a:t>                is </a:t>
            </a:r>
            <a:r>
              <a:rPr lang="ru-RU" sz="2800" dirty="0" err="1">
                <a:latin typeface="Times New Roman" panose="02020603050405020304" pitchFamily="18" charset="0"/>
                <a:cs typeface="Times New Roman" panose="02020603050405020304" pitchFamily="18" charset="0"/>
              </a:rPr>
              <a:t>plot</a:t>
            </a:r>
            <a:r>
              <a:rPr lang="en-US" sz="2800" dirty="0">
                <a:latin typeface="Times New Roman" panose="02020603050405020304" pitchFamily="18" charset="0"/>
                <a:cs typeface="Times New Roman" panose="02020603050405020304" pitchFamily="18" charset="0"/>
              </a:rPr>
              <a:t>ted</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and</a:t>
            </a:r>
            <a:r>
              <a:rPr lang="en-US"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the</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abscissa</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of</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the</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point</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of</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intersection</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with</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the</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axis</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of</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the</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abscissa</a:t>
            </a:r>
            <a:r>
              <a:rPr lang="ru-RU" sz="28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is</a:t>
            </a:r>
            <a:r>
              <a:rPr lang="ru-RU" sz="2800" dirty="0">
                <a:latin typeface="Times New Roman" panose="02020603050405020304" pitchFamily="18" charset="0"/>
                <a:cs typeface="Times New Roman" panose="02020603050405020304" pitchFamily="18" charset="0"/>
              </a:rPr>
              <a:t> f</a:t>
            </a:r>
            <a:r>
              <a:rPr lang="en-US" sz="2800" dirty="0" err="1">
                <a:latin typeface="Times New Roman" panose="02020603050405020304" pitchFamily="18" charset="0"/>
                <a:cs typeface="Times New Roman" panose="02020603050405020304" pitchFamily="18" charset="0"/>
              </a:rPr>
              <a:t>ou</a:t>
            </a:r>
            <a:r>
              <a:rPr lang="ru-RU" sz="2800" dirty="0" err="1">
                <a:latin typeface="Times New Roman" panose="02020603050405020304" pitchFamily="18" charset="0"/>
                <a:cs typeface="Times New Roman" panose="02020603050405020304" pitchFamily="18" charset="0"/>
              </a:rPr>
              <a:t>nd</a:t>
            </a:r>
            <a:r>
              <a:rPr lang="en-US" sz="2800" dirty="0">
                <a:latin typeface="Times New Roman" panose="02020603050405020304" pitchFamily="18" charset="0"/>
                <a:cs typeface="Times New Roman" panose="02020603050405020304" pitchFamily="18" charset="0"/>
              </a:rPr>
              <a:t>.</a:t>
            </a:r>
            <a:r>
              <a:rPr lang="ru-RU" sz="2800" dirty="0">
                <a:latin typeface="Times New Roman" panose="02020603050405020304" pitchFamily="18" charset="0"/>
                <a:cs typeface="Times New Roman" panose="02020603050405020304" pitchFamily="18" charset="0"/>
              </a:rPr>
              <a:t> </a:t>
            </a:r>
            <a:endParaRPr lang="en-US" sz="2800" dirty="0">
              <a:latin typeface="Times New Roman" panose="02020603050405020304" pitchFamily="18" charset="0"/>
              <a:cs typeface="Times New Roman" panose="02020603050405020304" pitchFamily="18" charset="0"/>
            </a:endParaRPr>
          </a:p>
          <a:p>
            <a:pPr algn="just"/>
            <a:r>
              <a:rPr lang="ru-RU" sz="2800" dirty="0" err="1">
                <a:latin typeface="Times New Roman" panose="02020603050405020304" pitchFamily="18" charset="0"/>
                <a:cs typeface="Times New Roman" panose="02020603050405020304" pitchFamily="18" charset="0"/>
              </a:rPr>
              <a:t>You</a:t>
            </a:r>
            <a:r>
              <a:rPr lang="en-US"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can</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also</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plot</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the</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left</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and</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right</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sides</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of</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an</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equivalent</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equation</a:t>
            </a:r>
            <a:r>
              <a:rPr lang="ru-RU" sz="28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          ___________</a:t>
            </a:r>
            <a:r>
              <a:rPr lang="ru-RU" sz="2800" dirty="0" err="1">
                <a:latin typeface="Times New Roman" panose="02020603050405020304" pitchFamily="18" charset="0"/>
                <a:cs typeface="Times New Roman" panose="02020603050405020304" pitchFamily="18" charset="0"/>
              </a:rPr>
              <a:t>and</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graphically</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find</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the</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abscissa</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of</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the</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intersection</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point</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of</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these</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graphs</a:t>
            </a:r>
            <a:r>
              <a:rPr lang="en-US" sz="2800" dirty="0">
                <a:latin typeface="Times New Roman" panose="02020603050405020304" pitchFamily="18" charset="0"/>
                <a:cs typeface="Times New Roman" panose="02020603050405020304" pitchFamily="18" charset="0"/>
              </a:rPr>
              <a:t>.</a:t>
            </a:r>
            <a:endParaRPr lang="ru-RU" sz="2800" dirty="0">
              <a:latin typeface="Times New Roman" panose="02020603050405020304" pitchFamily="18" charset="0"/>
              <a:cs typeface="Times New Roman" panose="02020603050405020304" pitchFamily="18" charset="0"/>
            </a:endParaRPr>
          </a:p>
        </p:txBody>
      </p:sp>
      <p:pic>
        <p:nvPicPr>
          <p:cNvPr id="6" name="Рисунок 5"/>
          <p:cNvPicPr>
            <a:picLocks noChangeAspect="1"/>
          </p:cNvPicPr>
          <p:nvPr/>
        </p:nvPicPr>
        <p:blipFill>
          <a:blip r:embed="rId2"/>
          <a:stretch>
            <a:fillRect/>
          </a:stretch>
        </p:blipFill>
        <p:spPr>
          <a:xfrm>
            <a:off x="1132566" y="3427090"/>
            <a:ext cx="1438476" cy="314369"/>
          </a:xfrm>
          <a:prstGeom prst="rect">
            <a:avLst/>
          </a:prstGeom>
        </p:spPr>
      </p:pic>
      <p:pic>
        <p:nvPicPr>
          <p:cNvPr id="7" name="Рисунок 6"/>
          <p:cNvPicPr>
            <a:picLocks noChangeAspect="1"/>
          </p:cNvPicPr>
          <p:nvPr/>
        </p:nvPicPr>
        <p:blipFill>
          <a:blip r:embed="rId3"/>
          <a:stretch>
            <a:fillRect/>
          </a:stretch>
        </p:blipFill>
        <p:spPr>
          <a:xfrm>
            <a:off x="7308551" y="2156307"/>
            <a:ext cx="1267002" cy="371527"/>
          </a:xfrm>
          <a:prstGeom prst="rect">
            <a:avLst/>
          </a:prstGeom>
        </p:spPr>
      </p:pic>
    </p:spTree>
    <p:extLst>
      <p:ext uri="{BB962C8B-B14F-4D97-AF65-F5344CB8AC3E}">
        <p14:creationId xmlns:p14="http://schemas.microsoft.com/office/powerpoint/2010/main" val="24564986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4"/>
          <p:cNvGraphicFramePr>
            <a:graphicFrameLocks noChangeAspect="1"/>
          </p:cNvGraphicFramePr>
          <p:nvPr>
            <p:extLst>
              <p:ext uri="{D42A27DB-BD31-4B8C-83A1-F6EECF244321}">
                <p14:modId xmlns:p14="http://schemas.microsoft.com/office/powerpoint/2010/main" val="3946498417"/>
              </p:ext>
            </p:extLst>
          </p:nvPr>
        </p:nvGraphicFramePr>
        <p:xfrm>
          <a:off x="2549944" y="981075"/>
          <a:ext cx="7416800" cy="4389438"/>
        </p:xfrm>
        <a:graphic>
          <a:graphicData uri="http://schemas.openxmlformats.org/presentationml/2006/ole">
            <mc:AlternateContent xmlns:mc="http://schemas.openxmlformats.org/markup-compatibility/2006">
              <mc:Choice xmlns:v="urn:schemas-microsoft-com:vml" Requires="v">
                <p:oleObj name="Точечный рисунок" r:id="rId2" imgW="3467584" imgH="2057143" progId="Paint.Picture">
                  <p:embed/>
                </p:oleObj>
              </mc:Choice>
              <mc:Fallback>
                <p:oleObj name="Точечный рисунок" r:id="rId2" imgW="3467584" imgH="2057143" progId="Paint.Picture">
                  <p:embed/>
                  <p:pic>
                    <p:nvPicPr>
                      <p:cNvPr id="13315"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9944" y="981075"/>
                        <a:ext cx="7416800" cy="438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7984644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063924" y="654025"/>
            <a:ext cx="10409207" cy="6124754"/>
          </a:xfrm>
          <a:prstGeom prst="rect">
            <a:avLst/>
          </a:prstGeom>
        </p:spPr>
        <p:txBody>
          <a:bodyPr wrap="square">
            <a:spAutoFit/>
          </a:bodyPr>
          <a:lstStyle/>
          <a:p>
            <a:pPr algn="just"/>
            <a:r>
              <a:rPr lang="ru-RU" sz="2800" b="1" dirty="0" err="1">
                <a:latin typeface="Times New Roman" panose="02020603050405020304" pitchFamily="18" charset="0"/>
                <a:cs typeface="Times New Roman" panose="02020603050405020304" pitchFamily="18" charset="0"/>
              </a:rPr>
              <a:t>Example</a:t>
            </a:r>
            <a:r>
              <a:rPr lang="ru-RU" sz="2800" b="1"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Graphically</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solve</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the</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equation</a:t>
            </a:r>
            <a:r>
              <a:rPr lang="ru-RU" sz="2800" dirty="0">
                <a:latin typeface="Times New Roman" panose="02020603050405020304" pitchFamily="18" charset="0"/>
                <a:cs typeface="Times New Roman" panose="02020603050405020304" pitchFamily="18" charset="0"/>
              </a:rPr>
              <a:t> </a:t>
            </a:r>
          </a:p>
          <a:p>
            <a:pPr algn="just"/>
            <a:endParaRPr lang="ru-RU" sz="2800" b="1" dirty="0">
              <a:latin typeface="Times New Roman" panose="02020603050405020304" pitchFamily="18" charset="0"/>
              <a:cs typeface="Times New Roman" panose="02020603050405020304" pitchFamily="18" charset="0"/>
            </a:endParaRPr>
          </a:p>
          <a:p>
            <a:pPr algn="just"/>
            <a:r>
              <a:rPr lang="ru-RU" sz="2800" b="1" dirty="0" err="1">
                <a:latin typeface="Times New Roman" panose="02020603050405020304" pitchFamily="18" charset="0"/>
                <a:cs typeface="Times New Roman" panose="02020603050405020304" pitchFamily="18" charset="0"/>
              </a:rPr>
              <a:t>Solution</a:t>
            </a:r>
            <a:r>
              <a:rPr lang="ru-RU" sz="2800" b="1"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Let's</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write</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the</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equation</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as</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an</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equality</a:t>
            </a:r>
            <a:endParaRPr lang="ru-RU" sz="2800" dirty="0">
              <a:latin typeface="Times New Roman" panose="02020603050405020304" pitchFamily="18" charset="0"/>
              <a:cs typeface="Times New Roman" panose="02020603050405020304" pitchFamily="18" charset="0"/>
            </a:endParaRPr>
          </a:p>
          <a:p>
            <a:pPr algn="just"/>
            <a:r>
              <a:rPr lang="ru-RU" sz="2800" dirty="0" err="1">
                <a:latin typeface="Times New Roman" panose="02020603050405020304" pitchFamily="18" charset="0"/>
                <a:cs typeface="Times New Roman" panose="02020603050405020304" pitchFamily="18" charset="0"/>
              </a:rPr>
              <a:t>The</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roots</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of</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the</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equation</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can</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be</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found</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as</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the</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abscissae</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of</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the</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intersection</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points</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of</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the</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logarithmic</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curve</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and</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the</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hyperbola</a:t>
            </a:r>
            <a:endParaRPr lang="ru-RU" sz="2800" dirty="0">
              <a:latin typeface="Times New Roman" panose="02020603050405020304" pitchFamily="18" charset="0"/>
              <a:cs typeface="Times New Roman" panose="02020603050405020304" pitchFamily="18" charset="0"/>
            </a:endParaRPr>
          </a:p>
          <a:p>
            <a:pPr algn="just"/>
            <a:r>
              <a:rPr lang="ru-RU" sz="2800" dirty="0">
                <a:latin typeface="Times New Roman" panose="02020603050405020304" pitchFamily="18" charset="0"/>
                <a:cs typeface="Times New Roman" panose="02020603050405020304" pitchFamily="18" charset="0"/>
              </a:rPr>
              <a:t>              </a:t>
            </a:r>
          </a:p>
          <a:p>
            <a:pPr algn="just"/>
            <a:endParaRPr lang="ru-RU" sz="2800" dirty="0">
              <a:latin typeface="Times New Roman" panose="02020603050405020304" pitchFamily="18" charset="0"/>
              <a:cs typeface="Times New Roman" panose="02020603050405020304" pitchFamily="18" charset="0"/>
            </a:endParaRPr>
          </a:p>
          <a:p>
            <a:pPr algn="just"/>
            <a:endParaRPr lang="ru-RU" sz="2800" dirty="0">
              <a:latin typeface="Times New Roman" panose="02020603050405020304" pitchFamily="18" charset="0"/>
              <a:cs typeface="Times New Roman" panose="02020603050405020304" pitchFamily="18" charset="0"/>
            </a:endParaRPr>
          </a:p>
          <a:p>
            <a:pPr algn="just"/>
            <a:endParaRPr lang="ru-RU" sz="2800" dirty="0">
              <a:latin typeface="Times New Roman" panose="02020603050405020304" pitchFamily="18" charset="0"/>
              <a:cs typeface="Times New Roman" panose="02020603050405020304" pitchFamily="18" charset="0"/>
            </a:endParaRPr>
          </a:p>
          <a:p>
            <a:pPr algn="just"/>
            <a:endParaRPr lang="ru-RU" sz="2800" dirty="0">
              <a:latin typeface="Times New Roman" panose="02020603050405020304" pitchFamily="18" charset="0"/>
              <a:cs typeface="Times New Roman" panose="02020603050405020304" pitchFamily="18" charset="0"/>
            </a:endParaRPr>
          </a:p>
          <a:p>
            <a:pPr algn="just"/>
            <a:endParaRPr lang="ru-RU" sz="2800" dirty="0">
              <a:latin typeface="Times New Roman" panose="02020603050405020304" pitchFamily="18" charset="0"/>
              <a:cs typeface="Times New Roman" panose="02020603050405020304" pitchFamily="18" charset="0"/>
            </a:endParaRPr>
          </a:p>
          <a:p>
            <a:pPr algn="just"/>
            <a:endParaRPr lang="ru-RU" sz="2800" dirty="0">
              <a:latin typeface="Times New Roman" panose="02020603050405020304" pitchFamily="18" charset="0"/>
              <a:cs typeface="Times New Roman" panose="02020603050405020304" pitchFamily="18" charset="0"/>
            </a:endParaRPr>
          </a:p>
          <a:p>
            <a:pPr algn="just"/>
            <a:r>
              <a:rPr lang="ru-RU" sz="2800" dirty="0" err="1">
                <a:latin typeface="Times New Roman" panose="02020603050405020304" pitchFamily="18" charset="0"/>
                <a:cs typeface="Times New Roman" panose="02020603050405020304" pitchFamily="18" charset="0"/>
              </a:rPr>
              <a:t>Having</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constructed</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these</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curves</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on</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the</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coordinate</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plane</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we</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will</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approximately</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find</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the</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only</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root</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of</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the</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equation</a:t>
            </a:r>
            <a:endParaRPr lang="ru-RU" sz="2800" dirty="0">
              <a:latin typeface="Times New Roman" panose="02020603050405020304" pitchFamily="18" charset="0"/>
              <a:cs typeface="Times New Roman" panose="02020603050405020304" pitchFamily="18" charset="0"/>
            </a:endParaRPr>
          </a:p>
        </p:txBody>
      </p:sp>
      <p:pic>
        <p:nvPicPr>
          <p:cNvPr id="5" name="Рисунок 4"/>
          <p:cNvPicPr>
            <a:picLocks noChangeAspect="1"/>
          </p:cNvPicPr>
          <p:nvPr/>
        </p:nvPicPr>
        <p:blipFill>
          <a:blip r:embed="rId2"/>
          <a:stretch>
            <a:fillRect/>
          </a:stretch>
        </p:blipFill>
        <p:spPr>
          <a:xfrm>
            <a:off x="7179111" y="780317"/>
            <a:ext cx="1068746" cy="323863"/>
          </a:xfrm>
          <a:prstGeom prst="rect">
            <a:avLst/>
          </a:prstGeom>
        </p:spPr>
      </p:pic>
      <p:pic>
        <p:nvPicPr>
          <p:cNvPr id="6" name="Рисунок 5"/>
          <p:cNvPicPr>
            <a:picLocks noChangeAspect="1"/>
          </p:cNvPicPr>
          <p:nvPr/>
        </p:nvPicPr>
        <p:blipFill>
          <a:blip r:embed="rId3"/>
          <a:stretch>
            <a:fillRect/>
          </a:stretch>
        </p:blipFill>
        <p:spPr>
          <a:xfrm>
            <a:off x="8100600" y="1627287"/>
            <a:ext cx="1095158" cy="304980"/>
          </a:xfrm>
          <a:prstGeom prst="rect">
            <a:avLst/>
          </a:prstGeom>
        </p:spPr>
      </p:pic>
      <p:pic>
        <p:nvPicPr>
          <p:cNvPr id="7" name="Рисунок 6"/>
          <p:cNvPicPr>
            <a:picLocks noChangeAspect="1"/>
          </p:cNvPicPr>
          <p:nvPr/>
        </p:nvPicPr>
        <p:blipFill>
          <a:blip r:embed="rId4"/>
          <a:stretch>
            <a:fillRect/>
          </a:stretch>
        </p:blipFill>
        <p:spPr>
          <a:xfrm>
            <a:off x="7385597" y="2485565"/>
            <a:ext cx="1066062" cy="419964"/>
          </a:xfrm>
          <a:prstGeom prst="rect">
            <a:avLst/>
          </a:prstGeom>
        </p:spPr>
      </p:pic>
      <p:pic>
        <p:nvPicPr>
          <p:cNvPr id="8" name="Рисунок 7"/>
          <p:cNvPicPr>
            <a:picLocks noChangeAspect="1"/>
          </p:cNvPicPr>
          <p:nvPr/>
        </p:nvPicPr>
        <p:blipFill>
          <a:blip r:embed="rId5"/>
          <a:stretch>
            <a:fillRect/>
          </a:stretch>
        </p:blipFill>
        <p:spPr>
          <a:xfrm>
            <a:off x="1252499" y="2905529"/>
            <a:ext cx="1024875" cy="352458"/>
          </a:xfrm>
          <a:prstGeom prst="rect">
            <a:avLst/>
          </a:prstGeom>
        </p:spPr>
      </p:pic>
      <p:pic>
        <p:nvPicPr>
          <p:cNvPr id="9" name="Рисунок 8"/>
          <p:cNvPicPr>
            <a:picLocks noChangeAspect="1"/>
          </p:cNvPicPr>
          <p:nvPr/>
        </p:nvPicPr>
        <p:blipFill>
          <a:blip r:embed="rId6"/>
          <a:stretch>
            <a:fillRect/>
          </a:stretch>
        </p:blipFill>
        <p:spPr>
          <a:xfrm>
            <a:off x="4127592" y="3296486"/>
            <a:ext cx="3258005" cy="2495898"/>
          </a:xfrm>
          <a:prstGeom prst="rect">
            <a:avLst/>
          </a:prstGeom>
        </p:spPr>
      </p:pic>
      <p:pic>
        <p:nvPicPr>
          <p:cNvPr id="10" name="Рисунок 9"/>
          <p:cNvPicPr>
            <a:picLocks noChangeAspect="1"/>
          </p:cNvPicPr>
          <p:nvPr/>
        </p:nvPicPr>
        <p:blipFill>
          <a:blip r:embed="rId7"/>
          <a:stretch>
            <a:fillRect/>
          </a:stretch>
        </p:blipFill>
        <p:spPr>
          <a:xfrm>
            <a:off x="8247857" y="6316039"/>
            <a:ext cx="752580" cy="333422"/>
          </a:xfrm>
          <a:prstGeom prst="rect">
            <a:avLst/>
          </a:prstGeom>
        </p:spPr>
      </p:pic>
    </p:spTree>
    <p:extLst>
      <p:ext uri="{BB962C8B-B14F-4D97-AF65-F5344CB8AC3E}">
        <p14:creationId xmlns:p14="http://schemas.microsoft.com/office/powerpoint/2010/main" val="42755992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839636" y="411532"/>
            <a:ext cx="10616242" cy="6494085"/>
          </a:xfrm>
          <a:prstGeom prst="rect">
            <a:avLst/>
          </a:prstGeom>
        </p:spPr>
        <p:txBody>
          <a:bodyPr wrap="square">
            <a:spAutoFit/>
          </a:bodyPr>
          <a:lstStyle/>
          <a:p>
            <a:pPr indent="723900" algn="just"/>
            <a:r>
              <a:rPr lang="ru-RU" sz="3200" b="1" dirty="0" err="1">
                <a:latin typeface="Times New Roman" panose="02020603050405020304" pitchFamily="18" charset="0"/>
                <a:cs typeface="Times New Roman" panose="02020603050405020304" pitchFamily="18" charset="0"/>
              </a:rPr>
              <a:t>The</a:t>
            </a:r>
            <a:r>
              <a:rPr lang="ru-RU" sz="3200" b="1" dirty="0">
                <a:latin typeface="Times New Roman" panose="02020603050405020304" pitchFamily="18" charset="0"/>
                <a:cs typeface="Times New Roman" panose="02020603050405020304" pitchFamily="18" charset="0"/>
              </a:rPr>
              <a:t> </a:t>
            </a:r>
            <a:r>
              <a:rPr lang="ru-RU" sz="3200" b="1" dirty="0" err="1">
                <a:latin typeface="Times New Roman" panose="02020603050405020304" pitchFamily="18" charset="0"/>
                <a:cs typeface="Times New Roman" panose="02020603050405020304" pitchFamily="18" charset="0"/>
              </a:rPr>
              <a:t>method</a:t>
            </a:r>
            <a:r>
              <a:rPr lang="ru-RU" sz="3200" b="1" dirty="0">
                <a:latin typeface="Times New Roman" panose="02020603050405020304" pitchFamily="18" charset="0"/>
                <a:cs typeface="Times New Roman" panose="02020603050405020304" pitchFamily="18" charset="0"/>
              </a:rPr>
              <a:t> </a:t>
            </a:r>
            <a:r>
              <a:rPr lang="ru-RU" sz="3200" b="1" dirty="0" err="1">
                <a:latin typeface="Times New Roman" panose="02020603050405020304" pitchFamily="18" charset="0"/>
                <a:cs typeface="Times New Roman" panose="02020603050405020304" pitchFamily="18" charset="0"/>
              </a:rPr>
              <a:t>of</a:t>
            </a:r>
            <a:r>
              <a:rPr lang="ru-RU" sz="3200" b="1" dirty="0">
                <a:latin typeface="Times New Roman" panose="02020603050405020304" pitchFamily="18" charset="0"/>
                <a:cs typeface="Times New Roman" panose="02020603050405020304" pitchFamily="18" charset="0"/>
              </a:rPr>
              <a:t> </a:t>
            </a:r>
            <a:r>
              <a:rPr lang="ru-RU" sz="3200" b="1" dirty="0" err="1">
                <a:latin typeface="Times New Roman" panose="02020603050405020304" pitchFamily="18" charset="0"/>
                <a:cs typeface="Times New Roman" panose="02020603050405020304" pitchFamily="18" charset="0"/>
              </a:rPr>
              <a:t>half</a:t>
            </a:r>
            <a:r>
              <a:rPr lang="ru-RU" sz="3200" b="1" dirty="0">
                <a:latin typeface="Times New Roman" panose="02020603050405020304" pitchFamily="18" charset="0"/>
                <a:cs typeface="Times New Roman" panose="02020603050405020304" pitchFamily="18" charset="0"/>
              </a:rPr>
              <a:t> </a:t>
            </a:r>
            <a:r>
              <a:rPr lang="ru-RU" sz="3200" b="1" dirty="0" err="1">
                <a:latin typeface="Times New Roman" panose="02020603050405020304" pitchFamily="18" charset="0"/>
                <a:cs typeface="Times New Roman" panose="02020603050405020304" pitchFamily="18" charset="0"/>
              </a:rPr>
              <a:t>division</a:t>
            </a:r>
            <a:endParaRPr lang="ru-RU" sz="3200" b="1" dirty="0">
              <a:latin typeface="Times New Roman" panose="02020603050405020304" pitchFamily="18" charset="0"/>
              <a:cs typeface="Times New Roman" panose="02020603050405020304" pitchFamily="18" charset="0"/>
            </a:endParaRPr>
          </a:p>
          <a:p>
            <a:pPr indent="723900" algn="just"/>
            <a:r>
              <a:rPr lang="ru-RU" sz="3200" dirty="0" err="1">
                <a:latin typeface="Times New Roman" panose="02020603050405020304" pitchFamily="18" charset="0"/>
                <a:cs typeface="Times New Roman" panose="02020603050405020304" pitchFamily="18" charset="0"/>
              </a:rPr>
              <a:t>The</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value</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of</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the</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function</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is</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calculated</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at</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the</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ends</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and</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in</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the</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middle</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of</a:t>
            </a:r>
            <a:r>
              <a:rPr lang="ru-RU" sz="3200" dirty="0">
                <a:latin typeface="Times New Roman" panose="02020603050405020304" pitchFamily="18" charset="0"/>
                <a:cs typeface="Times New Roman" panose="02020603050405020304" pitchFamily="18" charset="0"/>
              </a:rPr>
              <a:t> a </a:t>
            </a:r>
            <a:r>
              <a:rPr lang="ru-RU" sz="3200" dirty="0" err="1">
                <a:latin typeface="Times New Roman" panose="02020603050405020304" pitchFamily="18" charset="0"/>
                <a:cs typeface="Times New Roman" panose="02020603050405020304" pitchFamily="18" charset="0"/>
              </a:rPr>
              <a:t>given</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interval</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i.e</a:t>
            </a:r>
            <a:r>
              <a:rPr lang="ru-RU" sz="3200" dirty="0">
                <a:latin typeface="Times New Roman" panose="02020603050405020304" pitchFamily="18" charset="0"/>
                <a:cs typeface="Times New Roman" panose="02020603050405020304" pitchFamily="18" charset="0"/>
              </a:rPr>
              <a:t>.</a:t>
            </a:r>
          </a:p>
          <a:p>
            <a:pPr indent="723900" algn="just"/>
            <a:endParaRPr lang="ru-RU" sz="3200" dirty="0">
              <a:latin typeface="Times New Roman" panose="02020603050405020304" pitchFamily="18" charset="0"/>
              <a:cs typeface="Times New Roman" panose="02020603050405020304" pitchFamily="18" charset="0"/>
            </a:endParaRPr>
          </a:p>
          <a:p>
            <a:pPr indent="723900" algn="just"/>
            <a:endParaRPr lang="ru-RU" sz="3200" dirty="0">
              <a:latin typeface="Times New Roman" panose="02020603050405020304" pitchFamily="18" charset="0"/>
              <a:cs typeface="Times New Roman" panose="02020603050405020304" pitchFamily="18" charset="0"/>
            </a:endParaRPr>
          </a:p>
          <a:p>
            <a:pPr indent="723900" algn="just"/>
            <a:r>
              <a:rPr lang="ru-RU" sz="3200" dirty="0" err="1">
                <a:latin typeface="Times New Roman" panose="02020603050405020304" pitchFamily="18" charset="0"/>
                <a:cs typeface="Times New Roman" panose="02020603050405020304" pitchFamily="18" charset="0"/>
              </a:rPr>
              <a:t>If</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this</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value</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is</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zero</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then</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is</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the</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root</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of</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the</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equation</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If</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this</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value</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is</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greater</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than</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or</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less</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than</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zero</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then</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select</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the</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half</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of</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the</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interval</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at</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the</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ends</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of</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which</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has</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opposite</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signs</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and</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repeat</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the</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specified</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calculation</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for</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it</a:t>
            </a:r>
            <a:r>
              <a:rPr lang="ru-RU" sz="3200" dirty="0">
                <a:latin typeface="Times New Roman" panose="02020603050405020304" pitchFamily="18" charset="0"/>
                <a:cs typeface="Times New Roman" panose="02020603050405020304" pitchFamily="18" charset="0"/>
              </a:rPr>
              <a:t>.</a:t>
            </a:r>
          </a:p>
          <a:p>
            <a:pPr indent="723900" algn="just"/>
            <a:r>
              <a:rPr lang="ru-RU" sz="3200" dirty="0" err="1">
                <a:latin typeface="Times New Roman" panose="02020603050405020304" pitchFamily="18" charset="0"/>
                <a:cs typeface="Times New Roman" panose="02020603050405020304" pitchFamily="18" charset="0"/>
              </a:rPr>
              <a:t>The</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maximum</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absolute</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error</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in</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determining</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the</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root</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will</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be</a:t>
            </a:r>
            <a:r>
              <a:rPr lang="ru-RU" sz="3200" dirty="0">
                <a:latin typeface="Times New Roman" panose="02020603050405020304" pitchFamily="18" charset="0"/>
                <a:cs typeface="Times New Roman" panose="02020603050405020304" pitchFamily="18" charset="0"/>
              </a:rPr>
              <a:t>        </a:t>
            </a:r>
          </a:p>
          <a:p>
            <a:pPr indent="723900" algn="just"/>
            <a:endParaRPr lang="ru-RU" sz="3200" dirty="0">
              <a:latin typeface="Times New Roman" panose="02020603050405020304" pitchFamily="18" charset="0"/>
              <a:cs typeface="Times New Roman" panose="02020603050405020304" pitchFamily="18" charset="0"/>
            </a:endParaRPr>
          </a:p>
          <a:p>
            <a:pPr indent="723900" algn="just"/>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where</a:t>
            </a:r>
            <a:r>
              <a:rPr lang="ru-RU" sz="3200" dirty="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n </a:t>
            </a:r>
            <a:r>
              <a:rPr lang="ru-RU" sz="3200" dirty="0" err="1">
                <a:latin typeface="Times New Roman" panose="02020603050405020304" pitchFamily="18" charset="0"/>
                <a:cs typeface="Times New Roman" panose="02020603050405020304" pitchFamily="18" charset="0"/>
              </a:rPr>
              <a:t>is</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the</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number</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of</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steps</a:t>
            </a:r>
            <a:r>
              <a:rPr lang="en-US" sz="3200" dirty="0">
                <a:latin typeface="Times New Roman" panose="02020603050405020304" pitchFamily="18" charset="0"/>
                <a:cs typeface="Times New Roman" panose="02020603050405020304" pitchFamily="18" charset="0"/>
              </a:rPr>
              <a:t>.</a:t>
            </a:r>
            <a:endParaRPr lang="ru-RU" sz="3200" dirty="0">
              <a:latin typeface="Times New Roman" panose="02020603050405020304" pitchFamily="18" charset="0"/>
              <a:cs typeface="Times New Roman" panose="02020603050405020304" pitchFamily="18" charset="0"/>
            </a:endParaRPr>
          </a:p>
        </p:txBody>
      </p:sp>
      <p:pic>
        <p:nvPicPr>
          <p:cNvPr id="5" name="Рисунок 4"/>
          <p:cNvPicPr>
            <a:picLocks noChangeAspect="1"/>
          </p:cNvPicPr>
          <p:nvPr/>
        </p:nvPicPr>
        <p:blipFill>
          <a:blip r:embed="rId2"/>
          <a:stretch>
            <a:fillRect/>
          </a:stretch>
        </p:blipFill>
        <p:spPr>
          <a:xfrm>
            <a:off x="5143167" y="2167634"/>
            <a:ext cx="1516426" cy="526759"/>
          </a:xfrm>
          <a:prstGeom prst="rect">
            <a:avLst/>
          </a:prstGeom>
        </p:spPr>
      </p:pic>
      <p:pic>
        <p:nvPicPr>
          <p:cNvPr id="6" name="Рисунок 5"/>
          <p:cNvPicPr>
            <a:picLocks noChangeAspect="1"/>
          </p:cNvPicPr>
          <p:nvPr/>
        </p:nvPicPr>
        <p:blipFill>
          <a:blip r:embed="rId3"/>
          <a:stretch>
            <a:fillRect/>
          </a:stretch>
        </p:blipFill>
        <p:spPr>
          <a:xfrm>
            <a:off x="6389297" y="2965318"/>
            <a:ext cx="1477993" cy="401628"/>
          </a:xfrm>
          <a:prstGeom prst="rect">
            <a:avLst/>
          </a:prstGeom>
        </p:spPr>
      </p:pic>
      <p:pic>
        <p:nvPicPr>
          <p:cNvPr id="7" name="Рисунок 6"/>
          <p:cNvPicPr>
            <a:picLocks noChangeAspect="1"/>
          </p:cNvPicPr>
          <p:nvPr/>
        </p:nvPicPr>
        <p:blipFill>
          <a:blip r:embed="rId4"/>
          <a:stretch>
            <a:fillRect/>
          </a:stretch>
        </p:blipFill>
        <p:spPr>
          <a:xfrm>
            <a:off x="10047594" y="3937289"/>
            <a:ext cx="584554" cy="442365"/>
          </a:xfrm>
          <a:prstGeom prst="rect">
            <a:avLst/>
          </a:prstGeom>
        </p:spPr>
      </p:pic>
      <p:pic>
        <p:nvPicPr>
          <p:cNvPr id="8" name="Рисунок 7"/>
          <p:cNvPicPr>
            <a:picLocks noChangeAspect="1"/>
          </p:cNvPicPr>
          <p:nvPr/>
        </p:nvPicPr>
        <p:blipFill>
          <a:blip r:embed="rId5"/>
          <a:stretch>
            <a:fillRect/>
          </a:stretch>
        </p:blipFill>
        <p:spPr>
          <a:xfrm>
            <a:off x="5791245" y="5920732"/>
            <a:ext cx="1736695" cy="375853"/>
          </a:xfrm>
          <a:prstGeom prst="rect">
            <a:avLst/>
          </a:prstGeom>
        </p:spPr>
      </p:pic>
    </p:spTree>
    <p:extLst>
      <p:ext uri="{BB962C8B-B14F-4D97-AF65-F5344CB8AC3E}">
        <p14:creationId xmlns:p14="http://schemas.microsoft.com/office/powerpoint/2010/main" val="37904113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3008016" y="596972"/>
            <a:ext cx="5809806" cy="2991617"/>
          </a:xfrm>
          <a:prstGeom prst="rect">
            <a:avLst/>
          </a:prstGeom>
        </p:spPr>
      </p:pic>
      <p:sp>
        <p:nvSpPr>
          <p:cNvPr id="5" name="Прямоугольник 4"/>
          <p:cNvSpPr/>
          <p:nvPr/>
        </p:nvSpPr>
        <p:spPr>
          <a:xfrm>
            <a:off x="1029419" y="5054927"/>
            <a:ext cx="10357449" cy="954107"/>
          </a:xfrm>
          <a:prstGeom prst="rect">
            <a:avLst/>
          </a:prstGeom>
        </p:spPr>
        <p:txBody>
          <a:bodyPr wrap="square">
            <a:spAutoFit/>
          </a:bodyPr>
          <a:lstStyle/>
          <a:p>
            <a:pPr indent="723900" algn="just"/>
            <a:r>
              <a:rPr lang="ru-RU" sz="2800" dirty="0" err="1">
                <a:latin typeface="Times New Roman" panose="02020603050405020304" pitchFamily="18" charset="0"/>
                <a:cs typeface="Times New Roman" panose="02020603050405020304" pitchFamily="18" charset="0"/>
              </a:rPr>
              <a:t>The</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method</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is</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recommended</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for</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deep</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root</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finding</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With</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increasing</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accuracy</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the</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amount</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of</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calculations</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increases</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greatly</a:t>
            </a:r>
            <a:r>
              <a:rPr lang="ru-RU" sz="28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8603449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856890" y="500180"/>
            <a:ext cx="10564483" cy="5262979"/>
          </a:xfrm>
          <a:prstGeom prst="rect">
            <a:avLst/>
          </a:prstGeom>
        </p:spPr>
        <p:txBody>
          <a:bodyPr wrap="square">
            <a:spAutoFit/>
          </a:bodyPr>
          <a:lstStyle/>
          <a:p>
            <a:r>
              <a:rPr lang="ru-RU" sz="2400" b="1" dirty="0" err="1">
                <a:latin typeface="Times New Roman" panose="02020603050405020304" pitchFamily="18" charset="0"/>
                <a:cs typeface="Times New Roman" panose="02020603050405020304" pitchFamily="18" charset="0"/>
              </a:rPr>
              <a:t>Example</a:t>
            </a:r>
            <a:r>
              <a:rPr lang="ru-RU" sz="2400" b="1"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Using</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the</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method</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of</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half</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division</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clarify</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the</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root</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of</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the</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equation</a:t>
            </a:r>
            <a:endParaRPr lang="ru-RU" sz="2400" dirty="0">
              <a:latin typeface="Times New Roman" panose="02020603050405020304" pitchFamily="18" charset="0"/>
              <a:cs typeface="Times New Roman" panose="02020603050405020304" pitchFamily="18" charset="0"/>
            </a:endParaRPr>
          </a:p>
          <a:p>
            <a:endParaRPr lang="ru-RU" sz="2400" dirty="0">
              <a:latin typeface="Times New Roman" panose="02020603050405020304" pitchFamily="18" charset="0"/>
              <a:cs typeface="Times New Roman" panose="02020603050405020304" pitchFamily="18" charset="0"/>
            </a:endParaRPr>
          </a:p>
          <a:p>
            <a:endParaRPr lang="ru-RU" sz="2400" dirty="0">
              <a:latin typeface="Times New Roman" panose="02020603050405020304" pitchFamily="18" charset="0"/>
              <a:cs typeface="Times New Roman" panose="02020603050405020304" pitchFamily="18" charset="0"/>
            </a:endParaRPr>
          </a:p>
          <a:p>
            <a:r>
              <a:rPr lang="ru-RU" sz="2400" dirty="0" err="1">
                <a:latin typeface="Times New Roman" panose="02020603050405020304" pitchFamily="18" charset="0"/>
                <a:cs typeface="Times New Roman" panose="02020603050405020304" pitchFamily="18" charset="0"/>
              </a:rPr>
              <a:t>lying</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on</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the</a:t>
            </a:r>
            <a:r>
              <a:rPr lang="ru-RU" sz="2400" dirty="0">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interval</a:t>
            </a:r>
            <a:r>
              <a:rPr lang="ru-RU" sz="2400">
                <a:latin typeface="Times New Roman" panose="02020603050405020304" pitchFamily="18" charset="0"/>
                <a:cs typeface="Times New Roman" panose="02020603050405020304" pitchFamily="18" charset="0"/>
              </a:rPr>
              <a:t>  </a:t>
            </a:r>
            <a:endParaRPr lang="ru-RU" sz="2400" dirty="0">
              <a:latin typeface="Times New Roman" panose="02020603050405020304" pitchFamily="18" charset="0"/>
              <a:cs typeface="Times New Roman" panose="02020603050405020304" pitchFamily="18" charset="0"/>
            </a:endParaRPr>
          </a:p>
          <a:p>
            <a:r>
              <a:rPr lang="ru-RU" sz="2400" b="1" dirty="0" err="1">
                <a:latin typeface="Times New Roman" panose="02020603050405020304" pitchFamily="18" charset="0"/>
                <a:cs typeface="Times New Roman" panose="02020603050405020304" pitchFamily="18" charset="0"/>
              </a:rPr>
              <a:t>Solution</a:t>
            </a:r>
            <a:r>
              <a:rPr lang="ru-RU" sz="2400" b="1"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We</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have</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sequentially</a:t>
            </a:r>
            <a:r>
              <a:rPr lang="ru-RU" sz="2400" dirty="0">
                <a:latin typeface="Times New Roman" panose="02020603050405020304" pitchFamily="18" charset="0"/>
                <a:cs typeface="Times New Roman" panose="02020603050405020304" pitchFamily="18" charset="0"/>
              </a:rPr>
              <a:t>:</a:t>
            </a:r>
          </a:p>
          <a:p>
            <a:endParaRPr lang="ru-RU" sz="2400" dirty="0">
              <a:latin typeface="Times New Roman" panose="02020603050405020304" pitchFamily="18" charset="0"/>
              <a:cs typeface="Times New Roman" panose="02020603050405020304" pitchFamily="18" charset="0"/>
            </a:endParaRPr>
          </a:p>
          <a:p>
            <a:endParaRPr lang="ru-RU" sz="2400" dirty="0">
              <a:latin typeface="Times New Roman" panose="02020603050405020304" pitchFamily="18" charset="0"/>
              <a:cs typeface="Times New Roman" panose="02020603050405020304" pitchFamily="18" charset="0"/>
            </a:endParaRPr>
          </a:p>
          <a:p>
            <a:endParaRPr lang="ru-RU" sz="2400" dirty="0">
              <a:latin typeface="Times New Roman" panose="02020603050405020304" pitchFamily="18" charset="0"/>
              <a:cs typeface="Times New Roman" panose="02020603050405020304" pitchFamily="18" charset="0"/>
            </a:endParaRPr>
          </a:p>
          <a:p>
            <a:endParaRPr lang="ru-RU" sz="2400" dirty="0">
              <a:latin typeface="Times New Roman" panose="02020603050405020304" pitchFamily="18" charset="0"/>
              <a:cs typeface="Times New Roman" panose="02020603050405020304" pitchFamily="18" charset="0"/>
            </a:endParaRPr>
          </a:p>
          <a:p>
            <a:endParaRPr lang="ru-RU" sz="2400" dirty="0">
              <a:latin typeface="Times New Roman" panose="02020603050405020304" pitchFamily="18" charset="0"/>
              <a:cs typeface="Times New Roman" panose="02020603050405020304" pitchFamily="18" charset="0"/>
            </a:endParaRPr>
          </a:p>
          <a:p>
            <a:endParaRPr lang="ru-RU" sz="2400" dirty="0">
              <a:latin typeface="Times New Roman" panose="02020603050405020304" pitchFamily="18" charset="0"/>
              <a:cs typeface="Times New Roman" panose="02020603050405020304" pitchFamily="18" charset="0"/>
            </a:endParaRPr>
          </a:p>
          <a:p>
            <a:endParaRPr lang="ru-RU" sz="2400" dirty="0">
              <a:latin typeface="Times New Roman" panose="02020603050405020304" pitchFamily="18" charset="0"/>
              <a:cs typeface="Times New Roman" panose="02020603050405020304" pitchFamily="18" charset="0"/>
            </a:endParaRPr>
          </a:p>
          <a:p>
            <a:endParaRPr lang="ru-RU"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It</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can</a:t>
            </a:r>
            <a:r>
              <a:rPr lang="ru-RU"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be </a:t>
            </a:r>
            <a:r>
              <a:rPr lang="ru-RU" sz="2400" dirty="0" err="1">
                <a:latin typeface="Times New Roman" panose="02020603050405020304" pitchFamily="18" charset="0"/>
                <a:cs typeface="Times New Roman" panose="02020603050405020304" pitchFamily="18" charset="0"/>
              </a:rPr>
              <a:t>accept</a:t>
            </a:r>
            <a:r>
              <a:rPr lang="en-US" sz="2400" dirty="0" err="1">
                <a:latin typeface="Times New Roman" panose="02020603050405020304" pitchFamily="18" charset="0"/>
                <a:cs typeface="Times New Roman" panose="02020603050405020304" pitchFamily="18" charset="0"/>
              </a:rPr>
              <a:t>ed</a:t>
            </a:r>
            <a:endParaRPr lang="ru-RU" sz="2400" dirty="0">
              <a:latin typeface="Times New Roman" panose="02020603050405020304" pitchFamily="18" charset="0"/>
              <a:cs typeface="Times New Roman" panose="02020603050405020304" pitchFamily="18" charset="0"/>
            </a:endParaRPr>
          </a:p>
        </p:txBody>
      </p:sp>
      <p:pic>
        <p:nvPicPr>
          <p:cNvPr id="5" name="Рисунок 4"/>
          <p:cNvPicPr>
            <a:picLocks noChangeAspect="1"/>
          </p:cNvPicPr>
          <p:nvPr/>
        </p:nvPicPr>
        <p:blipFill>
          <a:blip r:embed="rId2"/>
          <a:stretch>
            <a:fillRect/>
          </a:stretch>
        </p:blipFill>
        <p:spPr>
          <a:xfrm>
            <a:off x="4278070" y="1067579"/>
            <a:ext cx="2861225" cy="450669"/>
          </a:xfrm>
          <a:prstGeom prst="rect">
            <a:avLst/>
          </a:prstGeom>
        </p:spPr>
      </p:pic>
      <p:pic>
        <p:nvPicPr>
          <p:cNvPr id="6" name="Рисунок 5"/>
          <p:cNvPicPr>
            <a:picLocks noChangeAspect="1"/>
          </p:cNvPicPr>
          <p:nvPr/>
        </p:nvPicPr>
        <p:blipFill>
          <a:blip r:embed="rId3"/>
          <a:stretch>
            <a:fillRect/>
          </a:stretch>
        </p:blipFill>
        <p:spPr>
          <a:xfrm>
            <a:off x="3685638" y="1733548"/>
            <a:ext cx="834604" cy="352099"/>
          </a:xfrm>
          <a:prstGeom prst="rect">
            <a:avLst/>
          </a:prstGeom>
        </p:spPr>
      </p:pic>
      <p:pic>
        <p:nvPicPr>
          <p:cNvPr id="7" name="Рисунок 6"/>
          <p:cNvPicPr>
            <a:picLocks noChangeAspect="1"/>
          </p:cNvPicPr>
          <p:nvPr/>
        </p:nvPicPr>
        <p:blipFill>
          <a:blip r:embed="rId4"/>
          <a:stretch>
            <a:fillRect/>
          </a:stretch>
        </p:blipFill>
        <p:spPr>
          <a:xfrm>
            <a:off x="2535716" y="2593009"/>
            <a:ext cx="7010418" cy="2462070"/>
          </a:xfrm>
          <a:prstGeom prst="rect">
            <a:avLst/>
          </a:prstGeom>
        </p:spPr>
      </p:pic>
      <p:pic>
        <p:nvPicPr>
          <p:cNvPr id="8" name="Рисунок 7"/>
          <p:cNvPicPr>
            <a:picLocks noChangeAspect="1"/>
          </p:cNvPicPr>
          <p:nvPr/>
        </p:nvPicPr>
        <p:blipFill>
          <a:blip r:embed="rId5"/>
          <a:stretch>
            <a:fillRect/>
          </a:stretch>
        </p:blipFill>
        <p:spPr>
          <a:xfrm>
            <a:off x="3685638" y="5755260"/>
            <a:ext cx="4343272" cy="723879"/>
          </a:xfrm>
          <a:prstGeom prst="rect">
            <a:avLst/>
          </a:prstGeom>
        </p:spPr>
      </p:pic>
    </p:spTree>
    <p:extLst>
      <p:ext uri="{BB962C8B-B14F-4D97-AF65-F5344CB8AC3E}">
        <p14:creationId xmlns:p14="http://schemas.microsoft.com/office/powerpoint/2010/main" val="2047312701"/>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Документ" ma:contentTypeID="0x01010066A608F25D1F8F4682A2ED8E4F61D5EB" ma:contentTypeVersion="4" ma:contentTypeDescription="Создание документа." ma:contentTypeScope="" ma:versionID="c9850f7326ade84be57ef81e27f6f754">
  <xsd:schema xmlns:xsd="http://www.w3.org/2001/XMLSchema" xmlns:xs="http://www.w3.org/2001/XMLSchema" xmlns:p="http://schemas.microsoft.com/office/2006/metadata/properties" xmlns:ns2="e320f0fe-ea68-44bc-81d2-dfe55e3139f4" targetNamespace="http://schemas.microsoft.com/office/2006/metadata/properties" ma:root="true" ma:fieldsID="66e8693cb747e8d9ce14c760feb681e9" ns2:_="">
    <xsd:import namespace="e320f0fe-ea68-44bc-81d2-dfe55e3139f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20f0fe-ea68-44bc-81d2-dfe55e3139f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контента"/>
        <xsd:element ref="dc:title" minOccurs="0" maxOccurs="1" ma:index="4" ma:displayName="Назван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B18B91E-98CF-4E75-AE5E-4FC1C8A1BD42}">
  <ds:schemaRefs>
    <ds:schemaRef ds:uri="http://schemas.microsoft.com/sharepoint/v3/contenttype/forms"/>
  </ds:schemaRefs>
</ds:datastoreItem>
</file>

<file path=customXml/itemProps2.xml><?xml version="1.0" encoding="utf-8"?>
<ds:datastoreItem xmlns:ds="http://schemas.openxmlformats.org/officeDocument/2006/customXml" ds:itemID="{A239B3F0-9370-470E-B36F-F94033DBC15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320f0fe-ea68-44bc-81d2-dfe55e3139f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BD4F22E-2776-493D-B88F-85FC98EF67D3}">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190</TotalTime>
  <Words>811</Words>
  <Application>Microsoft Office PowerPoint</Application>
  <PresentationFormat>Widescreen</PresentationFormat>
  <Paragraphs>75</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Тема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Ким Гульнар Амангельдыевна</dc:creator>
  <cp:lastModifiedBy>Ким Гульнар Амангельдыевна </cp:lastModifiedBy>
  <cp:revision>23</cp:revision>
  <dcterms:created xsi:type="dcterms:W3CDTF">2024-02-02T08:15:51Z</dcterms:created>
  <dcterms:modified xsi:type="dcterms:W3CDTF">2026-02-17T05:58:29Z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0x01010066A608F25D1F8F4682A2ED8E4F61D5EB</vt:lpwstr>
  </property>
</Properties>
</file>