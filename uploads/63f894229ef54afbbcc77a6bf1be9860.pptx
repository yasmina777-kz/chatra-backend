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21.xml" ContentType="application/vnd.openxmlformats-officedocument.presentationml.slide+xml"/>
  <Override PartName="/ppt/slides/slide31.xml" ContentType="application/vnd.openxmlformats-officedocument.presentationml.slide+xml"/>
  <Override PartName="/ppt/slides/slide2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6.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49" d="100"/>
          <a:sy n="49" d="100"/>
        </p:scale>
        <p:origin x="86"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77C2D5-9F8B-4661-9F24-6F9E5EA3C3AC}"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3170509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7C2D5-9F8B-4661-9F24-6F9E5EA3C3AC}"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2682757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77C2D5-9F8B-4661-9F24-6F9E5EA3C3AC}"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272982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177C2D5-9F8B-4661-9F24-6F9E5EA3C3AC}"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1465699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177C2D5-9F8B-4661-9F24-6F9E5EA3C3AC}"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238767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77C2D5-9F8B-4661-9F24-6F9E5EA3C3AC}"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3714911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7C2D5-9F8B-4661-9F24-6F9E5EA3C3AC}" type="datetimeFigureOut">
              <a:rPr lang="en-US" smtClean="0"/>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2890429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77C2D5-9F8B-4661-9F24-6F9E5EA3C3AC}"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57507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77C2D5-9F8B-4661-9F24-6F9E5EA3C3AC}"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485922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7C2D5-9F8B-4661-9F24-6F9E5EA3C3AC}"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4112905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7C2D5-9F8B-4661-9F24-6F9E5EA3C3AC}"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6F89F8-CB5C-45D0-BC00-5D975B75DAA2}" type="slidenum">
              <a:rPr lang="en-US" smtClean="0"/>
              <a:t>‹#›</a:t>
            </a:fld>
            <a:endParaRPr lang="en-US"/>
          </a:p>
        </p:txBody>
      </p:sp>
    </p:spTree>
    <p:extLst>
      <p:ext uri="{BB962C8B-B14F-4D97-AF65-F5344CB8AC3E}">
        <p14:creationId xmlns:p14="http://schemas.microsoft.com/office/powerpoint/2010/main" val="2829779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77C2D5-9F8B-4661-9F24-6F9E5EA3C3AC}" type="datetimeFigureOut">
              <a:rPr lang="en-US" smtClean="0"/>
              <a:t>10/15/2024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F89F8-CB5C-45D0-BC00-5D975B75DAA2}" type="slidenum">
              <a:rPr lang="en-US" smtClean="0"/>
              <a:t>‹#›</a:t>
            </a:fld>
            <a:endParaRPr lang="en-US"/>
          </a:p>
        </p:txBody>
      </p:sp>
    </p:spTree>
    <p:extLst>
      <p:ext uri="{BB962C8B-B14F-4D97-AF65-F5344CB8AC3E}">
        <p14:creationId xmlns:p14="http://schemas.microsoft.com/office/powerpoint/2010/main" val="2164458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929713" y="1136565"/>
            <a:ext cx="2487268" cy="1354179"/>
          </a:xfrm>
          <a:prstGeom prst="rect">
            <a:avLst/>
          </a:prstGeom>
        </p:spPr>
      </p:pic>
      <p:sp>
        <p:nvSpPr>
          <p:cNvPr id="5" name="Rectangle 4"/>
          <p:cNvSpPr/>
          <p:nvPr/>
        </p:nvSpPr>
        <p:spPr>
          <a:xfrm>
            <a:off x="5202569" y="491452"/>
            <a:ext cx="1941557" cy="645113"/>
          </a:xfrm>
          <a:prstGeom prst="rect">
            <a:avLst/>
          </a:prstGeom>
        </p:spPr>
        <p:txBody>
          <a:bodyPr wrap="none">
            <a:spAutoFit/>
          </a:bodyPr>
          <a:lstStyle/>
          <a:p>
            <a:pPr>
              <a:lnSpc>
                <a:spcPct val="107000"/>
              </a:lnSpc>
              <a:spcAft>
                <a:spcPts val="800"/>
              </a:spcAft>
            </a:pPr>
            <a:r>
              <a:rPr lang="en-US" sz="3600" dirty="0">
                <a:latin typeface="Times New Roman" panose="02020603050405020304" pitchFamily="18" charset="0"/>
                <a:ea typeface="Calibri" panose="020F0502020204030204" pitchFamily="34" charset="0"/>
                <a:cs typeface="Times New Roman" panose="02020603050405020304" pitchFamily="18" charset="0"/>
              </a:rPr>
              <a:t>Lecture 5</a:t>
            </a:r>
          </a:p>
        </p:txBody>
      </p:sp>
      <p:pic>
        <p:nvPicPr>
          <p:cNvPr id="6" name="Picture 5"/>
          <p:cNvPicPr>
            <a:picLocks noChangeAspect="1"/>
          </p:cNvPicPr>
          <p:nvPr/>
        </p:nvPicPr>
        <p:blipFill>
          <a:blip r:embed="rId3"/>
          <a:stretch>
            <a:fillRect/>
          </a:stretch>
        </p:blipFill>
        <p:spPr>
          <a:xfrm>
            <a:off x="623454" y="3395629"/>
            <a:ext cx="10628651" cy="3396137"/>
          </a:xfrm>
          <a:prstGeom prst="rect">
            <a:avLst/>
          </a:prstGeom>
        </p:spPr>
      </p:pic>
      <p:sp>
        <p:nvSpPr>
          <p:cNvPr id="7" name="Rectangle 6"/>
          <p:cNvSpPr/>
          <p:nvPr/>
        </p:nvSpPr>
        <p:spPr>
          <a:xfrm>
            <a:off x="2029878" y="2750516"/>
            <a:ext cx="1620957" cy="645113"/>
          </a:xfrm>
          <a:prstGeom prst="rect">
            <a:avLst/>
          </a:prstGeom>
        </p:spPr>
        <p:txBody>
          <a:bodyPr wrap="none">
            <a:spAutoFit/>
          </a:bodyPr>
          <a:lstStyle/>
          <a:p>
            <a:pPr>
              <a:lnSpc>
                <a:spcPct val="107000"/>
              </a:lnSpc>
              <a:spcAft>
                <a:spcPts val="800"/>
              </a:spcAft>
            </a:pPr>
            <a:r>
              <a:rPr lang="en-US" sz="3600" dirty="0" smtClean="0">
                <a:latin typeface="Times New Roman" panose="02020603050405020304" pitchFamily="18" charset="0"/>
                <a:ea typeface="Calibri" panose="020F0502020204030204" pitchFamily="34" charset="0"/>
                <a:cs typeface="Times New Roman" panose="02020603050405020304" pitchFamily="18" charset="0"/>
              </a:rPr>
              <a:t>Agenda</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85473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1861" y="590982"/>
            <a:ext cx="8959374" cy="1445636"/>
          </a:xfrm>
          <a:prstGeom prst="rect">
            <a:avLst/>
          </a:prstGeom>
        </p:spPr>
      </p:pic>
      <p:pic>
        <p:nvPicPr>
          <p:cNvPr id="5" name="Picture 4"/>
          <p:cNvPicPr>
            <a:picLocks noChangeAspect="1"/>
          </p:cNvPicPr>
          <p:nvPr/>
        </p:nvPicPr>
        <p:blipFill>
          <a:blip r:embed="rId3"/>
          <a:stretch>
            <a:fillRect/>
          </a:stretch>
        </p:blipFill>
        <p:spPr>
          <a:xfrm>
            <a:off x="463261" y="2263487"/>
            <a:ext cx="11035226" cy="916132"/>
          </a:xfrm>
          <a:prstGeom prst="rect">
            <a:avLst/>
          </a:prstGeom>
        </p:spPr>
      </p:pic>
      <p:pic>
        <p:nvPicPr>
          <p:cNvPr id="6" name="Picture 5"/>
          <p:cNvPicPr>
            <a:picLocks noChangeAspect="1"/>
          </p:cNvPicPr>
          <p:nvPr/>
        </p:nvPicPr>
        <p:blipFill>
          <a:blip r:embed="rId4"/>
          <a:stretch>
            <a:fillRect/>
          </a:stretch>
        </p:blipFill>
        <p:spPr>
          <a:xfrm>
            <a:off x="463260" y="3179619"/>
            <a:ext cx="11076703" cy="2597726"/>
          </a:xfrm>
          <a:prstGeom prst="rect">
            <a:avLst/>
          </a:prstGeom>
        </p:spPr>
      </p:pic>
      <p:pic>
        <p:nvPicPr>
          <p:cNvPr id="7" name="Picture 6"/>
          <p:cNvPicPr>
            <a:picLocks noChangeAspect="1"/>
          </p:cNvPicPr>
          <p:nvPr/>
        </p:nvPicPr>
        <p:blipFill>
          <a:blip r:embed="rId5"/>
          <a:stretch>
            <a:fillRect/>
          </a:stretch>
        </p:blipFill>
        <p:spPr>
          <a:xfrm>
            <a:off x="463259" y="6034520"/>
            <a:ext cx="10509173" cy="823480"/>
          </a:xfrm>
          <a:prstGeom prst="rect">
            <a:avLst/>
          </a:prstGeom>
        </p:spPr>
      </p:pic>
    </p:spTree>
    <p:extLst>
      <p:ext uri="{BB962C8B-B14F-4D97-AF65-F5344CB8AC3E}">
        <p14:creationId xmlns:p14="http://schemas.microsoft.com/office/powerpoint/2010/main" val="3655621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123210" y="405678"/>
            <a:ext cx="7550086" cy="591850"/>
          </a:xfrm>
          <a:prstGeom prst="rect">
            <a:avLst/>
          </a:prstGeom>
        </p:spPr>
      </p:pic>
      <p:sp>
        <p:nvSpPr>
          <p:cNvPr id="6" name="Rectangle 5"/>
          <p:cNvSpPr/>
          <p:nvPr/>
        </p:nvSpPr>
        <p:spPr>
          <a:xfrm>
            <a:off x="678872" y="1464071"/>
            <a:ext cx="10127673" cy="461665"/>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A program benefits in the following ways when it is broken down into functions:</a:t>
            </a:r>
            <a:endParaRPr lang="en-US"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807027" y="1928106"/>
            <a:ext cx="4431213" cy="1938992"/>
          </a:xfrm>
          <a:prstGeom prst="rect">
            <a:avLst/>
          </a:prstGeom>
        </p:spPr>
        <p:txBody>
          <a:bodyPr wrap="none">
            <a:spAutoFit/>
          </a:bodyPr>
          <a:lstStyle/>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Simpler Code</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Code Reuse</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Better Testing</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Faster Development</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Easier Facilitation of Teamwork</a:t>
            </a:r>
            <a:endParaRPr lang="en-US" sz="2400" dirty="0">
              <a:latin typeface="Times New Roman" panose="02020603050405020304" pitchFamily="18" charset="0"/>
              <a:cs typeface="Times New Roman" panose="02020603050405020304" pitchFamily="18" charset="0"/>
            </a:endParaRPr>
          </a:p>
        </p:txBody>
      </p:sp>
      <p:sp>
        <p:nvSpPr>
          <p:cNvPr id="8" name="Rectangle 7"/>
          <p:cNvSpPr/>
          <p:nvPr/>
        </p:nvSpPr>
        <p:spPr>
          <a:xfrm>
            <a:off x="678871" y="4152037"/>
            <a:ext cx="10605655" cy="1938992"/>
          </a:xfrm>
          <a:prstGeom prst="rect">
            <a:avLst/>
          </a:prstGeom>
        </p:spPr>
        <p:txBody>
          <a:bodyPr wrap="square">
            <a:spAutoFit/>
          </a:bodyPr>
          <a:lstStyle/>
          <a:p>
            <a:pPr algn="just"/>
            <a:r>
              <a:rPr lang="en-US" sz="2400" dirty="0" smtClean="0"/>
              <a:t>We will learn to write two types of functions: </a:t>
            </a:r>
            <a:r>
              <a:rPr lang="en-US" sz="2400" b="1" dirty="0" smtClean="0"/>
              <a:t>void functions and value returning </a:t>
            </a:r>
            <a:r>
              <a:rPr lang="en-US" sz="2400" dirty="0" smtClean="0"/>
              <a:t>functions. When you call </a:t>
            </a:r>
            <a:r>
              <a:rPr lang="en-US" sz="2400" b="1" dirty="0" smtClean="0"/>
              <a:t>a void function</a:t>
            </a:r>
            <a:r>
              <a:rPr lang="en-US" sz="2400" dirty="0" smtClean="0"/>
              <a:t>, it simply executes the statements it contains and then terminates. When you call </a:t>
            </a:r>
            <a:r>
              <a:rPr lang="en-US" sz="2400" b="1" dirty="0" smtClean="0"/>
              <a:t>a value-returning function</a:t>
            </a:r>
            <a:r>
              <a:rPr lang="en-US" sz="2400" dirty="0" smtClean="0"/>
              <a:t>, it executes the statements that it contains, then returns a value back to the statement that called it.</a:t>
            </a:r>
            <a:endParaRPr lang="en-US" sz="2400" dirty="0"/>
          </a:p>
        </p:txBody>
      </p:sp>
    </p:spTree>
    <p:extLst>
      <p:ext uri="{BB962C8B-B14F-4D97-AF65-F5344CB8AC3E}">
        <p14:creationId xmlns:p14="http://schemas.microsoft.com/office/powerpoint/2010/main" val="2442989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91886" y="425162"/>
            <a:ext cx="7360996" cy="1362074"/>
          </a:xfrm>
          <a:prstGeom prst="rect">
            <a:avLst/>
          </a:prstGeom>
        </p:spPr>
      </p:pic>
      <p:sp>
        <p:nvSpPr>
          <p:cNvPr id="5" name="Rectangle 4"/>
          <p:cNvSpPr/>
          <p:nvPr/>
        </p:nvSpPr>
        <p:spPr>
          <a:xfrm>
            <a:off x="891886" y="2149871"/>
            <a:ext cx="10330296" cy="830997"/>
          </a:xfrm>
          <a:prstGeom prst="rect">
            <a:avLst/>
          </a:prstGeom>
        </p:spPr>
        <p:txBody>
          <a:bodyPr wrap="square">
            <a:spAutoFit/>
          </a:bodyPr>
          <a:lstStyle/>
          <a:p>
            <a:r>
              <a:rPr lang="en-US" sz="2400" dirty="0" smtClean="0">
                <a:latin typeface="Times New Roman" panose="02020603050405020304" pitchFamily="18" charset="0"/>
                <a:cs typeface="Times New Roman" panose="02020603050405020304" pitchFamily="18" charset="0"/>
              </a:rPr>
              <a:t>To create a function, you write its definition. Here is the general format of a function definition in Python:</a:t>
            </a:r>
            <a:endParaRPr lang="en-US" sz="2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891886" y="3172691"/>
            <a:ext cx="5695950" cy="1957983"/>
          </a:xfrm>
          <a:prstGeom prst="rect">
            <a:avLst/>
          </a:prstGeom>
        </p:spPr>
      </p:pic>
    </p:spTree>
    <p:extLst>
      <p:ext uri="{BB962C8B-B14F-4D97-AF65-F5344CB8AC3E}">
        <p14:creationId xmlns:p14="http://schemas.microsoft.com/office/powerpoint/2010/main" val="2721705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48174" y="1442888"/>
            <a:ext cx="6525818" cy="3307002"/>
          </a:xfrm>
          <a:prstGeom prst="rect">
            <a:avLst/>
          </a:prstGeom>
        </p:spPr>
      </p:pic>
      <p:sp>
        <p:nvSpPr>
          <p:cNvPr id="5" name="Rectangle 4"/>
          <p:cNvSpPr/>
          <p:nvPr/>
        </p:nvSpPr>
        <p:spPr>
          <a:xfrm>
            <a:off x="2664277" y="380365"/>
            <a:ext cx="5794343" cy="461665"/>
          </a:xfrm>
          <a:prstGeom prst="rect">
            <a:avLst/>
          </a:prstGeom>
        </p:spPr>
        <p:txBody>
          <a:bodyPr wrap="none">
            <a:spAutoFit/>
          </a:bodyPr>
          <a:lstStyle/>
          <a:p>
            <a:r>
              <a:rPr lang="en-US" sz="2400" b="1" dirty="0"/>
              <a:t>The function definition and the function call</a:t>
            </a:r>
            <a:endParaRPr lang="ru-RU" sz="2400" b="1" dirty="0"/>
          </a:p>
        </p:txBody>
      </p:sp>
      <p:cxnSp>
        <p:nvCxnSpPr>
          <p:cNvPr id="9" name="Straight Arrow Connector 8"/>
          <p:cNvCxnSpPr/>
          <p:nvPr/>
        </p:nvCxnSpPr>
        <p:spPr>
          <a:xfrm flipH="1" flipV="1">
            <a:off x="4311083" y="3536830"/>
            <a:ext cx="1250365" cy="103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646601" y="3409514"/>
            <a:ext cx="1752211" cy="461665"/>
          </a:xfrm>
          <a:prstGeom prst="rect">
            <a:avLst/>
          </a:prstGeom>
        </p:spPr>
        <p:txBody>
          <a:bodyPr wrap="none">
            <a:spAutoFit/>
          </a:bodyPr>
          <a:lstStyle/>
          <a:p>
            <a:r>
              <a:rPr lang="en-US" sz="2400" b="1" dirty="0" smtClean="0"/>
              <a:t>function call</a:t>
            </a:r>
            <a:endParaRPr lang="ru-RU" sz="2400" b="1" dirty="0"/>
          </a:p>
        </p:txBody>
      </p:sp>
    </p:spTree>
    <p:extLst>
      <p:ext uri="{BB962C8B-B14F-4D97-AF65-F5344CB8AC3E}">
        <p14:creationId xmlns:p14="http://schemas.microsoft.com/office/powerpoint/2010/main" val="5553985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5863" y="403807"/>
            <a:ext cx="6013093" cy="2410312"/>
          </a:xfrm>
          <a:prstGeom prst="rect">
            <a:avLst/>
          </a:prstGeom>
        </p:spPr>
      </p:pic>
      <p:pic>
        <p:nvPicPr>
          <p:cNvPr id="5" name="Picture 4"/>
          <p:cNvPicPr>
            <a:picLocks noChangeAspect="1"/>
          </p:cNvPicPr>
          <p:nvPr/>
        </p:nvPicPr>
        <p:blipFill>
          <a:blip r:embed="rId3"/>
          <a:stretch>
            <a:fillRect/>
          </a:stretch>
        </p:blipFill>
        <p:spPr>
          <a:xfrm>
            <a:off x="6334843" y="447572"/>
            <a:ext cx="5181240" cy="2220531"/>
          </a:xfrm>
          <a:prstGeom prst="rect">
            <a:avLst/>
          </a:prstGeom>
        </p:spPr>
      </p:pic>
      <p:sp>
        <p:nvSpPr>
          <p:cNvPr id="6" name="Rectangle 5"/>
          <p:cNvSpPr/>
          <p:nvPr/>
        </p:nvSpPr>
        <p:spPr>
          <a:xfrm>
            <a:off x="7485967" y="118831"/>
            <a:ext cx="2878993" cy="369332"/>
          </a:xfrm>
          <a:prstGeom prst="rect">
            <a:avLst/>
          </a:prstGeom>
        </p:spPr>
        <p:txBody>
          <a:bodyPr wrap="none">
            <a:spAutoFit/>
          </a:bodyPr>
          <a:lstStyle/>
          <a:p>
            <a:r>
              <a:rPr lang="en-US" dirty="0"/>
              <a:t>Calling the message function</a:t>
            </a:r>
            <a:endParaRPr lang="ru-RU" dirty="0"/>
          </a:p>
        </p:txBody>
      </p:sp>
      <p:sp>
        <p:nvSpPr>
          <p:cNvPr id="7" name="Rectangle 6"/>
          <p:cNvSpPr/>
          <p:nvPr/>
        </p:nvSpPr>
        <p:spPr>
          <a:xfrm>
            <a:off x="2119170" y="34475"/>
            <a:ext cx="2536272" cy="369332"/>
          </a:xfrm>
          <a:prstGeom prst="rect">
            <a:avLst/>
          </a:prstGeom>
        </p:spPr>
        <p:txBody>
          <a:bodyPr wrap="none">
            <a:spAutoFit/>
          </a:bodyPr>
          <a:lstStyle/>
          <a:p>
            <a:r>
              <a:rPr lang="en-US" dirty="0"/>
              <a:t>Calling the main function</a:t>
            </a:r>
            <a:endParaRPr lang="ru-RU" dirty="0"/>
          </a:p>
        </p:txBody>
      </p:sp>
      <p:sp>
        <p:nvSpPr>
          <p:cNvPr id="8" name="Rectangle 7"/>
          <p:cNvSpPr/>
          <p:nvPr/>
        </p:nvSpPr>
        <p:spPr>
          <a:xfrm>
            <a:off x="508313" y="4185416"/>
            <a:ext cx="2878993" cy="369332"/>
          </a:xfrm>
          <a:prstGeom prst="rect">
            <a:avLst/>
          </a:prstGeom>
        </p:spPr>
        <p:txBody>
          <a:bodyPr wrap="none">
            <a:spAutoFit/>
          </a:bodyPr>
          <a:lstStyle/>
          <a:p>
            <a:r>
              <a:rPr lang="en-US" dirty="0"/>
              <a:t>Calling the message function</a:t>
            </a:r>
            <a:endParaRPr lang="ru-RU" dirty="0"/>
          </a:p>
        </p:txBody>
      </p:sp>
      <p:pic>
        <p:nvPicPr>
          <p:cNvPr id="9" name="Picture 8"/>
          <p:cNvPicPr>
            <a:picLocks noChangeAspect="1"/>
          </p:cNvPicPr>
          <p:nvPr/>
        </p:nvPicPr>
        <p:blipFill>
          <a:blip r:embed="rId4"/>
          <a:stretch>
            <a:fillRect/>
          </a:stretch>
        </p:blipFill>
        <p:spPr>
          <a:xfrm>
            <a:off x="-20181" y="4799442"/>
            <a:ext cx="4655442" cy="2337841"/>
          </a:xfrm>
          <a:prstGeom prst="rect">
            <a:avLst/>
          </a:prstGeom>
        </p:spPr>
      </p:pic>
      <p:sp>
        <p:nvSpPr>
          <p:cNvPr id="10" name="Rectangle 9"/>
          <p:cNvSpPr/>
          <p:nvPr/>
        </p:nvSpPr>
        <p:spPr>
          <a:xfrm>
            <a:off x="9156154" y="3826621"/>
            <a:ext cx="2972545" cy="369332"/>
          </a:xfrm>
          <a:prstGeom prst="rect">
            <a:avLst/>
          </a:prstGeom>
        </p:spPr>
        <p:txBody>
          <a:bodyPr wrap="none">
            <a:spAutoFit/>
          </a:bodyPr>
          <a:lstStyle/>
          <a:p>
            <a:r>
              <a:rPr lang="en-US" dirty="0"/>
              <a:t>The message function returns</a:t>
            </a:r>
            <a:endParaRPr lang="ru-RU" dirty="0"/>
          </a:p>
        </p:txBody>
      </p:sp>
      <p:pic>
        <p:nvPicPr>
          <p:cNvPr id="11" name="Picture 10"/>
          <p:cNvPicPr>
            <a:picLocks noChangeAspect="1"/>
          </p:cNvPicPr>
          <p:nvPr/>
        </p:nvPicPr>
        <p:blipFill>
          <a:blip r:embed="rId5"/>
          <a:stretch>
            <a:fillRect/>
          </a:stretch>
        </p:blipFill>
        <p:spPr>
          <a:xfrm>
            <a:off x="6580205" y="4554748"/>
            <a:ext cx="5818741" cy="2303252"/>
          </a:xfrm>
          <a:prstGeom prst="rect">
            <a:avLst/>
          </a:prstGeom>
        </p:spPr>
      </p:pic>
      <p:sp>
        <p:nvSpPr>
          <p:cNvPr id="12" name="Rectangle 11"/>
          <p:cNvSpPr/>
          <p:nvPr/>
        </p:nvSpPr>
        <p:spPr>
          <a:xfrm>
            <a:off x="4854045" y="2497493"/>
            <a:ext cx="2629822" cy="369332"/>
          </a:xfrm>
          <a:prstGeom prst="rect">
            <a:avLst/>
          </a:prstGeom>
        </p:spPr>
        <p:txBody>
          <a:bodyPr wrap="none">
            <a:spAutoFit/>
          </a:bodyPr>
          <a:lstStyle/>
          <a:p>
            <a:r>
              <a:rPr lang="en-US" dirty="0"/>
              <a:t>The main function returns</a:t>
            </a:r>
            <a:endParaRPr lang="ru-RU" dirty="0"/>
          </a:p>
        </p:txBody>
      </p:sp>
      <p:pic>
        <p:nvPicPr>
          <p:cNvPr id="13" name="Picture 12"/>
          <p:cNvPicPr>
            <a:picLocks noChangeAspect="1"/>
          </p:cNvPicPr>
          <p:nvPr/>
        </p:nvPicPr>
        <p:blipFill>
          <a:blip r:embed="rId6"/>
          <a:stretch>
            <a:fillRect/>
          </a:stretch>
        </p:blipFill>
        <p:spPr>
          <a:xfrm>
            <a:off x="4156885" y="2866825"/>
            <a:ext cx="4229690" cy="1867161"/>
          </a:xfrm>
          <a:prstGeom prst="rect">
            <a:avLst/>
          </a:prstGeom>
        </p:spPr>
      </p:pic>
    </p:spTree>
    <p:extLst>
      <p:ext uri="{BB962C8B-B14F-4D97-AF65-F5344CB8AC3E}">
        <p14:creationId xmlns:p14="http://schemas.microsoft.com/office/powerpoint/2010/main" val="31945022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24837" y="2012140"/>
            <a:ext cx="9759886" cy="1490184"/>
          </a:xfrm>
          <a:prstGeom prst="rect">
            <a:avLst/>
          </a:prstGeom>
        </p:spPr>
      </p:pic>
    </p:spTree>
    <p:extLst>
      <p:ext uri="{BB962C8B-B14F-4D97-AF65-F5344CB8AC3E}">
        <p14:creationId xmlns:p14="http://schemas.microsoft.com/office/powerpoint/2010/main" val="857136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32864" y="593809"/>
            <a:ext cx="7841773" cy="1459278"/>
          </a:xfrm>
          <a:prstGeom prst="rect">
            <a:avLst/>
          </a:prstGeom>
        </p:spPr>
      </p:pic>
      <p:pic>
        <p:nvPicPr>
          <p:cNvPr id="5" name="Picture 4"/>
          <p:cNvPicPr>
            <a:picLocks noChangeAspect="1"/>
          </p:cNvPicPr>
          <p:nvPr/>
        </p:nvPicPr>
        <p:blipFill>
          <a:blip r:embed="rId3"/>
          <a:stretch>
            <a:fillRect/>
          </a:stretch>
        </p:blipFill>
        <p:spPr>
          <a:xfrm>
            <a:off x="835031" y="2019719"/>
            <a:ext cx="1856411" cy="316682"/>
          </a:xfrm>
          <a:prstGeom prst="rect">
            <a:avLst/>
          </a:prstGeom>
        </p:spPr>
      </p:pic>
      <p:sp>
        <p:nvSpPr>
          <p:cNvPr id="6" name="Rectangle 5"/>
          <p:cNvSpPr/>
          <p:nvPr/>
        </p:nvSpPr>
        <p:spPr>
          <a:xfrm>
            <a:off x="511833" y="2336401"/>
            <a:ext cx="10875034" cy="2031325"/>
          </a:xfrm>
          <a:prstGeom prst="rect">
            <a:avLst/>
          </a:prstGeom>
        </p:spPr>
        <p:txBody>
          <a:bodyPr wrap="square">
            <a:spAutoFit/>
          </a:bodyPr>
          <a:lstStyle/>
          <a:p>
            <a:r>
              <a:rPr lang="en-US" dirty="0"/>
              <a:t>Just as important as understanding how functions work is understanding how to design a program that uses functions. Programmers commonly use a technique known as top-down design to break down an algorithm into functions. The process of top-down design is performed in the following manner: </a:t>
            </a:r>
            <a:endParaRPr lang="en-US" dirty="0" smtClean="0"/>
          </a:p>
          <a:p>
            <a:pPr marL="285750" indent="-285750">
              <a:buFont typeface="Arial" panose="020B0604020202020204" pitchFamily="34" charset="0"/>
              <a:buChar char="•"/>
            </a:pPr>
            <a:r>
              <a:rPr lang="en-US" dirty="0" smtClean="0"/>
              <a:t>The </a:t>
            </a:r>
            <a:r>
              <a:rPr lang="en-US" dirty="0"/>
              <a:t>overall task that the program is to perform is broken down into a series of subtasks</a:t>
            </a:r>
            <a:r>
              <a:rPr lang="en-US" dirty="0" smtClean="0"/>
              <a:t>.</a:t>
            </a:r>
          </a:p>
          <a:p>
            <a:pPr marL="285750" indent="-285750">
              <a:buFont typeface="Arial" panose="020B0604020202020204" pitchFamily="34" charset="0"/>
              <a:buChar char="•"/>
            </a:pPr>
            <a:r>
              <a:rPr lang="en-US" dirty="0"/>
              <a:t>Each of the subtasks is examined to determine whether it can be further broken down into more subtasks. This step is repeated until no more subtasks can be </a:t>
            </a:r>
            <a:r>
              <a:rPr lang="en-US" dirty="0" smtClean="0"/>
              <a:t>identified.</a:t>
            </a:r>
          </a:p>
          <a:p>
            <a:pPr marL="285750" indent="-285750" algn="just">
              <a:buFont typeface="Arial" panose="020B0604020202020204" pitchFamily="34" charset="0"/>
              <a:buChar char="•"/>
            </a:pPr>
            <a:r>
              <a:rPr lang="en-US" dirty="0" smtClean="0"/>
              <a:t>Once </a:t>
            </a:r>
            <a:r>
              <a:rPr lang="en-US" dirty="0"/>
              <a:t>all of the subtasks have been identified, they are written in code.</a:t>
            </a:r>
            <a:endParaRPr lang="ru-RU" dirty="0"/>
          </a:p>
        </p:txBody>
      </p:sp>
      <p:sp>
        <p:nvSpPr>
          <p:cNvPr id="7" name="Rectangle 6"/>
          <p:cNvSpPr/>
          <p:nvPr/>
        </p:nvSpPr>
        <p:spPr>
          <a:xfrm>
            <a:off x="511833" y="4651040"/>
            <a:ext cx="10875034" cy="646331"/>
          </a:xfrm>
          <a:prstGeom prst="rect">
            <a:avLst/>
          </a:prstGeom>
        </p:spPr>
        <p:txBody>
          <a:bodyPr wrap="square">
            <a:spAutoFit/>
          </a:bodyPr>
          <a:lstStyle/>
          <a:p>
            <a:pPr algn="just"/>
            <a:r>
              <a:rPr lang="en-US" dirty="0"/>
              <a:t>This process is called </a:t>
            </a:r>
            <a:r>
              <a:rPr lang="en-US" b="1" dirty="0"/>
              <a:t>top-down design </a:t>
            </a:r>
            <a:r>
              <a:rPr lang="en-US" dirty="0"/>
              <a:t>because the programmer begins by looking at the topmost level of tasks that must be performed and then breaks down those tasks into lower levels of subtasks.</a:t>
            </a:r>
            <a:endParaRPr lang="ru-RU" dirty="0"/>
          </a:p>
        </p:txBody>
      </p:sp>
    </p:spTree>
    <p:extLst>
      <p:ext uri="{BB962C8B-B14F-4D97-AF65-F5344CB8AC3E}">
        <p14:creationId xmlns:p14="http://schemas.microsoft.com/office/powerpoint/2010/main" val="37257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9655" y="561957"/>
            <a:ext cx="2549571" cy="404201"/>
          </a:xfrm>
          <a:prstGeom prst="rect">
            <a:avLst/>
          </a:prstGeom>
        </p:spPr>
      </p:pic>
      <p:pic>
        <p:nvPicPr>
          <p:cNvPr id="5" name="Picture 4"/>
          <p:cNvPicPr>
            <a:picLocks noChangeAspect="1"/>
          </p:cNvPicPr>
          <p:nvPr/>
        </p:nvPicPr>
        <p:blipFill>
          <a:blip r:embed="rId3"/>
          <a:stretch>
            <a:fillRect/>
          </a:stretch>
        </p:blipFill>
        <p:spPr>
          <a:xfrm>
            <a:off x="1139655" y="1181877"/>
            <a:ext cx="9312121" cy="2907043"/>
          </a:xfrm>
          <a:prstGeom prst="rect">
            <a:avLst/>
          </a:prstGeom>
        </p:spPr>
      </p:pic>
      <p:sp>
        <p:nvSpPr>
          <p:cNvPr id="6" name="Rectangle 5"/>
          <p:cNvSpPr/>
          <p:nvPr/>
        </p:nvSpPr>
        <p:spPr>
          <a:xfrm>
            <a:off x="623972" y="5167280"/>
            <a:ext cx="11056193" cy="1200329"/>
          </a:xfrm>
          <a:prstGeom prst="rect">
            <a:avLst/>
          </a:prstGeom>
        </p:spPr>
        <p:txBody>
          <a:bodyPr wrap="square">
            <a:spAutoFit/>
          </a:bodyPr>
          <a:lstStyle/>
          <a:p>
            <a:pPr algn="just"/>
            <a:r>
              <a:rPr lang="en-US" dirty="0"/>
              <a:t>The chart shown in Figure </a:t>
            </a:r>
            <a:r>
              <a:rPr lang="ru-RU" dirty="0" smtClean="0"/>
              <a:t>2</a:t>
            </a:r>
            <a:r>
              <a:rPr lang="en-US" dirty="0" smtClean="0"/>
              <a:t> </a:t>
            </a:r>
            <a:r>
              <a:rPr lang="en-US" dirty="0"/>
              <a:t>shows the main function as the topmost function in the hierarchy. The main function calls five other functions: </a:t>
            </a:r>
            <a:r>
              <a:rPr lang="en-US" dirty="0" err="1"/>
              <a:t>get_input</a:t>
            </a:r>
            <a:r>
              <a:rPr lang="en-US" dirty="0"/>
              <a:t>, </a:t>
            </a:r>
            <a:r>
              <a:rPr lang="en-US" dirty="0" err="1"/>
              <a:t>calc_gross_pay</a:t>
            </a:r>
            <a:r>
              <a:rPr lang="en-US" dirty="0"/>
              <a:t>, </a:t>
            </a:r>
            <a:r>
              <a:rPr lang="en-US" dirty="0" err="1"/>
              <a:t>calc_overtime</a:t>
            </a:r>
            <a:r>
              <a:rPr lang="en-US" dirty="0"/>
              <a:t>, </a:t>
            </a:r>
            <a:r>
              <a:rPr lang="en-US" dirty="0" err="1"/>
              <a:t>calc_withholdings</a:t>
            </a:r>
            <a:r>
              <a:rPr lang="en-US" dirty="0"/>
              <a:t>, and </a:t>
            </a:r>
            <a:r>
              <a:rPr lang="en-US" dirty="0" err="1"/>
              <a:t>calc_net_pay</a:t>
            </a:r>
            <a:r>
              <a:rPr lang="en-US" dirty="0"/>
              <a:t>. The </a:t>
            </a:r>
            <a:r>
              <a:rPr lang="en-US" dirty="0" err="1"/>
              <a:t>get_input</a:t>
            </a:r>
            <a:r>
              <a:rPr lang="en-US" dirty="0"/>
              <a:t> function calls two additional functions: </a:t>
            </a:r>
            <a:r>
              <a:rPr lang="en-US" dirty="0" err="1"/>
              <a:t>get_hours_worked</a:t>
            </a:r>
            <a:r>
              <a:rPr lang="en-US" dirty="0"/>
              <a:t> and </a:t>
            </a:r>
            <a:r>
              <a:rPr lang="en-US" dirty="0" err="1"/>
              <a:t>get_hourly_rate</a:t>
            </a:r>
            <a:r>
              <a:rPr lang="en-US" dirty="0"/>
              <a:t>. The </a:t>
            </a:r>
            <a:r>
              <a:rPr lang="en-US" dirty="0" err="1"/>
              <a:t>calc_withholdings</a:t>
            </a:r>
            <a:r>
              <a:rPr lang="en-US" dirty="0"/>
              <a:t> function also calls two functions: </a:t>
            </a:r>
            <a:r>
              <a:rPr lang="en-US" dirty="0" err="1"/>
              <a:t>calc_taxes</a:t>
            </a:r>
            <a:r>
              <a:rPr lang="en-US" dirty="0"/>
              <a:t> and </a:t>
            </a:r>
            <a:r>
              <a:rPr lang="en-US" dirty="0" err="1"/>
              <a:t>calc_benefits</a:t>
            </a:r>
            <a:r>
              <a:rPr lang="en-US" dirty="0"/>
              <a:t>.</a:t>
            </a:r>
            <a:endParaRPr lang="ru-RU" dirty="0"/>
          </a:p>
        </p:txBody>
      </p:sp>
      <p:sp>
        <p:nvSpPr>
          <p:cNvPr id="7" name="Rectangle 6"/>
          <p:cNvSpPr/>
          <p:nvPr/>
        </p:nvSpPr>
        <p:spPr>
          <a:xfrm>
            <a:off x="4413477" y="4452891"/>
            <a:ext cx="2764475" cy="369332"/>
          </a:xfrm>
          <a:prstGeom prst="rect">
            <a:avLst/>
          </a:prstGeom>
        </p:spPr>
        <p:txBody>
          <a:bodyPr wrap="none">
            <a:spAutoFit/>
          </a:bodyPr>
          <a:lstStyle/>
          <a:p>
            <a:r>
              <a:rPr lang="en-US" dirty="0"/>
              <a:t>Figure </a:t>
            </a:r>
            <a:r>
              <a:rPr lang="ru-RU" dirty="0" smtClean="0"/>
              <a:t>2 - </a:t>
            </a:r>
            <a:r>
              <a:rPr lang="en-US" dirty="0"/>
              <a:t>A hierarchy chart </a:t>
            </a:r>
            <a:endParaRPr lang="ru-RU" dirty="0"/>
          </a:p>
        </p:txBody>
      </p:sp>
    </p:spTree>
    <p:extLst>
      <p:ext uri="{BB962C8B-B14F-4D97-AF65-F5344CB8AC3E}">
        <p14:creationId xmlns:p14="http://schemas.microsoft.com/office/powerpoint/2010/main" val="904065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8823" y="353959"/>
            <a:ext cx="7000226" cy="1698685"/>
          </a:xfrm>
          <a:prstGeom prst="rect">
            <a:avLst/>
          </a:prstGeom>
        </p:spPr>
      </p:pic>
      <p:sp>
        <p:nvSpPr>
          <p:cNvPr id="5" name="Rectangle 4"/>
          <p:cNvSpPr/>
          <p:nvPr/>
        </p:nvSpPr>
        <p:spPr>
          <a:xfrm>
            <a:off x="918823" y="2052644"/>
            <a:ext cx="10243758" cy="1200329"/>
          </a:xfrm>
          <a:prstGeom prst="rect">
            <a:avLst/>
          </a:prstGeom>
        </p:spPr>
        <p:txBody>
          <a:bodyPr wrap="square">
            <a:spAutoFit/>
          </a:bodyPr>
          <a:lstStyle/>
          <a:p>
            <a:pPr algn="just"/>
            <a:r>
              <a:rPr lang="en-US" dirty="0"/>
              <a:t>Anytime you assign a value to a variable inside a function, you create a local variable. A local variable belongs to the function in which it is created, and only statements inside that function can access the variable. (The term local is meant to indicate that the variable can be used only locally, within the function in which it is created.)</a:t>
            </a:r>
            <a:endParaRPr lang="ru-RU" dirty="0"/>
          </a:p>
        </p:txBody>
      </p:sp>
      <p:sp>
        <p:nvSpPr>
          <p:cNvPr id="6" name="Rectangle 5"/>
          <p:cNvSpPr/>
          <p:nvPr/>
        </p:nvSpPr>
        <p:spPr>
          <a:xfrm>
            <a:off x="918823" y="3252973"/>
            <a:ext cx="10243758" cy="646331"/>
          </a:xfrm>
          <a:prstGeom prst="rect">
            <a:avLst/>
          </a:prstGeom>
        </p:spPr>
        <p:txBody>
          <a:bodyPr wrap="square">
            <a:spAutoFit/>
          </a:bodyPr>
          <a:lstStyle/>
          <a:p>
            <a:r>
              <a:rPr lang="en-US" dirty="0"/>
              <a:t>An error will occur if a statement in one function tries to access a local variable that belongs to another function. For example, look at Program 5-4.</a:t>
            </a:r>
            <a:endParaRPr lang="ru-RU" dirty="0"/>
          </a:p>
        </p:txBody>
      </p:sp>
      <p:pic>
        <p:nvPicPr>
          <p:cNvPr id="7" name="Picture 6"/>
          <p:cNvPicPr>
            <a:picLocks noChangeAspect="1"/>
          </p:cNvPicPr>
          <p:nvPr/>
        </p:nvPicPr>
        <p:blipFill>
          <a:blip r:embed="rId3"/>
          <a:stretch>
            <a:fillRect/>
          </a:stretch>
        </p:blipFill>
        <p:spPr>
          <a:xfrm>
            <a:off x="918823" y="4023158"/>
            <a:ext cx="5087060" cy="2152950"/>
          </a:xfrm>
          <a:prstGeom prst="rect">
            <a:avLst/>
          </a:prstGeom>
        </p:spPr>
      </p:pic>
    </p:spTree>
    <p:extLst>
      <p:ext uri="{BB962C8B-B14F-4D97-AF65-F5344CB8AC3E}">
        <p14:creationId xmlns:p14="http://schemas.microsoft.com/office/powerpoint/2010/main" val="967963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666604" y="367415"/>
            <a:ext cx="4286951" cy="478296"/>
          </a:xfrm>
          <a:prstGeom prst="rect">
            <a:avLst/>
          </a:prstGeom>
        </p:spPr>
      </p:pic>
      <p:sp>
        <p:nvSpPr>
          <p:cNvPr id="6" name="Rectangle 5"/>
          <p:cNvSpPr/>
          <p:nvPr/>
        </p:nvSpPr>
        <p:spPr>
          <a:xfrm>
            <a:off x="1046672" y="1241576"/>
            <a:ext cx="9960634" cy="923330"/>
          </a:xfrm>
          <a:prstGeom prst="rect">
            <a:avLst/>
          </a:prstGeom>
        </p:spPr>
        <p:txBody>
          <a:bodyPr wrap="square">
            <a:spAutoFit/>
          </a:bodyPr>
          <a:lstStyle/>
          <a:p>
            <a:r>
              <a:rPr lang="en-US" smtClean="0"/>
              <a:t>A variable’s scope is the part of a program in which the variable may be accessed. A variable is visible only to statements in the variable’s scope. A local variable’s scope is the function in which the variable is created. </a:t>
            </a:r>
            <a:endParaRPr lang="ru-RU" dirty="0"/>
          </a:p>
        </p:txBody>
      </p:sp>
      <p:sp>
        <p:nvSpPr>
          <p:cNvPr id="7" name="Rectangle 6"/>
          <p:cNvSpPr/>
          <p:nvPr/>
        </p:nvSpPr>
        <p:spPr>
          <a:xfrm>
            <a:off x="969412" y="2164906"/>
            <a:ext cx="10037894" cy="1200329"/>
          </a:xfrm>
          <a:prstGeom prst="rect">
            <a:avLst/>
          </a:prstGeom>
        </p:spPr>
        <p:txBody>
          <a:bodyPr wrap="square">
            <a:spAutoFit/>
          </a:bodyPr>
          <a:lstStyle/>
          <a:p>
            <a:pPr algn="just"/>
            <a:r>
              <a:rPr lang="en-US" dirty="0"/>
              <a:t>In addition, a local variable cannot be accessed by code that appears inside the function at a point before the variable has been created. For example, look at the following function. It will cause an error because the print function tries to access the </a:t>
            </a:r>
            <a:r>
              <a:rPr lang="en-US" dirty="0" err="1"/>
              <a:t>val</a:t>
            </a:r>
            <a:r>
              <a:rPr lang="en-US" dirty="0"/>
              <a:t> variable, but this statement appears before the </a:t>
            </a:r>
            <a:r>
              <a:rPr lang="en-US" dirty="0" err="1"/>
              <a:t>val</a:t>
            </a:r>
            <a:r>
              <a:rPr lang="en-US" dirty="0"/>
              <a:t> variable has been created. Moving the assignment statement to a line before the print statement will fix this error.</a:t>
            </a:r>
            <a:endParaRPr lang="ru-RU" dirty="0"/>
          </a:p>
        </p:txBody>
      </p:sp>
      <p:pic>
        <p:nvPicPr>
          <p:cNvPr id="8" name="Picture 7"/>
          <p:cNvPicPr>
            <a:picLocks noChangeAspect="1"/>
          </p:cNvPicPr>
          <p:nvPr/>
        </p:nvPicPr>
        <p:blipFill>
          <a:blip r:embed="rId3"/>
          <a:stretch>
            <a:fillRect/>
          </a:stretch>
        </p:blipFill>
        <p:spPr>
          <a:xfrm>
            <a:off x="969412" y="3444109"/>
            <a:ext cx="5932247" cy="759224"/>
          </a:xfrm>
          <a:prstGeom prst="rect">
            <a:avLst/>
          </a:prstGeom>
        </p:spPr>
      </p:pic>
      <p:sp>
        <p:nvSpPr>
          <p:cNvPr id="9" name="Rectangle 8"/>
          <p:cNvSpPr/>
          <p:nvPr/>
        </p:nvSpPr>
        <p:spPr>
          <a:xfrm>
            <a:off x="887534" y="4203333"/>
            <a:ext cx="10119771" cy="1200329"/>
          </a:xfrm>
          <a:prstGeom prst="rect">
            <a:avLst/>
          </a:prstGeom>
        </p:spPr>
        <p:txBody>
          <a:bodyPr wrap="square">
            <a:spAutoFit/>
          </a:bodyPr>
          <a:lstStyle/>
          <a:p>
            <a:pPr algn="just"/>
            <a:r>
              <a:rPr lang="en-US" dirty="0"/>
              <a:t>Because a function’s local variables are hidden from other functions, the other functions may have their own local variables with the same name. For example, look at Program 5-5. In addition to the main function, this program has two other functions: </a:t>
            </a:r>
            <a:r>
              <a:rPr lang="en-US" dirty="0" err="1"/>
              <a:t>texas</a:t>
            </a:r>
            <a:r>
              <a:rPr lang="en-US" dirty="0"/>
              <a:t> and </a:t>
            </a:r>
            <a:r>
              <a:rPr lang="en-US" dirty="0" err="1"/>
              <a:t>california</a:t>
            </a:r>
            <a:r>
              <a:rPr lang="en-US" dirty="0"/>
              <a:t>. These two functions each have a local variable named birds. </a:t>
            </a:r>
            <a:endParaRPr lang="ru-RU" dirty="0"/>
          </a:p>
        </p:txBody>
      </p:sp>
    </p:spTree>
    <p:extLst>
      <p:ext uri="{BB962C8B-B14F-4D97-AF65-F5344CB8AC3E}">
        <p14:creationId xmlns:p14="http://schemas.microsoft.com/office/powerpoint/2010/main" val="292694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09208" y="322798"/>
            <a:ext cx="4890928" cy="5634710"/>
          </a:xfrm>
          <a:prstGeom prst="rect">
            <a:avLst/>
          </a:prstGeom>
        </p:spPr>
      </p:pic>
      <p:sp>
        <p:nvSpPr>
          <p:cNvPr id="5" name="Rectangle 4"/>
          <p:cNvSpPr/>
          <p:nvPr/>
        </p:nvSpPr>
        <p:spPr>
          <a:xfrm>
            <a:off x="5929223" y="322798"/>
            <a:ext cx="6096000" cy="1754326"/>
          </a:xfrm>
          <a:prstGeom prst="rect">
            <a:avLst/>
          </a:prstGeom>
        </p:spPr>
        <p:txBody>
          <a:bodyPr>
            <a:spAutoFit/>
          </a:bodyPr>
          <a:lstStyle/>
          <a:p>
            <a:pPr algn="just"/>
            <a:r>
              <a:rPr lang="en-US" dirty="0"/>
              <a:t>Although there are two separate variables named birds in this program, only one of them is visible at a time because they are in different functions. This is illustrated in Figure 5-12. When the </a:t>
            </a:r>
            <a:r>
              <a:rPr lang="en-US" dirty="0" err="1"/>
              <a:t>texas</a:t>
            </a:r>
            <a:r>
              <a:rPr lang="en-US" dirty="0"/>
              <a:t> function is executing, the birds variable that is created in line 13 is visible. When the </a:t>
            </a:r>
            <a:r>
              <a:rPr lang="en-US" dirty="0" err="1"/>
              <a:t>california</a:t>
            </a:r>
            <a:r>
              <a:rPr lang="en-US" dirty="0"/>
              <a:t> function is executing, the birds variable that is created in line 19 is visible.</a:t>
            </a:r>
            <a:endParaRPr lang="ru-RU" dirty="0"/>
          </a:p>
        </p:txBody>
      </p:sp>
      <p:pic>
        <p:nvPicPr>
          <p:cNvPr id="6" name="Picture 5"/>
          <p:cNvPicPr>
            <a:picLocks noChangeAspect="1"/>
          </p:cNvPicPr>
          <p:nvPr/>
        </p:nvPicPr>
        <p:blipFill>
          <a:blip r:embed="rId3"/>
          <a:stretch>
            <a:fillRect/>
          </a:stretch>
        </p:blipFill>
        <p:spPr>
          <a:xfrm>
            <a:off x="5806664" y="2423534"/>
            <a:ext cx="5493940" cy="3402497"/>
          </a:xfrm>
          <a:prstGeom prst="rect">
            <a:avLst/>
          </a:prstGeom>
        </p:spPr>
      </p:pic>
    </p:spTree>
    <p:extLst>
      <p:ext uri="{BB962C8B-B14F-4D97-AF65-F5344CB8AC3E}">
        <p14:creationId xmlns:p14="http://schemas.microsoft.com/office/powerpoint/2010/main" val="2349022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021487" y="414201"/>
            <a:ext cx="6543675" cy="1257300"/>
          </a:xfrm>
          <a:prstGeom prst="rect">
            <a:avLst/>
          </a:prstGeom>
        </p:spPr>
      </p:pic>
      <p:sp>
        <p:nvSpPr>
          <p:cNvPr id="5" name="Прямоугольник 4"/>
          <p:cNvSpPr/>
          <p:nvPr/>
        </p:nvSpPr>
        <p:spPr>
          <a:xfrm>
            <a:off x="1021487" y="1962929"/>
            <a:ext cx="10247404" cy="685059"/>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Pieces of data that are sent into a function are known as arguments. The function can use its arguments in calculations or other operations.</a:t>
            </a:r>
            <a:endParaRPr lang="ru-RU" dirty="0">
              <a:latin typeface="Calibri" panose="020F0502020204030204" pitchFamily="34" charset="0"/>
              <a:ea typeface="Calibri" panose="020F0502020204030204" pitchFamily="34" charset="0"/>
              <a:cs typeface="Times New Roman" panose="02020603050405020304" pitchFamily="18" charset="0"/>
            </a:endParaRPr>
          </a:p>
        </p:txBody>
      </p:sp>
      <p:pic>
        <p:nvPicPr>
          <p:cNvPr id="6" name="Рисунок 5"/>
          <p:cNvPicPr>
            <a:picLocks noChangeAspect="1"/>
          </p:cNvPicPr>
          <p:nvPr/>
        </p:nvPicPr>
        <p:blipFill>
          <a:blip r:embed="rId3"/>
          <a:stretch>
            <a:fillRect/>
          </a:stretch>
        </p:blipFill>
        <p:spPr>
          <a:xfrm>
            <a:off x="2223271" y="3420859"/>
            <a:ext cx="2276475" cy="695325"/>
          </a:xfrm>
          <a:prstGeom prst="rect">
            <a:avLst/>
          </a:prstGeom>
        </p:spPr>
      </p:pic>
      <p:sp>
        <p:nvSpPr>
          <p:cNvPr id="7" name="Прямоугольник 6"/>
          <p:cNvSpPr/>
          <p:nvPr/>
        </p:nvSpPr>
        <p:spPr>
          <a:xfrm>
            <a:off x="1021487" y="2684507"/>
            <a:ext cx="10081942" cy="1084015"/>
          </a:xfrm>
          <a:prstGeom prst="rect">
            <a:avLst/>
          </a:prstGeom>
        </p:spPr>
        <p:txBody>
          <a:bodyPr wrap="square">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A parameter variable</a:t>
            </a:r>
            <a:r>
              <a:rPr lang="en-US" dirty="0">
                <a:latin typeface="Calibri" panose="020F0502020204030204" pitchFamily="34" charset="0"/>
                <a:ea typeface="Calibri" panose="020F0502020204030204" pitchFamily="34" charset="0"/>
                <a:cs typeface="Times New Roman" panose="02020603050405020304" pitchFamily="18" charset="0"/>
              </a:rPr>
              <a:t>, often simply called </a:t>
            </a:r>
            <a:r>
              <a:rPr lang="en-US" b="1" dirty="0">
                <a:latin typeface="Calibri" panose="020F0502020204030204" pitchFamily="34" charset="0"/>
                <a:ea typeface="Calibri" panose="020F0502020204030204" pitchFamily="34" charset="0"/>
                <a:cs typeface="Times New Roman" panose="02020603050405020304" pitchFamily="18" charset="0"/>
              </a:rPr>
              <a:t>a parameter</a:t>
            </a:r>
            <a:r>
              <a:rPr lang="en-US" dirty="0">
                <a:latin typeface="Calibri" panose="020F0502020204030204" pitchFamily="34" charset="0"/>
                <a:ea typeface="Calibri" panose="020F0502020204030204" pitchFamily="34" charset="0"/>
                <a:cs typeface="Times New Roman" panose="02020603050405020304" pitchFamily="18" charset="0"/>
              </a:rPr>
              <a:t>, is a special variable that is assigned the value of an argument when a function is called.</a:t>
            </a:r>
            <a:endParaRPr lang="ru-RU"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smtClean="0">
                <a:latin typeface="Calibri" panose="020F0502020204030204" pitchFamily="34" charset="0"/>
                <a:ea typeface="Calibri" panose="020F0502020204030204" pitchFamily="34" charset="0"/>
                <a:cs typeface="Times New Roman" panose="02020603050405020304" pitchFamily="18" charset="0"/>
              </a:rPr>
              <a:t>Example:</a:t>
            </a:r>
            <a:endParaRPr lang="ru-RU"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Прямоугольник 7"/>
          <p:cNvSpPr/>
          <p:nvPr/>
        </p:nvSpPr>
        <p:spPr>
          <a:xfrm>
            <a:off x="4129116" y="4427982"/>
            <a:ext cx="3612207" cy="369332"/>
          </a:xfrm>
          <a:prstGeom prst="rect">
            <a:avLst/>
          </a:prstGeom>
        </p:spPr>
        <p:txBody>
          <a:bodyPr wrap="none">
            <a:spAutoFit/>
          </a:bodyPr>
          <a:lstStyle/>
          <a:p>
            <a:r>
              <a:rPr lang="en-US" dirty="0" smtClean="0">
                <a:latin typeface="Calibri" panose="020F0502020204030204" pitchFamily="34" charset="0"/>
                <a:ea typeface="Calibri" panose="020F0502020204030204" pitchFamily="34" charset="0"/>
                <a:cs typeface="Times New Roman" panose="02020603050405020304" pitchFamily="18" charset="0"/>
              </a:rPr>
              <a:t>The </a:t>
            </a:r>
            <a:r>
              <a:rPr lang="en-US" dirty="0">
                <a:latin typeface="Calibri" panose="020F0502020204030204" pitchFamily="34" charset="0"/>
                <a:ea typeface="Calibri" panose="020F0502020204030204" pitchFamily="34" charset="0"/>
                <a:cs typeface="Times New Roman" panose="02020603050405020304" pitchFamily="18" charset="0"/>
              </a:rPr>
              <a:t>function in a complete </a:t>
            </a:r>
            <a:r>
              <a:rPr lang="en-US" dirty="0" smtClean="0">
                <a:latin typeface="Calibri" panose="020F0502020204030204" pitchFamily="34" charset="0"/>
                <a:ea typeface="Calibri" panose="020F0502020204030204" pitchFamily="34" charset="0"/>
                <a:cs typeface="Times New Roman" panose="02020603050405020304" pitchFamily="18" charset="0"/>
              </a:rPr>
              <a:t>program</a:t>
            </a:r>
            <a:r>
              <a:rPr lang="ru-RU" dirty="0">
                <a:latin typeface="Calibri" panose="020F0502020204030204" pitchFamily="34" charset="0"/>
                <a:ea typeface="Calibri" panose="020F0502020204030204" pitchFamily="34" charset="0"/>
                <a:cs typeface="Times New Roman" panose="02020603050405020304" pitchFamily="18" charset="0"/>
              </a:rPr>
              <a:t>:</a:t>
            </a:r>
            <a:endParaRPr lang="ru-RU" dirty="0"/>
          </a:p>
        </p:txBody>
      </p:sp>
      <p:pic>
        <p:nvPicPr>
          <p:cNvPr id="9" name="Рисунок 8"/>
          <p:cNvPicPr/>
          <p:nvPr/>
        </p:nvPicPr>
        <p:blipFill>
          <a:blip r:embed="rId4">
            <a:extLst>
              <a:ext uri="{28A0092B-C50C-407E-A947-70E740481C1C}">
                <a14:useLocalDpi xmlns:a14="http://schemas.microsoft.com/office/drawing/2010/main" val="0"/>
              </a:ext>
            </a:extLst>
          </a:blip>
          <a:srcRect/>
          <a:stretch>
            <a:fillRect/>
          </a:stretch>
        </p:blipFill>
        <p:spPr bwMode="auto">
          <a:xfrm>
            <a:off x="7774033" y="3420859"/>
            <a:ext cx="3558540" cy="3307080"/>
          </a:xfrm>
          <a:prstGeom prst="rect">
            <a:avLst/>
          </a:prstGeom>
          <a:noFill/>
          <a:ln>
            <a:noFill/>
          </a:ln>
        </p:spPr>
      </p:pic>
    </p:spTree>
    <p:extLst>
      <p:ext uri="{BB962C8B-B14F-4D97-AF65-F5344CB8AC3E}">
        <p14:creationId xmlns:p14="http://schemas.microsoft.com/office/powerpoint/2010/main" val="2866791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731519" y="554730"/>
            <a:ext cx="10502537" cy="3139321"/>
          </a:xfrm>
          <a:prstGeom prst="rect">
            <a:avLst/>
          </a:prstGeom>
        </p:spPr>
        <p:txBody>
          <a:bodyPr wrap="square">
            <a:spAutoFit/>
          </a:bodyPr>
          <a:lstStyle/>
          <a:p>
            <a:pPr algn="just"/>
            <a:r>
              <a:rPr lang="en-US" b="1" dirty="0" smtClean="0"/>
              <a:t>TASK: Passing </a:t>
            </a:r>
            <a:r>
              <a:rPr lang="en-US" b="1" dirty="0"/>
              <a:t>an Argument to a Function </a:t>
            </a:r>
            <a:endParaRPr lang="en-US" b="1" dirty="0" smtClean="0"/>
          </a:p>
          <a:p>
            <a:pPr algn="just"/>
            <a:endParaRPr lang="en-US" dirty="0" smtClean="0"/>
          </a:p>
          <a:p>
            <a:pPr algn="just"/>
            <a:r>
              <a:rPr lang="en-US" dirty="0" smtClean="0"/>
              <a:t>Your </a:t>
            </a:r>
            <a:r>
              <a:rPr lang="en-US" dirty="0"/>
              <a:t>friend Michael runs a catering company. Some of the ingredients that his recipes require are measured in cups. When he goes to the grocery store to buy those ingredients, however, they are sold only by the fluid ounce. He has asked you to write a simple program that converts cups to fluid ounces. You design the following algorithm: </a:t>
            </a:r>
            <a:endParaRPr lang="en-US" dirty="0" smtClean="0"/>
          </a:p>
          <a:p>
            <a:pPr marL="342900" indent="-342900" algn="just">
              <a:buAutoNum type="arabicPeriod"/>
            </a:pPr>
            <a:r>
              <a:rPr lang="en-US" dirty="0" smtClean="0"/>
              <a:t>Display </a:t>
            </a:r>
            <a:r>
              <a:rPr lang="en-US" dirty="0"/>
              <a:t>an introductory screen that explains what the program does. </a:t>
            </a:r>
            <a:endParaRPr lang="en-US" dirty="0" smtClean="0"/>
          </a:p>
          <a:p>
            <a:pPr marL="342900" indent="-342900" algn="just">
              <a:buAutoNum type="arabicPeriod"/>
            </a:pPr>
            <a:r>
              <a:rPr lang="en-US" dirty="0" smtClean="0"/>
              <a:t>Get </a:t>
            </a:r>
            <a:r>
              <a:rPr lang="en-US" dirty="0"/>
              <a:t>the number of cups. </a:t>
            </a:r>
            <a:endParaRPr lang="en-US" dirty="0" smtClean="0"/>
          </a:p>
          <a:p>
            <a:pPr marL="342900" indent="-342900" algn="just">
              <a:buAutoNum type="arabicPeriod"/>
            </a:pPr>
            <a:r>
              <a:rPr lang="en-US" dirty="0" smtClean="0"/>
              <a:t>Convert </a:t>
            </a:r>
            <a:r>
              <a:rPr lang="en-US" dirty="0"/>
              <a:t>the number of cups to fluid ounces and display the result. This algorithm lists the top level of tasks that the program needs to perform and becomes the basis of the program’s main function. Figure </a:t>
            </a:r>
            <a:r>
              <a:rPr lang="en-US" dirty="0" smtClean="0"/>
              <a:t>1 </a:t>
            </a:r>
            <a:r>
              <a:rPr lang="en-US" dirty="0"/>
              <a:t>shows the program’s structure in a hierarchy chart.</a:t>
            </a:r>
            <a:endParaRPr lang="ru-RU" dirty="0"/>
          </a:p>
        </p:txBody>
      </p:sp>
      <p:sp>
        <p:nvSpPr>
          <p:cNvPr id="6" name="Прямоугольник 5"/>
          <p:cNvSpPr/>
          <p:nvPr/>
        </p:nvSpPr>
        <p:spPr>
          <a:xfrm>
            <a:off x="605995" y="3801682"/>
            <a:ext cx="3159711" cy="369332"/>
          </a:xfrm>
          <a:prstGeom prst="rect">
            <a:avLst/>
          </a:prstGeom>
        </p:spPr>
        <p:txBody>
          <a:bodyPr wrap="none">
            <a:spAutoFit/>
          </a:bodyPr>
          <a:lstStyle/>
          <a:p>
            <a:r>
              <a:rPr lang="en-US" dirty="0"/>
              <a:t>Hierarchy chart for the program</a:t>
            </a:r>
            <a:endParaRPr lang="ru-RU" dirty="0"/>
          </a:p>
        </p:txBody>
      </p:sp>
      <p:pic>
        <p:nvPicPr>
          <p:cNvPr id="7" name="Рисунок 6"/>
          <p:cNvPicPr>
            <a:picLocks noChangeAspect="1"/>
          </p:cNvPicPr>
          <p:nvPr/>
        </p:nvPicPr>
        <p:blipFill>
          <a:blip r:embed="rId2"/>
          <a:stretch>
            <a:fillRect/>
          </a:stretch>
        </p:blipFill>
        <p:spPr>
          <a:xfrm>
            <a:off x="3882524" y="3801682"/>
            <a:ext cx="4200525" cy="1943100"/>
          </a:xfrm>
          <a:prstGeom prst="rect">
            <a:avLst/>
          </a:prstGeom>
        </p:spPr>
      </p:pic>
    </p:spTree>
    <p:extLst>
      <p:ext uri="{BB962C8B-B14F-4D97-AF65-F5344CB8AC3E}">
        <p14:creationId xmlns:p14="http://schemas.microsoft.com/office/powerpoint/2010/main" val="1725974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411864" y="787544"/>
            <a:ext cx="8100508" cy="1228292"/>
          </a:xfrm>
          <a:prstGeom prst="rect">
            <a:avLst/>
          </a:prstGeom>
        </p:spPr>
      </p:pic>
      <p:sp>
        <p:nvSpPr>
          <p:cNvPr id="5" name="Прямоугольник 4"/>
          <p:cNvSpPr/>
          <p:nvPr/>
        </p:nvSpPr>
        <p:spPr>
          <a:xfrm>
            <a:off x="886689" y="2600236"/>
            <a:ext cx="10252365" cy="1569660"/>
          </a:xfrm>
          <a:prstGeom prst="rect">
            <a:avLst/>
          </a:prstGeom>
        </p:spPr>
        <p:txBody>
          <a:bodyPr wrap="square">
            <a:spAutoFit/>
          </a:bodyPr>
          <a:lstStyle/>
          <a:p>
            <a:pPr algn="just"/>
            <a:r>
              <a:rPr lang="en-US" sz="2400" dirty="0"/>
              <a:t>When a variable is created by an assignment statement that is written outside all the functions in a program file, the variable is </a:t>
            </a:r>
            <a:r>
              <a:rPr lang="en-US" sz="2400" b="1" dirty="0"/>
              <a:t>global</a:t>
            </a:r>
            <a:r>
              <a:rPr lang="en-US" sz="2400" dirty="0"/>
              <a:t>. </a:t>
            </a:r>
            <a:r>
              <a:rPr lang="en-US" sz="2400" b="1" dirty="0"/>
              <a:t>A global variable </a:t>
            </a:r>
            <a:r>
              <a:rPr lang="en-US" sz="2400" dirty="0"/>
              <a:t>can be accessed by any statement in the program file, including the statements in any function. </a:t>
            </a:r>
          </a:p>
        </p:txBody>
      </p:sp>
    </p:spTree>
    <p:extLst>
      <p:ext uri="{BB962C8B-B14F-4D97-AF65-F5344CB8AC3E}">
        <p14:creationId xmlns:p14="http://schemas.microsoft.com/office/powerpoint/2010/main" val="4046320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0" y="1061216"/>
            <a:ext cx="5647565" cy="2617164"/>
          </a:xfrm>
          <a:prstGeom prst="rect">
            <a:avLst/>
          </a:prstGeom>
        </p:spPr>
      </p:pic>
      <p:pic>
        <p:nvPicPr>
          <p:cNvPr id="5" name="Рисунок 4"/>
          <p:cNvPicPr>
            <a:picLocks noChangeAspect="1"/>
          </p:cNvPicPr>
          <p:nvPr/>
        </p:nvPicPr>
        <p:blipFill>
          <a:blip r:embed="rId3"/>
          <a:stretch>
            <a:fillRect/>
          </a:stretch>
        </p:blipFill>
        <p:spPr>
          <a:xfrm>
            <a:off x="-52991" y="3678380"/>
            <a:ext cx="5647564" cy="3013365"/>
          </a:xfrm>
          <a:prstGeom prst="rect">
            <a:avLst/>
          </a:prstGeom>
        </p:spPr>
      </p:pic>
      <p:pic>
        <p:nvPicPr>
          <p:cNvPr id="6" name="Рисунок 5"/>
          <p:cNvPicPr>
            <a:picLocks noChangeAspect="1"/>
          </p:cNvPicPr>
          <p:nvPr/>
        </p:nvPicPr>
        <p:blipFill>
          <a:blip r:embed="rId4"/>
          <a:stretch>
            <a:fillRect/>
          </a:stretch>
        </p:blipFill>
        <p:spPr>
          <a:xfrm>
            <a:off x="5984297" y="1061216"/>
            <a:ext cx="6439608" cy="5630529"/>
          </a:xfrm>
          <a:prstGeom prst="rect">
            <a:avLst/>
          </a:prstGeom>
        </p:spPr>
      </p:pic>
    </p:spTree>
    <p:extLst>
      <p:ext uri="{BB962C8B-B14F-4D97-AF65-F5344CB8AC3E}">
        <p14:creationId xmlns:p14="http://schemas.microsoft.com/office/powerpoint/2010/main" val="2512250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45127" y="695281"/>
            <a:ext cx="10293927" cy="5262979"/>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Most programmers agree that you should restrict the use of global variables, or not use them at all. The reasons are as follows: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Global variables make debugging difficult. Any statement in a program file can change the value of a global variable. If you find that the wrong value is being stored in a global variable, you have to track down every statement that accesses it to determine where the bad value is coming from. In a program with thousands of lines of code, this can be difficult</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Functions that use global variables are usually dependent on those variables. If you want to use such a function in a different program, most likely you will have to </a:t>
            </a:r>
            <a:r>
              <a:rPr lang="en-US" sz="2400" dirty="0" smtClean="0">
                <a:latin typeface="Times New Roman" panose="02020603050405020304" pitchFamily="18" charset="0"/>
                <a:cs typeface="Times New Roman" panose="02020603050405020304" pitchFamily="18" charset="0"/>
              </a:rPr>
              <a:t>redesign </a:t>
            </a:r>
            <a:r>
              <a:rPr lang="en-US" sz="2400" dirty="0">
                <a:latin typeface="Times New Roman" panose="02020603050405020304" pitchFamily="18" charset="0"/>
                <a:cs typeface="Times New Roman" panose="02020603050405020304" pitchFamily="18" charset="0"/>
              </a:rPr>
              <a:t>it so it does not rely on the global variable.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Global variables make a program hard to understand. A global variable can be </a:t>
            </a:r>
            <a:r>
              <a:rPr lang="en-US" sz="2400" dirty="0" smtClean="0">
                <a:latin typeface="Times New Roman" panose="02020603050405020304" pitchFamily="18" charset="0"/>
                <a:cs typeface="Times New Roman" panose="02020603050405020304" pitchFamily="18" charset="0"/>
              </a:rPr>
              <a:t>modified </a:t>
            </a:r>
            <a:r>
              <a:rPr lang="en-US" sz="2400" dirty="0">
                <a:latin typeface="Times New Roman" panose="02020603050405020304" pitchFamily="18" charset="0"/>
                <a:cs typeface="Times New Roman" panose="02020603050405020304" pitchFamily="18" charset="0"/>
              </a:rPr>
              <a:t>by any statement in the program. If you are to understand any part of the pro gram that uses a global variable, you have to be aware of all the other parts of the program that access the global variable</a:t>
            </a:r>
          </a:p>
        </p:txBody>
      </p:sp>
    </p:spTree>
    <p:extLst>
      <p:ext uri="{BB962C8B-B14F-4D97-AF65-F5344CB8AC3E}">
        <p14:creationId xmlns:p14="http://schemas.microsoft.com/office/powerpoint/2010/main" val="3799779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185862" y="761999"/>
            <a:ext cx="3615169" cy="692727"/>
          </a:xfrm>
          <a:prstGeom prst="rect">
            <a:avLst/>
          </a:prstGeom>
        </p:spPr>
      </p:pic>
      <p:sp>
        <p:nvSpPr>
          <p:cNvPr id="5" name="Прямоугольник 4"/>
          <p:cNvSpPr/>
          <p:nvPr/>
        </p:nvSpPr>
        <p:spPr>
          <a:xfrm>
            <a:off x="824345" y="2108445"/>
            <a:ext cx="10564091" cy="1569660"/>
          </a:xfrm>
          <a:prstGeom prst="rect">
            <a:avLst/>
          </a:prstGeom>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A global constant </a:t>
            </a:r>
            <a:r>
              <a:rPr lang="en-US" sz="2400" dirty="0">
                <a:latin typeface="Times New Roman" panose="02020603050405020304" pitchFamily="18" charset="0"/>
                <a:cs typeface="Times New Roman" panose="02020603050405020304" pitchFamily="18" charset="0"/>
              </a:rPr>
              <a:t>is a global name that references a value that can not be changed. Because a global constant’s value cannot be changed during the program’s execution, you do not have to worry about many of the potential hazards that are </a:t>
            </a:r>
            <a:r>
              <a:rPr lang="en-US" sz="2400" dirty="0" smtClean="0">
                <a:latin typeface="Times New Roman" panose="02020603050405020304" pitchFamily="18" charset="0"/>
                <a:cs typeface="Times New Roman" panose="02020603050405020304" pitchFamily="18" charset="0"/>
              </a:rPr>
              <a:t>associated </a:t>
            </a:r>
            <a:r>
              <a:rPr lang="en-US" sz="2400" dirty="0">
                <a:latin typeface="Times New Roman" panose="02020603050405020304" pitchFamily="18" charset="0"/>
                <a:cs typeface="Times New Roman" panose="02020603050405020304" pitchFamily="18" charset="0"/>
              </a:rPr>
              <a:t>with the use of global variables.</a:t>
            </a:r>
          </a:p>
        </p:txBody>
      </p:sp>
    </p:spTree>
    <p:extLst>
      <p:ext uri="{BB962C8B-B14F-4D97-AF65-F5344CB8AC3E}">
        <p14:creationId xmlns:p14="http://schemas.microsoft.com/office/powerpoint/2010/main" val="1756444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12617" y="-218842"/>
            <a:ext cx="10356273" cy="4154984"/>
          </a:xfrm>
          <a:prstGeom prst="rect">
            <a:avLst/>
          </a:prstGeom>
        </p:spPr>
        <p:txBody>
          <a:bodyPr wrap="square">
            <a:spAutoFit/>
          </a:bodyPr>
          <a:lstStyle/>
          <a:p>
            <a:pPr algn="just"/>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Example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Marilyn </a:t>
            </a:r>
            <a:r>
              <a:rPr lang="en-US" sz="2400" dirty="0">
                <a:latin typeface="Times New Roman" panose="02020603050405020304" pitchFamily="18" charset="0"/>
                <a:cs typeface="Times New Roman" panose="02020603050405020304" pitchFamily="18" charset="0"/>
              </a:rPr>
              <a:t>works for Integrated Systems, Inc., a software company that has a reputation for providing excellent fringe benefits. One of their benefits is a quarterly bonus that is paid to all employees. Another benefit is a retirement plan for each employee. The company contributes 5 percent of each employee’s gross pay and bonuses to their retirement plans. Marilyn wants to write a program that will calculate the company’s contribution to an employee’s retirement account for a year. She wants the program to show the amount of contribution for the employee’s gross pay and for the bonuses separately.</a:t>
            </a:r>
          </a:p>
        </p:txBody>
      </p:sp>
      <p:sp>
        <p:nvSpPr>
          <p:cNvPr id="5" name="Прямоугольник 4"/>
          <p:cNvSpPr/>
          <p:nvPr/>
        </p:nvSpPr>
        <p:spPr>
          <a:xfrm>
            <a:off x="512617" y="4158733"/>
            <a:ext cx="3924472" cy="461665"/>
          </a:xfrm>
          <a:prstGeom prst="rect">
            <a:avLst/>
          </a:prstGeom>
        </p:spPr>
        <p:txBody>
          <a:bodyPr wrap="none">
            <a:spAutoFit/>
          </a:bodyPr>
          <a:lstStyle/>
          <a:p>
            <a:r>
              <a:rPr lang="en-US" sz="2400" dirty="0" smtClean="0">
                <a:latin typeface="Times New Roman" panose="02020603050405020304" pitchFamily="18" charset="0"/>
                <a:cs typeface="Times New Roman" panose="02020603050405020304" pitchFamily="18" charset="0"/>
              </a:rPr>
              <a:t>An algorithm </a:t>
            </a:r>
            <a:r>
              <a:rPr lang="en-US" sz="2400" dirty="0">
                <a:latin typeface="Times New Roman" panose="02020603050405020304" pitchFamily="18" charset="0"/>
                <a:cs typeface="Times New Roman" panose="02020603050405020304" pitchFamily="18" charset="0"/>
              </a:rPr>
              <a:t>for the program:</a:t>
            </a:r>
          </a:p>
        </p:txBody>
      </p:sp>
      <p:sp>
        <p:nvSpPr>
          <p:cNvPr id="6" name="Прямоугольник 5"/>
          <p:cNvSpPr/>
          <p:nvPr/>
        </p:nvSpPr>
        <p:spPr>
          <a:xfrm>
            <a:off x="512617" y="4842989"/>
            <a:ext cx="6781802" cy="1323439"/>
          </a:xfrm>
          <a:prstGeom prst="rect">
            <a:avLst/>
          </a:prstGeom>
        </p:spPr>
        <p:txBody>
          <a:bodyPr wrap="square">
            <a:spAutoFit/>
          </a:bodyPr>
          <a:lstStyle/>
          <a:p>
            <a:r>
              <a:rPr lang="en-US" sz="2000" i="1" dirty="0">
                <a:latin typeface="Times New Roman" panose="02020603050405020304" pitchFamily="18" charset="0"/>
                <a:cs typeface="Times New Roman" panose="02020603050405020304" pitchFamily="18" charset="0"/>
              </a:rPr>
              <a:t>Get the employee's annual gross pay</a:t>
            </a:r>
            <a:r>
              <a:rPr lang="en-US" sz="2000" i="1" dirty="0" smtClean="0">
                <a:latin typeface="Times New Roman" panose="02020603050405020304" pitchFamily="18" charset="0"/>
                <a:cs typeface="Times New Roman" panose="02020603050405020304" pitchFamily="18" charset="0"/>
              </a:rPr>
              <a:t>.</a:t>
            </a:r>
          </a:p>
          <a:p>
            <a:r>
              <a:rPr lang="en-US" sz="2000" i="1" dirty="0" smtClean="0">
                <a:latin typeface="Times New Roman" panose="02020603050405020304" pitchFamily="18" charset="0"/>
                <a:cs typeface="Times New Roman" panose="02020603050405020304" pitchFamily="18" charset="0"/>
              </a:rPr>
              <a:t>Get </a:t>
            </a:r>
            <a:r>
              <a:rPr lang="en-US" sz="2000" i="1" dirty="0">
                <a:latin typeface="Times New Roman" panose="02020603050405020304" pitchFamily="18" charset="0"/>
                <a:cs typeface="Times New Roman" panose="02020603050405020304" pitchFamily="18" charset="0"/>
              </a:rPr>
              <a:t>the amount of bonuses paid to the employee. </a:t>
            </a:r>
            <a:endParaRPr lang="en-US" sz="2000" i="1" dirty="0" smtClean="0">
              <a:latin typeface="Times New Roman" panose="02020603050405020304" pitchFamily="18" charset="0"/>
              <a:cs typeface="Times New Roman" panose="02020603050405020304" pitchFamily="18" charset="0"/>
            </a:endParaRPr>
          </a:p>
          <a:p>
            <a:r>
              <a:rPr lang="en-US" sz="2000" i="1" dirty="0" smtClean="0">
                <a:latin typeface="Times New Roman" panose="02020603050405020304" pitchFamily="18" charset="0"/>
                <a:cs typeface="Times New Roman" panose="02020603050405020304" pitchFamily="18" charset="0"/>
              </a:rPr>
              <a:t>Calculate </a:t>
            </a:r>
            <a:r>
              <a:rPr lang="en-US" sz="2000" i="1" dirty="0">
                <a:latin typeface="Times New Roman" panose="02020603050405020304" pitchFamily="18" charset="0"/>
                <a:cs typeface="Times New Roman" panose="02020603050405020304" pitchFamily="18" charset="0"/>
              </a:rPr>
              <a:t>and display the contribution for the gross pay. </a:t>
            </a:r>
            <a:endParaRPr lang="en-US" sz="2000" i="1" dirty="0" smtClean="0">
              <a:latin typeface="Times New Roman" panose="02020603050405020304" pitchFamily="18" charset="0"/>
              <a:cs typeface="Times New Roman" panose="02020603050405020304" pitchFamily="18" charset="0"/>
            </a:endParaRPr>
          </a:p>
          <a:p>
            <a:r>
              <a:rPr lang="en-US" sz="2000" i="1" dirty="0" smtClean="0">
                <a:latin typeface="Times New Roman" panose="02020603050405020304" pitchFamily="18" charset="0"/>
                <a:cs typeface="Times New Roman" panose="02020603050405020304" pitchFamily="18" charset="0"/>
              </a:rPr>
              <a:t>Calculate </a:t>
            </a:r>
            <a:r>
              <a:rPr lang="en-US" sz="2000" i="1" dirty="0">
                <a:latin typeface="Times New Roman" panose="02020603050405020304" pitchFamily="18" charset="0"/>
                <a:cs typeface="Times New Roman" panose="02020603050405020304" pitchFamily="18" charset="0"/>
              </a:rPr>
              <a:t>and display the contribution for the bonuses.</a:t>
            </a:r>
          </a:p>
        </p:txBody>
      </p:sp>
    </p:spTree>
    <p:extLst>
      <p:ext uri="{BB962C8B-B14F-4D97-AF65-F5344CB8AC3E}">
        <p14:creationId xmlns:p14="http://schemas.microsoft.com/office/powerpoint/2010/main" val="2077715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rotWithShape="1">
          <a:blip r:embed="rId2"/>
          <a:srcRect t="1" b="47495"/>
          <a:stretch/>
        </p:blipFill>
        <p:spPr>
          <a:xfrm>
            <a:off x="-187036" y="176645"/>
            <a:ext cx="6425319" cy="5060373"/>
          </a:xfrm>
          <a:prstGeom prst="rect">
            <a:avLst/>
          </a:prstGeom>
        </p:spPr>
      </p:pic>
      <p:pic>
        <p:nvPicPr>
          <p:cNvPr id="5" name="Рисунок 4"/>
          <p:cNvPicPr>
            <a:picLocks noChangeAspect="1"/>
          </p:cNvPicPr>
          <p:nvPr/>
        </p:nvPicPr>
        <p:blipFill>
          <a:blip r:embed="rId3"/>
          <a:stretch>
            <a:fillRect/>
          </a:stretch>
        </p:blipFill>
        <p:spPr>
          <a:xfrm>
            <a:off x="6238283" y="176645"/>
            <a:ext cx="6592880" cy="5237018"/>
          </a:xfrm>
          <a:prstGeom prst="rect">
            <a:avLst/>
          </a:prstGeom>
        </p:spPr>
      </p:pic>
    </p:spTree>
    <p:extLst>
      <p:ext uri="{BB962C8B-B14F-4D97-AF65-F5344CB8AC3E}">
        <p14:creationId xmlns:p14="http://schemas.microsoft.com/office/powerpoint/2010/main" val="26821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734291" y="261505"/>
            <a:ext cx="9404497" cy="3063586"/>
          </a:xfrm>
          <a:prstGeom prst="rect">
            <a:avLst/>
          </a:prstGeom>
        </p:spPr>
      </p:pic>
      <p:sp>
        <p:nvSpPr>
          <p:cNvPr id="6" name="Прямоугольник 5"/>
          <p:cNvSpPr/>
          <p:nvPr/>
        </p:nvSpPr>
        <p:spPr>
          <a:xfrm>
            <a:off x="734291" y="3913642"/>
            <a:ext cx="10363200" cy="1851597"/>
          </a:xfrm>
          <a:prstGeom prst="rect">
            <a:avLst/>
          </a:prstGeom>
        </p:spPr>
        <p:txBody>
          <a:bodyPr wrap="square">
            <a:spAutoFit/>
          </a:bodyPr>
          <a:lstStyle/>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A value-returning function is a special type of function. It is like a void function in the following ways. </a:t>
            </a:r>
          </a:p>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It is a group of statements that perform a specific task. </a:t>
            </a:r>
          </a:p>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 When you want to execute the function, you call it. </a:t>
            </a:r>
          </a:p>
        </p:txBody>
      </p:sp>
    </p:spTree>
    <p:extLst>
      <p:ext uri="{BB962C8B-B14F-4D97-AF65-F5344CB8AC3E}">
        <p14:creationId xmlns:p14="http://schemas.microsoft.com/office/powerpoint/2010/main" val="181466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631247" y="345656"/>
            <a:ext cx="8105783" cy="384464"/>
          </a:xfrm>
          <a:prstGeom prst="rect">
            <a:avLst/>
          </a:prstGeom>
        </p:spPr>
      </p:pic>
      <p:sp>
        <p:nvSpPr>
          <p:cNvPr id="5" name="Прямоугольник 4"/>
          <p:cNvSpPr/>
          <p:nvPr/>
        </p:nvSpPr>
        <p:spPr>
          <a:xfrm>
            <a:off x="631247" y="989892"/>
            <a:ext cx="10694844" cy="4638193"/>
          </a:xfrm>
          <a:prstGeom prst="rect">
            <a:avLst/>
          </a:prstGeom>
        </p:spPr>
        <p:txBody>
          <a:bodyPr wrap="square">
            <a:spAutoFit/>
          </a:bodyPr>
          <a:lstStyle/>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Many of the functions in the standard library, however, are stored in files that are known as modules. These modules, which are copied to your computer when you install Python, help organize the standard library functions. </a:t>
            </a:r>
            <a:endParaRPr lang="en-US" sz="20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smtClean="0">
                <a:latin typeface="Times New Roman" panose="02020603050405020304" pitchFamily="18" charset="0"/>
                <a:ea typeface="Calibri" panose="020F0502020204030204" pitchFamily="34" charset="0"/>
                <a:cs typeface="Times New Roman" panose="02020603050405020304" pitchFamily="18" charset="0"/>
              </a:rPr>
              <a:t>For </a:t>
            </a:r>
            <a:r>
              <a:rPr lang="en-US" sz="2000" dirty="0">
                <a:latin typeface="Times New Roman" panose="02020603050405020304" pitchFamily="18" charset="0"/>
                <a:ea typeface="Calibri" panose="020F0502020204030204" pitchFamily="34" charset="0"/>
                <a:cs typeface="Times New Roman" panose="02020603050405020304" pitchFamily="18" charset="0"/>
              </a:rPr>
              <a:t>example, functions for performing math operations are stored together in a module, functions for working with files are stored together in another module, and so on. In order to call a function that is stored in a module, you have to write an import statement at the top of your program. An import statement tells the interpreter the name of the module that contains the function. For example, one of the Python standard modules is named math. The math module contains various mathematical functions that work with floating-point numbers. If you want to use any of the math module’s functions in a program, you should write the following import statement at the top of the program: </a:t>
            </a:r>
          </a:p>
          <a:p>
            <a:pPr algn="just">
              <a:lnSpc>
                <a:spcPct val="107000"/>
              </a:lnSpc>
              <a:spcAft>
                <a:spcPts val="8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import math </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cs typeface="Times New Roman" panose="02020603050405020304" pitchFamily="18" charset="0"/>
              </a:rPr>
              <a:t>This statement causes the interpreter to load the contents of the math module into memory and makes all the functions in the math module available to the program. </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944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490104" y="1646958"/>
            <a:ext cx="10725154" cy="2925042"/>
          </a:xfrm>
          <a:prstGeom prst="rect">
            <a:avLst/>
          </a:prstGeom>
        </p:spPr>
      </p:pic>
    </p:spTree>
    <p:extLst>
      <p:ext uri="{BB962C8B-B14F-4D97-AF65-F5344CB8AC3E}">
        <p14:creationId xmlns:p14="http://schemas.microsoft.com/office/powerpoint/2010/main" val="340113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41230" y="662853"/>
            <a:ext cx="5331866" cy="584056"/>
          </a:xfrm>
          <a:prstGeom prst="rect">
            <a:avLst/>
          </a:prstGeom>
        </p:spPr>
      </p:pic>
      <p:sp>
        <p:nvSpPr>
          <p:cNvPr id="5" name="Прямоугольник 4"/>
          <p:cNvSpPr/>
          <p:nvPr/>
        </p:nvSpPr>
        <p:spPr>
          <a:xfrm>
            <a:off x="574963" y="1526692"/>
            <a:ext cx="10293927"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Python provides several library functions for working with random numbers. These </a:t>
            </a:r>
            <a:r>
              <a:rPr lang="en-US" sz="2400" dirty="0" smtClean="0">
                <a:latin typeface="Times New Roman" panose="02020603050405020304" pitchFamily="18" charset="0"/>
                <a:cs typeface="Times New Roman" panose="02020603050405020304" pitchFamily="18" charset="0"/>
              </a:rPr>
              <a:t>functions </a:t>
            </a:r>
            <a:r>
              <a:rPr lang="en-US" sz="2400" dirty="0">
                <a:latin typeface="Times New Roman" panose="02020603050405020304" pitchFamily="18" charset="0"/>
                <a:cs typeface="Times New Roman" panose="02020603050405020304" pitchFamily="18" charset="0"/>
              </a:rPr>
              <a:t>are stored in a module named random in the standard library. To use any of these functions, you first need to write this import statement at the top of your program</a:t>
            </a:r>
            <a:r>
              <a:rPr lang="en-US" sz="2400" dirty="0" smtClean="0">
                <a:latin typeface="Times New Roman" panose="02020603050405020304" pitchFamily="18" charset="0"/>
                <a:cs typeface="Times New Roman" panose="02020603050405020304" pitchFamily="18" charset="0"/>
              </a:rPr>
              <a:t>:</a:t>
            </a:r>
          </a:p>
          <a:p>
            <a:pPr algn="ctr"/>
            <a:r>
              <a:rPr lang="en-US" sz="2400" dirty="0" smtClean="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import random </a:t>
            </a:r>
            <a:endParaRPr lang="en-US" sz="2400" i="1"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statement causes the interpreter to load the contents of the random module into </a:t>
            </a:r>
            <a:r>
              <a:rPr lang="en-US" sz="2400" dirty="0" smtClean="0">
                <a:latin typeface="Times New Roman" panose="02020603050405020304" pitchFamily="18" charset="0"/>
                <a:cs typeface="Times New Roman" panose="02020603050405020304" pitchFamily="18" charset="0"/>
              </a:rPr>
              <a:t>memory</a:t>
            </a:r>
            <a:r>
              <a:rPr lang="en-US" sz="2400" dirty="0">
                <a:latin typeface="Times New Roman" panose="02020603050405020304" pitchFamily="18" charset="0"/>
                <a:cs typeface="Times New Roman" panose="02020603050405020304" pitchFamily="18" charset="0"/>
              </a:rPr>
              <a:t>. This makes all of the functions in the random module available to your </a:t>
            </a:r>
            <a:r>
              <a:rPr lang="en-US" sz="2400">
                <a:latin typeface="Times New Roman" panose="02020603050405020304" pitchFamily="18" charset="0"/>
                <a:cs typeface="Times New Roman" panose="02020603050405020304" pitchFamily="18" charset="0"/>
              </a:rPr>
              <a:t>program</a:t>
            </a:r>
            <a:r>
              <a:rPr lang="en-US" sz="240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2" name="Прямоугольник 1"/>
          <p:cNvSpPr/>
          <p:nvPr/>
        </p:nvSpPr>
        <p:spPr>
          <a:xfrm>
            <a:off x="841230" y="5222795"/>
            <a:ext cx="1261884" cy="369332"/>
          </a:xfrm>
          <a:prstGeom prst="rect">
            <a:avLst/>
          </a:prstGeom>
        </p:spPr>
        <p:txBody>
          <a:bodyPr wrap="none">
            <a:spAutoFit/>
          </a:bodyPr>
          <a:lstStyle/>
          <a:p>
            <a:r>
              <a:rPr lang="en-US" b="1" dirty="0" smtClean="0">
                <a:latin typeface="Times New Roman" panose="02020603050405020304" pitchFamily="18" charset="0"/>
                <a:ea typeface="Calibri" panose="020F0502020204030204" pitchFamily="34" charset="0"/>
                <a:cs typeface="Times New Roman" panose="02020603050405020304" pitchFamily="18" charset="0"/>
              </a:rPr>
              <a:t>RANDINT</a:t>
            </a:r>
            <a:endParaRPr lang="ru-RU" b="1" dirty="0">
              <a:latin typeface="Times New Roman" panose="02020603050405020304" pitchFamily="18" charset="0"/>
              <a:cs typeface="Times New Roman" panose="02020603050405020304" pitchFamily="18" charset="0"/>
            </a:endParaRPr>
          </a:p>
        </p:txBody>
      </p:sp>
      <p:sp>
        <p:nvSpPr>
          <p:cNvPr id="3" name="Прямоугольник 2"/>
          <p:cNvSpPr/>
          <p:nvPr/>
        </p:nvSpPr>
        <p:spPr>
          <a:xfrm>
            <a:off x="2103114" y="5192017"/>
            <a:ext cx="2324675" cy="400110"/>
          </a:xfrm>
          <a:prstGeom prst="rect">
            <a:avLst/>
          </a:prstGeom>
        </p:spPr>
        <p:txBody>
          <a:bodyPr wrap="none">
            <a:spAutoFit/>
          </a:bodyPr>
          <a:lstStyle/>
          <a:p>
            <a:r>
              <a:rPr lang="en-US" sz="2000" dirty="0" smtClean="0">
                <a:latin typeface="Times New Roman" panose="02020603050405020304" pitchFamily="18" charset="0"/>
                <a:ea typeface="Calibri" panose="020F0502020204030204" pitchFamily="34" charset="0"/>
                <a:cs typeface="Times New Roman" panose="02020603050405020304" pitchFamily="18" charset="0"/>
              </a:rPr>
              <a:t>- the </a:t>
            </a:r>
            <a:r>
              <a:rPr lang="en-US" sz="2000" dirty="0">
                <a:latin typeface="Times New Roman" panose="02020603050405020304" pitchFamily="18" charset="0"/>
                <a:ea typeface="Calibri" panose="020F0502020204030204" pitchFamily="34" charset="0"/>
                <a:cs typeface="Times New Roman" panose="02020603050405020304" pitchFamily="18" charset="0"/>
              </a:rPr>
              <a:t>random module</a:t>
            </a:r>
            <a:endParaRPr lang="ru-RU" sz="2000" dirty="0">
              <a:latin typeface="Times New Roman" panose="02020603050405020304" pitchFamily="18" charset="0"/>
              <a:cs typeface="Times New Roman" panose="02020603050405020304" pitchFamily="18" charset="0"/>
            </a:endParaRPr>
          </a:p>
        </p:txBody>
      </p:sp>
      <p:sp>
        <p:nvSpPr>
          <p:cNvPr id="7" name="Прямоугольник 6"/>
          <p:cNvSpPr/>
          <p:nvPr/>
        </p:nvSpPr>
        <p:spPr>
          <a:xfrm>
            <a:off x="574963" y="5592127"/>
            <a:ext cx="7044557" cy="461665"/>
          </a:xfrm>
          <a:prstGeom prst="rect">
            <a:avLst/>
          </a:prstGeom>
        </p:spPr>
        <p:txBody>
          <a:bodyPr wrap="none">
            <a:spAutoFit/>
          </a:bodyPr>
          <a:lstStyle/>
          <a:p>
            <a:r>
              <a:rPr lang="en-US" sz="2400" dirty="0">
                <a:latin typeface="Times New Roman" panose="02020603050405020304" pitchFamily="18" charset="0"/>
                <a:ea typeface="Calibri" panose="020F0502020204030204" pitchFamily="34" charset="0"/>
                <a:cs typeface="Times New Roman" panose="02020603050405020304" pitchFamily="18" charset="0"/>
              </a:rPr>
              <a:t>In dot notation, the function’s name is </a:t>
            </a:r>
            <a:r>
              <a:rPr lang="en-US" sz="2400" b="1" dirty="0" err="1">
                <a:latin typeface="Times New Roman" panose="02020603050405020304" pitchFamily="18" charset="0"/>
                <a:ea typeface="Calibri" panose="020F0502020204030204" pitchFamily="34" charset="0"/>
                <a:cs typeface="Times New Roman" panose="02020603050405020304" pitchFamily="18" charset="0"/>
              </a:rPr>
              <a:t>random.randint</a:t>
            </a:r>
            <a:endParaRPr lang="ru-RU"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6251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p:cNvPicPr>
            <a:picLocks noChangeAspect="1"/>
          </p:cNvPicPr>
          <p:nvPr/>
        </p:nvPicPr>
        <p:blipFill>
          <a:blip r:embed="rId2"/>
          <a:stretch>
            <a:fillRect/>
          </a:stretch>
        </p:blipFill>
        <p:spPr>
          <a:xfrm>
            <a:off x="1520991" y="497053"/>
            <a:ext cx="8271451" cy="2438652"/>
          </a:xfrm>
          <a:prstGeom prst="rect">
            <a:avLst/>
          </a:prstGeom>
        </p:spPr>
      </p:pic>
      <p:pic>
        <p:nvPicPr>
          <p:cNvPr id="7" name="Рисунок 6"/>
          <p:cNvPicPr>
            <a:picLocks noChangeAspect="1"/>
          </p:cNvPicPr>
          <p:nvPr/>
        </p:nvPicPr>
        <p:blipFill>
          <a:blip r:embed="rId3"/>
          <a:stretch>
            <a:fillRect/>
          </a:stretch>
        </p:blipFill>
        <p:spPr>
          <a:xfrm>
            <a:off x="1520992" y="3927056"/>
            <a:ext cx="8884692" cy="2425618"/>
          </a:xfrm>
          <a:prstGeom prst="rect">
            <a:avLst/>
          </a:prstGeom>
        </p:spPr>
      </p:pic>
    </p:spTree>
    <p:extLst>
      <p:ext uri="{BB962C8B-B14F-4D97-AF65-F5344CB8AC3E}">
        <p14:creationId xmlns:p14="http://schemas.microsoft.com/office/powerpoint/2010/main" val="3212234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224590" y="1604961"/>
            <a:ext cx="5704687" cy="4988345"/>
          </a:xfrm>
          <a:prstGeom prst="rect">
            <a:avLst/>
          </a:prstGeom>
        </p:spPr>
      </p:pic>
      <p:pic>
        <p:nvPicPr>
          <p:cNvPr id="2" name="Рисунок 1"/>
          <p:cNvPicPr>
            <a:picLocks noChangeAspect="1"/>
          </p:cNvPicPr>
          <p:nvPr/>
        </p:nvPicPr>
        <p:blipFill>
          <a:blip r:embed="rId3"/>
          <a:stretch>
            <a:fillRect/>
          </a:stretch>
        </p:blipFill>
        <p:spPr>
          <a:xfrm>
            <a:off x="6439333" y="671295"/>
            <a:ext cx="5020255" cy="2734108"/>
          </a:xfrm>
          <a:prstGeom prst="rect">
            <a:avLst/>
          </a:prstGeom>
        </p:spPr>
      </p:pic>
      <p:pic>
        <p:nvPicPr>
          <p:cNvPr id="3" name="Рисунок 2"/>
          <p:cNvPicPr>
            <a:picLocks noChangeAspect="1"/>
          </p:cNvPicPr>
          <p:nvPr/>
        </p:nvPicPr>
        <p:blipFill>
          <a:blip r:embed="rId4"/>
          <a:stretch>
            <a:fillRect/>
          </a:stretch>
        </p:blipFill>
        <p:spPr>
          <a:xfrm>
            <a:off x="6439333" y="3405403"/>
            <a:ext cx="4076267" cy="3068650"/>
          </a:xfrm>
          <a:prstGeom prst="rect">
            <a:avLst/>
          </a:prstGeom>
        </p:spPr>
      </p:pic>
    </p:spTree>
    <p:extLst>
      <p:ext uri="{BB962C8B-B14F-4D97-AF65-F5344CB8AC3E}">
        <p14:creationId xmlns:p14="http://schemas.microsoft.com/office/powerpoint/2010/main" val="2314184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6394966" y="383163"/>
            <a:ext cx="4868779" cy="3154847"/>
          </a:xfrm>
          <a:prstGeom prst="rect">
            <a:avLst/>
          </a:prstGeom>
        </p:spPr>
      </p:pic>
      <p:pic>
        <p:nvPicPr>
          <p:cNvPr id="6" name="Рисунок 5"/>
          <p:cNvPicPr>
            <a:picLocks noChangeAspect="1"/>
          </p:cNvPicPr>
          <p:nvPr/>
        </p:nvPicPr>
        <p:blipFill>
          <a:blip r:embed="rId3"/>
          <a:stretch>
            <a:fillRect/>
          </a:stretch>
        </p:blipFill>
        <p:spPr>
          <a:xfrm>
            <a:off x="6394966" y="3538010"/>
            <a:ext cx="2790598" cy="2893194"/>
          </a:xfrm>
          <a:prstGeom prst="rect">
            <a:avLst/>
          </a:prstGeom>
        </p:spPr>
      </p:pic>
      <p:pic>
        <p:nvPicPr>
          <p:cNvPr id="7" name="Рисунок 6"/>
          <p:cNvPicPr>
            <a:picLocks noChangeAspect="1"/>
          </p:cNvPicPr>
          <p:nvPr/>
        </p:nvPicPr>
        <p:blipFill>
          <a:blip r:embed="rId4"/>
          <a:stretch>
            <a:fillRect/>
          </a:stretch>
        </p:blipFill>
        <p:spPr>
          <a:xfrm>
            <a:off x="162789" y="383163"/>
            <a:ext cx="6024777" cy="1611892"/>
          </a:xfrm>
          <a:prstGeom prst="rect">
            <a:avLst/>
          </a:prstGeom>
        </p:spPr>
      </p:pic>
    </p:spTree>
    <p:extLst>
      <p:ext uri="{BB962C8B-B14F-4D97-AF65-F5344CB8AC3E}">
        <p14:creationId xmlns:p14="http://schemas.microsoft.com/office/powerpoint/2010/main" val="406999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987135" y="665883"/>
            <a:ext cx="8122235" cy="393989"/>
          </a:xfrm>
          <a:prstGeom prst="rect">
            <a:avLst/>
          </a:prstGeom>
        </p:spPr>
      </p:pic>
      <p:pic>
        <p:nvPicPr>
          <p:cNvPr id="5" name="Рисунок 4"/>
          <p:cNvPicPr>
            <a:picLocks noChangeAspect="1"/>
          </p:cNvPicPr>
          <p:nvPr/>
        </p:nvPicPr>
        <p:blipFill>
          <a:blip r:embed="rId3"/>
          <a:stretch>
            <a:fillRect/>
          </a:stretch>
        </p:blipFill>
        <p:spPr>
          <a:xfrm>
            <a:off x="643370" y="1665576"/>
            <a:ext cx="5224329" cy="2470006"/>
          </a:xfrm>
          <a:prstGeom prst="rect">
            <a:avLst/>
          </a:prstGeom>
        </p:spPr>
      </p:pic>
    </p:spTree>
    <p:extLst>
      <p:ext uri="{BB962C8B-B14F-4D97-AF65-F5344CB8AC3E}">
        <p14:creationId xmlns:p14="http://schemas.microsoft.com/office/powerpoint/2010/main" val="3921895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613560" y="470670"/>
            <a:ext cx="2673937" cy="460895"/>
          </a:xfrm>
          <a:prstGeom prst="rect">
            <a:avLst/>
          </a:prstGeom>
        </p:spPr>
        <p:txBody>
          <a:bodyPr wrap="none">
            <a:spAutoFit/>
          </a:bodyPr>
          <a:lstStyle/>
          <a:p>
            <a:pPr algn="just">
              <a:lnSpc>
                <a:spcPct val="107000"/>
              </a:lnSpc>
              <a:spcAft>
                <a:spcPts val="800"/>
              </a:spcAft>
            </a:pPr>
            <a:r>
              <a:rPr lang="en-US" sz="2400" b="1" dirty="0" smtClean="0">
                <a:latin typeface="Times New Roman" panose="02020603050405020304" pitchFamily="18" charset="0"/>
                <a:ea typeface="Calibri" panose="020F0502020204030204" pitchFamily="34" charset="0"/>
                <a:cs typeface="Times New Roman" panose="02020603050405020304" pitchFamily="18" charset="0"/>
              </a:rPr>
              <a:t>Tasks for </a:t>
            </a:r>
            <a:r>
              <a:rPr lang="en-US" sz="2400" b="1" dirty="0">
                <a:latin typeface="Times New Roman" panose="02020603050405020304" pitchFamily="18" charset="0"/>
                <a:ea typeface="Calibri" panose="020F0502020204030204" pitchFamily="34" charset="0"/>
                <a:cs typeface="Times New Roman" panose="02020603050405020304" pitchFamily="18" charset="0"/>
              </a:rPr>
              <a:t>self work</a:t>
            </a:r>
          </a:p>
        </p:txBody>
      </p:sp>
      <p:pic>
        <p:nvPicPr>
          <p:cNvPr id="5" name="Рисунок 4"/>
          <p:cNvPicPr>
            <a:picLocks noChangeAspect="1"/>
          </p:cNvPicPr>
          <p:nvPr/>
        </p:nvPicPr>
        <p:blipFill>
          <a:blip r:embed="rId2"/>
          <a:stretch>
            <a:fillRect/>
          </a:stretch>
        </p:blipFill>
        <p:spPr>
          <a:xfrm>
            <a:off x="505257" y="1379825"/>
            <a:ext cx="10529887" cy="3721932"/>
          </a:xfrm>
          <a:prstGeom prst="rect">
            <a:avLst/>
          </a:prstGeom>
        </p:spPr>
      </p:pic>
      <p:sp>
        <p:nvSpPr>
          <p:cNvPr id="6" name="Прямоугольник 5"/>
          <p:cNvSpPr/>
          <p:nvPr/>
        </p:nvSpPr>
        <p:spPr>
          <a:xfrm>
            <a:off x="505257" y="5530507"/>
            <a:ext cx="10044544" cy="646331"/>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P.S. You </a:t>
            </a:r>
            <a:r>
              <a:rPr lang="en-US" dirty="0">
                <a:latin typeface="Times New Roman" panose="02020603050405020304" pitchFamily="18" charset="0"/>
                <a:cs typeface="Times New Roman" panose="02020603050405020304" pitchFamily="18" charset="0"/>
              </a:rPr>
              <a:t>will write a while loop that simulates one roll of the dice and then asks the user if another roll should be performed. As long as the user answers “y” for yes, the loop will repeat. </a:t>
            </a:r>
          </a:p>
        </p:txBody>
      </p:sp>
    </p:spTree>
    <p:extLst>
      <p:ext uri="{BB962C8B-B14F-4D97-AF65-F5344CB8AC3E}">
        <p14:creationId xmlns:p14="http://schemas.microsoft.com/office/powerpoint/2010/main" val="3365755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709179" y="775421"/>
            <a:ext cx="10090441" cy="1843088"/>
          </a:xfrm>
          <a:prstGeom prst="rect">
            <a:avLst/>
          </a:prstGeom>
        </p:spPr>
      </p:pic>
      <p:sp>
        <p:nvSpPr>
          <p:cNvPr id="5" name="Прямоугольник 4"/>
          <p:cNvSpPr/>
          <p:nvPr/>
        </p:nvSpPr>
        <p:spPr>
          <a:xfrm>
            <a:off x="709179" y="3272365"/>
            <a:ext cx="9827203" cy="2585323"/>
          </a:xfrm>
          <a:prstGeom prst="rect">
            <a:avLst/>
          </a:prstGeom>
        </p:spPr>
        <p:txBody>
          <a:bodyPr wrap="square">
            <a:spAutoFit/>
          </a:bodyPr>
          <a:lstStyle/>
          <a:p>
            <a:pPr algn="just"/>
            <a:r>
              <a:rPr lang="en-US" dirty="0" smtClean="0"/>
              <a:t>P.S. You </a:t>
            </a:r>
            <a:r>
              <a:rPr lang="en-US" dirty="0"/>
              <a:t>decide that you can simulate the tossing of a coin by randomly generating a number in the range of 1 through 2. You will write an if statement that displays “Heads” if the random number is 1, or “Tails” otherwise. Here is the pseudocode</a:t>
            </a:r>
            <a:r>
              <a:rPr lang="en-US" dirty="0" smtClean="0"/>
              <a:t>:</a:t>
            </a:r>
          </a:p>
          <a:p>
            <a:pPr algn="just"/>
            <a:r>
              <a:rPr lang="en-US" i="1" dirty="0" smtClean="0"/>
              <a:t>Repeat </a:t>
            </a:r>
            <a:r>
              <a:rPr lang="en-US" i="1" dirty="0"/>
              <a:t>10 times</a:t>
            </a:r>
            <a:r>
              <a:rPr lang="en-US" i="1" dirty="0" smtClean="0"/>
              <a:t>:</a:t>
            </a:r>
          </a:p>
          <a:p>
            <a:pPr algn="just"/>
            <a:r>
              <a:rPr lang="en-US" i="1" dirty="0" smtClean="0"/>
              <a:t> </a:t>
            </a:r>
            <a:r>
              <a:rPr lang="en-US" i="1" dirty="0"/>
              <a:t>If a random number in the range of 1 through 2 equals 1 then: </a:t>
            </a:r>
            <a:endParaRPr lang="en-US" i="1" dirty="0" smtClean="0"/>
          </a:p>
          <a:p>
            <a:pPr algn="just"/>
            <a:r>
              <a:rPr lang="en-US" i="1" dirty="0" smtClean="0"/>
              <a:t>	Display </a:t>
            </a:r>
            <a:r>
              <a:rPr lang="en-US" i="1" dirty="0"/>
              <a:t>‘Heads’ </a:t>
            </a:r>
            <a:endParaRPr lang="en-US" i="1" dirty="0" smtClean="0"/>
          </a:p>
          <a:p>
            <a:pPr algn="just"/>
            <a:r>
              <a:rPr lang="en-US" i="1" dirty="0" smtClean="0"/>
              <a:t>Else:</a:t>
            </a:r>
          </a:p>
          <a:p>
            <a:pPr algn="just"/>
            <a:r>
              <a:rPr lang="en-US" i="1" dirty="0"/>
              <a:t>	</a:t>
            </a:r>
            <a:r>
              <a:rPr lang="en-US" i="1" dirty="0" smtClean="0"/>
              <a:t> </a:t>
            </a:r>
            <a:r>
              <a:rPr lang="en-US" i="1" dirty="0"/>
              <a:t>Display ‘Tails’ </a:t>
            </a:r>
            <a:endParaRPr lang="en-US" i="1" dirty="0" smtClean="0"/>
          </a:p>
          <a:p>
            <a:pPr algn="just"/>
            <a:r>
              <a:rPr lang="en-US" dirty="0" smtClean="0"/>
              <a:t>Because </a:t>
            </a:r>
            <a:r>
              <a:rPr lang="en-US" dirty="0"/>
              <a:t>the program should simulate 10 tosses of a coin you decide to use a for loop. </a:t>
            </a:r>
          </a:p>
        </p:txBody>
      </p:sp>
    </p:spTree>
    <p:extLst>
      <p:ext uri="{BB962C8B-B14F-4D97-AF65-F5344CB8AC3E}">
        <p14:creationId xmlns:p14="http://schemas.microsoft.com/office/powerpoint/2010/main" val="1781354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777049" y="550926"/>
            <a:ext cx="8695373" cy="582930"/>
          </a:xfrm>
          <a:prstGeom prst="rect">
            <a:avLst/>
          </a:prstGeom>
        </p:spPr>
      </p:pic>
      <p:sp>
        <p:nvSpPr>
          <p:cNvPr id="5" name="Прямоугольник 4"/>
          <p:cNvSpPr/>
          <p:nvPr/>
        </p:nvSpPr>
        <p:spPr>
          <a:xfrm>
            <a:off x="777048" y="1676692"/>
            <a:ext cx="10762679" cy="1015663"/>
          </a:xfrm>
          <a:prstGeom prst="rect">
            <a:avLst/>
          </a:prstGeom>
        </p:spPr>
        <p:txBody>
          <a:bodyPr wrap="square">
            <a:spAutoFit/>
          </a:bodyPr>
          <a:lstStyle/>
          <a:p>
            <a:pPr algn="just"/>
            <a:r>
              <a:rPr lang="en-US" sz="2000" dirty="0">
                <a:latin typeface="Times New Roman" panose="02020603050405020304" pitchFamily="18" charset="0"/>
                <a:ea typeface="Calibri" panose="020F0502020204030204" pitchFamily="34" charset="0"/>
                <a:cs typeface="Times New Roman" panose="02020603050405020304" pitchFamily="18" charset="0"/>
              </a:rPr>
              <a:t>The </a:t>
            </a:r>
            <a:r>
              <a:rPr lang="en-US" sz="2000" dirty="0" err="1">
                <a:latin typeface="Times New Roman" panose="02020603050405020304" pitchFamily="18" charset="0"/>
                <a:ea typeface="Calibri" panose="020F0502020204030204" pitchFamily="34" charset="0"/>
                <a:cs typeface="Times New Roman" panose="02020603050405020304" pitchFamily="18" charset="0"/>
              </a:rPr>
              <a:t>randrange</a:t>
            </a:r>
            <a:r>
              <a:rPr lang="en-US" sz="2000" dirty="0">
                <a:latin typeface="Times New Roman" panose="02020603050405020304" pitchFamily="18" charset="0"/>
                <a:ea typeface="Calibri" panose="020F0502020204030204" pitchFamily="34" charset="0"/>
                <a:cs typeface="Times New Roman" panose="02020603050405020304" pitchFamily="18" charset="0"/>
              </a:rPr>
              <a:t> function takes the same arguments as the range function. The difference is that the </a:t>
            </a:r>
            <a:r>
              <a:rPr lang="en-US" sz="2000" dirty="0" err="1">
                <a:latin typeface="Times New Roman" panose="02020603050405020304" pitchFamily="18" charset="0"/>
                <a:ea typeface="Calibri" panose="020F0502020204030204" pitchFamily="34" charset="0"/>
                <a:cs typeface="Times New Roman" panose="02020603050405020304" pitchFamily="18" charset="0"/>
              </a:rPr>
              <a:t>randrange</a:t>
            </a:r>
            <a:r>
              <a:rPr lang="en-US" sz="2000" dirty="0">
                <a:latin typeface="Times New Roman" panose="02020603050405020304" pitchFamily="18" charset="0"/>
                <a:ea typeface="Calibri" panose="020F0502020204030204" pitchFamily="34" charset="0"/>
                <a:cs typeface="Times New Roman" panose="02020603050405020304" pitchFamily="18" charset="0"/>
              </a:rPr>
              <a:t> function does not return a list of values. Instead, it returns a randomly selected value from a sequence of values. </a:t>
            </a:r>
            <a:endParaRPr lang="ru-RU" sz="2000" dirty="0">
              <a:latin typeface="Times New Roman" panose="02020603050405020304" pitchFamily="18" charset="0"/>
              <a:cs typeface="Times New Roman" panose="02020603050405020304" pitchFamily="18" charset="0"/>
            </a:endParaRPr>
          </a:p>
        </p:txBody>
      </p:sp>
      <p:pic>
        <p:nvPicPr>
          <p:cNvPr id="6" name="Рисунок 5"/>
          <p:cNvPicPr/>
          <p:nvPr/>
        </p:nvPicPr>
        <p:blipFill>
          <a:blip r:embed="rId3">
            <a:extLst>
              <a:ext uri="{28A0092B-C50C-407E-A947-70E740481C1C}">
                <a14:useLocalDpi xmlns:a14="http://schemas.microsoft.com/office/drawing/2010/main" val="0"/>
              </a:ext>
            </a:extLst>
          </a:blip>
          <a:srcRect/>
          <a:stretch>
            <a:fillRect/>
          </a:stretch>
        </p:blipFill>
        <p:spPr bwMode="auto">
          <a:xfrm>
            <a:off x="1383538" y="2900666"/>
            <a:ext cx="4486910" cy="610630"/>
          </a:xfrm>
          <a:prstGeom prst="rect">
            <a:avLst/>
          </a:prstGeom>
          <a:noFill/>
          <a:ln>
            <a:noFill/>
          </a:ln>
        </p:spPr>
      </p:pic>
      <p:pic>
        <p:nvPicPr>
          <p:cNvPr id="7" name="Рисунок 6"/>
          <p:cNvPicPr>
            <a:picLocks noChangeAspect="1"/>
          </p:cNvPicPr>
          <p:nvPr/>
        </p:nvPicPr>
        <p:blipFill>
          <a:blip r:embed="rId4"/>
          <a:stretch>
            <a:fillRect/>
          </a:stretch>
        </p:blipFill>
        <p:spPr>
          <a:xfrm>
            <a:off x="1383538" y="3664742"/>
            <a:ext cx="4797806" cy="541945"/>
          </a:xfrm>
          <a:prstGeom prst="rect">
            <a:avLst/>
          </a:prstGeom>
        </p:spPr>
      </p:pic>
      <p:pic>
        <p:nvPicPr>
          <p:cNvPr id="8" name="Рисунок 7"/>
          <p:cNvPicPr>
            <a:picLocks noChangeAspect="1"/>
          </p:cNvPicPr>
          <p:nvPr/>
        </p:nvPicPr>
        <p:blipFill>
          <a:blip r:embed="rId5"/>
          <a:stretch>
            <a:fillRect/>
          </a:stretch>
        </p:blipFill>
        <p:spPr>
          <a:xfrm>
            <a:off x="1383537" y="4372170"/>
            <a:ext cx="5984471" cy="529014"/>
          </a:xfrm>
          <a:prstGeom prst="rect">
            <a:avLst/>
          </a:prstGeom>
        </p:spPr>
      </p:pic>
      <p:pic>
        <p:nvPicPr>
          <p:cNvPr id="9" name="Рисунок 8"/>
          <p:cNvPicPr/>
          <p:nvPr/>
        </p:nvPicPr>
        <p:blipFill>
          <a:blip r:embed="rId6">
            <a:extLst>
              <a:ext uri="{28A0092B-C50C-407E-A947-70E740481C1C}">
                <a14:useLocalDpi xmlns:a14="http://schemas.microsoft.com/office/drawing/2010/main" val="0"/>
              </a:ext>
            </a:extLst>
          </a:blip>
          <a:srcRect/>
          <a:stretch>
            <a:fillRect/>
          </a:stretch>
        </p:blipFill>
        <p:spPr bwMode="auto">
          <a:xfrm>
            <a:off x="1383537" y="5066667"/>
            <a:ext cx="5554472" cy="567234"/>
          </a:xfrm>
          <a:prstGeom prst="rect">
            <a:avLst/>
          </a:prstGeom>
          <a:noFill/>
          <a:ln>
            <a:noFill/>
          </a:ln>
        </p:spPr>
      </p:pic>
    </p:spTree>
    <p:extLst>
      <p:ext uri="{BB962C8B-B14F-4D97-AF65-F5344CB8AC3E}">
        <p14:creationId xmlns:p14="http://schemas.microsoft.com/office/powerpoint/2010/main" val="1184312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590359" y="472058"/>
            <a:ext cx="9657097" cy="1685925"/>
          </a:xfrm>
          <a:prstGeom prst="rect">
            <a:avLst/>
          </a:prstGeom>
        </p:spPr>
      </p:pic>
      <p:pic>
        <p:nvPicPr>
          <p:cNvPr id="5" name="Рисунок 4"/>
          <p:cNvPicPr>
            <a:picLocks noChangeAspect="1"/>
          </p:cNvPicPr>
          <p:nvPr/>
        </p:nvPicPr>
        <p:blipFill>
          <a:blip r:embed="rId3"/>
          <a:stretch>
            <a:fillRect/>
          </a:stretch>
        </p:blipFill>
        <p:spPr>
          <a:xfrm>
            <a:off x="590359" y="2057590"/>
            <a:ext cx="4164521" cy="2047843"/>
          </a:xfrm>
          <a:prstGeom prst="rect">
            <a:avLst/>
          </a:prstGeom>
        </p:spPr>
      </p:pic>
      <p:pic>
        <p:nvPicPr>
          <p:cNvPr id="6" name="Рисунок 5"/>
          <p:cNvPicPr>
            <a:picLocks noChangeAspect="1"/>
          </p:cNvPicPr>
          <p:nvPr/>
        </p:nvPicPr>
        <p:blipFill>
          <a:blip r:embed="rId4"/>
          <a:stretch>
            <a:fillRect/>
          </a:stretch>
        </p:blipFill>
        <p:spPr>
          <a:xfrm>
            <a:off x="5199314" y="2057590"/>
            <a:ext cx="6992686" cy="1636586"/>
          </a:xfrm>
          <a:prstGeom prst="rect">
            <a:avLst/>
          </a:prstGeom>
        </p:spPr>
      </p:pic>
      <p:pic>
        <p:nvPicPr>
          <p:cNvPr id="7" name="Рисунок 6"/>
          <p:cNvPicPr>
            <a:picLocks noChangeAspect="1"/>
          </p:cNvPicPr>
          <p:nvPr/>
        </p:nvPicPr>
        <p:blipFill>
          <a:blip r:embed="rId5"/>
          <a:stretch>
            <a:fillRect/>
          </a:stretch>
        </p:blipFill>
        <p:spPr>
          <a:xfrm>
            <a:off x="1592198" y="4105433"/>
            <a:ext cx="8027289" cy="2954042"/>
          </a:xfrm>
          <a:prstGeom prst="rect">
            <a:avLst/>
          </a:prstGeom>
        </p:spPr>
      </p:pic>
    </p:spTree>
    <p:extLst>
      <p:ext uri="{BB962C8B-B14F-4D97-AF65-F5344CB8AC3E}">
        <p14:creationId xmlns:p14="http://schemas.microsoft.com/office/powerpoint/2010/main" val="2700619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0" y="257746"/>
            <a:ext cx="7095744" cy="6541577"/>
          </a:xfrm>
          <a:prstGeom prst="rect">
            <a:avLst/>
          </a:prstGeom>
        </p:spPr>
      </p:pic>
      <p:pic>
        <p:nvPicPr>
          <p:cNvPr id="5" name="Рисунок 4"/>
          <p:cNvPicPr>
            <a:picLocks noChangeAspect="1"/>
          </p:cNvPicPr>
          <p:nvPr/>
        </p:nvPicPr>
        <p:blipFill rotWithShape="1">
          <a:blip r:embed="rId3"/>
          <a:srcRect r="44239" b="-6216"/>
          <a:stretch/>
        </p:blipFill>
        <p:spPr>
          <a:xfrm>
            <a:off x="6056757" y="5116827"/>
            <a:ext cx="5721340" cy="1682496"/>
          </a:xfrm>
          <a:prstGeom prst="rect">
            <a:avLst/>
          </a:prstGeom>
        </p:spPr>
      </p:pic>
    </p:spTree>
    <p:extLst>
      <p:ext uri="{BB962C8B-B14F-4D97-AF65-F5344CB8AC3E}">
        <p14:creationId xmlns:p14="http://schemas.microsoft.com/office/powerpoint/2010/main" val="3470472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957452" y="376618"/>
            <a:ext cx="7420101" cy="1324166"/>
          </a:xfrm>
          <a:prstGeom prst="rect">
            <a:avLst/>
          </a:prstGeom>
        </p:spPr>
      </p:pic>
      <p:pic>
        <p:nvPicPr>
          <p:cNvPr id="5" name="Рисунок 4"/>
          <p:cNvPicPr>
            <a:picLocks noChangeAspect="1"/>
          </p:cNvPicPr>
          <p:nvPr/>
        </p:nvPicPr>
        <p:blipFill>
          <a:blip r:embed="rId3"/>
          <a:stretch>
            <a:fillRect/>
          </a:stretch>
        </p:blipFill>
        <p:spPr>
          <a:xfrm>
            <a:off x="297370" y="1514605"/>
            <a:ext cx="7401878" cy="5506660"/>
          </a:xfrm>
          <a:prstGeom prst="rect">
            <a:avLst/>
          </a:prstGeom>
        </p:spPr>
      </p:pic>
      <p:pic>
        <p:nvPicPr>
          <p:cNvPr id="6" name="Рисунок 5"/>
          <p:cNvPicPr>
            <a:picLocks noChangeAspect="1"/>
          </p:cNvPicPr>
          <p:nvPr/>
        </p:nvPicPr>
        <p:blipFill>
          <a:blip r:embed="rId4"/>
          <a:stretch>
            <a:fillRect/>
          </a:stretch>
        </p:blipFill>
        <p:spPr>
          <a:xfrm>
            <a:off x="7699248" y="3061144"/>
            <a:ext cx="4180678" cy="742760"/>
          </a:xfrm>
          <a:prstGeom prst="rect">
            <a:avLst/>
          </a:prstGeom>
        </p:spPr>
      </p:pic>
    </p:spTree>
    <p:extLst>
      <p:ext uri="{BB962C8B-B14F-4D97-AF65-F5344CB8AC3E}">
        <p14:creationId xmlns:p14="http://schemas.microsoft.com/office/powerpoint/2010/main" val="811798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0" y="0"/>
            <a:ext cx="5997248" cy="4754880"/>
          </a:xfrm>
          <a:prstGeom prst="rect">
            <a:avLst/>
          </a:prstGeom>
        </p:spPr>
      </p:pic>
      <p:pic>
        <p:nvPicPr>
          <p:cNvPr id="5" name="Рисунок 4"/>
          <p:cNvPicPr>
            <a:picLocks noChangeAspect="1"/>
          </p:cNvPicPr>
          <p:nvPr/>
        </p:nvPicPr>
        <p:blipFill>
          <a:blip r:embed="rId3"/>
          <a:stretch>
            <a:fillRect/>
          </a:stretch>
        </p:blipFill>
        <p:spPr>
          <a:xfrm>
            <a:off x="5997248" y="0"/>
            <a:ext cx="5944816" cy="4837936"/>
          </a:xfrm>
          <a:prstGeom prst="rect">
            <a:avLst/>
          </a:prstGeom>
        </p:spPr>
      </p:pic>
      <p:pic>
        <p:nvPicPr>
          <p:cNvPr id="6" name="Рисунок 5"/>
          <p:cNvPicPr>
            <a:picLocks noChangeAspect="1"/>
          </p:cNvPicPr>
          <p:nvPr/>
        </p:nvPicPr>
        <p:blipFill>
          <a:blip r:embed="rId4"/>
          <a:stretch>
            <a:fillRect/>
          </a:stretch>
        </p:blipFill>
        <p:spPr>
          <a:xfrm>
            <a:off x="5997248" y="4754880"/>
            <a:ext cx="4725308" cy="1207008"/>
          </a:xfrm>
          <a:prstGeom prst="rect">
            <a:avLst/>
          </a:prstGeom>
        </p:spPr>
      </p:pic>
      <p:pic>
        <p:nvPicPr>
          <p:cNvPr id="7" name="Рисунок 6"/>
          <p:cNvPicPr/>
          <p:nvPr/>
        </p:nvPicPr>
        <p:blipFill>
          <a:blip r:embed="rId5">
            <a:extLst>
              <a:ext uri="{28A0092B-C50C-407E-A947-70E740481C1C}">
                <a14:useLocalDpi xmlns:a14="http://schemas.microsoft.com/office/drawing/2010/main" val="0"/>
              </a:ext>
            </a:extLst>
          </a:blip>
          <a:srcRect/>
          <a:stretch>
            <a:fillRect/>
          </a:stretch>
        </p:blipFill>
        <p:spPr bwMode="auto">
          <a:xfrm>
            <a:off x="433070" y="6272212"/>
            <a:ext cx="4577842" cy="402908"/>
          </a:xfrm>
          <a:prstGeom prst="rect">
            <a:avLst/>
          </a:prstGeom>
          <a:noFill/>
          <a:ln>
            <a:noFill/>
          </a:ln>
        </p:spPr>
      </p:pic>
      <p:pic>
        <p:nvPicPr>
          <p:cNvPr id="8" name="Рисунок 7"/>
          <p:cNvPicPr>
            <a:picLocks noChangeAspect="1"/>
          </p:cNvPicPr>
          <p:nvPr/>
        </p:nvPicPr>
        <p:blipFill>
          <a:blip r:embed="rId6"/>
          <a:stretch>
            <a:fillRect/>
          </a:stretch>
        </p:blipFill>
        <p:spPr>
          <a:xfrm>
            <a:off x="5431726" y="6272212"/>
            <a:ext cx="3827626" cy="402908"/>
          </a:xfrm>
          <a:prstGeom prst="rect">
            <a:avLst/>
          </a:prstGeom>
        </p:spPr>
      </p:pic>
    </p:spTree>
    <p:extLst>
      <p:ext uri="{BB962C8B-B14F-4D97-AF65-F5344CB8AC3E}">
        <p14:creationId xmlns:p14="http://schemas.microsoft.com/office/powerpoint/2010/main" val="2618761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702182" y="550735"/>
            <a:ext cx="9527411" cy="1680401"/>
          </a:xfrm>
          <a:prstGeom prst="rect">
            <a:avLst/>
          </a:prstGeom>
        </p:spPr>
      </p:pic>
      <p:sp>
        <p:nvSpPr>
          <p:cNvPr id="5" name="Прямоугольник 4"/>
          <p:cNvSpPr/>
          <p:nvPr/>
        </p:nvSpPr>
        <p:spPr>
          <a:xfrm>
            <a:off x="702182" y="2289109"/>
            <a:ext cx="10581514" cy="1015663"/>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Using the turtle to draw a shape usually requires several steps. For example, suppose you want to draw a 100-pixel wide square that is filled with the color blue. These are the steps that you would take: </a:t>
            </a:r>
            <a:endParaRPr lang="ru-RU" sz="2000" dirty="0">
              <a:latin typeface="Times New Roman" panose="02020603050405020304" pitchFamily="18" charset="0"/>
              <a:cs typeface="Times New Roman" panose="02020603050405020304" pitchFamily="18" charset="0"/>
            </a:endParaRPr>
          </a:p>
        </p:txBody>
      </p:sp>
      <p:pic>
        <p:nvPicPr>
          <p:cNvPr id="8" name="Рисунок 7"/>
          <p:cNvPicPr>
            <a:picLocks noChangeAspect="1"/>
          </p:cNvPicPr>
          <p:nvPr/>
        </p:nvPicPr>
        <p:blipFill>
          <a:blip r:embed="rId3"/>
          <a:stretch>
            <a:fillRect/>
          </a:stretch>
        </p:blipFill>
        <p:spPr>
          <a:xfrm>
            <a:off x="702182" y="3304772"/>
            <a:ext cx="3394330" cy="1956557"/>
          </a:xfrm>
          <a:prstGeom prst="rect">
            <a:avLst/>
          </a:prstGeom>
        </p:spPr>
      </p:pic>
    </p:spTree>
    <p:extLst>
      <p:ext uri="{BB962C8B-B14F-4D97-AF65-F5344CB8AC3E}">
        <p14:creationId xmlns:p14="http://schemas.microsoft.com/office/powerpoint/2010/main" val="210405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01339" y="269163"/>
            <a:ext cx="6873718" cy="4917692"/>
          </a:xfrm>
          <a:prstGeom prst="rect">
            <a:avLst/>
          </a:prstGeom>
        </p:spPr>
      </p:pic>
      <p:pic>
        <p:nvPicPr>
          <p:cNvPr id="5" name="Рисунок 4"/>
          <p:cNvPicPr>
            <a:picLocks noChangeAspect="1"/>
          </p:cNvPicPr>
          <p:nvPr/>
        </p:nvPicPr>
        <p:blipFill rotWithShape="1">
          <a:blip r:embed="rId3"/>
          <a:srcRect t="22678"/>
          <a:stretch/>
        </p:blipFill>
        <p:spPr>
          <a:xfrm>
            <a:off x="201339" y="5152450"/>
            <a:ext cx="5553075" cy="1798388"/>
          </a:xfrm>
          <a:prstGeom prst="rect">
            <a:avLst/>
          </a:prstGeom>
        </p:spPr>
      </p:pic>
      <p:pic>
        <p:nvPicPr>
          <p:cNvPr id="6" name="Рисунок 5"/>
          <p:cNvPicPr>
            <a:picLocks noChangeAspect="1"/>
          </p:cNvPicPr>
          <p:nvPr/>
        </p:nvPicPr>
        <p:blipFill>
          <a:blip r:embed="rId4"/>
          <a:stretch>
            <a:fillRect/>
          </a:stretch>
        </p:blipFill>
        <p:spPr>
          <a:xfrm>
            <a:off x="6798751" y="1056290"/>
            <a:ext cx="4797608" cy="2807739"/>
          </a:xfrm>
          <a:prstGeom prst="rect">
            <a:avLst/>
          </a:prstGeom>
        </p:spPr>
      </p:pic>
    </p:spTree>
    <p:extLst>
      <p:ext uri="{BB962C8B-B14F-4D97-AF65-F5344CB8AC3E}">
        <p14:creationId xmlns:p14="http://schemas.microsoft.com/office/powerpoint/2010/main" val="2442855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76212" y="172247"/>
            <a:ext cx="4569209" cy="1482883"/>
          </a:xfrm>
          <a:prstGeom prst="rect">
            <a:avLst/>
          </a:prstGeom>
        </p:spPr>
      </p:pic>
      <p:pic>
        <p:nvPicPr>
          <p:cNvPr id="5" name="Рисунок 4"/>
          <p:cNvPicPr>
            <a:picLocks noChangeAspect="1"/>
          </p:cNvPicPr>
          <p:nvPr/>
        </p:nvPicPr>
        <p:blipFill>
          <a:blip r:embed="rId3"/>
          <a:stretch>
            <a:fillRect/>
          </a:stretch>
        </p:blipFill>
        <p:spPr>
          <a:xfrm>
            <a:off x="176212" y="1655130"/>
            <a:ext cx="6650257" cy="5145374"/>
          </a:xfrm>
          <a:prstGeom prst="rect">
            <a:avLst/>
          </a:prstGeom>
        </p:spPr>
      </p:pic>
      <p:pic>
        <p:nvPicPr>
          <p:cNvPr id="6" name="Рисунок 5"/>
          <p:cNvPicPr>
            <a:picLocks noChangeAspect="1"/>
          </p:cNvPicPr>
          <p:nvPr/>
        </p:nvPicPr>
        <p:blipFill>
          <a:blip r:embed="rId4"/>
          <a:stretch>
            <a:fillRect/>
          </a:stretch>
        </p:blipFill>
        <p:spPr>
          <a:xfrm>
            <a:off x="6495394" y="1203133"/>
            <a:ext cx="5532546" cy="3024684"/>
          </a:xfrm>
          <a:prstGeom prst="rect">
            <a:avLst/>
          </a:prstGeom>
        </p:spPr>
      </p:pic>
    </p:spTree>
    <p:extLst>
      <p:ext uri="{BB962C8B-B14F-4D97-AF65-F5344CB8AC3E}">
        <p14:creationId xmlns:p14="http://schemas.microsoft.com/office/powerpoint/2010/main" val="23934787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802135AA69994B4F81C202DF52114CF6" ma:contentTypeVersion="4" ma:contentTypeDescription="Создание документа." ma:contentTypeScope="" ma:versionID="b363fc7a49124151e3329434dbeec020">
  <xsd:schema xmlns:xsd="http://www.w3.org/2001/XMLSchema" xmlns:xs="http://www.w3.org/2001/XMLSchema" xmlns:p="http://schemas.microsoft.com/office/2006/metadata/properties" xmlns:ns2="a31afbf2-e35a-471f-8fdc-e7b63f74a28f" targetNamespace="http://schemas.microsoft.com/office/2006/metadata/properties" ma:root="true" ma:fieldsID="a1f15b022357d4555d3a86648043892a" ns2:_="">
    <xsd:import namespace="a31afbf2-e35a-471f-8fdc-e7b63f74a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1afbf2-e35a-471f-8fdc-e7b63f74a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59CAAD-3511-400E-B400-A204FC924600}"/>
</file>

<file path=customXml/itemProps2.xml><?xml version="1.0" encoding="utf-8"?>
<ds:datastoreItem xmlns:ds="http://schemas.openxmlformats.org/officeDocument/2006/customXml" ds:itemID="{191859CF-3B28-4A70-9275-9BD58E6A5550}"/>
</file>

<file path=docProps/app.xml><?xml version="1.0" encoding="utf-8"?>
<Properties xmlns="http://schemas.openxmlformats.org/officeDocument/2006/extended-properties" xmlns:vt="http://schemas.openxmlformats.org/officeDocument/2006/docPropsVTypes">
  <TotalTime>410</TotalTime>
  <Words>1874</Words>
  <Application>Microsoft Office PowerPoint</Application>
  <PresentationFormat>Широкоэкранный</PresentationFormat>
  <Paragraphs>81</Paragraphs>
  <Slides>38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38</vt:i4>
      </vt:variant>
    </vt:vector>
  </HeadingPairs>
  <TitlesOfParts>
    <vt:vector size="43" baseType="lpstr">
      <vt:lpstr>Arial</vt:lpstr>
      <vt:lpstr>Calibri</vt:lpstr>
      <vt:lpstr>Calibri Light</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Ким Гульнар Амангельдыевна</dc:creator>
  <cp:lastModifiedBy>Ким Гульнар Амангельдыевна </cp:lastModifiedBy>
  <cp:revision>36</cp:revision>
  <dcterms:created xsi:type="dcterms:W3CDTF">2024-09-26T09:17:02Z</dcterms:created>
  <dcterms:modified xsi:type="dcterms:W3CDTF">2024-10-15T09:07:49Z</dcterms:modified>
</cp:coreProperties>
</file>