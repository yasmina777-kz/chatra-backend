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x="9144000" cy="6858000" type="screen4x3"/>
  <p:notesSz cx="6858000" cy="9144000"/>
  <p:defaultText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DE809C-3BC1-4507-9F1F-F77FDF6D6403}" v="6" dt="2025-12-04T05:53:30.4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1" d="100"/>
          <a:sy n="71" d="100"/>
        </p:scale>
        <p:origin x="84" y="7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Ким Гульнар Амангельдыевна" userId="S::gakim@ku.edu.kz::b72cbb20-62a4-4ce6-b395-6a6528ca72b3" providerId="AD" clId="Web-{53DE809C-3BC1-4507-9F1F-F77FDF6D6403}"/>
    <pc:docChg chg="modSld">
      <pc:chgData name="Ким Гульнар Амангельдыевна" userId="S::gakim@ku.edu.kz::b72cbb20-62a4-4ce6-b395-6a6528ca72b3" providerId="AD" clId="Web-{53DE809C-3BC1-4507-9F1F-F77FDF6D6403}" dt="2025-12-04T05:53:28.012" v="1" actId="20577"/>
      <pc:docMkLst>
        <pc:docMk/>
      </pc:docMkLst>
      <pc:sldChg chg="modSp">
        <pc:chgData name="Ким Гульнар Амангельдыевна" userId="S::gakim@ku.edu.kz::b72cbb20-62a4-4ce6-b395-6a6528ca72b3" providerId="AD" clId="Web-{53DE809C-3BC1-4507-9F1F-F77FDF6D6403}" dt="2025-12-04T05:53:28.012" v="1" actId="20577"/>
        <pc:sldMkLst>
          <pc:docMk/>
          <pc:sldMk cId="971057053" sldId="265"/>
        </pc:sldMkLst>
        <pc:spChg chg="mod">
          <ac:chgData name="Ким Гульнар Амангельдыевна" userId="S::gakim@ku.edu.kz::b72cbb20-62a4-4ce6-b395-6a6528ca72b3" providerId="AD" clId="Web-{53DE809C-3BC1-4507-9F1F-F77FDF6D6403}" dt="2025-12-04T05:53:28.012" v="1" actId="20577"/>
          <ac:spMkLst>
            <pc:docMk/>
            <pc:sldMk cId="971057053" sldId="265"/>
            <ac:spMk id="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EAF463A-BC7C-46EE-9F1E-7F377CCA4891}"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AF463A-BC7C-46EE-9F1E-7F377CCA4891}"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AF463A-BC7C-46EE-9F1E-7F377CCA4891}"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EAF463A-BC7C-46EE-9F1E-7F377CCA4891}"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EAF463A-BC7C-46EE-9F1E-7F377CCA4891}" type="datetimeFigureOut">
              <a:rPr lang="en-US" smtClean="0"/>
              <a:pPr/>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AF463A-BC7C-46EE-9F1E-7F377CCA4891}" type="datetimeFigureOut">
              <a:rPr lang="en-US" smtClean="0"/>
              <a:pPr/>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AF463A-BC7C-46EE-9F1E-7F377CCA4891}" type="datetimeFigureOut">
              <a:rPr lang="en-US" smtClean="0"/>
              <a:pPr/>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AF463A-BC7C-46EE-9F1E-7F377CCA4891}"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AF463A-BC7C-46EE-9F1E-7F377CCA4891}"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AF463A-BC7C-46EE-9F1E-7F377CCA4891}"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add title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AF463A-BC7C-46EE-9F1E-7F377CCA4891}"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AF463A-BC7C-46EE-9F1E-7F377CCA4891}" type="datetimeFigureOut">
              <a:rPr lang="en-US" smtClean="0"/>
              <a:pPr/>
              <a:t>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83448D-3A78-4528-A469-B745A65DA4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latinLnBrk="0">
        <a:spcBef>
          <a:spcPct val="0"/>
        </a:spcBef>
        <a:buNone/>
        <a:defRPr sz="4400" kern="1200">
          <a:solidFill>
            <a:schemeClr val="tx1"/>
          </a:solidFill>
          <a:latin typeface="+mj-lt"/>
          <a:ea typeface="+mj-ea"/>
          <a:cs typeface="+mj-cs"/>
        </a:defRPr>
      </a:lvl1pPr>
    </p:titleStyle>
    <p:bodyStyle>
      <a:lvl1pPr marL="342900" indent="-342900" algn="l" defTabSz="914400" rtl="0" latinLnBrk="0">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latinLnBrk="0">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latinLnBrk="0">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latinLnBrk="0">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latinLnBrk="0">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latinLnBrk="0">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latinLnBrk="0">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latinLnBrk="0">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latinLnBrk="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3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3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3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3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8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1066800"/>
            <a:ext cx="7772400" cy="1470025"/>
          </a:xfrm>
        </p:spPr>
        <p:txBody>
          <a:bodyPr/>
          <a:lstStyle/>
          <a:p>
            <a:r>
              <a:rPr lang="en-US" b="1" dirty="0"/>
              <a:t>List and </a:t>
            </a:r>
            <a:r>
              <a:rPr lang="en-US" b="1" dirty="0" err="1"/>
              <a:t>Tuples</a:t>
            </a:r>
            <a:endParaRPr lang="ru-RU" b="1" dirty="0"/>
          </a:p>
        </p:txBody>
      </p:sp>
      <p:pic>
        <p:nvPicPr>
          <p:cNvPr id="1026" name="Picture 2"/>
          <p:cNvPicPr>
            <a:picLocks noChangeAspect="1" noChangeArrowheads="1"/>
          </p:cNvPicPr>
          <p:nvPr/>
        </p:nvPicPr>
        <p:blipFill>
          <a:blip r:embed="rId2"/>
          <a:srcRect/>
          <a:stretch>
            <a:fillRect/>
          </a:stretch>
        </p:blipFill>
        <p:spPr bwMode="auto">
          <a:xfrm>
            <a:off x="381000" y="2895600"/>
            <a:ext cx="8431306" cy="2514600"/>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8600" y="304800"/>
            <a:ext cx="8229600" cy="1143000"/>
          </a:xfrm>
        </p:spPr>
        <p:txBody>
          <a:bodyPr/>
          <a:lstStyle/>
          <a:p>
            <a:r>
              <a:rPr lang="en-US" b="1" dirty="0"/>
              <a:t>Sequences</a:t>
            </a:r>
            <a:endParaRPr lang="ru-RU" dirty="0"/>
          </a:p>
        </p:txBody>
      </p:sp>
      <p:sp>
        <p:nvSpPr>
          <p:cNvPr id="3" name="Содержимое 2"/>
          <p:cNvSpPr>
            <a:spLocks noGrp="1"/>
          </p:cNvSpPr>
          <p:nvPr>
            <p:ph idx="1"/>
          </p:nvPr>
        </p:nvSpPr>
        <p:spPr>
          <a:xfrm>
            <a:off x="381000" y="2514600"/>
            <a:ext cx="8229600" cy="3581400"/>
          </a:xfrm>
        </p:spPr>
        <p:txBody>
          <a:bodyPr/>
          <a:lstStyle/>
          <a:p>
            <a:r>
              <a:rPr lang="en-US" dirty="0"/>
              <a:t>A </a:t>
            </a:r>
            <a:r>
              <a:rPr lang="en-US" i="1" dirty="0"/>
              <a:t>sequence is an object that contains multiple items of data. </a:t>
            </a:r>
          </a:p>
          <a:p>
            <a:r>
              <a:rPr lang="en-US" dirty="0"/>
              <a:t>The items that are in a sequence are stored one after the other. Python provides various ways to perform operations on the items that are stored in a sequence.</a:t>
            </a:r>
            <a:endParaRPr lang="ru-RU" dirty="0"/>
          </a:p>
        </p:txBody>
      </p:sp>
      <p:pic>
        <p:nvPicPr>
          <p:cNvPr id="2050" name="Picture 2"/>
          <p:cNvPicPr>
            <a:picLocks noChangeAspect="1" noChangeArrowheads="1"/>
          </p:cNvPicPr>
          <p:nvPr/>
        </p:nvPicPr>
        <p:blipFill>
          <a:blip r:embed="rId2"/>
          <a:srcRect/>
          <a:stretch>
            <a:fillRect/>
          </a:stretch>
        </p:blipFill>
        <p:spPr bwMode="auto">
          <a:xfrm>
            <a:off x="609600" y="1524000"/>
            <a:ext cx="7924800" cy="891034"/>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810000" y="304800"/>
            <a:ext cx="1197764" cy="369332"/>
          </a:xfrm>
          <a:prstGeom prst="rect">
            <a:avLst/>
          </a:prstGeom>
        </p:spPr>
        <p:txBody>
          <a:bodyPr wrap="none">
            <a:spAutoFit/>
          </a:bodyPr>
          <a:lstStyle/>
          <a:p>
            <a:r>
              <a:rPr lang="en-US" b="1" dirty="0">
                <a:latin typeface="Times New Roman" pitchFamily="18" charset="0"/>
                <a:cs typeface="Times New Roman" pitchFamily="18" charset="0"/>
              </a:rPr>
              <a:t>Sequences</a:t>
            </a:r>
            <a:endParaRPr lang="ru-RU" dirty="0">
              <a:latin typeface="Times New Roman" pitchFamily="18" charset="0"/>
              <a:cs typeface="Times New Roman" pitchFamily="18" charset="0"/>
            </a:endParaRPr>
          </a:p>
        </p:txBody>
      </p:sp>
      <p:cxnSp>
        <p:nvCxnSpPr>
          <p:cNvPr id="6" name="Прямая со стрелкой 5"/>
          <p:cNvCxnSpPr/>
          <p:nvPr/>
        </p:nvCxnSpPr>
        <p:spPr>
          <a:xfrm rot="10800000" flipV="1">
            <a:off x="3352800" y="685800"/>
            <a:ext cx="4572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p:nvPr/>
        </p:nvCxnSpPr>
        <p:spPr>
          <a:xfrm>
            <a:off x="4876800" y="685800"/>
            <a:ext cx="6096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Прямоугольник 12"/>
          <p:cNvSpPr/>
          <p:nvPr/>
        </p:nvSpPr>
        <p:spPr>
          <a:xfrm>
            <a:off x="2971800" y="1143000"/>
            <a:ext cx="556563" cy="369332"/>
          </a:xfrm>
          <a:prstGeom prst="rect">
            <a:avLst/>
          </a:prstGeom>
        </p:spPr>
        <p:txBody>
          <a:bodyPr wrap="none">
            <a:spAutoFit/>
          </a:bodyPr>
          <a:lstStyle/>
          <a:p>
            <a:r>
              <a:rPr lang="en-US" dirty="0">
                <a:latin typeface="Times New Roman" pitchFamily="18" charset="0"/>
                <a:cs typeface="Times New Roman" pitchFamily="18" charset="0"/>
              </a:rPr>
              <a:t>lists</a:t>
            </a:r>
            <a:endParaRPr lang="ru-RU" dirty="0">
              <a:latin typeface="Times New Roman" pitchFamily="18" charset="0"/>
              <a:cs typeface="Times New Roman" pitchFamily="18" charset="0"/>
            </a:endParaRPr>
          </a:p>
        </p:txBody>
      </p:sp>
      <p:sp>
        <p:nvSpPr>
          <p:cNvPr id="14" name="Прямоугольник 13"/>
          <p:cNvSpPr/>
          <p:nvPr/>
        </p:nvSpPr>
        <p:spPr>
          <a:xfrm>
            <a:off x="5257800" y="1143000"/>
            <a:ext cx="763351" cy="369332"/>
          </a:xfrm>
          <a:prstGeom prst="rect">
            <a:avLst/>
          </a:prstGeom>
        </p:spPr>
        <p:txBody>
          <a:bodyPr wrap="none">
            <a:spAutoFit/>
          </a:bodyPr>
          <a:lstStyle/>
          <a:p>
            <a:r>
              <a:rPr lang="en-US" dirty="0" err="1">
                <a:latin typeface="Times New Roman" pitchFamily="18" charset="0"/>
                <a:cs typeface="Times New Roman" pitchFamily="18" charset="0"/>
              </a:rPr>
              <a:t>tuples</a:t>
            </a:r>
            <a:endParaRPr lang="ru-RU" dirty="0">
              <a:latin typeface="Times New Roman" pitchFamily="18" charset="0"/>
              <a:cs typeface="Times New Roman" pitchFamily="18" charset="0"/>
            </a:endParaRPr>
          </a:p>
        </p:txBody>
      </p:sp>
      <p:sp>
        <p:nvSpPr>
          <p:cNvPr id="15" name="Прямоугольник 14"/>
          <p:cNvSpPr/>
          <p:nvPr/>
        </p:nvSpPr>
        <p:spPr>
          <a:xfrm>
            <a:off x="1752600" y="1676400"/>
            <a:ext cx="2819400" cy="923330"/>
          </a:xfrm>
          <a:prstGeom prst="rect">
            <a:avLst/>
          </a:prstGeom>
        </p:spPr>
        <p:txBody>
          <a:bodyPr wrap="square">
            <a:spAutoFit/>
          </a:bodyPr>
          <a:lstStyle/>
          <a:p>
            <a:r>
              <a:rPr lang="en-US" dirty="0"/>
              <a:t>is mutable, which means that a program can change its contents,</a:t>
            </a:r>
            <a:endParaRPr lang="ru-RU" dirty="0"/>
          </a:p>
        </p:txBody>
      </p:sp>
      <p:sp>
        <p:nvSpPr>
          <p:cNvPr id="16" name="Прямоугольник 15"/>
          <p:cNvSpPr/>
          <p:nvPr/>
        </p:nvSpPr>
        <p:spPr>
          <a:xfrm>
            <a:off x="5181600" y="1676400"/>
            <a:ext cx="1524000" cy="369332"/>
          </a:xfrm>
          <a:prstGeom prst="rect">
            <a:avLst/>
          </a:prstGeom>
        </p:spPr>
        <p:txBody>
          <a:bodyPr wrap="square">
            <a:spAutoFit/>
          </a:bodyPr>
          <a:lstStyle/>
          <a:p>
            <a:r>
              <a:rPr lang="en-US" dirty="0"/>
              <a:t>is immutable</a:t>
            </a:r>
            <a:endParaRPr lang="ru-RU" dirty="0"/>
          </a:p>
        </p:txBody>
      </p:sp>
      <p:sp>
        <p:nvSpPr>
          <p:cNvPr id="17" name="Прямоугольник 16"/>
          <p:cNvSpPr/>
          <p:nvPr/>
        </p:nvSpPr>
        <p:spPr>
          <a:xfrm>
            <a:off x="1752600" y="1676400"/>
            <a:ext cx="26670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Прямоугольник 19"/>
          <p:cNvSpPr/>
          <p:nvPr/>
        </p:nvSpPr>
        <p:spPr>
          <a:xfrm>
            <a:off x="5181600" y="1676400"/>
            <a:ext cx="13716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657600" y="533400"/>
            <a:ext cx="1447800"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A list</a:t>
            </a:r>
            <a:endParaRPr lang="ru-RU" sz="3600" dirty="0">
              <a:latin typeface="Times New Roman" panose="02020603050405020304" pitchFamily="18" charset="0"/>
              <a:cs typeface="Times New Roman" panose="02020603050405020304" pitchFamily="18" charset="0"/>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371600"/>
            <a:ext cx="6781800" cy="1186290"/>
          </a:xfrm>
          <a:prstGeom prst="rect">
            <a:avLst/>
          </a:prstGeom>
        </p:spPr>
      </p:pic>
      <p:sp>
        <p:nvSpPr>
          <p:cNvPr id="4" name="Прямоугольник 3"/>
          <p:cNvSpPr/>
          <p:nvPr/>
        </p:nvSpPr>
        <p:spPr>
          <a:xfrm>
            <a:off x="857224" y="2857496"/>
            <a:ext cx="7643866" cy="646331"/>
          </a:xfrm>
          <a:prstGeom prst="rect">
            <a:avLst/>
          </a:prstGeom>
        </p:spPr>
        <p:txBody>
          <a:bodyPr wrap="square">
            <a:spAutoFit/>
          </a:bodyPr>
          <a:lstStyle/>
          <a:p>
            <a:r>
              <a:rPr lang="en-US" b="1" dirty="0"/>
              <a:t>A </a:t>
            </a:r>
            <a:r>
              <a:rPr lang="en-US" b="1" i="1" dirty="0"/>
              <a:t>list </a:t>
            </a:r>
            <a:r>
              <a:rPr lang="en-US" i="1" dirty="0"/>
              <a:t>is an object that contains multiple data items. Each item that is stored in a list is called </a:t>
            </a:r>
            <a:r>
              <a:rPr lang="en-US" dirty="0"/>
              <a:t>an </a:t>
            </a:r>
            <a:r>
              <a:rPr lang="en-US" i="1" dirty="0"/>
              <a:t>element. Here is a statement that creates a list of integers:</a:t>
            </a:r>
            <a:endParaRPr lang="ru-RU" dirty="0"/>
          </a:p>
        </p:txBody>
      </p:sp>
      <p:pic>
        <p:nvPicPr>
          <p:cNvPr id="1026" name="Picture 2"/>
          <p:cNvPicPr>
            <a:picLocks noChangeAspect="1" noChangeArrowheads="1"/>
          </p:cNvPicPr>
          <p:nvPr/>
        </p:nvPicPr>
        <p:blipFill>
          <a:blip r:embed="rId3"/>
          <a:srcRect/>
          <a:stretch>
            <a:fillRect/>
          </a:stretch>
        </p:blipFill>
        <p:spPr bwMode="auto">
          <a:xfrm>
            <a:off x="214282" y="3571876"/>
            <a:ext cx="3542134" cy="357190"/>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a:srcRect/>
          <a:stretch>
            <a:fillRect/>
          </a:stretch>
        </p:blipFill>
        <p:spPr bwMode="auto">
          <a:xfrm>
            <a:off x="4929190" y="3500438"/>
            <a:ext cx="3929090" cy="511320"/>
          </a:xfrm>
          <a:prstGeom prst="rect">
            <a:avLst/>
          </a:prstGeom>
          <a:noFill/>
          <a:ln w="9525">
            <a:noFill/>
            <a:miter lim="800000"/>
            <a:headEnd/>
            <a:tailEnd/>
          </a:ln>
          <a:effectLst/>
        </p:spPr>
      </p:pic>
      <p:cxnSp>
        <p:nvCxnSpPr>
          <p:cNvPr id="8" name="Прямая со стрелкой 7"/>
          <p:cNvCxnSpPr/>
          <p:nvPr/>
        </p:nvCxnSpPr>
        <p:spPr>
          <a:xfrm>
            <a:off x="3857620" y="3786190"/>
            <a:ext cx="100013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28" name="Picture 4"/>
          <p:cNvPicPr>
            <a:picLocks noChangeAspect="1" noChangeArrowheads="1"/>
          </p:cNvPicPr>
          <p:nvPr/>
        </p:nvPicPr>
        <p:blipFill>
          <a:blip r:embed="rId5"/>
          <a:srcRect/>
          <a:stretch>
            <a:fillRect/>
          </a:stretch>
        </p:blipFill>
        <p:spPr bwMode="auto">
          <a:xfrm>
            <a:off x="4429124" y="5000636"/>
            <a:ext cx="4576234" cy="428628"/>
          </a:xfrm>
          <a:prstGeom prst="rect">
            <a:avLst/>
          </a:prstGeom>
          <a:noFill/>
          <a:ln w="9525">
            <a:noFill/>
            <a:miter lim="800000"/>
            <a:headEnd/>
            <a:tailEnd/>
          </a:ln>
          <a:effectLst/>
        </p:spPr>
      </p:pic>
      <p:pic>
        <p:nvPicPr>
          <p:cNvPr id="1029" name="Picture 5"/>
          <p:cNvPicPr>
            <a:picLocks noChangeAspect="1" noChangeArrowheads="1"/>
          </p:cNvPicPr>
          <p:nvPr/>
        </p:nvPicPr>
        <p:blipFill>
          <a:blip r:embed="rId6"/>
          <a:srcRect/>
          <a:stretch>
            <a:fillRect/>
          </a:stretch>
        </p:blipFill>
        <p:spPr bwMode="auto">
          <a:xfrm>
            <a:off x="285721" y="4214818"/>
            <a:ext cx="5786478" cy="404356"/>
          </a:xfrm>
          <a:prstGeom prst="rect">
            <a:avLst/>
          </a:prstGeom>
          <a:noFill/>
          <a:ln w="9525">
            <a:noFill/>
            <a:miter lim="800000"/>
            <a:headEnd/>
            <a:tailEnd/>
          </a:ln>
          <a:effectLst/>
        </p:spPr>
      </p:pic>
      <p:cxnSp>
        <p:nvCxnSpPr>
          <p:cNvPr id="12" name="Прямая со стрелкой 11"/>
          <p:cNvCxnSpPr/>
          <p:nvPr/>
        </p:nvCxnSpPr>
        <p:spPr>
          <a:xfrm rot="5400000">
            <a:off x="5536413" y="4750603"/>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786050" y="571480"/>
            <a:ext cx="3448380" cy="461665"/>
          </a:xfrm>
          <a:prstGeom prst="rect">
            <a:avLst/>
          </a:prstGeom>
        </p:spPr>
        <p:txBody>
          <a:bodyPr wrap="none">
            <a:spAutoFit/>
          </a:bodyPr>
          <a:lstStyle/>
          <a:p>
            <a:r>
              <a:rPr lang="en-US" sz="2400" b="1" dirty="0">
                <a:latin typeface="Times New Roman" pitchFamily="18" charset="0"/>
                <a:cs typeface="Times New Roman" pitchFamily="18" charset="0"/>
              </a:rPr>
              <a:t>The Repetition Operator</a:t>
            </a:r>
            <a:endParaRPr lang="ru-RU" sz="24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928662" y="1285860"/>
            <a:ext cx="1000132" cy="378428"/>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785786" y="1714488"/>
            <a:ext cx="3271860" cy="1143008"/>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4572000" y="1785926"/>
            <a:ext cx="3786214" cy="1002233"/>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a:srcRect/>
          <a:stretch>
            <a:fillRect/>
          </a:stretch>
        </p:blipFill>
        <p:spPr bwMode="auto">
          <a:xfrm>
            <a:off x="357158" y="3929066"/>
            <a:ext cx="8286808" cy="1491921"/>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285984" y="571480"/>
            <a:ext cx="4352858" cy="400110"/>
          </a:xfrm>
          <a:prstGeom prst="rect">
            <a:avLst/>
          </a:prstGeom>
        </p:spPr>
        <p:txBody>
          <a:bodyPr wrap="none">
            <a:spAutoFit/>
          </a:bodyPr>
          <a:lstStyle/>
          <a:p>
            <a:r>
              <a:rPr lang="en-US" sz="2000" b="1" dirty="0">
                <a:latin typeface="Times New Roman" pitchFamily="18" charset="0"/>
                <a:cs typeface="Times New Roman" pitchFamily="18" charset="0"/>
              </a:rPr>
              <a:t>Iterating over a List with the for Loop</a:t>
            </a:r>
            <a:endParaRPr lang="ru-RU" sz="20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571472" y="1500174"/>
            <a:ext cx="3482603" cy="928694"/>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6000760" y="1285860"/>
            <a:ext cx="753263" cy="1214445"/>
          </a:xfrm>
          <a:prstGeom prst="rect">
            <a:avLst/>
          </a:prstGeom>
          <a:noFill/>
          <a:ln w="9525">
            <a:noFill/>
            <a:miter lim="800000"/>
            <a:headEnd/>
            <a:tailEnd/>
          </a:ln>
          <a:effectLst/>
        </p:spPr>
      </p:pic>
      <p:cxnSp>
        <p:nvCxnSpPr>
          <p:cNvPr id="8" name="Прямая со стрелкой 7"/>
          <p:cNvCxnSpPr>
            <a:endCxn id="3075" idx="1"/>
          </p:cNvCxnSpPr>
          <p:nvPr/>
        </p:nvCxnSpPr>
        <p:spPr>
          <a:xfrm flipV="1">
            <a:off x="4357686" y="1893083"/>
            <a:ext cx="1643074"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Прямоугольник 9"/>
          <p:cNvSpPr/>
          <p:nvPr/>
        </p:nvSpPr>
        <p:spPr>
          <a:xfrm>
            <a:off x="3857620" y="2786058"/>
            <a:ext cx="1152880" cy="400110"/>
          </a:xfrm>
          <a:prstGeom prst="rect">
            <a:avLst/>
          </a:prstGeom>
        </p:spPr>
        <p:txBody>
          <a:bodyPr wrap="none">
            <a:spAutoFit/>
          </a:bodyPr>
          <a:lstStyle/>
          <a:p>
            <a:r>
              <a:rPr lang="en-US" sz="2000" b="1" dirty="0">
                <a:latin typeface="Times New Roman" pitchFamily="18" charset="0"/>
                <a:cs typeface="Times New Roman" pitchFamily="18" charset="0"/>
              </a:rPr>
              <a:t>Indexing</a:t>
            </a:r>
            <a:endParaRPr lang="ru-RU" sz="2000" dirty="0">
              <a:latin typeface="Times New Roman" pitchFamily="18" charset="0"/>
              <a:cs typeface="Times New Roman" pitchFamily="18" charset="0"/>
            </a:endParaRPr>
          </a:p>
        </p:txBody>
      </p:sp>
      <p:sp>
        <p:nvSpPr>
          <p:cNvPr id="11" name="Прямоугольник 10"/>
          <p:cNvSpPr/>
          <p:nvPr/>
        </p:nvSpPr>
        <p:spPr>
          <a:xfrm>
            <a:off x="428596" y="3429000"/>
            <a:ext cx="7858180" cy="1200329"/>
          </a:xfrm>
          <a:prstGeom prst="rect">
            <a:avLst/>
          </a:prstGeom>
        </p:spPr>
        <p:txBody>
          <a:bodyPr wrap="square">
            <a:spAutoFit/>
          </a:bodyPr>
          <a:lstStyle/>
          <a:p>
            <a:r>
              <a:rPr lang="en-US" dirty="0"/>
              <a:t>Another way that you can access the individual elements in a list is with an </a:t>
            </a:r>
            <a:r>
              <a:rPr lang="en-US" i="1" dirty="0"/>
              <a:t>index. Each </a:t>
            </a:r>
            <a:r>
              <a:rPr lang="en-US" dirty="0"/>
              <a:t>element in a list has an index that specifies its position in the list. Indexing starts at 0, so the index of the first element is 0, the index of the second element is 1, and so forth.</a:t>
            </a:r>
            <a:endParaRPr lang="ru-RU" dirty="0"/>
          </a:p>
        </p:txBody>
      </p:sp>
      <p:pic>
        <p:nvPicPr>
          <p:cNvPr id="3076" name="Picture 4"/>
          <p:cNvPicPr>
            <a:picLocks noChangeAspect="1" noChangeArrowheads="1"/>
          </p:cNvPicPr>
          <p:nvPr/>
        </p:nvPicPr>
        <p:blipFill>
          <a:blip r:embed="rId4"/>
          <a:srcRect/>
          <a:stretch>
            <a:fillRect/>
          </a:stretch>
        </p:blipFill>
        <p:spPr bwMode="auto">
          <a:xfrm>
            <a:off x="285720" y="4786322"/>
            <a:ext cx="2928958" cy="396188"/>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a:srcRect/>
          <a:stretch>
            <a:fillRect/>
          </a:stretch>
        </p:blipFill>
        <p:spPr bwMode="auto">
          <a:xfrm>
            <a:off x="3643306" y="4714884"/>
            <a:ext cx="5225557" cy="357190"/>
          </a:xfrm>
          <a:prstGeom prst="rect">
            <a:avLst/>
          </a:prstGeom>
          <a:noFill/>
          <a:ln w="9525">
            <a:noFill/>
            <a:miter lim="800000"/>
            <a:headEnd/>
            <a:tailEnd/>
          </a:ln>
          <a:effectLst/>
        </p:spPr>
      </p:pic>
      <p:cxnSp>
        <p:nvCxnSpPr>
          <p:cNvPr id="15" name="Прямая со стрелкой 14"/>
          <p:cNvCxnSpPr>
            <a:stCxn id="3076" idx="3"/>
            <a:endCxn id="3077" idx="1"/>
          </p:cNvCxnSpPr>
          <p:nvPr/>
        </p:nvCxnSpPr>
        <p:spPr>
          <a:xfrm flipV="1">
            <a:off x="3214678" y="4893479"/>
            <a:ext cx="428628" cy="909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3078" name="Picture 6"/>
          <p:cNvPicPr>
            <a:picLocks noChangeAspect="1" noChangeArrowheads="1"/>
          </p:cNvPicPr>
          <p:nvPr/>
        </p:nvPicPr>
        <p:blipFill>
          <a:blip r:embed="rId6"/>
          <a:srcRect/>
          <a:stretch>
            <a:fillRect/>
          </a:stretch>
        </p:blipFill>
        <p:spPr bwMode="auto">
          <a:xfrm>
            <a:off x="642910" y="5357826"/>
            <a:ext cx="3235840" cy="1143008"/>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571868" y="428604"/>
            <a:ext cx="1869423"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Len function</a:t>
            </a:r>
            <a:endParaRPr lang="ru-RU" sz="2400" dirty="0">
              <a:latin typeface="Times New Roman" panose="02020603050405020304" pitchFamily="18" charset="0"/>
              <a:cs typeface="Times New Roman" panose="02020603050405020304" pitchFamily="18" charset="0"/>
            </a:endParaRPr>
          </a:p>
        </p:txBody>
      </p:sp>
      <p:pic>
        <p:nvPicPr>
          <p:cNvPr id="4098" name="Picture 2"/>
          <p:cNvPicPr>
            <a:picLocks noChangeAspect="1" noChangeArrowheads="1"/>
          </p:cNvPicPr>
          <p:nvPr/>
        </p:nvPicPr>
        <p:blipFill>
          <a:blip r:embed="rId2"/>
          <a:srcRect/>
          <a:stretch>
            <a:fillRect/>
          </a:stretch>
        </p:blipFill>
        <p:spPr bwMode="auto">
          <a:xfrm>
            <a:off x="785787" y="1285860"/>
            <a:ext cx="3786214" cy="667174"/>
          </a:xfrm>
          <a:prstGeom prst="rect">
            <a:avLst/>
          </a:prstGeom>
          <a:noFill/>
          <a:ln w="9525">
            <a:noFill/>
            <a:miter lim="800000"/>
            <a:headEnd/>
            <a:tailEnd/>
          </a:ln>
          <a:effectLst/>
        </p:spPr>
      </p:pic>
      <p:sp>
        <p:nvSpPr>
          <p:cNvPr id="2" name="Прямоугольник 1"/>
          <p:cNvSpPr/>
          <p:nvPr/>
        </p:nvSpPr>
        <p:spPr>
          <a:xfrm>
            <a:off x="3445072" y="2031380"/>
            <a:ext cx="2555380"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Lists Are Mutable</a:t>
            </a:r>
          </a:p>
        </p:txBody>
      </p:sp>
      <p:pic>
        <p:nvPicPr>
          <p:cNvPr id="3" name="Рисунок 2"/>
          <p:cNvPicPr>
            <a:picLocks noChangeAspect="1"/>
          </p:cNvPicPr>
          <p:nvPr/>
        </p:nvPicPr>
        <p:blipFill>
          <a:blip r:embed="rId3"/>
          <a:stretch>
            <a:fillRect/>
          </a:stretch>
        </p:blipFill>
        <p:spPr>
          <a:xfrm>
            <a:off x="248554" y="2669372"/>
            <a:ext cx="3196518" cy="1075192"/>
          </a:xfrm>
          <a:prstGeom prst="rect">
            <a:avLst/>
          </a:prstGeom>
        </p:spPr>
      </p:pic>
      <p:cxnSp>
        <p:nvCxnSpPr>
          <p:cNvPr id="6" name="Прямая со стрелкой 5"/>
          <p:cNvCxnSpPr/>
          <p:nvPr/>
        </p:nvCxnSpPr>
        <p:spPr>
          <a:xfrm>
            <a:off x="2915816" y="3068960"/>
            <a:ext cx="2016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Прямая со стрелкой 7"/>
          <p:cNvCxnSpPr/>
          <p:nvPr/>
        </p:nvCxnSpPr>
        <p:spPr>
          <a:xfrm>
            <a:off x="3064796" y="3507815"/>
            <a:ext cx="19442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 name="Рисунок 8"/>
          <p:cNvPicPr>
            <a:picLocks noChangeAspect="1"/>
          </p:cNvPicPr>
          <p:nvPr/>
        </p:nvPicPr>
        <p:blipFill>
          <a:blip r:embed="rId4"/>
          <a:stretch>
            <a:fillRect/>
          </a:stretch>
        </p:blipFill>
        <p:spPr>
          <a:xfrm>
            <a:off x="5169283" y="2844544"/>
            <a:ext cx="1562957" cy="320278"/>
          </a:xfrm>
          <a:prstGeom prst="rect">
            <a:avLst/>
          </a:prstGeom>
        </p:spPr>
      </p:pic>
      <p:pic>
        <p:nvPicPr>
          <p:cNvPr id="10" name="Рисунок 9"/>
          <p:cNvPicPr>
            <a:picLocks noChangeAspect="1"/>
          </p:cNvPicPr>
          <p:nvPr/>
        </p:nvPicPr>
        <p:blipFill>
          <a:blip r:embed="rId5"/>
          <a:stretch>
            <a:fillRect/>
          </a:stretch>
        </p:blipFill>
        <p:spPr>
          <a:xfrm>
            <a:off x="5242225" y="3332503"/>
            <a:ext cx="1463575" cy="301653"/>
          </a:xfrm>
          <a:prstGeom prst="rect">
            <a:avLst/>
          </a:prstGeom>
        </p:spPr>
      </p:pic>
      <p:pic>
        <p:nvPicPr>
          <p:cNvPr id="11" name="Рисунок 10"/>
          <p:cNvPicPr>
            <a:picLocks noChangeAspect="1"/>
          </p:cNvPicPr>
          <p:nvPr/>
        </p:nvPicPr>
        <p:blipFill>
          <a:blip r:embed="rId6"/>
          <a:stretch>
            <a:fillRect/>
          </a:stretch>
        </p:blipFill>
        <p:spPr>
          <a:xfrm>
            <a:off x="539552" y="4146348"/>
            <a:ext cx="6543028" cy="540511"/>
          </a:xfrm>
          <a:prstGeom prst="rect">
            <a:avLst/>
          </a:prstGeom>
        </p:spPr>
      </p:pic>
      <p:sp>
        <p:nvSpPr>
          <p:cNvPr id="12" name="Прямоугольник 11"/>
          <p:cNvSpPr/>
          <p:nvPr/>
        </p:nvSpPr>
        <p:spPr>
          <a:xfrm>
            <a:off x="533872" y="5161119"/>
            <a:ext cx="3678088" cy="646331"/>
          </a:xfrm>
          <a:prstGeom prst="rect">
            <a:avLst/>
          </a:prstGeom>
        </p:spPr>
        <p:txBody>
          <a:bodyPr wrap="square">
            <a:spAutoFit/>
          </a:bodyPr>
          <a:lstStyle/>
          <a:p>
            <a:r>
              <a:rPr lang="en-US" dirty="0"/>
              <a:t>If you want to use indexing expressions to fill a list with values:</a:t>
            </a:r>
          </a:p>
        </p:txBody>
      </p:sp>
      <p:pic>
        <p:nvPicPr>
          <p:cNvPr id="13" name="Рисунок 12"/>
          <p:cNvPicPr>
            <a:picLocks noChangeAspect="1"/>
          </p:cNvPicPr>
          <p:nvPr/>
        </p:nvPicPr>
        <p:blipFill>
          <a:blip r:embed="rId7"/>
          <a:stretch>
            <a:fillRect/>
          </a:stretch>
        </p:blipFill>
        <p:spPr>
          <a:xfrm>
            <a:off x="4074453" y="4831821"/>
            <a:ext cx="3809915" cy="18186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251520" y="548680"/>
            <a:ext cx="4717052" cy="3672408"/>
          </a:xfrm>
          <a:prstGeom prst="rect">
            <a:avLst/>
          </a:prstGeom>
        </p:spPr>
      </p:pic>
      <p:pic>
        <p:nvPicPr>
          <p:cNvPr id="5" name="Рисунок 4"/>
          <p:cNvPicPr>
            <a:picLocks noChangeAspect="1"/>
          </p:cNvPicPr>
          <p:nvPr/>
        </p:nvPicPr>
        <p:blipFill>
          <a:blip r:embed="rId3"/>
          <a:stretch>
            <a:fillRect/>
          </a:stretch>
        </p:blipFill>
        <p:spPr>
          <a:xfrm>
            <a:off x="287506" y="4238437"/>
            <a:ext cx="3924454" cy="1351756"/>
          </a:xfrm>
          <a:prstGeom prst="rect">
            <a:avLst/>
          </a:prstGeom>
        </p:spPr>
      </p:pic>
      <p:pic>
        <p:nvPicPr>
          <p:cNvPr id="6" name="Рисунок 5"/>
          <p:cNvPicPr>
            <a:picLocks noChangeAspect="1"/>
          </p:cNvPicPr>
          <p:nvPr/>
        </p:nvPicPr>
        <p:blipFill>
          <a:blip r:embed="rId4"/>
          <a:stretch>
            <a:fillRect/>
          </a:stretch>
        </p:blipFill>
        <p:spPr>
          <a:xfrm>
            <a:off x="4788024" y="1052736"/>
            <a:ext cx="4280442" cy="2736304"/>
          </a:xfrm>
          <a:prstGeom prst="rect">
            <a:avLst/>
          </a:prstGeom>
        </p:spPr>
      </p:pic>
    </p:spTree>
    <p:extLst>
      <p:ext uri="{BB962C8B-B14F-4D97-AF65-F5344CB8AC3E}">
        <p14:creationId xmlns:p14="http://schemas.microsoft.com/office/powerpoint/2010/main" val="2241578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059832" y="404664"/>
            <a:ext cx="2369559" cy="400110"/>
          </a:xfrm>
          <a:prstGeom prst="rect">
            <a:avLst/>
          </a:prstGeom>
        </p:spPr>
        <p:txBody>
          <a:bodyPr wrap="none">
            <a:spAutoFit/>
          </a:bodyPr>
          <a:lstStyle/>
          <a:p>
            <a:r>
              <a:rPr lang="en-US" sz="2000" b="1" dirty="0">
                <a:latin typeface="Times New Roman" panose="02020603050405020304" pitchFamily="18" charset="0"/>
                <a:cs typeface="Times New Roman" panose="02020603050405020304" pitchFamily="18" charset="0"/>
              </a:rPr>
              <a:t>Concatenating Lists</a:t>
            </a:r>
          </a:p>
        </p:txBody>
      </p:sp>
      <p:pic>
        <p:nvPicPr>
          <p:cNvPr id="5" name="Рисунок 4"/>
          <p:cNvPicPr>
            <a:picLocks noChangeAspect="1"/>
          </p:cNvPicPr>
          <p:nvPr/>
        </p:nvPicPr>
        <p:blipFill>
          <a:blip r:embed="rId2"/>
          <a:stretch>
            <a:fillRect/>
          </a:stretch>
        </p:blipFill>
        <p:spPr>
          <a:xfrm>
            <a:off x="467543" y="1340768"/>
            <a:ext cx="2621091" cy="864096"/>
          </a:xfrm>
          <a:prstGeom prst="rect">
            <a:avLst/>
          </a:prstGeom>
        </p:spPr>
      </p:pic>
      <p:cxnSp>
        <p:nvCxnSpPr>
          <p:cNvPr id="7" name="Прямая со стрелкой 6"/>
          <p:cNvCxnSpPr/>
          <p:nvPr/>
        </p:nvCxnSpPr>
        <p:spPr>
          <a:xfrm>
            <a:off x="3275856" y="1700808"/>
            <a:ext cx="15121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Рисунок 7"/>
          <p:cNvPicPr>
            <a:picLocks noChangeAspect="1"/>
          </p:cNvPicPr>
          <p:nvPr/>
        </p:nvPicPr>
        <p:blipFill>
          <a:blip r:embed="rId3"/>
          <a:stretch>
            <a:fillRect/>
          </a:stretch>
        </p:blipFill>
        <p:spPr>
          <a:xfrm>
            <a:off x="5429391" y="1506116"/>
            <a:ext cx="2919017" cy="410716"/>
          </a:xfrm>
          <a:prstGeom prst="rect">
            <a:avLst/>
          </a:prstGeom>
        </p:spPr>
      </p:pic>
      <p:pic>
        <p:nvPicPr>
          <p:cNvPr id="10" name="Рисунок 9"/>
          <p:cNvPicPr>
            <a:picLocks noChangeAspect="1"/>
          </p:cNvPicPr>
          <p:nvPr/>
        </p:nvPicPr>
        <p:blipFill>
          <a:blip r:embed="rId4"/>
          <a:stretch>
            <a:fillRect/>
          </a:stretch>
        </p:blipFill>
        <p:spPr>
          <a:xfrm>
            <a:off x="251519" y="2812866"/>
            <a:ext cx="8214727" cy="1120190"/>
          </a:xfrm>
          <a:prstGeom prst="rect">
            <a:avLst/>
          </a:prstGeom>
        </p:spPr>
      </p:pic>
    </p:spTree>
    <p:extLst>
      <p:ext uri="{BB962C8B-B14F-4D97-AF65-F5344CB8AC3E}">
        <p14:creationId xmlns:p14="http://schemas.microsoft.com/office/powerpoint/2010/main" val="3324126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203848" y="404664"/>
            <a:ext cx="1782860"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Lists Slicing</a:t>
            </a:r>
          </a:p>
        </p:txBody>
      </p:sp>
      <p:pic>
        <p:nvPicPr>
          <p:cNvPr id="5" name="Рисунок 4"/>
          <p:cNvPicPr>
            <a:picLocks noChangeAspect="1"/>
          </p:cNvPicPr>
          <p:nvPr/>
        </p:nvPicPr>
        <p:blipFill>
          <a:blip r:embed="rId2"/>
          <a:stretch>
            <a:fillRect/>
          </a:stretch>
        </p:blipFill>
        <p:spPr>
          <a:xfrm>
            <a:off x="927372" y="1412776"/>
            <a:ext cx="6883965" cy="360040"/>
          </a:xfrm>
          <a:prstGeom prst="rect">
            <a:avLst/>
          </a:prstGeom>
        </p:spPr>
      </p:pic>
      <p:sp>
        <p:nvSpPr>
          <p:cNvPr id="6" name="Прямоугольник 5"/>
          <p:cNvSpPr/>
          <p:nvPr/>
        </p:nvSpPr>
        <p:spPr>
          <a:xfrm>
            <a:off x="683568" y="1988840"/>
            <a:ext cx="7560840" cy="1477328"/>
          </a:xfrm>
          <a:prstGeom prst="rect">
            <a:avLst/>
          </a:prstGeom>
        </p:spPr>
        <p:txBody>
          <a:bodyPr wrap="square">
            <a:spAutoFit/>
          </a:bodyPr>
          <a:lstStyle/>
          <a:p>
            <a:pPr algn="just"/>
            <a:r>
              <a:rPr lang="en-US" b="1" i="1" dirty="0">
                <a:latin typeface="Times New Roman" panose="02020603050405020304" pitchFamily="18" charset="0"/>
                <a:cs typeface="Times New Roman" panose="02020603050405020304" pitchFamily="18" charset="0"/>
              </a:rPr>
              <a:t>A slice </a:t>
            </a:r>
            <a:r>
              <a:rPr lang="en-US" dirty="0">
                <a:latin typeface="Times New Roman" panose="02020603050405020304" pitchFamily="18" charset="0"/>
                <a:cs typeface="Times New Roman" panose="02020603050405020304" pitchFamily="18" charset="0"/>
              </a:rPr>
              <a:t>is a span of items that are taken from a sequence. When you take a slice from a list, you get a span of elements from within the list. To get a slice of a list, you write an expression in the following general format: </a:t>
            </a:r>
          </a:p>
          <a:p>
            <a:pPr algn="just"/>
            <a:endParaRPr lang="en-US" dirty="0">
              <a:latin typeface="Times New Roman" panose="02020603050405020304" pitchFamily="18" charset="0"/>
              <a:cs typeface="Times New Roman" panose="02020603050405020304" pitchFamily="18" charset="0"/>
            </a:endParaRPr>
          </a:p>
          <a:p>
            <a:pPr algn="just"/>
            <a:r>
              <a:rPr lang="en-US" i="1" dirty="0" err="1">
                <a:latin typeface="Times New Roman" panose="02020603050405020304" pitchFamily="18" charset="0"/>
                <a:cs typeface="Times New Roman" panose="02020603050405020304" pitchFamily="18" charset="0"/>
              </a:rPr>
              <a:t>list_name</a:t>
            </a:r>
            <a:r>
              <a:rPr lang="en-US" i="1" dirty="0">
                <a:latin typeface="Times New Roman" panose="02020603050405020304" pitchFamily="18" charset="0"/>
                <a:cs typeface="Times New Roman" panose="02020603050405020304" pitchFamily="18" charset="0"/>
              </a:rPr>
              <a:t>[start : end]</a:t>
            </a:r>
          </a:p>
        </p:txBody>
      </p:sp>
      <p:sp>
        <p:nvSpPr>
          <p:cNvPr id="7" name="Прямоугольник 6"/>
          <p:cNvSpPr/>
          <p:nvPr/>
        </p:nvSpPr>
        <p:spPr>
          <a:xfrm>
            <a:off x="693530" y="3715455"/>
            <a:ext cx="7550877" cy="2031325"/>
          </a:xfrm>
          <a:prstGeom prst="rect">
            <a:avLst/>
          </a:prstGeom>
        </p:spPr>
        <p:txBody>
          <a:bodyPr wrap="square" lIns="91440" tIns="45720" rIns="91440" bIns="45720" anchor="t">
            <a:spAutoFit/>
          </a:bodyPr>
          <a:lstStyle/>
          <a:p>
            <a:pPr algn="just"/>
            <a:r>
              <a:rPr lang="en-US" dirty="0">
                <a:latin typeface="Times New Roman" panose="02020603050405020304" pitchFamily="18" charset="0"/>
                <a:cs typeface="Times New Roman" panose="02020603050405020304" pitchFamily="18" charset="0"/>
              </a:rPr>
              <a:t>In the general format, start is the index of the first element in the slice, and end is the index marking the end of the slice. The expression returns a list containing a copy of the elements from start up to (but not including) end. For example, suppose we create the following list: </a:t>
            </a:r>
          </a:p>
          <a:p>
            <a:pPr algn="just"/>
            <a:endParaRPr lang="en-US" dirty="0">
              <a:latin typeface="Times New Roman" panose="02020603050405020304" pitchFamily="18" charset="0"/>
              <a:cs typeface="Times New Roman" panose="02020603050405020304" pitchFamily="18" charset="0"/>
            </a:endParaRPr>
          </a:p>
          <a:p>
            <a:pPr algn="just"/>
            <a:r>
              <a:rPr lang="en-US" i="1" dirty="0">
                <a:latin typeface="Times New Roman"/>
                <a:cs typeface="Times New Roman"/>
              </a:rPr>
              <a:t>days = ['Sunday', 'Monday', 'Tuesday', 'Wednesday', 'Thursday', 'Friday', 'Saturday'</a:t>
            </a:r>
            <a:endParaRPr lang="en-US" i="1" dirty="0">
              <a:latin typeface="Times New Roman" panose="02020603050405020304" pitchFamily="18" charset="0"/>
              <a:cs typeface="Times New Roman" panose="02020603050405020304" pitchFamily="18" charset="0"/>
            </a:endParaRPr>
          </a:p>
        </p:txBody>
      </p:sp>
      <p:pic>
        <p:nvPicPr>
          <p:cNvPr id="9" name="Рисунок 8"/>
          <p:cNvPicPr>
            <a:picLocks noChangeAspect="1"/>
          </p:cNvPicPr>
          <p:nvPr/>
        </p:nvPicPr>
        <p:blipFill>
          <a:blip r:embed="rId3"/>
          <a:stretch>
            <a:fillRect/>
          </a:stretch>
        </p:blipFill>
        <p:spPr>
          <a:xfrm>
            <a:off x="894798" y="5746780"/>
            <a:ext cx="2511902" cy="385261"/>
          </a:xfrm>
          <a:prstGeom prst="rect">
            <a:avLst/>
          </a:prstGeom>
        </p:spPr>
      </p:pic>
      <p:pic>
        <p:nvPicPr>
          <p:cNvPr id="10" name="Рисунок 9"/>
          <p:cNvPicPr>
            <a:picLocks noChangeAspect="1"/>
          </p:cNvPicPr>
          <p:nvPr/>
        </p:nvPicPr>
        <p:blipFill>
          <a:blip r:embed="rId4"/>
          <a:stretch>
            <a:fillRect/>
          </a:stretch>
        </p:blipFill>
        <p:spPr>
          <a:xfrm>
            <a:off x="4525391" y="5756301"/>
            <a:ext cx="3419225" cy="375739"/>
          </a:xfrm>
          <a:prstGeom prst="rect">
            <a:avLst/>
          </a:prstGeom>
        </p:spPr>
      </p:pic>
      <p:cxnSp>
        <p:nvCxnSpPr>
          <p:cNvPr id="12" name="Прямая со стрелкой 11"/>
          <p:cNvCxnSpPr>
            <a:stCxn id="9" idx="3"/>
          </p:cNvCxnSpPr>
          <p:nvPr/>
        </p:nvCxnSpPr>
        <p:spPr>
          <a:xfrm>
            <a:off x="3406700" y="5939411"/>
            <a:ext cx="949276" cy="56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1057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99592" y="692696"/>
            <a:ext cx="7632848" cy="646331"/>
          </a:xfrm>
          <a:prstGeom prst="rect">
            <a:avLst/>
          </a:prstGeom>
        </p:spPr>
        <p:txBody>
          <a:bodyPr wrap="square">
            <a:spAutoFit/>
          </a:bodyPr>
          <a:lstStyle/>
          <a:p>
            <a:r>
              <a:rPr lang="en-US" dirty="0"/>
              <a:t>If you leave out the start index in a slicing expression, Python uses 0 as the starting index. The following interactive mode session shows an example:</a:t>
            </a:r>
          </a:p>
        </p:txBody>
      </p:sp>
      <p:pic>
        <p:nvPicPr>
          <p:cNvPr id="5" name="Рисунок 4"/>
          <p:cNvPicPr>
            <a:picLocks noChangeAspect="1"/>
          </p:cNvPicPr>
          <p:nvPr/>
        </p:nvPicPr>
        <p:blipFill>
          <a:blip r:embed="rId2"/>
          <a:stretch>
            <a:fillRect/>
          </a:stretch>
        </p:blipFill>
        <p:spPr>
          <a:xfrm>
            <a:off x="899592" y="1369369"/>
            <a:ext cx="3240360" cy="1154869"/>
          </a:xfrm>
          <a:prstGeom prst="rect">
            <a:avLst/>
          </a:prstGeom>
        </p:spPr>
      </p:pic>
      <p:sp>
        <p:nvSpPr>
          <p:cNvPr id="6" name="Прямоугольник 5"/>
          <p:cNvSpPr/>
          <p:nvPr/>
        </p:nvSpPr>
        <p:spPr>
          <a:xfrm>
            <a:off x="912585" y="2554580"/>
            <a:ext cx="7475839" cy="923330"/>
          </a:xfrm>
          <a:prstGeom prst="rect">
            <a:avLst/>
          </a:prstGeom>
        </p:spPr>
        <p:txBody>
          <a:bodyPr wrap="square">
            <a:spAutoFit/>
          </a:bodyPr>
          <a:lstStyle/>
          <a:p>
            <a:r>
              <a:rPr lang="en-US" dirty="0"/>
              <a:t>If you leave out the end index in a slicing expression, Python uses the length of the list as the end index. The following interactive mode session shows an example:</a:t>
            </a:r>
          </a:p>
        </p:txBody>
      </p:sp>
      <p:pic>
        <p:nvPicPr>
          <p:cNvPr id="7" name="Рисунок 6"/>
          <p:cNvPicPr>
            <a:picLocks noChangeAspect="1"/>
          </p:cNvPicPr>
          <p:nvPr/>
        </p:nvPicPr>
        <p:blipFill>
          <a:blip r:embed="rId3"/>
          <a:stretch>
            <a:fillRect/>
          </a:stretch>
        </p:blipFill>
        <p:spPr>
          <a:xfrm>
            <a:off x="899592" y="3508365"/>
            <a:ext cx="3227367" cy="1147990"/>
          </a:xfrm>
          <a:prstGeom prst="rect">
            <a:avLst/>
          </a:prstGeom>
        </p:spPr>
      </p:pic>
      <p:sp>
        <p:nvSpPr>
          <p:cNvPr id="9" name="Прямоугольник 8"/>
          <p:cNvSpPr/>
          <p:nvPr/>
        </p:nvSpPr>
        <p:spPr>
          <a:xfrm>
            <a:off x="865693" y="4643347"/>
            <a:ext cx="7510536" cy="923330"/>
          </a:xfrm>
          <a:prstGeom prst="rect">
            <a:avLst/>
          </a:prstGeom>
        </p:spPr>
        <p:txBody>
          <a:bodyPr wrap="square">
            <a:spAutoFit/>
          </a:bodyPr>
          <a:lstStyle/>
          <a:p>
            <a:r>
              <a:rPr lang="en-US" dirty="0"/>
              <a:t>If you leave out both the start and end index in a slicing expression, you get a copy of the entire list. The following interactive mode session shows an example:</a:t>
            </a:r>
          </a:p>
        </p:txBody>
      </p:sp>
      <p:pic>
        <p:nvPicPr>
          <p:cNvPr id="11" name="Рисунок 10"/>
          <p:cNvPicPr>
            <a:picLocks noChangeAspect="1"/>
          </p:cNvPicPr>
          <p:nvPr/>
        </p:nvPicPr>
        <p:blipFill>
          <a:blip r:embed="rId4"/>
          <a:stretch>
            <a:fillRect/>
          </a:stretch>
        </p:blipFill>
        <p:spPr>
          <a:xfrm>
            <a:off x="858307" y="5583250"/>
            <a:ext cx="3127202" cy="1118409"/>
          </a:xfrm>
          <a:prstGeom prst="rect">
            <a:avLst/>
          </a:prstGeom>
        </p:spPr>
      </p:pic>
    </p:spTree>
    <p:extLst>
      <p:ext uri="{BB962C8B-B14F-4D97-AF65-F5344CB8AC3E}">
        <p14:creationId xmlns:p14="http://schemas.microsoft.com/office/powerpoint/2010/main" val="187011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79512" y="1772816"/>
            <a:ext cx="8208912" cy="2683683"/>
          </a:xfrm>
          <a:prstGeom prst="rect">
            <a:avLst/>
          </a:prstGeom>
        </p:spPr>
      </p:pic>
    </p:spTree>
    <p:extLst>
      <p:ext uri="{BB962C8B-B14F-4D97-AF65-F5344CB8AC3E}">
        <p14:creationId xmlns:p14="http://schemas.microsoft.com/office/powerpoint/2010/main" val="3220301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339752" y="404664"/>
            <a:ext cx="4824536" cy="400110"/>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Finding Items in List with IN Operator</a:t>
            </a:r>
          </a:p>
        </p:txBody>
      </p:sp>
      <p:pic>
        <p:nvPicPr>
          <p:cNvPr id="5" name="Рисунок 4"/>
          <p:cNvPicPr>
            <a:picLocks noChangeAspect="1"/>
          </p:cNvPicPr>
          <p:nvPr/>
        </p:nvPicPr>
        <p:blipFill>
          <a:blip r:embed="rId2"/>
          <a:stretch>
            <a:fillRect/>
          </a:stretch>
        </p:blipFill>
        <p:spPr>
          <a:xfrm>
            <a:off x="827584" y="1268760"/>
            <a:ext cx="6696744" cy="432048"/>
          </a:xfrm>
          <a:prstGeom prst="rect">
            <a:avLst/>
          </a:prstGeom>
        </p:spPr>
      </p:pic>
      <p:sp>
        <p:nvSpPr>
          <p:cNvPr id="6" name="Прямоугольник 5"/>
          <p:cNvSpPr/>
          <p:nvPr/>
        </p:nvSpPr>
        <p:spPr>
          <a:xfrm>
            <a:off x="1254431" y="1761582"/>
            <a:ext cx="1162241" cy="369332"/>
          </a:xfrm>
          <a:prstGeom prst="rect">
            <a:avLst/>
          </a:prstGeom>
        </p:spPr>
        <p:txBody>
          <a:bodyPr wrap="none">
            <a:spAutoFit/>
          </a:bodyPr>
          <a:lstStyle/>
          <a:p>
            <a:r>
              <a:rPr lang="en-US" i="1" dirty="0"/>
              <a:t>item in list</a:t>
            </a:r>
          </a:p>
        </p:txBody>
      </p:sp>
      <p:pic>
        <p:nvPicPr>
          <p:cNvPr id="7" name="Рисунок 6"/>
          <p:cNvPicPr>
            <a:picLocks noChangeAspect="1"/>
          </p:cNvPicPr>
          <p:nvPr/>
        </p:nvPicPr>
        <p:blipFill>
          <a:blip r:embed="rId3"/>
          <a:stretch>
            <a:fillRect/>
          </a:stretch>
        </p:blipFill>
        <p:spPr>
          <a:xfrm>
            <a:off x="149957" y="2130914"/>
            <a:ext cx="4602063" cy="3358852"/>
          </a:xfrm>
          <a:prstGeom prst="rect">
            <a:avLst/>
          </a:prstGeom>
        </p:spPr>
      </p:pic>
      <p:pic>
        <p:nvPicPr>
          <p:cNvPr id="8" name="Рисунок 7"/>
          <p:cNvPicPr>
            <a:picLocks noChangeAspect="1"/>
          </p:cNvPicPr>
          <p:nvPr/>
        </p:nvPicPr>
        <p:blipFill>
          <a:blip r:embed="rId4"/>
          <a:stretch>
            <a:fillRect/>
          </a:stretch>
        </p:blipFill>
        <p:spPr>
          <a:xfrm>
            <a:off x="5508104" y="2924944"/>
            <a:ext cx="3000375" cy="1162050"/>
          </a:xfrm>
          <a:prstGeom prst="rect">
            <a:avLst/>
          </a:prstGeom>
        </p:spPr>
      </p:pic>
      <p:pic>
        <p:nvPicPr>
          <p:cNvPr id="9" name="Рисунок 8"/>
          <p:cNvPicPr>
            <a:picLocks noChangeAspect="1"/>
          </p:cNvPicPr>
          <p:nvPr/>
        </p:nvPicPr>
        <p:blipFill>
          <a:blip r:embed="rId5"/>
          <a:stretch>
            <a:fillRect/>
          </a:stretch>
        </p:blipFill>
        <p:spPr>
          <a:xfrm>
            <a:off x="1835551" y="5526394"/>
            <a:ext cx="5193559" cy="1187508"/>
          </a:xfrm>
          <a:prstGeom prst="rect">
            <a:avLst/>
          </a:prstGeom>
        </p:spPr>
      </p:pic>
    </p:spTree>
    <p:extLst>
      <p:ext uri="{BB962C8B-B14F-4D97-AF65-F5344CB8AC3E}">
        <p14:creationId xmlns:p14="http://schemas.microsoft.com/office/powerpoint/2010/main" val="3860228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600" b="1" dirty="0"/>
              <a:t>List Methods and useful built-in functions</a:t>
            </a:r>
          </a:p>
        </p:txBody>
      </p:sp>
      <p:pic>
        <p:nvPicPr>
          <p:cNvPr id="4" name="Рисунок 3"/>
          <p:cNvPicPr>
            <a:picLocks noChangeAspect="1"/>
          </p:cNvPicPr>
          <p:nvPr/>
        </p:nvPicPr>
        <p:blipFill>
          <a:blip r:embed="rId2"/>
          <a:stretch>
            <a:fillRect/>
          </a:stretch>
        </p:blipFill>
        <p:spPr>
          <a:xfrm>
            <a:off x="683568" y="1417638"/>
            <a:ext cx="7169380" cy="787226"/>
          </a:xfrm>
          <a:prstGeom prst="rect">
            <a:avLst/>
          </a:prstGeom>
        </p:spPr>
      </p:pic>
      <p:pic>
        <p:nvPicPr>
          <p:cNvPr id="5" name="Рисунок 4"/>
          <p:cNvPicPr>
            <a:picLocks noChangeAspect="1"/>
          </p:cNvPicPr>
          <p:nvPr/>
        </p:nvPicPr>
        <p:blipFill rotWithShape="1">
          <a:blip r:embed="rId3"/>
          <a:srcRect t="6666"/>
          <a:stretch/>
        </p:blipFill>
        <p:spPr>
          <a:xfrm>
            <a:off x="683568" y="2348880"/>
            <a:ext cx="7221199" cy="4032448"/>
          </a:xfrm>
          <a:prstGeom prst="rect">
            <a:avLst/>
          </a:prstGeom>
        </p:spPr>
      </p:pic>
    </p:spTree>
    <p:extLst>
      <p:ext uri="{BB962C8B-B14F-4D97-AF65-F5344CB8AC3E}">
        <p14:creationId xmlns:p14="http://schemas.microsoft.com/office/powerpoint/2010/main" val="1314887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347864" y="404664"/>
            <a:ext cx="1752403" cy="369332"/>
          </a:xfrm>
          <a:prstGeom prst="rect">
            <a:avLst/>
          </a:prstGeom>
        </p:spPr>
        <p:txBody>
          <a:bodyPr wrap="none">
            <a:spAutoFit/>
          </a:bodyPr>
          <a:lstStyle/>
          <a:p>
            <a:r>
              <a:rPr lang="en-US" b="1" dirty="0"/>
              <a:t>Append Method</a:t>
            </a:r>
          </a:p>
        </p:txBody>
      </p:sp>
      <p:pic>
        <p:nvPicPr>
          <p:cNvPr id="5" name="Рисунок 4"/>
          <p:cNvPicPr>
            <a:picLocks noChangeAspect="1"/>
          </p:cNvPicPr>
          <p:nvPr/>
        </p:nvPicPr>
        <p:blipFill>
          <a:blip r:embed="rId2"/>
          <a:stretch>
            <a:fillRect/>
          </a:stretch>
        </p:blipFill>
        <p:spPr>
          <a:xfrm>
            <a:off x="179512" y="1052736"/>
            <a:ext cx="4390642" cy="4176464"/>
          </a:xfrm>
          <a:prstGeom prst="rect">
            <a:avLst/>
          </a:prstGeom>
        </p:spPr>
      </p:pic>
      <p:pic>
        <p:nvPicPr>
          <p:cNvPr id="6" name="Рисунок 5"/>
          <p:cNvPicPr>
            <a:picLocks noChangeAspect="1"/>
          </p:cNvPicPr>
          <p:nvPr/>
        </p:nvPicPr>
        <p:blipFill>
          <a:blip r:embed="rId3"/>
          <a:stretch>
            <a:fillRect/>
          </a:stretch>
        </p:blipFill>
        <p:spPr>
          <a:xfrm>
            <a:off x="179512" y="5157192"/>
            <a:ext cx="3600400" cy="1476811"/>
          </a:xfrm>
          <a:prstGeom prst="rect">
            <a:avLst/>
          </a:prstGeom>
        </p:spPr>
      </p:pic>
      <p:pic>
        <p:nvPicPr>
          <p:cNvPr id="7" name="Рисунок 6"/>
          <p:cNvPicPr>
            <a:picLocks noChangeAspect="1"/>
          </p:cNvPicPr>
          <p:nvPr/>
        </p:nvPicPr>
        <p:blipFill>
          <a:blip r:embed="rId4"/>
          <a:stretch>
            <a:fillRect/>
          </a:stretch>
        </p:blipFill>
        <p:spPr>
          <a:xfrm>
            <a:off x="4570154" y="1526480"/>
            <a:ext cx="3818270" cy="4057660"/>
          </a:xfrm>
          <a:prstGeom prst="rect">
            <a:avLst/>
          </a:prstGeom>
        </p:spPr>
      </p:pic>
    </p:spTree>
    <p:extLst>
      <p:ext uri="{BB962C8B-B14F-4D97-AF65-F5344CB8AC3E}">
        <p14:creationId xmlns:p14="http://schemas.microsoft.com/office/powerpoint/2010/main" val="2055482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635896" y="476672"/>
            <a:ext cx="1729961" cy="400110"/>
          </a:xfrm>
          <a:prstGeom prst="rect">
            <a:avLst/>
          </a:prstGeom>
        </p:spPr>
        <p:txBody>
          <a:bodyPr wrap="none">
            <a:spAutoFit/>
          </a:bodyPr>
          <a:lstStyle/>
          <a:p>
            <a:r>
              <a:rPr lang="en-US" sz="2000" b="1" dirty="0">
                <a:latin typeface="Times New Roman" panose="02020603050405020304" pitchFamily="18" charset="0"/>
                <a:cs typeface="Times New Roman" panose="02020603050405020304" pitchFamily="18" charset="0"/>
              </a:rPr>
              <a:t>Index Method</a:t>
            </a:r>
          </a:p>
        </p:txBody>
      </p:sp>
      <p:pic>
        <p:nvPicPr>
          <p:cNvPr id="5" name="Рисунок 4"/>
          <p:cNvPicPr>
            <a:picLocks noChangeAspect="1"/>
          </p:cNvPicPr>
          <p:nvPr/>
        </p:nvPicPr>
        <p:blipFill rotWithShape="1">
          <a:blip r:embed="rId2"/>
          <a:srcRect b="19040"/>
          <a:stretch/>
        </p:blipFill>
        <p:spPr>
          <a:xfrm>
            <a:off x="251520" y="911516"/>
            <a:ext cx="3952875" cy="5328592"/>
          </a:xfrm>
          <a:prstGeom prst="rect">
            <a:avLst/>
          </a:prstGeom>
        </p:spPr>
      </p:pic>
      <p:pic>
        <p:nvPicPr>
          <p:cNvPr id="6" name="Рисунок 5"/>
          <p:cNvPicPr>
            <a:picLocks noChangeAspect="1"/>
          </p:cNvPicPr>
          <p:nvPr/>
        </p:nvPicPr>
        <p:blipFill rotWithShape="1">
          <a:blip r:embed="rId2"/>
          <a:srcRect t="82054"/>
          <a:stretch/>
        </p:blipFill>
        <p:spPr>
          <a:xfrm>
            <a:off x="5004048" y="2636912"/>
            <a:ext cx="3952875" cy="1181175"/>
          </a:xfrm>
          <a:prstGeom prst="rect">
            <a:avLst/>
          </a:prstGeom>
        </p:spPr>
      </p:pic>
    </p:spTree>
    <p:extLst>
      <p:ext uri="{BB962C8B-B14F-4D97-AF65-F5344CB8AC3E}">
        <p14:creationId xmlns:p14="http://schemas.microsoft.com/office/powerpoint/2010/main" val="318781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Insert Method</a:t>
            </a:r>
          </a:p>
        </p:txBody>
      </p:sp>
      <p:pic>
        <p:nvPicPr>
          <p:cNvPr id="4" name="Рисунок 3"/>
          <p:cNvPicPr>
            <a:picLocks noChangeAspect="1"/>
          </p:cNvPicPr>
          <p:nvPr/>
        </p:nvPicPr>
        <p:blipFill rotWithShape="1">
          <a:blip r:embed="rId2"/>
          <a:srcRect b="26620"/>
          <a:stretch/>
        </p:blipFill>
        <p:spPr>
          <a:xfrm>
            <a:off x="251520" y="1700808"/>
            <a:ext cx="4264098" cy="3960439"/>
          </a:xfrm>
          <a:prstGeom prst="rect">
            <a:avLst/>
          </a:prstGeom>
        </p:spPr>
      </p:pic>
      <p:pic>
        <p:nvPicPr>
          <p:cNvPr id="5" name="Рисунок 4"/>
          <p:cNvPicPr>
            <a:picLocks noChangeAspect="1"/>
          </p:cNvPicPr>
          <p:nvPr/>
        </p:nvPicPr>
        <p:blipFill rotWithShape="1">
          <a:blip r:embed="rId2"/>
          <a:srcRect t="76794"/>
          <a:stretch/>
        </p:blipFill>
        <p:spPr>
          <a:xfrm>
            <a:off x="5076055" y="2759373"/>
            <a:ext cx="3995819" cy="1173683"/>
          </a:xfrm>
          <a:prstGeom prst="rect">
            <a:avLst/>
          </a:prstGeom>
        </p:spPr>
      </p:pic>
    </p:spTree>
    <p:extLst>
      <p:ext uri="{BB962C8B-B14F-4D97-AF65-F5344CB8AC3E}">
        <p14:creationId xmlns:p14="http://schemas.microsoft.com/office/powerpoint/2010/main" val="3929015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3563888" y="404664"/>
            <a:ext cx="1851789"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Sort Method</a:t>
            </a:r>
          </a:p>
        </p:txBody>
      </p:sp>
      <p:pic>
        <p:nvPicPr>
          <p:cNvPr id="6" name="Рисунок 5"/>
          <p:cNvPicPr>
            <a:picLocks noChangeAspect="1"/>
          </p:cNvPicPr>
          <p:nvPr/>
        </p:nvPicPr>
        <p:blipFill rotWithShape="1">
          <a:blip r:embed="rId2"/>
          <a:srcRect t="32297"/>
          <a:stretch/>
        </p:blipFill>
        <p:spPr>
          <a:xfrm>
            <a:off x="520501" y="1510264"/>
            <a:ext cx="6984776" cy="1056645"/>
          </a:xfrm>
          <a:prstGeom prst="rect">
            <a:avLst/>
          </a:prstGeom>
        </p:spPr>
      </p:pic>
      <p:sp>
        <p:nvSpPr>
          <p:cNvPr id="7" name="Прямоугольник 6"/>
          <p:cNvSpPr/>
          <p:nvPr/>
        </p:nvSpPr>
        <p:spPr>
          <a:xfrm>
            <a:off x="3668546" y="2566909"/>
            <a:ext cx="1986441" cy="400110"/>
          </a:xfrm>
          <a:prstGeom prst="rect">
            <a:avLst/>
          </a:prstGeom>
        </p:spPr>
        <p:txBody>
          <a:bodyPr wrap="none">
            <a:spAutoFit/>
          </a:bodyPr>
          <a:lstStyle/>
          <a:p>
            <a:r>
              <a:rPr lang="en-US" sz="2000" b="1" dirty="0">
                <a:latin typeface="Times New Roman" panose="02020603050405020304" pitchFamily="18" charset="0"/>
                <a:cs typeface="Times New Roman" panose="02020603050405020304" pitchFamily="18" charset="0"/>
              </a:rPr>
              <a:t>Remove Method</a:t>
            </a:r>
          </a:p>
        </p:txBody>
      </p:sp>
      <p:sp>
        <p:nvSpPr>
          <p:cNvPr id="8" name="Прямоугольник 7"/>
          <p:cNvSpPr/>
          <p:nvPr/>
        </p:nvSpPr>
        <p:spPr>
          <a:xfrm>
            <a:off x="755575" y="915838"/>
            <a:ext cx="7632848" cy="646331"/>
          </a:xfrm>
          <a:prstGeom prst="rect">
            <a:avLst/>
          </a:prstGeom>
        </p:spPr>
        <p:txBody>
          <a:bodyPr wrap="square">
            <a:spAutoFit/>
          </a:bodyPr>
          <a:lstStyle/>
          <a:p>
            <a:r>
              <a:rPr lang="en-US" dirty="0"/>
              <a:t>The sort method rearranges the elements of a list so they appear in ascending order (from the lowest value to the highest value). Here is an example:</a:t>
            </a:r>
          </a:p>
        </p:txBody>
      </p:sp>
      <p:sp>
        <p:nvSpPr>
          <p:cNvPr id="10" name="Прямоугольник 9"/>
          <p:cNvSpPr/>
          <p:nvPr/>
        </p:nvSpPr>
        <p:spPr>
          <a:xfrm>
            <a:off x="83626" y="3075384"/>
            <a:ext cx="3960440" cy="2862322"/>
          </a:xfrm>
          <a:prstGeom prst="rect">
            <a:avLst/>
          </a:prstGeom>
        </p:spPr>
        <p:txBody>
          <a:bodyPr wrap="square">
            <a:spAutoFit/>
          </a:bodyPr>
          <a:lstStyle/>
          <a:p>
            <a:pPr algn="just"/>
            <a:r>
              <a:rPr lang="en-US" dirty="0"/>
              <a:t>Remove method removes an item from the list. You pass an item to the method as an argument, and the first element containing that item is removed. This reduces the size of the list by one element. All of the elements after the removed element are shifted one position toward the beginning of the list. A </a:t>
            </a:r>
            <a:r>
              <a:rPr lang="en-US" dirty="0" err="1"/>
              <a:t>ValueError</a:t>
            </a:r>
            <a:r>
              <a:rPr lang="en-US" dirty="0"/>
              <a:t> exception is raised if the item is not found in the list. </a:t>
            </a:r>
          </a:p>
        </p:txBody>
      </p:sp>
      <p:pic>
        <p:nvPicPr>
          <p:cNvPr id="11" name="Рисунок 10"/>
          <p:cNvPicPr>
            <a:picLocks noChangeAspect="1"/>
          </p:cNvPicPr>
          <p:nvPr/>
        </p:nvPicPr>
        <p:blipFill>
          <a:blip r:embed="rId3"/>
          <a:stretch>
            <a:fillRect/>
          </a:stretch>
        </p:blipFill>
        <p:spPr>
          <a:xfrm>
            <a:off x="4012889" y="3070592"/>
            <a:ext cx="2736304" cy="2940958"/>
          </a:xfrm>
          <a:prstGeom prst="rect">
            <a:avLst/>
          </a:prstGeom>
        </p:spPr>
      </p:pic>
      <p:pic>
        <p:nvPicPr>
          <p:cNvPr id="12" name="Рисунок 11"/>
          <p:cNvPicPr>
            <a:picLocks noChangeAspect="1"/>
          </p:cNvPicPr>
          <p:nvPr/>
        </p:nvPicPr>
        <p:blipFill>
          <a:blip r:embed="rId4"/>
          <a:stretch>
            <a:fillRect/>
          </a:stretch>
        </p:blipFill>
        <p:spPr>
          <a:xfrm>
            <a:off x="3998571" y="6011550"/>
            <a:ext cx="3705225" cy="676275"/>
          </a:xfrm>
          <a:prstGeom prst="rect">
            <a:avLst/>
          </a:prstGeom>
        </p:spPr>
      </p:pic>
    </p:spTree>
    <p:extLst>
      <p:ext uri="{BB962C8B-B14F-4D97-AF65-F5344CB8AC3E}">
        <p14:creationId xmlns:p14="http://schemas.microsoft.com/office/powerpoint/2010/main" val="1746328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203848" y="476672"/>
            <a:ext cx="2221185" cy="461665"/>
          </a:xfrm>
          <a:prstGeom prst="rect">
            <a:avLst/>
          </a:prstGeom>
        </p:spPr>
        <p:txBody>
          <a:bodyPr wrap="none">
            <a:spAutoFit/>
          </a:bodyPr>
          <a:lstStyle/>
          <a:p>
            <a:r>
              <a:rPr lang="en-US" sz="2400" b="1" dirty="0"/>
              <a:t>reverse Method</a:t>
            </a:r>
          </a:p>
        </p:txBody>
      </p:sp>
      <p:sp>
        <p:nvSpPr>
          <p:cNvPr id="5" name="Прямоугольник 4"/>
          <p:cNvSpPr/>
          <p:nvPr/>
        </p:nvSpPr>
        <p:spPr>
          <a:xfrm>
            <a:off x="683568" y="1484785"/>
            <a:ext cx="7416824" cy="369332"/>
          </a:xfrm>
          <a:prstGeom prst="rect">
            <a:avLst/>
          </a:prstGeom>
        </p:spPr>
        <p:txBody>
          <a:bodyPr wrap="square">
            <a:spAutoFit/>
          </a:bodyPr>
          <a:lstStyle/>
          <a:p>
            <a:r>
              <a:rPr lang="en-US" dirty="0"/>
              <a:t>Reverse method simply reverses the order of the items in the list.</a:t>
            </a:r>
          </a:p>
        </p:txBody>
      </p:sp>
      <p:pic>
        <p:nvPicPr>
          <p:cNvPr id="6" name="Рисунок 5"/>
          <p:cNvPicPr>
            <a:picLocks noChangeAspect="1"/>
          </p:cNvPicPr>
          <p:nvPr/>
        </p:nvPicPr>
        <p:blipFill>
          <a:blip r:embed="rId2"/>
          <a:stretch>
            <a:fillRect/>
          </a:stretch>
        </p:blipFill>
        <p:spPr>
          <a:xfrm>
            <a:off x="1043608" y="2636912"/>
            <a:ext cx="3929798" cy="1944216"/>
          </a:xfrm>
          <a:prstGeom prst="rect">
            <a:avLst/>
          </a:prstGeom>
        </p:spPr>
      </p:pic>
    </p:spTree>
    <p:extLst>
      <p:ext uri="{BB962C8B-B14F-4D97-AF65-F5344CB8AC3E}">
        <p14:creationId xmlns:p14="http://schemas.microsoft.com/office/powerpoint/2010/main" val="1740641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115616" y="404664"/>
            <a:ext cx="6768752" cy="3140401"/>
          </a:xfrm>
          <a:prstGeom prst="rect">
            <a:avLst/>
          </a:prstGeom>
        </p:spPr>
      </p:pic>
      <p:pic>
        <p:nvPicPr>
          <p:cNvPr id="5" name="Рисунок 4"/>
          <p:cNvPicPr>
            <a:picLocks noChangeAspect="1"/>
          </p:cNvPicPr>
          <p:nvPr/>
        </p:nvPicPr>
        <p:blipFill>
          <a:blip r:embed="rId3"/>
          <a:stretch>
            <a:fillRect/>
          </a:stretch>
        </p:blipFill>
        <p:spPr>
          <a:xfrm>
            <a:off x="858455" y="3861048"/>
            <a:ext cx="6998184" cy="1872208"/>
          </a:xfrm>
          <a:prstGeom prst="rect">
            <a:avLst/>
          </a:prstGeom>
        </p:spPr>
      </p:pic>
      <p:sp>
        <p:nvSpPr>
          <p:cNvPr id="6" name="Прямоугольник 5"/>
          <p:cNvSpPr/>
          <p:nvPr/>
        </p:nvSpPr>
        <p:spPr>
          <a:xfrm>
            <a:off x="683568" y="5733256"/>
            <a:ext cx="4572000" cy="923330"/>
          </a:xfrm>
          <a:prstGeom prst="rect">
            <a:avLst/>
          </a:prstGeom>
        </p:spPr>
        <p:txBody>
          <a:bodyPr>
            <a:spAutoFit/>
          </a:bodyPr>
          <a:lstStyle/>
          <a:p>
            <a:r>
              <a:rPr lang="en-US" dirty="0"/>
              <a:t>This code will display the following: </a:t>
            </a:r>
          </a:p>
          <a:p>
            <a:endParaRPr lang="en-US" dirty="0"/>
          </a:p>
          <a:p>
            <a:r>
              <a:rPr lang="en-US" i="1" dirty="0"/>
              <a:t>The lowest value is 2</a:t>
            </a:r>
          </a:p>
        </p:txBody>
      </p:sp>
    </p:spTree>
    <p:extLst>
      <p:ext uri="{BB962C8B-B14F-4D97-AF65-F5344CB8AC3E}">
        <p14:creationId xmlns:p14="http://schemas.microsoft.com/office/powerpoint/2010/main" val="3605717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131840" y="476672"/>
            <a:ext cx="2761653" cy="369332"/>
          </a:xfrm>
          <a:prstGeom prst="rect">
            <a:avLst/>
          </a:prstGeom>
        </p:spPr>
        <p:txBody>
          <a:bodyPr wrap="none">
            <a:spAutoFit/>
          </a:bodyPr>
          <a:lstStyle/>
          <a:p>
            <a:r>
              <a:rPr lang="en-US" b="1" dirty="0"/>
              <a:t>Totaling the Values in a List</a:t>
            </a:r>
          </a:p>
        </p:txBody>
      </p:sp>
      <p:pic>
        <p:nvPicPr>
          <p:cNvPr id="5" name="Рисунок 4"/>
          <p:cNvPicPr>
            <a:picLocks noChangeAspect="1"/>
          </p:cNvPicPr>
          <p:nvPr/>
        </p:nvPicPr>
        <p:blipFill>
          <a:blip r:embed="rId2"/>
          <a:stretch>
            <a:fillRect/>
          </a:stretch>
        </p:blipFill>
        <p:spPr>
          <a:xfrm>
            <a:off x="1835696" y="1484784"/>
            <a:ext cx="4752528" cy="4790246"/>
          </a:xfrm>
          <a:prstGeom prst="rect">
            <a:avLst/>
          </a:prstGeom>
        </p:spPr>
      </p:pic>
    </p:spTree>
    <p:extLst>
      <p:ext uri="{BB962C8B-B14F-4D97-AF65-F5344CB8AC3E}">
        <p14:creationId xmlns:p14="http://schemas.microsoft.com/office/powerpoint/2010/main" val="2887234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059832" y="404664"/>
            <a:ext cx="2952155" cy="369332"/>
          </a:xfrm>
          <a:prstGeom prst="rect">
            <a:avLst/>
          </a:prstGeom>
        </p:spPr>
        <p:txBody>
          <a:bodyPr wrap="none">
            <a:spAutoFit/>
          </a:bodyPr>
          <a:lstStyle/>
          <a:p>
            <a:r>
              <a:rPr lang="en-US" b="1" dirty="0"/>
              <a:t>Averaging the Values in a List</a:t>
            </a:r>
          </a:p>
        </p:txBody>
      </p:sp>
      <p:pic>
        <p:nvPicPr>
          <p:cNvPr id="5" name="Рисунок 4"/>
          <p:cNvPicPr>
            <a:picLocks noChangeAspect="1"/>
          </p:cNvPicPr>
          <p:nvPr/>
        </p:nvPicPr>
        <p:blipFill>
          <a:blip r:embed="rId2"/>
          <a:stretch>
            <a:fillRect/>
          </a:stretch>
        </p:blipFill>
        <p:spPr>
          <a:xfrm>
            <a:off x="2027808" y="980728"/>
            <a:ext cx="5016202" cy="5520408"/>
          </a:xfrm>
          <a:prstGeom prst="rect">
            <a:avLst/>
          </a:prstGeom>
        </p:spPr>
      </p:pic>
    </p:spTree>
    <p:extLst>
      <p:ext uri="{BB962C8B-B14F-4D97-AF65-F5344CB8AC3E}">
        <p14:creationId xmlns:p14="http://schemas.microsoft.com/office/powerpoint/2010/main" val="1915242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55776" y="188640"/>
            <a:ext cx="4293483" cy="369332"/>
          </a:xfrm>
          <a:prstGeom prst="rect">
            <a:avLst/>
          </a:prstGeom>
        </p:spPr>
        <p:txBody>
          <a:bodyPr wrap="none">
            <a:spAutoFit/>
          </a:bodyPr>
          <a:lstStyle/>
          <a:p>
            <a:r>
              <a:rPr lang="en-US" b="1" dirty="0"/>
              <a:t>Passing a List as an Argument to a Function</a:t>
            </a:r>
          </a:p>
        </p:txBody>
      </p:sp>
      <p:pic>
        <p:nvPicPr>
          <p:cNvPr id="5" name="Рисунок 4"/>
          <p:cNvPicPr>
            <a:picLocks noChangeAspect="1"/>
          </p:cNvPicPr>
          <p:nvPr/>
        </p:nvPicPr>
        <p:blipFill>
          <a:blip r:embed="rId2"/>
          <a:stretch>
            <a:fillRect/>
          </a:stretch>
        </p:blipFill>
        <p:spPr>
          <a:xfrm>
            <a:off x="2384763" y="557972"/>
            <a:ext cx="4464496" cy="6042359"/>
          </a:xfrm>
          <a:prstGeom prst="rect">
            <a:avLst/>
          </a:prstGeom>
        </p:spPr>
      </p:pic>
    </p:spTree>
    <p:extLst>
      <p:ext uri="{BB962C8B-B14F-4D97-AF65-F5344CB8AC3E}">
        <p14:creationId xmlns:p14="http://schemas.microsoft.com/office/powerpoint/2010/main" val="399019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843808" y="260648"/>
            <a:ext cx="3232808" cy="369332"/>
          </a:xfrm>
          <a:prstGeom prst="rect">
            <a:avLst/>
          </a:prstGeom>
        </p:spPr>
        <p:txBody>
          <a:bodyPr wrap="none">
            <a:spAutoFit/>
          </a:bodyPr>
          <a:lstStyle/>
          <a:p>
            <a:r>
              <a:rPr lang="en-US" b="1" dirty="0"/>
              <a:t>Returning a List from a Function</a:t>
            </a:r>
          </a:p>
        </p:txBody>
      </p:sp>
      <p:pic>
        <p:nvPicPr>
          <p:cNvPr id="5" name="Рисунок 4"/>
          <p:cNvPicPr>
            <a:picLocks noChangeAspect="1"/>
          </p:cNvPicPr>
          <p:nvPr/>
        </p:nvPicPr>
        <p:blipFill>
          <a:blip r:embed="rId2"/>
          <a:stretch>
            <a:fillRect/>
          </a:stretch>
        </p:blipFill>
        <p:spPr>
          <a:xfrm>
            <a:off x="395535" y="980728"/>
            <a:ext cx="3960441" cy="686782"/>
          </a:xfrm>
          <a:prstGeom prst="rect">
            <a:avLst/>
          </a:prstGeom>
        </p:spPr>
      </p:pic>
      <p:pic>
        <p:nvPicPr>
          <p:cNvPr id="6" name="Рисунок 5"/>
          <p:cNvPicPr>
            <a:picLocks noChangeAspect="1"/>
          </p:cNvPicPr>
          <p:nvPr/>
        </p:nvPicPr>
        <p:blipFill rotWithShape="1">
          <a:blip r:embed="rId3"/>
          <a:srcRect b="49978"/>
          <a:stretch/>
        </p:blipFill>
        <p:spPr>
          <a:xfrm>
            <a:off x="395535" y="1641383"/>
            <a:ext cx="4320481" cy="4306235"/>
          </a:xfrm>
          <a:prstGeom prst="rect">
            <a:avLst/>
          </a:prstGeom>
        </p:spPr>
      </p:pic>
      <p:pic>
        <p:nvPicPr>
          <p:cNvPr id="7" name="Рисунок 6"/>
          <p:cNvPicPr>
            <a:picLocks noChangeAspect="1"/>
          </p:cNvPicPr>
          <p:nvPr/>
        </p:nvPicPr>
        <p:blipFill rotWithShape="1">
          <a:blip r:embed="rId3"/>
          <a:srcRect t="50339"/>
          <a:stretch/>
        </p:blipFill>
        <p:spPr>
          <a:xfrm>
            <a:off x="4860032" y="1124744"/>
            <a:ext cx="3829050" cy="3788931"/>
          </a:xfrm>
          <a:prstGeom prst="rect">
            <a:avLst/>
          </a:prstGeom>
        </p:spPr>
      </p:pic>
      <p:pic>
        <p:nvPicPr>
          <p:cNvPr id="8" name="Рисунок 7"/>
          <p:cNvPicPr>
            <a:picLocks noChangeAspect="1"/>
          </p:cNvPicPr>
          <p:nvPr/>
        </p:nvPicPr>
        <p:blipFill>
          <a:blip r:embed="rId4"/>
          <a:stretch>
            <a:fillRect/>
          </a:stretch>
        </p:blipFill>
        <p:spPr>
          <a:xfrm>
            <a:off x="4860032" y="4885910"/>
            <a:ext cx="2838450" cy="1419225"/>
          </a:xfrm>
          <a:prstGeom prst="rect">
            <a:avLst/>
          </a:prstGeom>
        </p:spPr>
      </p:pic>
    </p:spTree>
    <p:extLst>
      <p:ext uri="{BB962C8B-B14F-4D97-AF65-F5344CB8AC3E}">
        <p14:creationId xmlns:p14="http://schemas.microsoft.com/office/powerpoint/2010/main" val="3149343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95536" y="1268760"/>
            <a:ext cx="1966116" cy="369332"/>
          </a:xfrm>
          <a:prstGeom prst="rect">
            <a:avLst/>
          </a:prstGeom>
        </p:spPr>
        <p:txBody>
          <a:bodyPr wrap="none">
            <a:spAutoFit/>
          </a:bodyPr>
          <a:lstStyle/>
          <a:p>
            <a:r>
              <a:rPr lang="en-US" i="1" dirty="0" err="1"/>
              <a:t>Writelines</a:t>
            </a:r>
            <a:r>
              <a:rPr lang="en-US" i="1" dirty="0"/>
              <a:t> method</a:t>
            </a:r>
          </a:p>
        </p:txBody>
      </p:sp>
      <p:cxnSp>
        <p:nvCxnSpPr>
          <p:cNvPr id="6" name="Прямая со стрелкой 5"/>
          <p:cNvCxnSpPr/>
          <p:nvPr/>
        </p:nvCxnSpPr>
        <p:spPr>
          <a:xfrm>
            <a:off x="2361652" y="1448780"/>
            <a:ext cx="478254" cy="360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Прямоугольник 6"/>
          <p:cNvSpPr/>
          <p:nvPr/>
        </p:nvSpPr>
        <p:spPr>
          <a:xfrm>
            <a:off x="2843808" y="332656"/>
            <a:ext cx="2832442" cy="369332"/>
          </a:xfrm>
          <a:prstGeom prst="rect">
            <a:avLst/>
          </a:prstGeom>
        </p:spPr>
        <p:txBody>
          <a:bodyPr wrap="none">
            <a:spAutoFit/>
          </a:bodyPr>
          <a:lstStyle/>
          <a:p>
            <a:r>
              <a:rPr lang="en-US" b="1" dirty="0"/>
              <a:t>Working with Lists and Files</a:t>
            </a:r>
          </a:p>
        </p:txBody>
      </p:sp>
      <p:pic>
        <p:nvPicPr>
          <p:cNvPr id="8" name="Рисунок 7"/>
          <p:cNvPicPr>
            <a:picLocks noChangeAspect="1"/>
          </p:cNvPicPr>
          <p:nvPr/>
        </p:nvPicPr>
        <p:blipFill>
          <a:blip r:embed="rId2"/>
          <a:stretch>
            <a:fillRect/>
          </a:stretch>
        </p:blipFill>
        <p:spPr>
          <a:xfrm>
            <a:off x="2839906" y="836712"/>
            <a:ext cx="3952875" cy="2876550"/>
          </a:xfrm>
          <a:prstGeom prst="rect">
            <a:avLst/>
          </a:prstGeom>
        </p:spPr>
      </p:pic>
      <p:sp>
        <p:nvSpPr>
          <p:cNvPr id="10" name="Прямоугольник 9"/>
          <p:cNvSpPr/>
          <p:nvPr/>
        </p:nvSpPr>
        <p:spPr>
          <a:xfrm>
            <a:off x="412848" y="1268760"/>
            <a:ext cx="1854896"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Прямая со стрелкой 12"/>
          <p:cNvCxnSpPr/>
          <p:nvPr/>
        </p:nvCxnSpPr>
        <p:spPr>
          <a:xfrm>
            <a:off x="6792781" y="1638092"/>
            <a:ext cx="2994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Прямоугольник 14"/>
          <p:cNvSpPr/>
          <p:nvPr/>
        </p:nvSpPr>
        <p:spPr>
          <a:xfrm>
            <a:off x="7121370" y="1499592"/>
            <a:ext cx="2136110" cy="276999"/>
          </a:xfrm>
          <a:prstGeom prst="rect">
            <a:avLst/>
          </a:prstGeom>
        </p:spPr>
        <p:txBody>
          <a:bodyPr wrap="square">
            <a:spAutoFit/>
          </a:bodyPr>
          <a:lstStyle/>
          <a:p>
            <a:r>
              <a:rPr lang="en-US" sz="1200" dirty="0"/>
              <a:t>New </a:t>
            </a:r>
            <a:r>
              <a:rPr lang="en-US" sz="1200" dirty="0" err="1"/>
              <a:t>YorkBostonAtlantaDallas</a:t>
            </a:r>
            <a:endParaRPr lang="en-US" sz="1200" dirty="0"/>
          </a:p>
        </p:txBody>
      </p:sp>
      <p:sp>
        <p:nvSpPr>
          <p:cNvPr id="16" name="Прямоугольник 15"/>
          <p:cNvSpPr/>
          <p:nvPr/>
        </p:nvSpPr>
        <p:spPr>
          <a:xfrm>
            <a:off x="7121370" y="1499592"/>
            <a:ext cx="1938240" cy="2918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Прямоугольник 16"/>
          <p:cNvSpPr/>
          <p:nvPr/>
        </p:nvSpPr>
        <p:spPr>
          <a:xfrm>
            <a:off x="455008" y="5229200"/>
            <a:ext cx="923586" cy="369332"/>
          </a:xfrm>
          <a:prstGeom prst="rect">
            <a:avLst/>
          </a:prstGeom>
        </p:spPr>
        <p:txBody>
          <a:bodyPr wrap="none">
            <a:spAutoFit/>
          </a:bodyPr>
          <a:lstStyle/>
          <a:p>
            <a:r>
              <a:rPr lang="en-US" dirty="0"/>
              <a:t>for loop</a:t>
            </a:r>
          </a:p>
        </p:txBody>
      </p:sp>
      <p:sp>
        <p:nvSpPr>
          <p:cNvPr id="18" name="Прямоугольник 17"/>
          <p:cNvSpPr/>
          <p:nvPr/>
        </p:nvSpPr>
        <p:spPr>
          <a:xfrm>
            <a:off x="412848" y="5157192"/>
            <a:ext cx="965746" cy="5040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Прямая со стрелкой 19"/>
          <p:cNvCxnSpPr/>
          <p:nvPr/>
        </p:nvCxnSpPr>
        <p:spPr>
          <a:xfrm>
            <a:off x="1547664" y="5413866"/>
            <a:ext cx="2880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Рисунок 20"/>
          <p:cNvPicPr>
            <a:picLocks noChangeAspect="1"/>
          </p:cNvPicPr>
          <p:nvPr/>
        </p:nvPicPr>
        <p:blipFill>
          <a:blip r:embed="rId3"/>
          <a:stretch>
            <a:fillRect/>
          </a:stretch>
        </p:blipFill>
        <p:spPr>
          <a:xfrm>
            <a:off x="2024274" y="3873470"/>
            <a:ext cx="3971925" cy="2895600"/>
          </a:xfrm>
          <a:prstGeom prst="rect">
            <a:avLst/>
          </a:prstGeom>
        </p:spPr>
      </p:pic>
      <p:pic>
        <p:nvPicPr>
          <p:cNvPr id="22" name="Рисунок 21"/>
          <p:cNvPicPr>
            <a:picLocks noChangeAspect="1"/>
          </p:cNvPicPr>
          <p:nvPr/>
        </p:nvPicPr>
        <p:blipFill>
          <a:blip r:embed="rId4"/>
          <a:stretch>
            <a:fillRect/>
          </a:stretch>
        </p:blipFill>
        <p:spPr>
          <a:xfrm>
            <a:off x="7452320" y="4678016"/>
            <a:ext cx="914400" cy="762000"/>
          </a:xfrm>
          <a:prstGeom prst="rect">
            <a:avLst/>
          </a:prstGeom>
        </p:spPr>
      </p:pic>
      <p:cxnSp>
        <p:nvCxnSpPr>
          <p:cNvPr id="23" name="Прямая со стрелкой 22"/>
          <p:cNvCxnSpPr/>
          <p:nvPr/>
        </p:nvCxnSpPr>
        <p:spPr>
          <a:xfrm>
            <a:off x="6504749" y="5059016"/>
            <a:ext cx="7315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Прямоугольник 24"/>
          <p:cNvSpPr/>
          <p:nvPr/>
        </p:nvSpPr>
        <p:spPr>
          <a:xfrm>
            <a:off x="7380312" y="4653136"/>
            <a:ext cx="986408" cy="9453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5338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843808" y="332656"/>
            <a:ext cx="2223686" cy="369332"/>
          </a:xfrm>
          <a:prstGeom prst="rect">
            <a:avLst/>
          </a:prstGeom>
        </p:spPr>
        <p:txBody>
          <a:bodyPr wrap="none">
            <a:spAutoFit/>
          </a:bodyPr>
          <a:lstStyle/>
          <a:p>
            <a:r>
              <a:rPr lang="en-US" b="1" dirty="0"/>
              <a:t>Two-Dimensional List</a:t>
            </a:r>
          </a:p>
        </p:txBody>
      </p:sp>
      <p:pic>
        <p:nvPicPr>
          <p:cNvPr id="5" name="Рисунок 4"/>
          <p:cNvPicPr>
            <a:picLocks noChangeAspect="1"/>
          </p:cNvPicPr>
          <p:nvPr/>
        </p:nvPicPr>
        <p:blipFill>
          <a:blip r:embed="rId2"/>
          <a:stretch>
            <a:fillRect/>
          </a:stretch>
        </p:blipFill>
        <p:spPr>
          <a:xfrm>
            <a:off x="514543" y="1124744"/>
            <a:ext cx="6883965" cy="432048"/>
          </a:xfrm>
          <a:prstGeom prst="rect">
            <a:avLst/>
          </a:prstGeom>
        </p:spPr>
      </p:pic>
      <p:pic>
        <p:nvPicPr>
          <p:cNvPr id="6" name="Рисунок 5"/>
          <p:cNvPicPr>
            <a:picLocks noChangeAspect="1"/>
          </p:cNvPicPr>
          <p:nvPr/>
        </p:nvPicPr>
        <p:blipFill>
          <a:blip r:embed="rId3"/>
          <a:stretch>
            <a:fillRect/>
          </a:stretch>
        </p:blipFill>
        <p:spPr>
          <a:xfrm>
            <a:off x="514543" y="1700808"/>
            <a:ext cx="4991100" cy="1066800"/>
          </a:xfrm>
          <a:prstGeom prst="rect">
            <a:avLst/>
          </a:prstGeom>
        </p:spPr>
      </p:pic>
      <p:pic>
        <p:nvPicPr>
          <p:cNvPr id="7" name="Рисунок 6"/>
          <p:cNvPicPr>
            <a:picLocks noChangeAspect="1"/>
          </p:cNvPicPr>
          <p:nvPr/>
        </p:nvPicPr>
        <p:blipFill>
          <a:blip r:embed="rId4"/>
          <a:stretch>
            <a:fillRect/>
          </a:stretch>
        </p:blipFill>
        <p:spPr>
          <a:xfrm>
            <a:off x="438343" y="2740714"/>
            <a:ext cx="2571750" cy="723900"/>
          </a:xfrm>
          <a:prstGeom prst="rect">
            <a:avLst/>
          </a:prstGeom>
        </p:spPr>
      </p:pic>
      <p:pic>
        <p:nvPicPr>
          <p:cNvPr id="8" name="Рисунок 7"/>
          <p:cNvPicPr>
            <a:picLocks noChangeAspect="1"/>
          </p:cNvPicPr>
          <p:nvPr/>
        </p:nvPicPr>
        <p:blipFill>
          <a:blip r:embed="rId5"/>
          <a:stretch>
            <a:fillRect/>
          </a:stretch>
        </p:blipFill>
        <p:spPr>
          <a:xfrm>
            <a:off x="2843807" y="3645024"/>
            <a:ext cx="2661835" cy="1724760"/>
          </a:xfrm>
          <a:prstGeom prst="rect">
            <a:avLst/>
          </a:prstGeom>
        </p:spPr>
      </p:pic>
    </p:spTree>
    <p:extLst>
      <p:ext uri="{BB962C8B-B14F-4D97-AF65-F5344CB8AC3E}">
        <p14:creationId xmlns:p14="http://schemas.microsoft.com/office/powerpoint/2010/main" val="1037408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827584" y="476672"/>
            <a:ext cx="4896544" cy="2351254"/>
          </a:xfrm>
          <a:prstGeom prst="rect">
            <a:avLst/>
          </a:prstGeom>
        </p:spPr>
      </p:pic>
      <p:pic>
        <p:nvPicPr>
          <p:cNvPr id="5" name="Рисунок 4"/>
          <p:cNvPicPr>
            <a:picLocks noChangeAspect="1"/>
          </p:cNvPicPr>
          <p:nvPr/>
        </p:nvPicPr>
        <p:blipFill>
          <a:blip r:embed="rId3"/>
          <a:stretch>
            <a:fillRect/>
          </a:stretch>
        </p:blipFill>
        <p:spPr>
          <a:xfrm>
            <a:off x="2051720" y="2833152"/>
            <a:ext cx="4846653" cy="1944216"/>
          </a:xfrm>
          <a:prstGeom prst="rect">
            <a:avLst/>
          </a:prstGeom>
        </p:spPr>
      </p:pic>
    </p:spTree>
    <p:extLst>
      <p:ext uri="{BB962C8B-B14F-4D97-AF65-F5344CB8AC3E}">
        <p14:creationId xmlns:p14="http://schemas.microsoft.com/office/powerpoint/2010/main" val="896372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467544" y="1052736"/>
            <a:ext cx="3619500" cy="4438650"/>
          </a:xfrm>
          <a:prstGeom prst="rect">
            <a:avLst/>
          </a:prstGeom>
        </p:spPr>
      </p:pic>
      <p:pic>
        <p:nvPicPr>
          <p:cNvPr id="5" name="Рисунок 4"/>
          <p:cNvPicPr>
            <a:picLocks noChangeAspect="1"/>
          </p:cNvPicPr>
          <p:nvPr/>
        </p:nvPicPr>
        <p:blipFill>
          <a:blip r:embed="rId3"/>
          <a:stretch>
            <a:fillRect/>
          </a:stretch>
        </p:blipFill>
        <p:spPr>
          <a:xfrm>
            <a:off x="5148064" y="2991073"/>
            <a:ext cx="3416684" cy="941983"/>
          </a:xfrm>
          <a:prstGeom prst="rect">
            <a:avLst/>
          </a:prstGeom>
        </p:spPr>
      </p:pic>
      <p:cxnSp>
        <p:nvCxnSpPr>
          <p:cNvPr id="7" name="Прямая со стрелкой 6"/>
          <p:cNvCxnSpPr>
            <a:endCxn id="5" idx="1"/>
          </p:cNvCxnSpPr>
          <p:nvPr/>
        </p:nvCxnSpPr>
        <p:spPr>
          <a:xfrm flipV="1">
            <a:off x="4087044" y="3462065"/>
            <a:ext cx="1061020" cy="398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5092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851920" y="260648"/>
            <a:ext cx="1124219" cy="461665"/>
          </a:xfrm>
          <a:prstGeom prst="rect">
            <a:avLst/>
          </a:prstGeom>
        </p:spPr>
        <p:txBody>
          <a:bodyPr wrap="none">
            <a:spAutoFit/>
          </a:bodyPr>
          <a:lstStyle/>
          <a:p>
            <a:r>
              <a:rPr lang="en-US" sz="2400" b="1" dirty="0"/>
              <a:t>TUPLES</a:t>
            </a:r>
          </a:p>
        </p:txBody>
      </p:sp>
      <p:pic>
        <p:nvPicPr>
          <p:cNvPr id="5" name="Рисунок 4"/>
          <p:cNvPicPr>
            <a:picLocks noChangeAspect="1"/>
          </p:cNvPicPr>
          <p:nvPr/>
        </p:nvPicPr>
        <p:blipFill>
          <a:blip r:embed="rId2"/>
          <a:stretch>
            <a:fillRect/>
          </a:stretch>
        </p:blipFill>
        <p:spPr>
          <a:xfrm>
            <a:off x="467543" y="1052736"/>
            <a:ext cx="6851047" cy="648072"/>
          </a:xfrm>
          <a:prstGeom prst="rect">
            <a:avLst/>
          </a:prstGeom>
        </p:spPr>
      </p:pic>
      <p:pic>
        <p:nvPicPr>
          <p:cNvPr id="6" name="Рисунок 5"/>
          <p:cNvPicPr>
            <a:picLocks noChangeAspect="1"/>
          </p:cNvPicPr>
          <p:nvPr/>
        </p:nvPicPr>
        <p:blipFill>
          <a:blip r:embed="rId3"/>
          <a:stretch>
            <a:fillRect/>
          </a:stretch>
        </p:blipFill>
        <p:spPr>
          <a:xfrm>
            <a:off x="607168" y="1814324"/>
            <a:ext cx="3928937" cy="1080120"/>
          </a:xfrm>
          <a:prstGeom prst="rect">
            <a:avLst/>
          </a:prstGeom>
        </p:spPr>
      </p:pic>
      <p:pic>
        <p:nvPicPr>
          <p:cNvPr id="7" name="Рисунок 6"/>
          <p:cNvPicPr>
            <a:picLocks noChangeAspect="1"/>
          </p:cNvPicPr>
          <p:nvPr/>
        </p:nvPicPr>
        <p:blipFill>
          <a:blip r:embed="rId4"/>
          <a:stretch>
            <a:fillRect/>
          </a:stretch>
        </p:blipFill>
        <p:spPr>
          <a:xfrm>
            <a:off x="397534" y="3200400"/>
            <a:ext cx="4164760" cy="1351332"/>
          </a:xfrm>
          <a:prstGeom prst="rect">
            <a:avLst/>
          </a:prstGeom>
        </p:spPr>
      </p:pic>
      <p:sp>
        <p:nvSpPr>
          <p:cNvPr id="8" name="Прямоугольник 7"/>
          <p:cNvSpPr/>
          <p:nvPr/>
        </p:nvSpPr>
        <p:spPr>
          <a:xfrm>
            <a:off x="611560" y="2875247"/>
            <a:ext cx="1003544" cy="369332"/>
          </a:xfrm>
          <a:prstGeom prst="rect">
            <a:avLst/>
          </a:prstGeom>
        </p:spPr>
        <p:txBody>
          <a:bodyPr wrap="none">
            <a:spAutoFit/>
          </a:bodyPr>
          <a:lstStyle/>
          <a:p>
            <a:r>
              <a:rPr lang="en-US" i="1" dirty="0"/>
              <a:t>for loop:</a:t>
            </a:r>
          </a:p>
        </p:txBody>
      </p:sp>
      <p:sp>
        <p:nvSpPr>
          <p:cNvPr id="9" name="Прямоугольник 8"/>
          <p:cNvSpPr/>
          <p:nvPr/>
        </p:nvSpPr>
        <p:spPr>
          <a:xfrm>
            <a:off x="397534" y="4559505"/>
            <a:ext cx="6514220" cy="369332"/>
          </a:xfrm>
          <a:prstGeom prst="rect">
            <a:avLst/>
          </a:prstGeom>
        </p:spPr>
        <p:txBody>
          <a:bodyPr wrap="square">
            <a:spAutoFit/>
          </a:bodyPr>
          <a:lstStyle/>
          <a:p>
            <a:r>
              <a:rPr lang="en-US" dirty="0"/>
              <a:t>Like lists, tuples support indexing, as shown in the following session:</a:t>
            </a:r>
          </a:p>
        </p:txBody>
      </p:sp>
      <p:pic>
        <p:nvPicPr>
          <p:cNvPr id="10" name="Рисунок 9"/>
          <p:cNvPicPr>
            <a:picLocks noChangeAspect="1"/>
          </p:cNvPicPr>
          <p:nvPr/>
        </p:nvPicPr>
        <p:blipFill>
          <a:blip r:embed="rId5"/>
          <a:stretch>
            <a:fillRect/>
          </a:stretch>
        </p:blipFill>
        <p:spPr>
          <a:xfrm>
            <a:off x="602813" y="4936610"/>
            <a:ext cx="4234892" cy="1660742"/>
          </a:xfrm>
          <a:prstGeom prst="rect">
            <a:avLst/>
          </a:prstGeom>
        </p:spPr>
      </p:pic>
    </p:spTree>
    <p:extLst>
      <p:ext uri="{BB962C8B-B14F-4D97-AF65-F5344CB8AC3E}">
        <p14:creationId xmlns:p14="http://schemas.microsoft.com/office/powerpoint/2010/main" val="37644469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79512" y="404664"/>
            <a:ext cx="8672692" cy="2736304"/>
          </a:xfrm>
          <a:prstGeom prst="rect">
            <a:avLst/>
          </a:prstGeom>
        </p:spPr>
      </p:pic>
      <p:pic>
        <p:nvPicPr>
          <p:cNvPr id="5" name="Рисунок 4"/>
          <p:cNvPicPr>
            <a:picLocks noChangeAspect="1"/>
          </p:cNvPicPr>
          <p:nvPr/>
        </p:nvPicPr>
        <p:blipFill>
          <a:blip r:embed="rId3"/>
          <a:stretch>
            <a:fillRect/>
          </a:stretch>
        </p:blipFill>
        <p:spPr>
          <a:xfrm>
            <a:off x="-1" y="3356992"/>
            <a:ext cx="8718237" cy="2448272"/>
          </a:xfrm>
          <a:prstGeom prst="rect">
            <a:avLst/>
          </a:prstGeom>
        </p:spPr>
      </p:pic>
    </p:spTree>
    <p:extLst>
      <p:ext uri="{BB962C8B-B14F-4D97-AF65-F5344CB8AC3E}">
        <p14:creationId xmlns:p14="http://schemas.microsoft.com/office/powerpoint/2010/main" val="20648056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699792" y="332656"/>
            <a:ext cx="3668825" cy="369332"/>
          </a:xfrm>
          <a:prstGeom prst="rect">
            <a:avLst/>
          </a:prstGeom>
        </p:spPr>
        <p:txBody>
          <a:bodyPr wrap="none">
            <a:spAutoFit/>
          </a:bodyPr>
          <a:lstStyle/>
          <a:p>
            <a:r>
              <a:rPr lang="en-US" b="1" dirty="0"/>
              <a:t>Converting Between Lists and Tuples</a:t>
            </a:r>
          </a:p>
        </p:txBody>
      </p:sp>
      <p:pic>
        <p:nvPicPr>
          <p:cNvPr id="5" name="Рисунок 4"/>
          <p:cNvPicPr>
            <a:picLocks noChangeAspect="1"/>
          </p:cNvPicPr>
          <p:nvPr/>
        </p:nvPicPr>
        <p:blipFill>
          <a:blip r:embed="rId2"/>
          <a:stretch>
            <a:fillRect/>
          </a:stretch>
        </p:blipFill>
        <p:spPr>
          <a:xfrm>
            <a:off x="683568" y="1268760"/>
            <a:ext cx="6248493" cy="2808312"/>
          </a:xfrm>
          <a:prstGeom prst="rect">
            <a:avLst/>
          </a:prstGeom>
        </p:spPr>
      </p:pic>
    </p:spTree>
    <p:extLst>
      <p:ext uri="{BB962C8B-B14F-4D97-AF65-F5344CB8AC3E}">
        <p14:creationId xmlns:p14="http://schemas.microsoft.com/office/powerpoint/2010/main" val="39765125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2195736" y="332656"/>
            <a:ext cx="4800600" cy="352425"/>
          </a:xfrm>
          <a:prstGeom prst="rect">
            <a:avLst/>
          </a:prstGeom>
        </p:spPr>
      </p:pic>
      <p:pic>
        <p:nvPicPr>
          <p:cNvPr id="5" name="Рисунок 4"/>
          <p:cNvPicPr>
            <a:picLocks noChangeAspect="1"/>
          </p:cNvPicPr>
          <p:nvPr/>
        </p:nvPicPr>
        <p:blipFill>
          <a:blip r:embed="rId3"/>
          <a:stretch>
            <a:fillRect/>
          </a:stretch>
        </p:blipFill>
        <p:spPr>
          <a:xfrm>
            <a:off x="467544" y="1124744"/>
            <a:ext cx="7920880" cy="2239799"/>
          </a:xfrm>
          <a:prstGeom prst="rect">
            <a:avLst/>
          </a:prstGeom>
        </p:spPr>
      </p:pic>
      <p:pic>
        <p:nvPicPr>
          <p:cNvPr id="6" name="Рисунок 5"/>
          <p:cNvPicPr>
            <a:picLocks noChangeAspect="1"/>
          </p:cNvPicPr>
          <p:nvPr/>
        </p:nvPicPr>
        <p:blipFill>
          <a:blip r:embed="rId4"/>
          <a:stretch>
            <a:fillRect/>
          </a:stretch>
        </p:blipFill>
        <p:spPr>
          <a:xfrm>
            <a:off x="539551" y="3407662"/>
            <a:ext cx="7992889" cy="1646475"/>
          </a:xfrm>
          <a:prstGeom prst="rect">
            <a:avLst/>
          </a:prstGeom>
        </p:spPr>
      </p:pic>
    </p:spTree>
    <p:extLst>
      <p:ext uri="{BB962C8B-B14F-4D97-AF65-F5344CB8AC3E}">
        <p14:creationId xmlns:p14="http://schemas.microsoft.com/office/powerpoint/2010/main" val="10807338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987824" y="332656"/>
            <a:ext cx="2966261" cy="369332"/>
          </a:xfrm>
          <a:prstGeom prst="rect">
            <a:avLst/>
          </a:prstGeom>
        </p:spPr>
        <p:txBody>
          <a:bodyPr wrap="none">
            <a:spAutoFit/>
          </a:bodyPr>
          <a:lstStyle/>
          <a:p>
            <a:r>
              <a:rPr lang="en-US" b="1" dirty="0"/>
              <a:t>Importing the </a:t>
            </a:r>
            <a:r>
              <a:rPr lang="en-US" b="1" dirty="0" err="1"/>
              <a:t>pyplot</a:t>
            </a:r>
            <a:r>
              <a:rPr lang="en-US" b="1" dirty="0"/>
              <a:t> Module</a:t>
            </a:r>
          </a:p>
        </p:txBody>
      </p:sp>
      <p:pic>
        <p:nvPicPr>
          <p:cNvPr id="5" name="Рисунок 4"/>
          <p:cNvPicPr>
            <a:picLocks noChangeAspect="1"/>
          </p:cNvPicPr>
          <p:nvPr/>
        </p:nvPicPr>
        <p:blipFill>
          <a:blip r:embed="rId2"/>
          <a:stretch>
            <a:fillRect/>
          </a:stretch>
        </p:blipFill>
        <p:spPr>
          <a:xfrm>
            <a:off x="539552" y="1052736"/>
            <a:ext cx="7992888" cy="5426364"/>
          </a:xfrm>
          <a:prstGeom prst="rect">
            <a:avLst/>
          </a:prstGeom>
        </p:spPr>
      </p:pic>
    </p:spTree>
    <p:extLst>
      <p:ext uri="{BB962C8B-B14F-4D97-AF65-F5344CB8AC3E}">
        <p14:creationId xmlns:p14="http://schemas.microsoft.com/office/powerpoint/2010/main" val="9637099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419872" y="332656"/>
            <a:ext cx="2183868" cy="369332"/>
          </a:xfrm>
          <a:prstGeom prst="rect">
            <a:avLst/>
          </a:prstGeom>
        </p:spPr>
        <p:txBody>
          <a:bodyPr wrap="none">
            <a:spAutoFit/>
          </a:bodyPr>
          <a:lstStyle/>
          <a:p>
            <a:r>
              <a:rPr lang="en-US" b="1"/>
              <a:t>Plotting a Line Graph</a:t>
            </a:r>
            <a:endParaRPr lang="en-US" b="1" dirty="0"/>
          </a:p>
        </p:txBody>
      </p:sp>
      <p:sp>
        <p:nvSpPr>
          <p:cNvPr id="5" name="Прямоугольник 4"/>
          <p:cNvSpPr/>
          <p:nvPr/>
        </p:nvSpPr>
        <p:spPr>
          <a:xfrm>
            <a:off x="395536" y="948690"/>
            <a:ext cx="8280920" cy="5355312"/>
          </a:xfrm>
          <a:prstGeom prst="rect">
            <a:avLst/>
          </a:prstGeom>
        </p:spPr>
        <p:txBody>
          <a:bodyPr wrap="square">
            <a:spAutoFit/>
          </a:bodyPr>
          <a:lstStyle/>
          <a:p>
            <a:r>
              <a:rPr lang="en-US" dirty="0"/>
              <a:t>You can use plot function to create a line graph that connects a series of data points with straight lines. The line graph has a horizontal X axis and a vertical Y axis. Each data point in the graph is located at a (X, Y) coordinate. </a:t>
            </a:r>
          </a:p>
          <a:p>
            <a:r>
              <a:rPr lang="en-US" dirty="0"/>
              <a:t>To create a line graph, you first create two lists: one containing the X coordinates of each data point, and another containing the Y coordinates of each data point. For example, </a:t>
            </a:r>
            <a:r>
              <a:rPr lang="en-US" dirty="0" err="1"/>
              <a:t>suppose</a:t>
            </a:r>
            <a:r>
              <a:rPr lang="en-US" dirty="0"/>
              <a:t> we have five data points, located at the following coordinates: </a:t>
            </a:r>
          </a:p>
          <a:p>
            <a:r>
              <a:rPr lang="en-US" dirty="0"/>
              <a:t>(0, 0) </a:t>
            </a:r>
          </a:p>
          <a:p>
            <a:r>
              <a:rPr lang="en-US" dirty="0"/>
              <a:t>(1, 3) </a:t>
            </a:r>
          </a:p>
          <a:p>
            <a:r>
              <a:rPr lang="en-US" dirty="0"/>
              <a:t>(2, 1) </a:t>
            </a:r>
          </a:p>
          <a:p>
            <a:r>
              <a:rPr lang="en-US" dirty="0"/>
              <a:t>(3, 5) </a:t>
            </a:r>
          </a:p>
          <a:p>
            <a:r>
              <a:rPr lang="en-US" dirty="0"/>
              <a:t>(4, 2) </a:t>
            </a:r>
          </a:p>
          <a:p>
            <a:r>
              <a:rPr lang="en-US" dirty="0"/>
              <a:t>We would create two lists to hold the coordinates, such as the following: </a:t>
            </a:r>
          </a:p>
          <a:p>
            <a:r>
              <a:rPr lang="en-US" dirty="0" err="1"/>
              <a:t>x_coords</a:t>
            </a:r>
            <a:r>
              <a:rPr lang="en-US" dirty="0"/>
              <a:t> = [0, 1, 2, 3, 4] </a:t>
            </a:r>
          </a:p>
          <a:p>
            <a:r>
              <a:rPr lang="en-US" dirty="0" err="1"/>
              <a:t>y_coords</a:t>
            </a:r>
            <a:r>
              <a:rPr lang="en-US" dirty="0"/>
              <a:t> = [0, 3, 1, 5, 2] </a:t>
            </a:r>
          </a:p>
          <a:p>
            <a:r>
              <a:rPr lang="en-US" dirty="0"/>
              <a:t>Next, we call the plot function to create the graph, passing the lists as arguments. Here is an example: </a:t>
            </a:r>
          </a:p>
          <a:p>
            <a:r>
              <a:rPr lang="en-US" dirty="0" err="1"/>
              <a:t>plt.plot</a:t>
            </a:r>
            <a:r>
              <a:rPr lang="en-US" dirty="0"/>
              <a:t>(</a:t>
            </a:r>
            <a:r>
              <a:rPr lang="en-US" dirty="0" err="1"/>
              <a:t>x_coords</a:t>
            </a:r>
            <a:r>
              <a:rPr lang="en-US" dirty="0"/>
              <a:t>, </a:t>
            </a:r>
            <a:r>
              <a:rPr lang="en-US" dirty="0" err="1"/>
              <a:t>y_coords</a:t>
            </a:r>
            <a:r>
              <a:rPr lang="en-US" dirty="0"/>
              <a:t>) </a:t>
            </a:r>
          </a:p>
          <a:p>
            <a:r>
              <a:rPr lang="en-US" dirty="0"/>
              <a:t>The plot function builds the line graph in memory, but does not display it. To display the graph, you call the show function, as shown here: </a:t>
            </a:r>
            <a:r>
              <a:rPr lang="en-US" dirty="0" err="1"/>
              <a:t>plt.show</a:t>
            </a:r>
            <a:r>
              <a:rPr lang="en-US" dirty="0"/>
              <a:t>()</a:t>
            </a:r>
          </a:p>
        </p:txBody>
      </p:sp>
    </p:spTree>
    <p:extLst>
      <p:ext uri="{BB962C8B-B14F-4D97-AF65-F5344CB8AC3E}">
        <p14:creationId xmlns:p14="http://schemas.microsoft.com/office/powerpoint/2010/main" val="16843256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67544" y="332656"/>
            <a:ext cx="2096600" cy="369332"/>
          </a:xfrm>
          <a:prstGeom prst="rect">
            <a:avLst/>
          </a:prstGeom>
        </p:spPr>
        <p:txBody>
          <a:bodyPr wrap="none">
            <a:spAutoFit/>
          </a:bodyPr>
          <a:lstStyle/>
          <a:p>
            <a:r>
              <a:rPr lang="en-US" dirty="0"/>
              <a:t>A complete example</a:t>
            </a:r>
          </a:p>
        </p:txBody>
      </p:sp>
      <p:pic>
        <p:nvPicPr>
          <p:cNvPr id="5" name="Рисунок 4"/>
          <p:cNvPicPr>
            <a:picLocks noChangeAspect="1"/>
          </p:cNvPicPr>
          <p:nvPr/>
        </p:nvPicPr>
        <p:blipFill>
          <a:blip r:embed="rId2"/>
          <a:stretch>
            <a:fillRect/>
          </a:stretch>
        </p:blipFill>
        <p:spPr>
          <a:xfrm>
            <a:off x="240044" y="908720"/>
            <a:ext cx="5700108" cy="2172582"/>
          </a:xfrm>
          <a:prstGeom prst="rect">
            <a:avLst/>
          </a:prstGeom>
        </p:spPr>
      </p:pic>
      <p:pic>
        <p:nvPicPr>
          <p:cNvPr id="8" name="Рисунок 7"/>
          <p:cNvPicPr>
            <a:picLocks noChangeAspect="1"/>
          </p:cNvPicPr>
          <p:nvPr/>
        </p:nvPicPr>
        <p:blipFill>
          <a:blip r:embed="rId3"/>
          <a:stretch>
            <a:fillRect/>
          </a:stretch>
        </p:blipFill>
        <p:spPr>
          <a:xfrm>
            <a:off x="240044" y="3034464"/>
            <a:ext cx="3107820" cy="1012919"/>
          </a:xfrm>
          <a:prstGeom prst="rect">
            <a:avLst/>
          </a:prstGeom>
        </p:spPr>
      </p:pic>
      <p:pic>
        <p:nvPicPr>
          <p:cNvPr id="9" name="Рисунок 8"/>
          <p:cNvPicPr>
            <a:picLocks noChangeAspect="1"/>
          </p:cNvPicPr>
          <p:nvPr/>
        </p:nvPicPr>
        <p:blipFill>
          <a:blip r:embed="rId4"/>
          <a:stretch>
            <a:fillRect/>
          </a:stretch>
        </p:blipFill>
        <p:spPr>
          <a:xfrm>
            <a:off x="2761950" y="4047383"/>
            <a:ext cx="3762375" cy="2733675"/>
          </a:xfrm>
          <a:prstGeom prst="rect">
            <a:avLst/>
          </a:prstGeom>
        </p:spPr>
      </p:pic>
    </p:spTree>
    <p:extLst>
      <p:ext uri="{BB962C8B-B14F-4D97-AF65-F5344CB8AC3E}">
        <p14:creationId xmlns:p14="http://schemas.microsoft.com/office/powerpoint/2010/main" val="2451888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3635896" y="332656"/>
            <a:ext cx="1828800" cy="247650"/>
          </a:xfrm>
          <a:prstGeom prst="rect">
            <a:avLst/>
          </a:prstGeom>
        </p:spPr>
      </p:pic>
      <p:pic>
        <p:nvPicPr>
          <p:cNvPr id="5" name="Рисунок 4"/>
          <p:cNvPicPr>
            <a:picLocks noChangeAspect="1"/>
          </p:cNvPicPr>
          <p:nvPr/>
        </p:nvPicPr>
        <p:blipFill>
          <a:blip r:embed="rId3"/>
          <a:stretch>
            <a:fillRect/>
          </a:stretch>
        </p:blipFill>
        <p:spPr>
          <a:xfrm>
            <a:off x="179512" y="1052735"/>
            <a:ext cx="5285184" cy="3280459"/>
          </a:xfrm>
          <a:prstGeom prst="rect">
            <a:avLst/>
          </a:prstGeom>
        </p:spPr>
      </p:pic>
      <p:pic>
        <p:nvPicPr>
          <p:cNvPr id="6" name="Рисунок 5"/>
          <p:cNvPicPr>
            <a:picLocks noChangeAspect="1"/>
          </p:cNvPicPr>
          <p:nvPr/>
        </p:nvPicPr>
        <p:blipFill>
          <a:blip r:embed="rId4"/>
          <a:stretch>
            <a:fillRect/>
          </a:stretch>
        </p:blipFill>
        <p:spPr>
          <a:xfrm>
            <a:off x="4283968" y="4149080"/>
            <a:ext cx="3181350" cy="2466975"/>
          </a:xfrm>
          <a:prstGeom prst="rect">
            <a:avLst/>
          </a:prstGeom>
        </p:spPr>
      </p:pic>
    </p:spTree>
    <p:extLst>
      <p:ext uri="{BB962C8B-B14F-4D97-AF65-F5344CB8AC3E}">
        <p14:creationId xmlns:p14="http://schemas.microsoft.com/office/powerpoint/2010/main" val="2974863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419872" y="332656"/>
            <a:ext cx="2022220" cy="369332"/>
          </a:xfrm>
          <a:prstGeom prst="rect">
            <a:avLst/>
          </a:prstGeom>
        </p:spPr>
        <p:txBody>
          <a:bodyPr wrap="none">
            <a:spAutoFit/>
          </a:bodyPr>
          <a:lstStyle/>
          <a:p>
            <a:r>
              <a:rPr lang="en-US" b="1" dirty="0"/>
              <a:t>Plotting a Pie Chart</a:t>
            </a:r>
          </a:p>
        </p:txBody>
      </p:sp>
      <p:pic>
        <p:nvPicPr>
          <p:cNvPr id="5" name="Рисунок 4"/>
          <p:cNvPicPr>
            <a:picLocks noChangeAspect="1"/>
          </p:cNvPicPr>
          <p:nvPr/>
        </p:nvPicPr>
        <p:blipFill>
          <a:blip r:embed="rId2"/>
          <a:stretch>
            <a:fillRect/>
          </a:stretch>
        </p:blipFill>
        <p:spPr>
          <a:xfrm>
            <a:off x="395536" y="1052736"/>
            <a:ext cx="3456384" cy="1251084"/>
          </a:xfrm>
          <a:prstGeom prst="rect">
            <a:avLst/>
          </a:prstGeom>
        </p:spPr>
      </p:pic>
      <p:pic>
        <p:nvPicPr>
          <p:cNvPr id="6" name="Рисунок 5"/>
          <p:cNvPicPr>
            <a:picLocks noChangeAspect="1"/>
          </p:cNvPicPr>
          <p:nvPr/>
        </p:nvPicPr>
        <p:blipFill>
          <a:blip r:embed="rId3"/>
          <a:stretch>
            <a:fillRect/>
          </a:stretch>
        </p:blipFill>
        <p:spPr>
          <a:xfrm>
            <a:off x="395536" y="2132856"/>
            <a:ext cx="3456384" cy="1638347"/>
          </a:xfrm>
          <a:prstGeom prst="rect">
            <a:avLst/>
          </a:prstGeom>
        </p:spPr>
      </p:pic>
      <p:pic>
        <p:nvPicPr>
          <p:cNvPr id="7" name="Рисунок 6"/>
          <p:cNvPicPr>
            <a:picLocks noChangeAspect="1"/>
          </p:cNvPicPr>
          <p:nvPr/>
        </p:nvPicPr>
        <p:blipFill>
          <a:blip r:embed="rId4"/>
          <a:stretch>
            <a:fillRect/>
          </a:stretch>
        </p:blipFill>
        <p:spPr>
          <a:xfrm>
            <a:off x="4283967" y="3573016"/>
            <a:ext cx="3628439" cy="2808312"/>
          </a:xfrm>
          <a:prstGeom prst="rect">
            <a:avLst/>
          </a:prstGeom>
        </p:spPr>
      </p:pic>
    </p:spTree>
    <p:extLst>
      <p:ext uri="{BB962C8B-B14F-4D97-AF65-F5344CB8AC3E}">
        <p14:creationId xmlns:p14="http://schemas.microsoft.com/office/powerpoint/2010/main" val="32692018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Документ" ma:contentTypeID="0x010100802135AA69994B4F81C202DF52114CF6" ma:contentTypeVersion="4" ma:contentTypeDescription="Создание документа." ma:contentTypeScope="" ma:versionID="2ac36ec037bfd92e828474f0cbc2db4d">
  <xsd:schema xmlns:xsd="http://www.w3.org/2001/XMLSchema" xmlns:xs="http://www.w3.org/2001/XMLSchema" xmlns:p="http://schemas.microsoft.com/office/2006/metadata/properties" xmlns:ns2="a31afbf2-e35a-471f-8fdc-e7b63f74a28f" targetNamespace="http://schemas.microsoft.com/office/2006/metadata/properties" ma:root="true" ma:fieldsID="fc983b21b6cfa4c0ef03a3969f4a23f1" ns2:_="">
    <xsd:import namespace="a31afbf2-e35a-471f-8fdc-e7b63f74a2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1afbf2-e35a-471f-8fdc-e7b63f74a2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4481ACC-876E-4596-982E-E4516104CDB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62F51F8-FBB0-4004-819B-3183EA0346E4}">
  <ds:schemaRefs>
    <ds:schemaRef ds:uri="http://schemas.microsoft.com/sharepoint/v3/contenttype/forms"/>
  </ds:schemaRefs>
</ds:datastoreItem>
</file>

<file path=customXml/itemProps3.xml><?xml version="1.0" encoding="utf-8"?>
<ds:datastoreItem xmlns:ds="http://schemas.openxmlformats.org/officeDocument/2006/customXml" ds:itemID="{9B921FBE-D5F1-4EF8-977F-E1EF92472832}"/>
</file>

<file path=docProps/app.xml><?xml version="1.0" encoding="utf-8"?>
<Properties xmlns="http://schemas.openxmlformats.org/officeDocument/2006/extended-properties" xmlns:vt="http://schemas.openxmlformats.org/officeDocument/2006/docPropsVTypes">
  <TotalTime>394</TotalTime>
  <Words>872</Words>
  <Application>Microsoft Office PowerPoint</Application>
  <PresentationFormat>On-screen Show (4:3)</PresentationFormat>
  <Paragraphs>74</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List and Tuples</vt:lpstr>
      <vt:lpstr>Sequences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List Methods and useful built-in functions</vt:lpstr>
      <vt:lpstr>PowerPoint Presentation</vt:lpstr>
      <vt:lpstr>PowerPoint Presentation</vt:lpstr>
      <vt:lpstr>Insert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List and Tuples</dc:title>
  <dc:creator>Ким Гульнар Амангельдыевна</dc:creator>
  <cp:lastModifiedBy>user</cp:lastModifiedBy>
  <cp:revision>36</cp:revision>
  <dcterms:created xsi:type="dcterms:W3CDTF">2024-11-04T11:09:51Z</dcterms:created>
  <dcterms:modified xsi:type="dcterms:W3CDTF">2025-12-04T05:53:37Z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0x010100802135AA69994B4F81C202DF52114CF6</vt:lpwstr>
  </property>
</Properties>
</file>