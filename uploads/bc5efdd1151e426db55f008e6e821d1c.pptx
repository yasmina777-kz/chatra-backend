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77" r:id="rId14"/>
    <p:sldId id="276" r:id="rId15"/>
    <p:sldId id="269" r:id="rId16"/>
    <p:sldId id="268" r:id="rId17"/>
    <p:sldId id="270" r:id="rId18"/>
    <p:sldId id="271" r:id="rId19"/>
    <p:sldId id="273" r:id="rId20"/>
    <p:sldId id="27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77FFC-09F0-4106-AED4-80B8765DB6D9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2FA8-6477-4B40-BBE7-0CAF0C462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91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64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96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31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88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6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37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5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5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02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53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489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020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7138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Заголовок раздела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623887" y="4589468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6453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Два объекта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6974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Сравнение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4629152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4629152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8354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Только 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2215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Пустой слайд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4929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Объект с подписью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365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Рисунок с подписью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807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Заголовок и вертикальный текст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2602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Вертикальный заголовок и текст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4623594" y="2285209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979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930FC-DEFA-40BB-AC37-83A537755F8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8C234-8948-441D-B9AA-2C6FDCAE6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17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152030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10818" y="365127"/>
            <a:ext cx="8104533" cy="840822"/>
          </a:xfrm>
        </p:spPr>
        <p:txBody>
          <a:bodyPr/>
          <a:lstStyle/>
          <a:p>
            <a:pPr algn="ctr"/>
            <a:r>
              <a:rPr lang="en-US" b="1" dirty="0" smtClean="0"/>
              <a:t>Lecture</a:t>
            </a:r>
            <a:r>
              <a:rPr lang="kk-KZ" b="1" dirty="0" smtClean="0"/>
              <a:t> № 3. 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0088" y="1404730"/>
            <a:ext cx="8260828" cy="47722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900" b="1" dirty="0"/>
              <a:t>Kazakhstan during the Mongol conquest (13th century). The Golden Horde (1243 - </a:t>
            </a:r>
            <a:r>
              <a:rPr lang="en-US" sz="3900" b="1" dirty="0" smtClean="0"/>
              <a:t>mid-15th </a:t>
            </a:r>
            <a:r>
              <a:rPr lang="en-US" sz="3900" b="1" dirty="0"/>
              <a:t>century). Medieval states in the fourteenth and fifteenth centuries. </a:t>
            </a:r>
            <a:endParaRPr lang="ru-RU" sz="3900" b="1" dirty="0" smtClean="0"/>
          </a:p>
          <a:p>
            <a:pPr marL="0" indent="0" algn="ctr">
              <a:buNone/>
            </a:pPr>
            <a:r>
              <a:rPr lang="en-US" sz="3900" b="1" dirty="0" smtClean="0"/>
              <a:t>Plan</a:t>
            </a:r>
            <a:r>
              <a:rPr lang="kk-KZ" sz="3900" b="1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Genghis Khan and the formation of the Mongol </a:t>
            </a:r>
            <a:r>
              <a:rPr lang="en-US" dirty="0" smtClean="0"/>
              <a:t>Empire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Ulys</a:t>
            </a:r>
            <a:r>
              <a:rPr lang="en-US" dirty="0" smtClean="0"/>
              <a:t> </a:t>
            </a:r>
            <a:r>
              <a:rPr lang="en-US" dirty="0" err="1"/>
              <a:t>Dzhuchi</a:t>
            </a:r>
            <a:r>
              <a:rPr lang="en-US" dirty="0"/>
              <a:t> and the Golden </a:t>
            </a:r>
            <a:r>
              <a:rPr lang="en-US" dirty="0" smtClean="0"/>
              <a:t>Horde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Medieval </a:t>
            </a:r>
            <a:r>
              <a:rPr lang="en-US" dirty="0"/>
              <a:t>states of XIV-XV centuries.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100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4558" y="238541"/>
            <a:ext cx="8170793" cy="808383"/>
          </a:xfrm>
        </p:spPr>
        <p:txBody>
          <a:bodyPr>
            <a:normAutofit/>
          </a:bodyPr>
          <a:lstStyle/>
          <a:p>
            <a:r>
              <a:rPr lang="da-DK" b="1" dirty="0"/>
              <a:t>Genghis Khan (1162 (1155)-1227).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4558" y="940904"/>
            <a:ext cx="8494643" cy="5724939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Originated </a:t>
            </a:r>
            <a:r>
              <a:rPr lang="en-US" dirty="0"/>
              <a:t>from the </a:t>
            </a:r>
            <a:r>
              <a:rPr lang="en-US" dirty="0" err="1"/>
              <a:t>kiyat-borzhigin</a:t>
            </a:r>
            <a:r>
              <a:rPr lang="en-US" dirty="0"/>
              <a:t> family (blue-eyed </a:t>
            </a:r>
            <a:r>
              <a:rPr lang="en-US" dirty="0" err="1"/>
              <a:t>kiyats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There </a:t>
            </a:r>
            <a:r>
              <a:rPr lang="en-US" dirty="0"/>
              <a:t>are disputes about the place of birth - Mongolia or Kazakh steppes</a:t>
            </a:r>
            <a:r>
              <a:rPr lang="en-US" dirty="0" smtClean="0"/>
              <a:t>?</a:t>
            </a:r>
          </a:p>
          <a:p>
            <a:r>
              <a:rPr lang="en-US" dirty="0" smtClean="0"/>
              <a:t>His </a:t>
            </a:r>
            <a:r>
              <a:rPr lang="en-US" dirty="0"/>
              <a:t>real name was </a:t>
            </a:r>
            <a:r>
              <a:rPr lang="en-US" dirty="0" err="1"/>
              <a:t>Temuchin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1206 was proclaimed Genghis Khan, which could </a:t>
            </a:r>
            <a:r>
              <a:rPr lang="en-US" dirty="0" err="1"/>
              <a:t>mean:Shyn-khas</a:t>
            </a:r>
            <a:r>
              <a:rPr lang="en-US" dirty="0"/>
              <a:t> khan - truly a real khan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 </a:t>
            </a:r>
            <a:r>
              <a:rPr lang="en-US" dirty="0"/>
              <a:t>stopped inter-clan strife and united steppe tribes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Founder </a:t>
            </a:r>
            <a:r>
              <a:rPr lang="en-US" dirty="0"/>
              <a:t>of the Great Empire</a:t>
            </a:r>
            <a:endParaRPr lang="kk-KZ" dirty="0" smtClean="0"/>
          </a:p>
        </p:txBody>
      </p:sp>
    </p:spTree>
    <p:extLst>
      <p:ext uri="{BB962C8B-B14F-4D97-AF65-F5344CB8AC3E}">
        <p14:creationId xmlns:p14="http://schemas.microsoft.com/office/powerpoint/2010/main" val="47995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087" y="365128"/>
            <a:ext cx="7985263" cy="6420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Genghis Khan's campaigns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087" y="1192696"/>
            <a:ext cx="8269357" cy="536713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1200-1206</a:t>
            </a:r>
            <a:r>
              <a:rPr lang="en-US" dirty="0"/>
              <a:t>, united the steppe tribes of </a:t>
            </a:r>
            <a:r>
              <a:rPr lang="en-US" dirty="0" err="1"/>
              <a:t>Taichiuts</a:t>
            </a:r>
            <a:r>
              <a:rPr lang="en-US" dirty="0"/>
              <a:t>, Tatars, </a:t>
            </a:r>
            <a:r>
              <a:rPr lang="en-US" dirty="0" err="1"/>
              <a:t>Merkits</a:t>
            </a:r>
            <a:r>
              <a:rPr lang="en-US" dirty="0"/>
              <a:t>, </a:t>
            </a:r>
            <a:r>
              <a:rPr lang="en-US" dirty="0" err="1"/>
              <a:t>Oirats</a:t>
            </a:r>
            <a:r>
              <a:rPr lang="en-US" dirty="0"/>
              <a:t>, </a:t>
            </a:r>
            <a:r>
              <a:rPr lang="en-US" dirty="0" err="1"/>
              <a:t>Kereits</a:t>
            </a:r>
            <a:r>
              <a:rPr lang="en-US" dirty="0"/>
              <a:t> and others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Many </a:t>
            </a:r>
            <a:r>
              <a:rPr lang="en-US" dirty="0"/>
              <a:t>tribes submitted independently, without coercion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1207-1211</a:t>
            </a:r>
            <a:r>
              <a:rPr lang="en-US" dirty="0"/>
              <a:t>, subjugated Siberia and East Turkestan (</a:t>
            </a:r>
            <a:r>
              <a:rPr lang="en-US" dirty="0" err="1"/>
              <a:t>Buryats</a:t>
            </a:r>
            <a:r>
              <a:rPr lang="en-US" dirty="0"/>
              <a:t>, </a:t>
            </a:r>
            <a:r>
              <a:rPr lang="en-US" dirty="0" err="1"/>
              <a:t>Yakuts</a:t>
            </a:r>
            <a:r>
              <a:rPr lang="en-US" dirty="0"/>
              <a:t>, Kyrgyz, </a:t>
            </a:r>
            <a:r>
              <a:rPr lang="en-US" dirty="0" err="1"/>
              <a:t>Uigurs</a:t>
            </a:r>
            <a:r>
              <a:rPr lang="en-US" dirty="0" smtClean="0"/>
              <a:t>)</a:t>
            </a:r>
          </a:p>
          <a:p>
            <a:r>
              <a:rPr lang="en-US" dirty="0" smtClean="0"/>
              <a:t>1211-1215 </a:t>
            </a:r>
            <a:r>
              <a:rPr lang="en-US" dirty="0"/>
              <a:t>campaign to China, capture of Peking and subjugation of Northern </a:t>
            </a:r>
            <a:r>
              <a:rPr lang="en-US" dirty="0" smtClean="0"/>
              <a:t>China</a:t>
            </a:r>
          </a:p>
          <a:p>
            <a:r>
              <a:rPr lang="en-US" dirty="0" smtClean="0"/>
              <a:t>1219 </a:t>
            </a:r>
            <a:r>
              <a:rPr lang="en-US" dirty="0"/>
              <a:t>conquest of Korea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35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8296" y="365127"/>
            <a:ext cx="8441634" cy="801064"/>
          </a:xfrm>
        </p:spPr>
        <p:txBody>
          <a:bodyPr>
            <a:normAutofit/>
          </a:bodyPr>
          <a:lstStyle/>
          <a:p>
            <a:r>
              <a:rPr lang="en-US" sz="3200" b="1" dirty="0"/>
              <a:t>Military campaign in Central Asia and Kazakhstan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0817" y="1285462"/>
            <a:ext cx="8468140" cy="523460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Pursuing </a:t>
            </a:r>
            <a:r>
              <a:rPr lang="en-US" dirty="0" err="1"/>
              <a:t>Naimans</a:t>
            </a:r>
            <a:r>
              <a:rPr lang="en-US" dirty="0"/>
              <a:t> reached </a:t>
            </a:r>
            <a:r>
              <a:rPr lang="en-US" dirty="0" err="1"/>
              <a:t>Irgiz</a:t>
            </a:r>
            <a:r>
              <a:rPr lang="en-US" dirty="0"/>
              <a:t> steppe, here they met for the first time with the army of Shah Mohammed of </a:t>
            </a:r>
            <a:r>
              <a:rPr lang="en-US" dirty="0" err="1" smtClean="0"/>
              <a:t>Khorezm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1218-1219 </a:t>
            </a:r>
            <a:r>
              <a:rPr lang="en-US" dirty="0"/>
              <a:t>conquest of </a:t>
            </a:r>
            <a:r>
              <a:rPr lang="en-US" dirty="0" err="1"/>
              <a:t>Semirechye</a:t>
            </a:r>
            <a:r>
              <a:rPr lang="en-US" dirty="0"/>
              <a:t>. Granted freedom of religion to local population, which was limited by </a:t>
            </a:r>
            <a:r>
              <a:rPr lang="en-US" dirty="0" err="1"/>
              <a:t>Kidans</a:t>
            </a:r>
            <a:r>
              <a:rPr lang="en-US" dirty="0"/>
              <a:t>. All cities of </a:t>
            </a:r>
            <a:r>
              <a:rPr lang="en-US" dirty="0" err="1"/>
              <a:t>Semirechye</a:t>
            </a:r>
            <a:r>
              <a:rPr lang="en-US" dirty="0"/>
              <a:t> surrendered without a fight, accepting them as </a:t>
            </a:r>
            <a:r>
              <a:rPr lang="en-US" dirty="0" smtClean="0"/>
              <a:t>liberators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1218 </a:t>
            </a:r>
            <a:r>
              <a:rPr lang="en-US" dirty="0"/>
              <a:t>trade caravan to </a:t>
            </a:r>
            <a:r>
              <a:rPr lang="en-US" dirty="0" err="1"/>
              <a:t>Otrar</a:t>
            </a:r>
            <a:r>
              <a:rPr lang="en-US" dirty="0"/>
              <a:t>, which was exterminated by </a:t>
            </a:r>
            <a:r>
              <a:rPr lang="en-US" dirty="0" err="1"/>
              <a:t>Kair</a:t>
            </a:r>
            <a:r>
              <a:rPr lang="en-US" dirty="0"/>
              <a:t> khan, accusing them of </a:t>
            </a:r>
            <a:r>
              <a:rPr lang="en-US" dirty="0" err="1"/>
              <a:t>espionageCairo</a:t>
            </a:r>
            <a:r>
              <a:rPr lang="en-US" dirty="0"/>
              <a:t> Khan was the nephew of </a:t>
            </a:r>
            <a:r>
              <a:rPr lang="en-US" dirty="0" err="1"/>
              <a:t>Khorezm</a:t>
            </a:r>
            <a:r>
              <a:rPr lang="en-US" dirty="0"/>
              <a:t> Shah. 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Genghis </a:t>
            </a:r>
            <a:r>
              <a:rPr lang="en-US" dirty="0"/>
              <a:t>Khan demanded his extradition, having received a refusal started a war.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816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tom.tilimen.org/otstik-azastan-memlekettik-farmacevtikali-akademiyasi-tehnikal-v2/57353_html_2bfd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7" y="225287"/>
            <a:ext cx="8870941" cy="638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3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6124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The formation of </a:t>
            </a:r>
            <a:r>
              <a:rPr lang="en-US" b="1" dirty="0" err="1" smtClean="0"/>
              <a:t>uluses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6532" y="1175658"/>
            <a:ext cx="8192277" cy="5281127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err="1" smtClean="0"/>
              <a:t>Ulus</a:t>
            </a:r>
            <a:r>
              <a:rPr lang="en-US" dirty="0" smtClean="0"/>
              <a:t> </a:t>
            </a:r>
            <a:r>
              <a:rPr lang="en-US" dirty="0" err="1"/>
              <a:t>Dzhuchi</a:t>
            </a:r>
            <a:r>
              <a:rPr lang="en-US" dirty="0"/>
              <a:t> - from Irtysh to Europe, North-Eastern </a:t>
            </a:r>
            <a:r>
              <a:rPr lang="en-US" dirty="0" err="1"/>
              <a:t>Khorezm</a:t>
            </a:r>
            <a:r>
              <a:rPr lang="en-US" dirty="0"/>
              <a:t>, all of </a:t>
            </a:r>
            <a:r>
              <a:rPr lang="en-US" dirty="0" err="1"/>
              <a:t>Desht</a:t>
            </a:r>
            <a:r>
              <a:rPr lang="en-US" dirty="0"/>
              <a:t>-i </a:t>
            </a:r>
            <a:r>
              <a:rPr lang="en-US" dirty="0" err="1" smtClean="0"/>
              <a:t>Kipchak</a:t>
            </a:r>
            <a:endParaRPr lang="en-US" dirty="0" smtClean="0"/>
          </a:p>
          <a:p>
            <a:r>
              <a:rPr lang="en-US" dirty="0" err="1" smtClean="0"/>
              <a:t>Ulus</a:t>
            </a:r>
            <a:r>
              <a:rPr lang="en-US" dirty="0" smtClean="0"/>
              <a:t> </a:t>
            </a:r>
            <a:r>
              <a:rPr lang="en-US" dirty="0"/>
              <a:t>Chagatai - South Kazakhstan, South-East Kazakhstan, </a:t>
            </a:r>
            <a:r>
              <a:rPr lang="en-US" dirty="0" err="1"/>
              <a:t>Semirechye</a:t>
            </a:r>
            <a:r>
              <a:rPr lang="en-US" dirty="0"/>
              <a:t>, </a:t>
            </a:r>
            <a:r>
              <a:rPr lang="en-US" dirty="0" err="1"/>
              <a:t>Mawrennahr</a:t>
            </a:r>
            <a:r>
              <a:rPr lang="en-US" dirty="0"/>
              <a:t>, East Turkestan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Ulus</a:t>
            </a:r>
            <a:r>
              <a:rPr lang="en-US" dirty="0" smtClean="0"/>
              <a:t> </a:t>
            </a:r>
            <a:r>
              <a:rPr lang="en-US" dirty="0" err="1"/>
              <a:t>Ugedei</a:t>
            </a:r>
            <a:r>
              <a:rPr lang="en-US" dirty="0"/>
              <a:t> - Western Mongolia, </a:t>
            </a:r>
            <a:r>
              <a:rPr lang="en-US" dirty="0" err="1"/>
              <a:t>Tarbagatai</a:t>
            </a:r>
            <a:r>
              <a:rPr lang="en-US" dirty="0"/>
              <a:t>, Altai, Upper Irtysh and North-Eastern territories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Tole</a:t>
            </a:r>
            <a:r>
              <a:rPr lang="en-US" dirty="0" smtClean="0"/>
              <a:t> </a:t>
            </a:r>
            <a:r>
              <a:rPr lang="en-US" dirty="0" err="1"/>
              <a:t>Ulus</a:t>
            </a:r>
            <a:r>
              <a:rPr lang="en-US" dirty="0"/>
              <a:t> - ancestral Mongolian lands, Karakorum - </a:t>
            </a:r>
            <a:r>
              <a:rPr lang="en-US" dirty="0" err="1"/>
              <a:t>kara</a:t>
            </a:r>
            <a:r>
              <a:rPr lang="en-US" dirty="0"/>
              <a:t> </a:t>
            </a:r>
            <a:r>
              <a:rPr lang="en-US" dirty="0" err="1"/>
              <a:t>shanyrak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41529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8" name="Picture 6" descr="https://fhd.multiurok.ru/f/f/d/ffd015b0dbcd6303190e3ab1b195677432d38eca/img1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72" y="202100"/>
            <a:ext cx="8874535" cy="6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29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0531"/>
          </a:xfrm>
        </p:spPr>
        <p:txBody>
          <a:bodyPr/>
          <a:lstStyle/>
          <a:p>
            <a:pPr algn="ctr"/>
            <a:r>
              <a:rPr lang="en-US" b="1" dirty="0" smtClean="0"/>
              <a:t>Golden Horde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580" y="1175657"/>
            <a:ext cx="8621485" cy="53371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1237-1240 </a:t>
            </a:r>
            <a:r>
              <a:rPr lang="en-US" dirty="0" err="1"/>
              <a:t>Batyi's</a:t>
            </a:r>
            <a:r>
              <a:rPr lang="en-US" dirty="0"/>
              <a:t> campaign in Europe, up to the Adriatic </a:t>
            </a:r>
            <a:r>
              <a:rPr lang="en-US" dirty="0" smtClean="0"/>
              <a:t>Sea</a:t>
            </a:r>
          </a:p>
          <a:p>
            <a:r>
              <a:rPr lang="en-US" dirty="0" smtClean="0"/>
              <a:t>1241 </a:t>
            </a:r>
            <a:r>
              <a:rPr lang="en-US" dirty="0"/>
              <a:t>has established the capital - Horde on coast of the river </a:t>
            </a:r>
            <a:r>
              <a:rPr lang="en-US" dirty="0" err="1"/>
              <a:t>Edil</a:t>
            </a:r>
            <a:r>
              <a:rPr lang="en-US" dirty="0"/>
              <a:t> (Volga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</a:t>
            </a:r>
            <a:r>
              <a:rPr lang="en-US" dirty="0"/>
              <a:t>state in history is called </a:t>
            </a:r>
            <a:r>
              <a:rPr lang="en-US" dirty="0" err="1"/>
              <a:t>Ulug</a:t>
            </a:r>
            <a:r>
              <a:rPr lang="en-US" dirty="0"/>
              <a:t> </a:t>
            </a:r>
            <a:r>
              <a:rPr lang="en-US" dirty="0" err="1"/>
              <a:t>Ulus</a:t>
            </a:r>
            <a:r>
              <a:rPr lang="en-US" dirty="0"/>
              <a:t> (Great </a:t>
            </a:r>
            <a:r>
              <a:rPr lang="en-US" dirty="0" err="1"/>
              <a:t>Ulus</a:t>
            </a:r>
            <a:r>
              <a:rPr lang="en-US" dirty="0"/>
              <a:t>), Golden Horde is called only in Russian sources of late time (mistakes of historians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Palaces </a:t>
            </a:r>
            <a:r>
              <a:rPr lang="en-US" dirty="0"/>
              <a:t>in the cities of </a:t>
            </a:r>
            <a:r>
              <a:rPr lang="en-US" dirty="0" err="1"/>
              <a:t>Sarai-Batu</a:t>
            </a:r>
            <a:r>
              <a:rPr lang="en-US" dirty="0"/>
              <a:t>, then </a:t>
            </a:r>
            <a:r>
              <a:rPr lang="en-US" dirty="0" err="1"/>
              <a:t>Sarai-Berke</a:t>
            </a:r>
            <a:r>
              <a:rPr lang="en-US" dirty="0"/>
              <a:t> were covered with gold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Territory </a:t>
            </a:r>
            <a:r>
              <a:rPr lang="en-US" dirty="0"/>
              <a:t>- former </a:t>
            </a:r>
            <a:r>
              <a:rPr lang="en-US" dirty="0" err="1" smtClean="0"/>
              <a:t>Dasht-i-Kypshak</a:t>
            </a:r>
            <a:endParaRPr lang="en-US" dirty="0" smtClean="0"/>
          </a:p>
          <a:p>
            <a:r>
              <a:rPr lang="en-US" dirty="0" smtClean="0"/>
              <a:t>East – </a:t>
            </a:r>
            <a:r>
              <a:rPr lang="en-US" dirty="0" err="1" smtClean="0"/>
              <a:t>Ertis</a:t>
            </a:r>
            <a:endParaRPr lang="en-US" dirty="0" smtClean="0"/>
          </a:p>
          <a:p>
            <a:r>
              <a:rPr lang="en-US" dirty="0" smtClean="0"/>
              <a:t>West </a:t>
            </a:r>
            <a:r>
              <a:rPr lang="en-US" dirty="0"/>
              <a:t>- Dniester and </a:t>
            </a:r>
            <a:r>
              <a:rPr lang="en-US" dirty="0" smtClean="0"/>
              <a:t>Danube</a:t>
            </a:r>
          </a:p>
          <a:p>
            <a:r>
              <a:rPr lang="en-US" dirty="0" smtClean="0"/>
              <a:t>South </a:t>
            </a:r>
            <a:r>
              <a:rPr lang="en-US" dirty="0"/>
              <a:t>- lower reaches of </a:t>
            </a:r>
            <a:r>
              <a:rPr lang="en-US" dirty="0" err="1"/>
              <a:t>Syr</a:t>
            </a:r>
            <a:r>
              <a:rPr lang="en-US" dirty="0"/>
              <a:t> Darya, </a:t>
            </a:r>
            <a:r>
              <a:rPr lang="en-US" dirty="0" err="1"/>
              <a:t>Khorezm</a:t>
            </a:r>
            <a:r>
              <a:rPr lang="en-US" dirty="0"/>
              <a:t>, North </a:t>
            </a:r>
            <a:r>
              <a:rPr lang="en-US" dirty="0" smtClean="0"/>
              <a:t>Caucasus</a:t>
            </a:r>
          </a:p>
          <a:p>
            <a:r>
              <a:rPr lang="en-US" dirty="0" smtClean="0"/>
              <a:t>North </a:t>
            </a:r>
            <a:r>
              <a:rPr lang="en-US" dirty="0"/>
              <a:t>- </a:t>
            </a:r>
            <a:r>
              <a:rPr lang="en-US" dirty="0" err="1"/>
              <a:t>Iber</a:t>
            </a:r>
            <a:r>
              <a:rPr lang="en-US" dirty="0"/>
              <a:t>-Siberian forests (Siberia)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02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26337"/>
            <a:ext cx="9144000" cy="679010"/>
          </a:xfrm>
        </p:spPr>
        <p:txBody>
          <a:bodyPr>
            <a:normAutofit/>
          </a:bodyPr>
          <a:lstStyle/>
          <a:p>
            <a:r>
              <a:rPr lang="en-US" sz="3600" b="1" dirty="0"/>
              <a:t>The system of governance is </a:t>
            </a:r>
            <a:r>
              <a:rPr lang="en-US" sz="3600" b="1" dirty="0" smtClean="0"/>
              <a:t>Steppe and </a:t>
            </a:r>
            <a:r>
              <a:rPr lang="en-US" sz="3600" b="1" dirty="0"/>
              <a:t>Turkic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765" y="1113576"/>
            <a:ext cx="8509334" cy="5305884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main population was  </a:t>
            </a:r>
            <a:r>
              <a:rPr lang="en-US" dirty="0" err="1" smtClean="0"/>
              <a:t>Kipchaks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The territory consisted of three </a:t>
            </a:r>
            <a:r>
              <a:rPr lang="en-US" dirty="0" err="1"/>
              <a:t>ulus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Ak</a:t>
            </a:r>
            <a:r>
              <a:rPr lang="en-US" dirty="0" smtClean="0"/>
              <a:t> </a:t>
            </a:r>
            <a:r>
              <a:rPr lang="en-US" dirty="0" err="1"/>
              <a:t>Orda</a:t>
            </a:r>
            <a:r>
              <a:rPr lang="en-US" dirty="0"/>
              <a:t> (White) - </a:t>
            </a:r>
            <a:r>
              <a:rPr lang="en-US" dirty="0" err="1"/>
              <a:t>ulus</a:t>
            </a:r>
            <a:r>
              <a:rPr lang="en-US" dirty="0"/>
              <a:t> of </a:t>
            </a:r>
            <a:r>
              <a:rPr lang="en-US" dirty="0" err="1"/>
              <a:t>Orda</a:t>
            </a:r>
            <a:r>
              <a:rPr lang="en-US" dirty="0"/>
              <a:t> </a:t>
            </a:r>
            <a:r>
              <a:rPr lang="en-US" dirty="0" err="1"/>
              <a:t>Yezhen</a:t>
            </a:r>
            <a:r>
              <a:rPr lang="en-US" dirty="0"/>
              <a:t> (</a:t>
            </a:r>
            <a:r>
              <a:rPr lang="en-US" dirty="0" err="1"/>
              <a:t>Batu's</a:t>
            </a:r>
            <a:r>
              <a:rPr lang="en-US" dirty="0"/>
              <a:t> older brother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Kok</a:t>
            </a:r>
            <a:r>
              <a:rPr lang="en-US" dirty="0" smtClean="0"/>
              <a:t> </a:t>
            </a:r>
            <a:r>
              <a:rPr lang="en-US" dirty="0" err="1"/>
              <a:t>Orda</a:t>
            </a:r>
            <a:r>
              <a:rPr lang="en-US" dirty="0"/>
              <a:t> (Blue) - </a:t>
            </a:r>
            <a:r>
              <a:rPr lang="en-US" dirty="0" err="1"/>
              <a:t>ulus</a:t>
            </a:r>
            <a:r>
              <a:rPr lang="en-US" dirty="0"/>
              <a:t> of </a:t>
            </a:r>
            <a:r>
              <a:rPr lang="en-US" dirty="0" err="1"/>
              <a:t>Shaiban</a:t>
            </a:r>
            <a:r>
              <a:rPr lang="en-US" dirty="0"/>
              <a:t> (</a:t>
            </a:r>
            <a:r>
              <a:rPr lang="en-US" dirty="0" err="1"/>
              <a:t>Batu's</a:t>
            </a:r>
            <a:r>
              <a:rPr lang="en-US" dirty="0"/>
              <a:t> younger brother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Ulug</a:t>
            </a:r>
            <a:r>
              <a:rPr lang="en-US" dirty="0" smtClean="0"/>
              <a:t> </a:t>
            </a:r>
            <a:r>
              <a:rPr lang="en-US" dirty="0"/>
              <a:t>Horde (Great, Golden) - </a:t>
            </a:r>
            <a:r>
              <a:rPr lang="en-US" dirty="0" err="1"/>
              <a:t>Batu's</a:t>
            </a:r>
            <a:r>
              <a:rPr lang="en-US" dirty="0"/>
              <a:t> </a:t>
            </a:r>
            <a:r>
              <a:rPr lang="en-US" dirty="0" err="1"/>
              <a:t>ulus</a:t>
            </a:r>
            <a:endParaRPr lang="kk-KZ" dirty="0" smtClean="0"/>
          </a:p>
        </p:txBody>
      </p:sp>
    </p:spTree>
    <p:extLst>
      <p:ext uri="{BB962C8B-B14F-4D97-AF65-F5344CB8AC3E}">
        <p14:creationId xmlns:p14="http://schemas.microsoft.com/office/powerpoint/2010/main" val="388219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7242" y="365127"/>
            <a:ext cx="8198109" cy="3626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Main KHANS</a:t>
            </a:r>
            <a:r>
              <a:rPr lang="kk-KZ" b="1" dirty="0" smtClean="0"/>
              <a:t>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123" y="805757"/>
            <a:ext cx="8809022" cy="5920967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Batu</a:t>
            </a:r>
            <a:r>
              <a:rPr lang="en-US" dirty="0"/>
              <a:t> - 1241-1256 founder of the state, known as "</a:t>
            </a:r>
            <a:r>
              <a:rPr lang="en-US" dirty="0" err="1"/>
              <a:t>Sayin</a:t>
            </a:r>
            <a:r>
              <a:rPr lang="en-US" dirty="0"/>
              <a:t> Khan" </a:t>
            </a:r>
            <a:endParaRPr lang="en-US" dirty="0" smtClean="0"/>
          </a:p>
          <a:p>
            <a:r>
              <a:rPr lang="en-US" dirty="0" err="1" smtClean="0"/>
              <a:t>Berke</a:t>
            </a:r>
            <a:r>
              <a:rPr lang="en-US" dirty="0" smtClean="0"/>
              <a:t> </a:t>
            </a:r>
            <a:r>
              <a:rPr lang="en-US" dirty="0"/>
              <a:t>- 1257-1266. - Conducted independent economic policy, traded with the </a:t>
            </a:r>
            <a:r>
              <a:rPr lang="en-US" dirty="0" err="1"/>
              <a:t>Mamluks</a:t>
            </a:r>
            <a:r>
              <a:rPr lang="en-US" dirty="0"/>
              <a:t> of Egypt, Caucasus, Ottoman Empire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Mengu-Temir</a:t>
            </a:r>
            <a:r>
              <a:rPr lang="en-US" dirty="0" smtClean="0"/>
              <a:t> </a:t>
            </a:r>
            <a:r>
              <a:rPr lang="en-US" dirty="0"/>
              <a:t>- 1266-1280 - independent political actions - printed his own money, refused to go to the </a:t>
            </a:r>
            <a:r>
              <a:rPr lang="en-US" dirty="0" err="1"/>
              <a:t>kurultai</a:t>
            </a:r>
            <a:r>
              <a:rPr lang="en-US" dirty="0"/>
              <a:t> at </a:t>
            </a:r>
            <a:r>
              <a:rPr lang="en-US" dirty="0" smtClean="0"/>
              <a:t>Karakorum</a:t>
            </a:r>
          </a:p>
          <a:p>
            <a:r>
              <a:rPr lang="en-US" dirty="0" err="1" smtClean="0"/>
              <a:t>Tudai-Monke</a:t>
            </a:r>
            <a:r>
              <a:rPr lang="en-US" dirty="0" smtClean="0"/>
              <a:t> </a:t>
            </a:r>
            <a:r>
              <a:rPr lang="en-US" dirty="0"/>
              <a:t>- </a:t>
            </a:r>
            <a:r>
              <a:rPr lang="en-US" dirty="0" smtClean="0"/>
              <a:t>1280-1287</a:t>
            </a:r>
          </a:p>
          <a:p>
            <a:r>
              <a:rPr lang="en-US" dirty="0" err="1" smtClean="0"/>
              <a:t>Tole</a:t>
            </a:r>
            <a:r>
              <a:rPr lang="en-US" dirty="0" smtClean="0"/>
              <a:t> </a:t>
            </a:r>
            <a:r>
              <a:rPr lang="en-US" dirty="0" err="1"/>
              <a:t>Buka</a:t>
            </a:r>
            <a:r>
              <a:rPr lang="en-US" dirty="0"/>
              <a:t> - </a:t>
            </a:r>
            <a:r>
              <a:rPr lang="en-US" dirty="0" smtClean="0"/>
              <a:t>1287-1291</a:t>
            </a:r>
          </a:p>
          <a:p>
            <a:r>
              <a:rPr lang="en-US" dirty="0" smtClean="0"/>
              <a:t>Tokai-</a:t>
            </a:r>
            <a:r>
              <a:rPr lang="en-US" dirty="0" err="1" smtClean="0"/>
              <a:t>Temir</a:t>
            </a:r>
            <a:r>
              <a:rPr lang="en-US" dirty="0" smtClean="0"/>
              <a:t> </a:t>
            </a:r>
            <a:r>
              <a:rPr lang="en-US" dirty="0"/>
              <a:t>- </a:t>
            </a:r>
            <a:r>
              <a:rPr lang="en-US" dirty="0" smtClean="0"/>
              <a:t>1291-1312</a:t>
            </a:r>
          </a:p>
          <a:p>
            <a:r>
              <a:rPr lang="en-US" dirty="0" smtClean="0"/>
              <a:t>Uzbek </a:t>
            </a:r>
            <a:r>
              <a:rPr lang="en-US" dirty="0"/>
              <a:t>(</a:t>
            </a:r>
            <a:r>
              <a:rPr lang="en-US" dirty="0" err="1"/>
              <a:t>Giyas</a:t>
            </a:r>
            <a:r>
              <a:rPr lang="en-US" dirty="0"/>
              <a:t>-Ad din </a:t>
            </a:r>
            <a:r>
              <a:rPr lang="en-US" dirty="0" err="1"/>
              <a:t>Muhammed</a:t>
            </a:r>
            <a:r>
              <a:rPr lang="en-US" dirty="0"/>
              <a:t> Khan) - 1312-1342 - proclaimed Islam as the state religion </a:t>
            </a:r>
            <a:endParaRPr lang="en-US" dirty="0" smtClean="0"/>
          </a:p>
          <a:p>
            <a:r>
              <a:rPr lang="en-US" dirty="0" err="1" smtClean="0"/>
              <a:t>Zhanibek</a:t>
            </a:r>
            <a:r>
              <a:rPr lang="en-US" dirty="0" smtClean="0"/>
              <a:t> </a:t>
            </a:r>
            <a:r>
              <a:rPr lang="en-US" dirty="0"/>
              <a:t>- the heyday of the state - </a:t>
            </a:r>
            <a:r>
              <a:rPr lang="en-US" dirty="0" smtClean="0"/>
              <a:t>1343-1357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45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232" y="544166"/>
            <a:ext cx="8198109" cy="3626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Golden Horde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7241" y="522516"/>
            <a:ext cx="8198110" cy="6064897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From </a:t>
            </a:r>
            <a:r>
              <a:rPr lang="en-US" dirty="0" err="1"/>
              <a:t>Berdybek</a:t>
            </a:r>
            <a:r>
              <a:rPr lang="en-US" dirty="0"/>
              <a:t> to </a:t>
            </a:r>
            <a:r>
              <a:rPr lang="en-US" dirty="0" err="1"/>
              <a:t>Urus</a:t>
            </a:r>
            <a:r>
              <a:rPr lang="en-US" dirty="0"/>
              <a:t> khan, in 1361-1376, 26 khans were </a:t>
            </a:r>
            <a:r>
              <a:rPr lang="en-US" dirty="0" smtClean="0"/>
              <a:t>replaced</a:t>
            </a:r>
            <a:endParaRPr lang="ru-RU" dirty="0" smtClean="0"/>
          </a:p>
          <a:p>
            <a:r>
              <a:rPr lang="en-US" dirty="0" smtClean="0"/>
              <a:t>1378-1379 </a:t>
            </a:r>
            <a:r>
              <a:rPr lang="en-US" dirty="0"/>
              <a:t>under </a:t>
            </a:r>
            <a:r>
              <a:rPr lang="en-US" dirty="0" err="1"/>
              <a:t>Tokhtamys</a:t>
            </a:r>
            <a:r>
              <a:rPr lang="en-US" dirty="0"/>
              <a:t> khan it split into four possessions</a:t>
            </a:r>
            <a:r>
              <a:rPr lang="en-US" dirty="0" smtClean="0"/>
              <a:t>.</a:t>
            </a:r>
          </a:p>
          <a:p>
            <a:r>
              <a:rPr lang="en-US" dirty="0"/>
              <a:t>Collapse </a:t>
            </a:r>
            <a:r>
              <a:rPr lang="en-US" dirty="0" smtClean="0"/>
              <a:t>in XV century.</a:t>
            </a:r>
            <a:endParaRPr lang="ru-RU" dirty="0" smtClean="0"/>
          </a:p>
          <a:p>
            <a:r>
              <a:rPr lang="en-US" dirty="0" smtClean="0"/>
              <a:t>Causes:</a:t>
            </a:r>
            <a:endParaRPr lang="ru-RU" dirty="0" smtClean="0"/>
          </a:p>
          <a:p>
            <a:pPr>
              <a:buFontTx/>
              <a:buChar char="-"/>
            </a:pPr>
            <a:r>
              <a:rPr lang="en-US" dirty="0" smtClean="0"/>
              <a:t>Internecine </a:t>
            </a:r>
            <a:r>
              <a:rPr lang="en-US" dirty="0"/>
              <a:t>struggle for the </a:t>
            </a:r>
            <a:r>
              <a:rPr lang="en-US" dirty="0" smtClean="0"/>
              <a:t>throne</a:t>
            </a:r>
          </a:p>
          <a:p>
            <a:pPr>
              <a:buFontTx/>
              <a:buChar char="-"/>
            </a:pPr>
            <a:r>
              <a:rPr lang="en-US" dirty="0" smtClean="0"/>
              <a:t>Separatism </a:t>
            </a:r>
            <a:endParaRPr lang="ru-RU" dirty="0" smtClean="0"/>
          </a:p>
          <a:p>
            <a:pPr>
              <a:buFontTx/>
              <a:buChar char="-"/>
            </a:pPr>
            <a:r>
              <a:rPr lang="en-US" dirty="0" err="1" smtClean="0"/>
              <a:t>Timur's</a:t>
            </a:r>
            <a:r>
              <a:rPr lang="en-US" dirty="0" smtClean="0"/>
              <a:t> campaigns</a:t>
            </a:r>
          </a:p>
          <a:p>
            <a:pPr>
              <a:buFontTx/>
              <a:buChar char="-"/>
            </a:pPr>
            <a:r>
              <a:rPr lang="en-US" dirty="0" smtClean="0"/>
              <a:t>Plague </a:t>
            </a:r>
            <a:r>
              <a:rPr lang="en-US" dirty="0"/>
              <a:t>pandemic in Europe (increased migration and weakened trade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61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Collapse of the Golden Horde (end of 15 century) </a:t>
            </a:r>
            <a:endParaRPr lang="ru-RU" sz="2800" b="1" dirty="0"/>
          </a:p>
        </p:txBody>
      </p:sp>
      <p:sp>
        <p:nvSpPr>
          <p:cNvPr id="4" name="AutoShape 4" descr="https://upload.wikimedia.org/wikipedia/commons/2/22/%D0%A0%D0%B0%D1%81%D0%BF%D0%B0%D0%B4_%D0%97%D0%BE%D0%BB%D0%BE%D1%82%D0%BE%D0%B9_%D0%9E%D1%80%D0%B4%D1%8B.png"/>
          <p:cNvSpPr>
            <a:spLocks noChangeAspect="1" noChangeArrowheads="1"/>
          </p:cNvSpPr>
          <p:nvPr/>
        </p:nvSpPr>
        <p:spPr bwMode="auto">
          <a:xfrm>
            <a:off x="155575" y="-136525"/>
            <a:ext cx="296863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919036"/>
            <a:ext cx="7886700" cy="4164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118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97650" y="0"/>
            <a:ext cx="924165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337929" y="849591"/>
            <a:ext cx="7981124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Mongol Successor States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Moghulistan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State of nomadic Uzbeks (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Abulkhair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Khanate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Nogai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Horde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Khanate of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Sibir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70994" y="4541337"/>
            <a:ext cx="46018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lang="ru-RU" sz="2800" kern="0" dirty="0">
              <a:solidFill>
                <a:srgbClr val="002060"/>
              </a:solidFill>
              <a:cs typeface="Arial"/>
              <a:sym typeface="Arial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034371" y="5066097"/>
            <a:ext cx="18473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Font typeface="Arial"/>
              <a:buNone/>
            </a:pPr>
            <a:endParaRPr lang="ru-RU" kern="0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470995" y="3980671"/>
            <a:ext cx="7881731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None/>
            </a:pPr>
            <a:endParaRPr lang="ru-RU" sz="1400" kern="0" dirty="0" smtClean="0">
              <a:solidFill>
                <a:srgbClr val="000000"/>
              </a:solidFill>
              <a:latin typeface="Times New Roman"/>
              <a:ea typeface="Times New Roman"/>
              <a:cs typeface="Calibri"/>
              <a:sym typeface="Arial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None/>
            </a:pPr>
            <a:endParaRPr lang="ru-RU" sz="2000" b="1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  <a:sym typeface="Arial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759824"/>
              </p:ext>
            </p:extLst>
          </p:nvPr>
        </p:nvGraphicFramePr>
        <p:xfrm>
          <a:off x="569843" y="2495191"/>
          <a:ext cx="7434471" cy="10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4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Formation</a:t>
                      </a:r>
                      <a:endParaRPr lang="ru-RU" sz="2000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Territory &amp; Rulers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Political</a:t>
                      </a:r>
                      <a:r>
                        <a:rPr lang="en-US" sz="2000" baseline="0" dirty="0" smtClean="0"/>
                        <a:t> History</a:t>
                      </a:r>
                      <a:endParaRPr lang="ru-RU" sz="2000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State Structure</a:t>
                      </a:r>
                      <a:endParaRPr lang="ru-RU" sz="2000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Reasons of Collapse</a:t>
                      </a:r>
                      <a:endParaRPr lang="ru-RU" sz="2000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16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8296" y="245205"/>
            <a:ext cx="8237054" cy="5890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Ak</a:t>
            </a:r>
            <a:r>
              <a:rPr lang="en-US" dirty="0"/>
              <a:t> Horde (XIII - early XV)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8297" y="834238"/>
            <a:ext cx="8375374" cy="57164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eastern part of the </a:t>
            </a:r>
            <a:r>
              <a:rPr lang="en-US" dirty="0" err="1"/>
              <a:t>ulus</a:t>
            </a:r>
            <a:r>
              <a:rPr lang="en-US" dirty="0"/>
              <a:t> of </a:t>
            </a:r>
            <a:r>
              <a:rPr lang="en-US" dirty="0" err="1"/>
              <a:t>Djuchi</a:t>
            </a:r>
            <a:r>
              <a:rPr lang="en-US" dirty="0"/>
              <a:t> - the eldest son - </a:t>
            </a:r>
            <a:r>
              <a:rPr lang="en-US" dirty="0" err="1"/>
              <a:t>Yezhen's</a:t>
            </a:r>
            <a:r>
              <a:rPr lang="en-US" dirty="0"/>
              <a:t> </a:t>
            </a:r>
            <a:r>
              <a:rPr lang="en-US" dirty="0" smtClean="0"/>
              <a:t>Horde</a:t>
            </a:r>
            <a:endParaRPr lang="ru-RU" dirty="0" smtClean="0"/>
          </a:p>
          <a:p>
            <a:r>
              <a:rPr lang="en-US" dirty="0" smtClean="0"/>
              <a:t>Territory </a:t>
            </a:r>
            <a:r>
              <a:rPr lang="en-US" dirty="0"/>
              <a:t>- from </a:t>
            </a:r>
            <a:r>
              <a:rPr lang="en-US" dirty="0" err="1"/>
              <a:t>Zhaik</a:t>
            </a:r>
            <a:r>
              <a:rPr lang="en-US" dirty="0"/>
              <a:t> to Irtysh, </a:t>
            </a:r>
            <a:r>
              <a:rPr lang="en-US" dirty="0" err="1"/>
              <a:t>Syr</a:t>
            </a:r>
            <a:r>
              <a:rPr lang="en-US" dirty="0"/>
              <a:t> Darya, Aral, to Siberian forests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Capital – </a:t>
            </a:r>
            <a:r>
              <a:rPr lang="en-US" dirty="0" err="1" smtClean="0"/>
              <a:t>Syganak</a:t>
            </a:r>
            <a:endParaRPr lang="ru-RU" dirty="0" smtClean="0"/>
          </a:p>
          <a:p>
            <a:r>
              <a:rPr lang="en-US" dirty="0" smtClean="0"/>
              <a:t>Stages </a:t>
            </a:r>
            <a:r>
              <a:rPr lang="en-US" dirty="0"/>
              <a:t>of development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en-US" dirty="0" smtClean="0"/>
              <a:t>Struggle </a:t>
            </a:r>
            <a:r>
              <a:rPr lang="en-US" dirty="0"/>
              <a:t>for independence from </a:t>
            </a:r>
            <a:r>
              <a:rPr lang="en-US" dirty="0" err="1"/>
              <a:t>Ulug</a:t>
            </a:r>
            <a:r>
              <a:rPr lang="en-US" dirty="0"/>
              <a:t> </a:t>
            </a:r>
            <a:r>
              <a:rPr lang="en-US" dirty="0" err="1"/>
              <a:t>Ulus</a:t>
            </a:r>
            <a:r>
              <a:rPr lang="en-US" dirty="0"/>
              <a:t> (</a:t>
            </a:r>
            <a:r>
              <a:rPr lang="en-US" dirty="0" err="1"/>
              <a:t>Altyn</a:t>
            </a:r>
            <a:r>
              <a:rPr lang="en-US" dirty="0"/>
              <a:t> Horde) (1242-1361) - khans </a:t>
            </a:r>
            <a:r>
              <a:rPr lang="en-US" dirty="0" err="1"/>
              <a:t>Erzen</a:t>
            </a:r>
            <a:r>
              <a:rPr lang="en-US" dirty="0"/>
              <a:t>, </a:t>
            </a:r>
            <a:r>
              <a:rPr lang="en-US" dirty="0" err="1"/>
              <a:t>Mүbarak</a:t>
            </a:r>
            <a:r>
              <a:rPr lang="en-US" dirty="0"/>
              <a:t> </a:t>
            </a:r>
            <a:r>
              <a:rPr lang="en-US" dirty="0" err="1"/>
              <a:t>Қожа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Management </a:t>
            </a:r>
            <a:r>
              <a:rPr lang="en-US" dirty="0"/>
              <a:t>of affairs of </a:t>
            </a:r>
            <a:r>
              <a:rPr lang="en-US" dirty="0" err="1"/>
              <a:t>Ulug</a:t>
            </a:r>
            <a:r>
              <a:rPr lang="en-US" dirty="0"/>
              <a:t> </a:t>
            </a:r>
            <a:r>
              <a:rPr lang="en-US" dirty="0" err="1"/>
              <a:t>Ulus</a:t>
            </a:r>
            <a:r>
              <a:rPr lang="en-US" dirty="0"/>
              <a:t> (</a:t>
            </a:r>
            <a:r>
              <a:rPr lang="en-US" dirty="0" err="1"/>
              <a:t>Altyn</a:t>
            </a:r>
            <a:r>
              <a:rPr lang="en-US" dirty="0"/>
              <a:t> Horde) (1361-1377) - </a:t>
            </a:r>
            <a:r>
              <a:rPr lang="en-US" dirty="0" err="1"/>
              <a:t>Shymtai</a:t>
            </a:r>
            <a:r>
              <a:rPr lang="en-US" dirty="0"/>
              <a:t>, </a:t>
            </a:r>
            <a:r>
              <a:rPr lang="en-US" dirty="0" err="1"/>
              <a:t>Urus</a:t>
            </a:r>
            <a:r>
              <a:rPr lang="en-US" dirty="0"/>
              <a:t> khans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dirty="0"/>
              <a:t>Punishment by </a:t>
            </a:r>
            <a:r>
              <a:rPr lang="en-US" dirty="0" err="1"/>
              <a:t>Urus</a:t>
            </a:r>
            <a:r>
              <a:rPr lang="en-US" dirty="0"/>
              <a:t> khan of the emir of </a:t>
            </a:r>
            <a:r>
              <a:rPr lang="en-US" dirty="0" err="1"/>
              <a:t>Mangistau</a:t>
            </a:r>
            <a:r>
              <a:rPr lang="en-US" dirty="0"/>
              <a:t> - Toy-</a:t>
            </a:r>
            <a:r>
              <a:rPr lang="en-US" dirty="0" err="1"/>
              <a:t>Khoja</a:t>
            </a:r>
            <a:r>
              <a:rPr lang="en-US" dirty="0"/>
              <a:t> for refusal to participate in the campaign to </a:t>
            </a:r>
            <a:r>
              <a:rPr lang="en-US" dirty="0" err="1"/>
              <a:t>Sarai</a:t>
            </a:r>
            <a:r>
              <a:rPr lang="en-US" dirty="0"/>
              <a:t> </a:t>
            </a:r>
            <a:r>
              <a:rPr lang="en-US" dirty="0" err="1" smtClean="0"/>
              <a:t>Batu</a:t>
            </a:r>
            <a:endParaRPr lang="ru-RU" dirty="0" smtClean="0"/>
          </a:p>
          <a:p>
            <a:r>
              <a:rPr lang="en-US" dirty="0" smtClean="0"/>
              <a:t>Toy-</a:t>
            </a:r>
            <a:r>
              <a:rPr lang="en-US" dirty="0" err="1" smtClean="0"/>
              <a:t>Khoja's</a:t>
            </a:r>
            <a:r>
              <a:rPr lang="en-US" dirty="0" smtClean="0"/>
              <a:t> </a:t>
            </a:r>
            <a:r>
              <a:rPr lang="en-US" dirty="0"/>
              <a:t>son </a:t>
            </a:r>
            <a:r>
              <a:rPr lang="en-US" dirty="0" err="1"/>
              <a:t>Toktamys</a:t>
            </a:r>
            <a:r>
              <a:rPr lang="en-US" dirty="0"/>
              <a:t> fled to </a:t>
            </a:r>
            <a:r>
              <a:rPr lang="en-US" dirty="0" err="1"/>
              <a:t>Timur</a:t>
            </a:r>
            <a:r>
              <a:rPr lang="en-US" dirty="0"/>
              <a:t> and received help from him for possession of the throne of the Great Horde, in 1379 they captured the </a:t>
            </a:r>
            <a:r>
              <a:rPr lang="en-US" dirty="0" err="1"/>
              <a:t>Ak</a:t>
            </a:r>
            <a:r>
              <a:rPr lang="en-US" dirty="0"/>
              <a:t> Horde, and in 1380. Golden Horde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3The </a:t>
            </a:r>
            <a:r>
              <a:rPr lang="en-US" dirty="0"/>
              <a:t>period of struggle with </a:t>
            </a:r>
            <a:r>
              <a:rPr lang="en-US" dirty="0" err="1"/>
              <a:t>Temir</a:t>
            </a:r>
            <a:r>
              <a:rPr lang="en-US" dirty="0"/>
              <a:t> and his descendants (1377-1428).During the reign of </a:t>
            </a:r>
            <a:r>
              <a:rPr lang="en-US" dirty="0" err="1"/>
              <a:t>Urus</a:t>
            </a:r>
            <a:r>
              <a:rPr lang="en-US" dirty="0"/>
              <a:t>' grandson Barak Khan the state was strengthened again, but after his death, in 1428, the power passed into the hands of </a:t>
            </a:r>
            <a:r>
              <a:rPr lang="en-US" dirty="0" err="1"/>
              <a:t>Shiban's</a:t>
            </a:r>
            <a:r>
              <a:rPr lang="en-US" dirty="0"/>
              <a:t> descendants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91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227" y="391631"/>
            <a:ext cx="8065645" cy="594244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Moghulistan</a:t>
            </a:r>
            <a:r>
              <a:rPr lang="en-US" b="1" dirty="0"/>
              <a:t> (1318-1514).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803" y="1154244"/>
            <a:ext cx="8559384" cy="55313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the 15th century, the </a:t>
            </a:r>
            <a:r>
              <a:rPr lang="en-US" dirty="0" err="1"/>
              <a:t>Ulus</a:t>
            </a:r>
            <a:r>
              <a:rPr lang="en-US" dirty="0"/>
              <a:t> Chagatai disintegrated, in the eastern territory under the influence of Emir </a:t>
            </a:r>
            <a:r>
              <a:rPr lang="en-US" dirty="0" err="1"/>
              <a:t>Bolatchi</a:t>
            </a:r>
            <a:r>
              <a:rPr lang="en-US" dirty="0"/>
              <a:t>, </a:t>
            </a:r>
            <a:r>
              <a:rPr lang="en-US" dirty="0" err="1"/>
              <a:t>Togluk</a:t>
            </a:r>
            <a:r>
              <a:rPr lang="en-US" dirty="0"/>
              <a:t> </a:t>
            </a:r>
            <a:r>
              <a:rPr lang="en-US" dirty="0" err="1"/>
              <a:t>Timur</a:t>
            </a:r>
            <a:r>
              <a:rPr lang="en-US" dirty="0"/>
              <a:t> was elected khan in 1348.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1358 he killed </a:t>
            </a:r>
            <a:r>
              <a:rPr lang="en-US" dirty="0" err="1"/>
              <a:t>Kazagan</a:t>
            </a:r>
            <a:r>
              <a:rPr lang="en-US" dirty="0"/>
              <a:t> Khan and subjugated the territories of </a:t>
            </a:r>
            <a:r>
              <a:rPr lang="en-US" dirty="0" err="1"/>
              <a:t>Mawrennahr</a:t>
            </a:r>
            <a:r>
              <a:rPr lang="en-US" dirty="0"/>
              <a:t> (between the </a:t>
            </a:r>
            <a:r>
              <a:rPr lang="en-US" dirty="0" err="1"/>
              <a:t>Syr</a:t>
            </a:r>
            <a:r>
              <a:rPr lang="en-US" dirty="0"/>
              <a:t> Darya and Amu Darya rivers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Kazagan's</a:t>
            </a:r>
            <a:r>
              <a:rPr lang="en-US" dirty="0" smtClean="0"/>
              <a:t> </a:t>
            </a:r>
            <a:r>
              <a:rPr lang="en-US" dirty="0"/>
              <a:t>son-in-law </a:t>
            </a:r>
            <a:r>
              <a:rPr lang="en-US" dirty="0" err="1"/>
              <a:t>Timur</a:t>
            </a:r>
            <a:r>
              <a:rPr lang="en-US" dirty="0"/>
              <a:t> first served </a:t>
            </a:r>
            <a:r>
              <a:rPr lang="en-US" dirty="0" err="1"/>
              <a:t>Togluk</a:t>
            </a:r>
            <a:r>
              <a:rPr lang="en-US" dirty="0"/>
              <a:t> </a:t>
            </a:r>
            <a:r>
              <a:rPr lang="en-US" dirty="0" err="1"/>
              <a:t>Temir</a:t>
            </a:r>
            <a:r>
              <a:rPr lang="en-US" dirty="0"/>
              <a:t>, then separated from him and created his own state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Territory </a:t>
            </a:r>
            <a:r>
              <a:rPr lang="en-US" dirty="0"/>
              <a:t>- </a:t>
            </a:r>
            <a:r>
              <a:rPr lang="en-US" dirty="0" err="1"/>
              <a:t>Manglai-Sube</a:t>
            </a:r>
            <a:r>
              <a:rPr lang="en-US" dirty="0"/>
              <a:t> - from East Turkestan to Fergana, Balkhash, </a:t>
            </a:r>
            <a:r>
              <a:rPr lang="en-US" dirty="0" err="1"/>
              <a:t>TurkestanIliyas</a:t>
            </a:r>
            <a:r>
              <a:rPr lang="en-US" dirty="0"/>
              <a:t> </a:t>
            </a:r>
            <a:r>
              <a:rPr lang="en-US" dirty="0" err="1"/>
              <a:t>Khozha</a:t>
            </a:r>
            <a:r>
              <a:rPr lang="en-US" dirty="0"/>
              <a:t> - defeated </a:t>
            </a:r>
            <a:r>
              <a:rPr lang="en-US" dirty="0" err="1"/>
              <a:t>Timur</a:t>
            </a:r>
            <a:r>
              <a:rPr lang="en-US" dirty="0"/>
              <a:t> in all battles. In 1365 "Battle of </a:t>
            </a:r>
            <a:r>
              <a:rPr lang="en-US" dirty="0" err="1"/>
              <a:t>Batpak</a:t>
            </a:r>
            <a:r>
              <a:rPr lang="en-US" dirty="0" smtClean="0"/>
              <a:t>".</a:t>
            </a:r>
          </a:p>
          <a:p>
            <a:r>
              <a:rPr lang="en-US" dirty="0" smtClean="0"/>
              <a:t>But </a:t>
            </a:r>
            <a:r>
              <a:rPr lang="en-US" dirty="0"/>
              <a:t>after </a:t>
            </a:r>
            <a:r>
              <a:rPr lang="en-US" dirty="0" err="1"/>
              <a:t>Iliyas</a:t>
            </a:r>
            <a:r>
              <a:rPr lang="en-US" dirty="0"/>
              <a:t> </a:t>
            </a:r>
            <a:r>
              <a:rPr lang="en-US" dirty="0" err="1"/>
              <a:t>Khoja</a:t>
            </a:r>
            <a:r>
              <a:rPr lang="en-US" dirty="0"/>
              <a:t> died in 1390, </a:t>
            </a:r>
            <a:r>
              <a:rPr lang="en-US" dirty="0" err="1"/>
              <a:t>Moghlistan</a:t>
            </a:r>
            <a:r>
              <a:rPr lang="en-US" dirty="0"/>
              <a:t> became dependent on </a:t>
            </a:r>
            <a:r>
              <a:rPr lang="en-US" dirty="0" err="1"/>
              <a:t>Timur</a:t>
            </a:r>
            <a:r>
              <a:rPr lang="en-US" dirty="0"/>
              <a:t>. Gradually gets independence, but in 1462 after the death of </a:t>
            </a:r>
            <a:r>
              <a:rPr lang="en-US" dirty="0" err="1"/>
              <a:t>Esen</a:t>
            </a:r>
            <a:r>
              <a:rPr lang="en-US" dirty="0"/>
              <a:t> </a:t>
            </a:r>
            <a:r>
              <a:rPr lang="en-US" dirty="0" err="1"/>
              <a:t>Bugi</a:t>
            </a:r>
            <a:r>
              <a:rPr lang="en-US" dirty="0"/>
              <a:t> the state broke up, most of it became part of the Kazakh Khanate.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89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9667" y="215225"/>
            <a:ext cx="8027700" cy="519293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Nogai</a:t>
            </a:r>
            <a:r>
              <a:rPr lang="en-US" b="1" dirty="0" smtClean="0"/>
              <a:t> Horde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804" y="839450"/>
            <a:ext cx="8514413" cy="5906124"/>
          </a:xfrm>
        </p:spPr>
        <p:txBody>
          <a:bodyPr>
            <a:normAutofit fontScale="92500"/>
          </a:bodyPr>
          <a:lstStyle/>
          <a:p>
            <a:r>
              <a:rPr lang="en-US" dirty="0"/>
              <a:t>It emerged during the collapse of the Golden </a:t>
            </a:r>
            <a:r>
              <a:rPr lang="en-US" dirty="0" err="1"/>
              <a:t>HordeAfter</a:t>
            </a:r>
            <a:r>
              <a:rPr lang="en-US" dirty="0"/>
              <a:t> death of </a:t>
            </a:r>
            <a:r>
              <a:rPr lang="en-US" dirty="0" err="1"/>
              <a:t>Berke</a:t>
            </a:r>
            <a:r>
              <a:rPr lang="en-US" dirty="0"/>
              <a:t>, territories from Don to Danube have passed under authority of </a:t>
            </a:r>
            <a:r>
              <a:rPr lang="en-US" dirty="0" err="1"/>
              <a:t>Nogai</a:t>
            </a:r>
            <a:r>
              <a:rPr lang="en-US" dirty="0"/>
              <a:t> (grandson of </a:t>
            </a:r>
            <a:r>
              <a:rPr lang="en-US" dirty="0" err="1"/>
              <a:t>Djuchi</a:t>
            </a:r>
            <a:r>
              <a:rPr lang="en-US" dirty="0"/>
              <a:t> from the younger wife) The territory was united by Emir </a:t>
            </a:r>
            <a:r>
              <a:rPr lang="en-US" dirty="0" err="1"/>
              <a:t>Yedige</a:t>
            </a:r>
            <a:r>
              <a:rPr lang="en-US" dirty="0"/>
              <a:t> of the </a:t>
            </a:r>
            <a:r>
              <a:rPr lang="en-US" dirty="0" err="1"/>
              <a:t>Mangyt</a:t>
            </a:r>
            <a:r>
              <a:rPr lang="en-US" dirty="0"/>
              <a:t> family (1395-1419). He about 15 years ruled </a:t>
            </a:r>
            <a:r>
              <a:rPr lang="en-US" dirty="0" err="1"/>
              <a:t>Ulug</a:t>
            </a:r>
            <a:r>
              <a:rPr lang="en-US" dirty="0"/>
              <a:t> </a:t>
            </a:r>
            <a:r>
              <a:rPr lang="en-US" dirty="0" err="1"/>
              <a:t>Ulus</a:t>
            </a:r>
            <a:r>
              <a:rPr lang="en-US" dirty="0"/>
              <a:t>, became "great emir" and appointed khans from </a:t>
            </a:r>
            <a:r>
              <a:rPr lang="en-US" dirty="0" err="1"/>
              <a:t>Chingizids</a:t>
            </a:r>
            <a:r>
              <a:rPr lang="en-US" dirty="0"/>
              <a:t> (1396-1411). </a:t>
            </a:r>
            <a:endParaRPr lang="en-US" dirty="0" smtClean="0"/>
          </a:p>
          <a:p>
            <a:r>
              <a:rPr lang="en-US" dirty="0" smtClean="0"/>
              <a:t>Gradually </a:t>
            </a:r>
            <a:r>
              <a:rPr lang="en-US" dirty="0"/>
              <a:t>the </a:t>
            </a:r>
            <a:r>
              <a:rPr lang="en-US" dirty="0" err="1"/>
              <a:t>Nogai</a:t>
            </a:r>
            <a:r>
              <a:rPr lang="en-US" dirty="0"/>
              <a:t> Horde began to separate from the Horde, completed under </a:t>
            </a:r>
            <a:r>
              <a:rPr lang="en-US" dirty="0" err="1"/>
              <a:t>Nuraddin</a:t>
            </a:r>
            <a:r>
              <a:rPr lang="en-US" dirty="0"/>
              <a:t> (son of </a:t>
            </a:r>
            <a:r>
              <a:rPr lang="en-US" dirty="0" err="1"/>
              <a:t>Yedige</a:t>
            </a:r>
            <a:r>
              <a:rPr lang="en-US" dirty="0"/>
              <a:t>), in the ÕY century. It became an independent state. Territory: interfluve of </a:t>
            </a:r>
            <a:r>
              <a:rPr lang="en-US" dirty="0" err="1"/>
              <a:t>Edil</a:t>
            </a:r>
            <a:r>
              <a:rPr lang="en-US" dirty="0"/>
              <a:t> and </a:t>
            </a:r>
            <a:r>
              <a:rPr lang="en-US" dirty="0" err="1"/>
              <a:t>Zhaik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capital is the town of </a:t>
            </a:r>
            <a:r>
              <a:rPr lang="en-US" dirty="0" err="1"/>
              <a:t>Saraychik</a:t>
            </a:r>
            <a:r>
              <a:rPr lang="en-US" dirty="0"/>
              <a:t> on the bank of the </a:t>
            </a:r>
            <a:r>
              <a:rPr lang="en-US" dirty="0" err="1"/>
              <a:t>Zhaik</a:t>
            </a:r>
            <a:r>
              <a:rPr lang="en-US" dirty="0"/>
              <a:t> </a:t>
            </a:r>
            <a:r>
              <a:rPr lang="en-US" dirty="0" smtClean="0"/>
              <a:t>River</a:t>
            </a:r>
          </a:p>
          <a:p>
            <a:r>
              <a:rPr lang="en-US" dirty="0" smtClean="0"/>
              <a:t>Population</a:t>
            </a:r>
            <a:r>
              <a:rPr lang="en-US" dirty="0"/>
              <a:t>: </a:t>
            </a:r>
            <a:r>
              <a:rPr lang="en-US" dirty="0" err="1"/>
              <a:t>Mangyts</a:t>
            </a:r>
            <a:r>
              <a:rPr lang="en-US" dirty="0"/>
              <a:t>, </a:t>
            </a:r>
            <a:r>
              <a:rPr lang="en-US" dirty="0" err="1"/>
              <a:t>Kipchaks</a:t>
            </a:r>
            <a:r>
              <a:rPr lang="en-US" dirty="0"/>
              <a:t>, </a:t>
            </a:r>
            <a:r>
              <a:rPr lang="en-US" dirty="0" err="1"/>
              <a:t>Konrats</a:t>
            </a:r>
            <a:r>
              <a:rPr lang="en-US" dirty="0"/>
              <a:t>, </a:t>
            </a:r>
            <a:r>
              <a:rPr lang="en-US" dirty="0" err="1"/>
              <a:t>Alshyns</a:t>
            </a:r>
            <a:r>
              <a:rPr lang="en-US" dirty="0"/>
              <a:t>, </a:t>
            </a:r>
            <a:r>
              <a:rPr lang="en-US" dirty="0" err="1"/>
              <a:t>Argyns</a:t>
            </a:r>
            <a:r>
              <a:rPr lang="en-US" dirty="0"/>
              <a:t> and others.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955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4753" y="329784"/>
            <a:ext cx="8334531" cy="6071016"/>
          </a:xfrm>
        </p:spPr>
        <p:txBody>
          <a:bodyPr>
            <a:normAutofit/>
          </a:bodyPr>
          <a:lstStyle/>
          <a:p>
            <a:r>
              <a:rPr lang="en-US" sz="3200" dirty="0"/>
              <a:t>Territory: from </a:t>
            </a:r>
            <a:r>
              <a:rPr lang="en-US" sz="3200" dirty="0" err="1"/>
              <a:t>Syr</a:t>
            </a:r>
            <a:r>
              <a:rPr lang="en-US" sz="3200" dirty="0"/>
              <a:t> Darya to </a:t>
            </a:r>
            <a:r>
              <a:rPr lang="en-US" sz="3200" dirty="0" err="1"/>
              <a:t>Emba</a:t>
            </a:r>
            <a:r>
              <a:rPr lang="en-US" sz="3200" dirty="0"/>
              <a:t>, in the west the interfluve of </a:t>
            </a:r>
            <a:r>
              <a:rPr lang="en-US" sz="3200" dirty="0" err="1"/>
              <a:t>Yedil</a:t>
            </a:r>
            <a:r>
              <a:rPr lang="en-US" sz="3200" dirty="0"/>
              <a:t> and </a:t>
            </a:r>
            <a:r>
              <a:rPr lang="en-US" sz="3200" dirty="0" err="1" smtClean="0"/>
              <a:t>Zhaik</a:t>
            </a:r>
            <a:endParaRPr lang="en-US" sz="3200" dirty="0" smtClean="0"/>
          </a:p>
          <a:p>
            <a:r>
              <a:rPr lang="en-US" sz="3200" dirty="0" smtClean="0"/>
              <a:t>Under </a:t>
            </a:r>
            <a:r>
              <a:rPr lang="en-US" sz="3200" dirty="0"/>
              <a:t>Musa </a:t>
            </a:r>
            <a:r>
              <a:rPr lang="en-US" sz="3200" dirty="0" err="1"/>
              <a:t>Myrza</a:t>
            </a:r>
            <a:r>
              <a:rPr lang="en-US" sz="3200" dirty="0"/>
              <a:t>, the </a:t>
            </a:r>
            <a:r>
              <a:rPr lang="en-US" sz="3200" dirty="0" err="1"/>
              <a:t>Zhanburchi</a:t>
            </a:r>
            <a:r>
              <a:rPr lang="en-US" sz="3200" dirty="0"/>
              <a:t> were in close relations with Uzbeks and Kazakhs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In </a:t>
            </a:r>
            <a:r>
              <a:rPr lang="en-US" sz="3200" dirty="0"/>
              <a:t>the second half of the ХYYI century it split into the Big and Small </a:t>
            </a:r>
            <a:r>
              <a:rPr lang="en-US" sz="3200" dirty="0" err="1"/>
              <a:t>Nogai</a:t>
            </a:r>
            <a:r>
              <a:rPr lang="en-US" sz="3200" dirty="0"/>
              <a:t> Horde. The border is the </a:t>
            </a:r>
            <a:r>
              <a:rPr lang="en-US" sz="3200" dirty="0" err="1"/>
              <a:t>Yedil</a:t>
            </a:r>
            <a:r>
              <a:rPr lang="en-US" sz="3200" dirty="0"/>
              <a:t> River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During </a:t>
            </a:r>
            <a:r>
              <a:rPr lang="en-US" sz="3200" dirty="0"/>
              <a:t>the period of disintegration, most of the population became part of the Kazakh Khanate, under </a:t>
            </a:r>
            <a:r>
              <a:rPr lang="en-US" sz="3200" dirty="0" err="1"/>
              <a:t>Haknazar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Played an important </a:t>
            </a:r>
            <a:r>
              <a:rPr lang="en-US" sz="3200" dirty="0"/>
              <a:t>role in the formation of the Kazakh Khanate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2202753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9726" y="365127"/>
            <a:ext cx="8472484" cy="669195"/>
          </a:xfrm>
        </p:spPr>
        <p:txBody>
          <a:bodyPr>
            <a:noAutofit/>
          </a:bodyPr>
          <a:lstStyle/>
          <a:p>
            <a:r>
              <a:rPr lang="en-US" sz="3600" b="1" dirty="0"/>
              <a:t>State of nomadic Uzbeks (</a:t>
            </a:r>
            <a:r>
              <a:rPr lang="en-US" sz="3600" b="1" dirty="0" err="1"/>
              <a:t>Abulkhair</a:t>
            </a:r>
            <a:r>
              <a:rPr lang="en-US" sz="3600" b="1" dirty="0"/>
              <a:t> Khanate)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4833" y="1034321"/>
            <a:ext cx="8619344" cy="5666282"/>
          </a:xfrm>
        </p:spPr>
        <p:txBody>
          <a:bodyPr>
            <a:normAutofit/>
          </a:bodyPr>
          <a:lstStyle/>
          <a:p>
            <a:r>
              <a:rPr lang="en-US" dirty="0"/>
              <a:t>The last khan of the </a:t>
            </a:r>
            <a:r>
              <a:rPr lang="en-US" dirty="0" err="1"/>
              <a:t>Ak</a:t>
            </a:r>
            <a:r>
              <a:rPr lang="en-US" dirty="0"/>
              <a:t> Horde, Barak Khan, died in the struggle with the Golden </a:t>
            </a:r>
            <a:r>
              <a:rPr lang="en-US" dirty="0" err="1"/>
              <a:t>HordeInstead</a:t>
            </a:r>
            <a:r>
              <a:rPr lang="en-US" dirty="0"/>
              <a:t> of Barak's successor - </a:t>
            </a:r>
            <a:r>
              <a:rPr lang="en-US" dirty="0" err="1"/>
              <a:t>Kerey</a:t>
            </a:r>
            <a:r>
              <a:rPr lang="en-US" dirty="0"/>
              <a:t>, a descendant of </a:t>
            </a:r>
            <a:r>
              <a:rPr lang="en-US" dirty="0" err="1"/>
              <a:t>Shiban</a:t>
            </a:r>
            <a:r>
              <a:rPr lang="en-US" dirty="0"/>
              <a:t> - 18 years old </a:t>
            </a:r>
            <a:r>
              <a:rPr lang="en-US" dirty="0" err="1"/>
              <a:t>Abulkhair</a:t>
            </a:r>
            <a:r>
              <a:rPr lang="en-US" dirty="0"/>
              <a:t>, was elected khan in the town of Tura </a:t>
            </a:r>
            <a:endParaRPr lang="ru-RU" dirty="0" smtClean="0"/>
          </a:p>
          <a:p>
            <a:r>
              <a:rPr lang="en-US" dirty="0" smtClean="0"/>
              <a:t>For </a:t>
            </a:r>
            <a:r>
              <a:rPr lang="en-US" dirty="0"/>
              <a:t>40 years of power he subjugated the whole territory of the Great Steppe up to </a:t>
            </a:r>
            <a:r>
              <a:rPr lang="en-US" dirty="0" err="1"/>
              <a:t>Syr</a:t>
            </a:r>
            <a:r>
              <a:rPr lang="en-US" dirty="0"/>
              <a:t> </a:t>
            </a:r>
            <a:r>
              <a:rPr lang="en-US" dirty="0" smtClean="0"/>
              <a:t>Darya</a:t>
            </a:r>
            <a:endParaRPr lang="ru-RU" dirty="0" smtClean="0"/>
          </a:p>
          <a:p>
            <a:r>
              <a:rPr lang="en-US" dirty="0" smtClean="0"/>
              <a:t>.</a:t>
            </a:r>
            <a:r>
              <a:rPr lang="en-US" dirty="0"/>
              <a:t>Capitals: </a:t>
            </a:r>
            <a:r>
              <a:rPr lang="en-US" dirty="0" err="1"/>
              <a:t>Chingi</a:t>
            </a:r>
            <a:r>
              <a:rPr lang="en-US" dirty="0"/>
              <a:t>-Tura, </a:t>
            </a:r>
            <a:r>
              <a:rPr lang="en-US" dirty="0" err="1"/>
              <a:t>Orda</a:t>
            </a:r>
            <a:r>
              <a:rPr lang="en-US" dirty="0"/>
              <a:t>-bazar, </a:t>
            </a:r>
            <a:r>
              <a:rPr lang="en-US" dirty="0" err="1"/>
              <a:t>Syganak</a:t>
            </a:r>
            <a:r>
              <a:rPr lang="en-US" dirty="0"/>
              <a:t>, Haji-Tarkhan.1446 annexed </a:t>
            </a:r>
            <a:r>
              <a:rPr lang="en-US" dirty="0" err="1"/>
              <a:t>Sozak</a:t>
            </a:r>
            <a:r>
              <a:rPr lang="en-US" dirty="0"/>
              <a:t>, </a:t>
            </a:r>
            <a:r>
              <a:rPr lang="en-US" dirty="0" err="1"/>
              <a:t>Syganak</a:t>
            </a:r>
            <a:r>
              <a:rPr lang="en-US" dirty="0"/>
              <a:t>, </a:t>
            </a:r>
            <a:r>
              <a:rPr lang="en-US" dirty="0" err="1" smtClean="0"/>
              <a:t>Uzkent</a:t>
            </a:r>
            <a:endParaRPr lang="ru-RU" dirty="0" smtClean="0"/>
          </a:p>
          <a:p>
            <a:r>
              <a:rPr lang="en-US" dirty="0" smtClean="0"/>
              <a:t>1456-1457 </a:t>
            </a:r>
            <a:r>
              <a:rPr lang="en-US" dirty="0"/>
              <a:t>was defeated by the </a:t>
            </a:r>
            <a:r>
              <a:rPr lang="en-US" dirty="0" err="1"/>
              <a:t>Oirats</a:t>
            </a:r>
            <a:r>
              <a:rPr lang="en-US" dirty="0"/>
              <a:t> and lost his </a:t>
            </a:r>
            <a:r>
              <a:rPr lang="en-US" dirty="0" err="1"/>
              <a:t>authority.Kerey</a:t>
            </a:r>
            <a:r>
              <a:rPr lang="en-US" dirty="0"/>
              <a:t> and </a:t>
            </a:r>
            <a:r>
              <a:rPr lang="en-US" dirty="0" err="1"/>
              <a:t>Zhanibek</a:t>
            </a:r>
            <a:r>
              <a:rPr lang="en-US" dirty="0"/>
              <a:t> retreated with their tribes to </a:t>
            </a:r>
            <a:r>
              <a:rPr lang="en-US" dirty="0" err="1"/>
              <a:t>Semirechye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dirty="0" smtClean="0"/>
              <a:t>After </a:t>
            </a:r>
            <a:r>
              <a:rPr lang="en-US" dirty="0" err="1"/>
              <a:t>Abulkhair's</a:t>
            </a:r>
            <a:r>
              <a:rPr lang="en-US" dirty="0"/>
              <a:t> death in 1468 the state disintegrated.</a:t>
            </a:r>
            <a:endParaRPr lang="kk-KZ" dirty="0" smtClean="0"/>
          </a:p>
        </p:txBody>
      </p:sp>
    </p:spTree>
    <p:extLst>
      <p:ext uri="{BB962C8B-B14F-4D97-AF65-F5344CB8AC3E}">
        <p14:creationId xmlns:p14="http://schemas.microsoft.com/office/powerpoint/2010/main" val="2576931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892" y="194873"/>
            <a:ext cx="8350458" cy="5546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Culture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4892" y="749510"/>
            <a:ext cx="8589364" cy="58161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Cities: </a:t>
            </a:r>
            <a:r>
              <a:rPr lang="en-US" dirty="0" err="1"/>
              <a:t>Saray</a:t>
            </a:r>
            <a:r>
              <a:rPr lang="en-US" dirty="0"/>
              <a:t>, </a:t>
            </a:r>
            <a:r>
              <a:rPr lang="en-US" dirty="0" err="1"/>
              <a:t>Saray</a:t>
            </a:r>
            <a:r>
              <a:rPr lang="en-US" dirty="0"/>
              <a:t> </a:t>
            </a:r>
            <a:r>
              <a:rPr lang="kk-KZ" dirty="0"/>
              <a:t>ә</a:t>
            </a:r>
            <a:r>
              <a:rPr lang="en-US" dirty="0"/>
              <a:t>l-</a:t>
            </a:r>
            <a:r>
              <a:rPr lang="en-US" dirty="0" err="1"/>
              <a:t>Zh</a:t>
            </a:r>
            <a:r>
              <a:rPr lang="kk-KZ" dirty="0"/>
              <a:t>ә</a:t>
            </a:r>
            <a:r>
              <a:rPr lang="en-US" dirty="0"/>
              <a:t>did, G</a:t>
            </a:r>
            <a:r>
              <a:rPr lang="kk-KZ" dirty="0"/>
              <a:t>ү</a:t>
            </a:r>
            <a:r>
              <a:rPr lang="en-US" dirty="0" err="1"/>
              <a:t>lstan</a:t>
            </a:r>
            <a:r>
              <a:rPr lang="en-US" dirty="0"/>
              <a:t>, </a:t>
            </a:r>
            <a:r>
              <a:rPr lang="en-US" dirty="0" err="1"/>
              <a:t>Bolgar</a:t>
            </a:r>
            <a:r>
              <a:rPr lang="en-US" dirty="0"/>
              <a:t>, </a:t>
            </a:r>
            <a:r>
              <a:rPr lang="en-US" dirty="0" err="1"/>
              <a:t>Bilar</a:t>
            </a:r>
            <a:r>
              <a:rPr lang="en-US" dirty="0"/>
              <a:t>, </a:t>
            </a:r>
            <a:r>
              <a:rPr lang="en-US" dirty="0" err="1"/>
              <a:t>Azak</a:t>
            </a:r>
            <a:r>
              <a:rPr lang="en-US" dirty="0"/>
              <a:t> (</a:t>
            </a:r>
            <a:r>
              <a:rPr lang="en-US" dirty="0" err="1"/>
              <a:t>Azauly</a:t>
            </a:r>
            <a:r>
              <a:rPr lang="en-US" dirty="0"/>
              <a:t>), </a:t>
            </a:r>
            <a:r>
              <a:rPr lang="en-US" dirty="0" err="1"/>
              <a:t>Kyrym</a:t>
            </a:r>
            <a:r>
              <a:rPr lang="en-US" dirty="0"/>
              <a:t>, </a:t>
            </a:r>
            <a:r>
              <a:rPr lang="en-US" dirty="0" err="1"/>
              <a:t>Kafa</a:t>
            </a:r>
            <a:r>
              <a:rPr lang="en-US" dirty="0"/>
              <a:t>, </a:t>
            </a:r>
            <a:r>
              <a:rPr lang="en-US" dirty="0" err="1"/>
              <a:t>Kazhy-Tarkhan</a:t>
            </a:r>
            <a:r>
              <a:rPr lang="en-US" dirty="0"/>
              <a:t>, </a:t>
            </a:r>
            <a:r>
              <a:rPr lang="en-US" dirty="0" err="1"/>
              <a:t>Orda</a:t>
            </a:r>
            <a:r>
              <a:rPr lang="en-US" dirty="0"/>
              <a:t>-Bazar, </a:t>
            </a:r>
            <a:r>
              <a:rPr lang="en-US" dirty="0" err="1"/>
              <a:t>Bek</a:t>
            </a:r>
            <a:r>
              <a:rPr lang="en-US" dirty="0"/>
              <a:t>-Bazar, </a:t>
            </a:r>
            <a:r>
              <a:rPr lang="kk-KZ" dirty="0"/>
              <a:t>Ү</a:t>
            </a:r>
            <a:r>
              <a:rPr lang="en-US" dirty="0" err="1"/>
              <a:t>kek</a:t>
            </a:r>
            <a:r>
              <a:rPr lang="en-US" dirty="0"/>
              <a:t>, </a:t>
            </a:r>
            <a:r>
              <a:rPr lang="en-US" dirty="0" err="1"/>
              <a:t>Saraishyk</a:t>
            </a:r>
            <a:r>
              <a:rPr lang="en-US" dirty="0"/>
              <a:t>, T</a:t>
            </a:r>
            <a:r>
              <a:rPr lang="kk-KZ" dirty="0"/>
              <a:t>ү</a:t>
            </a:r>
            <a:r>
              <a:rPr lang="en-US" dirty="0"/>
              <a:t>men, </a:t>
            </a:r>
            <a:r>
              <a:rPr lang="en-US" dirty="0" err="1"/>
              <a:t>Akkermen</a:t>
            </a:r>
            <a:r>
              <a:rPr lang="en-US" dirty="0"/>
              <a:t>, </a:t>
            </a:r>
            <a:r>
              <a:rPr lang="en-US" dirty="0" err="1"/>
              <a:t>Shahar</a:t>
            </a:r>
            <a:r>
              <a:rPr lang="en-US" dirty="0"/>
              <a:t> </a:t>
            </a:r>
            <a:r>
              <a:rPr lang="kk-KZ" dirty="0"/>
              <a:t>ә</a:t>
            </a:r>
            <a:r>
              <a:rPr lang="en-US" dirty="0"/>
              <a:t>l-</a:t>
            </a:r>
            <a:r>
              <a:rPr lang="en-US" dirty="0" err="1"/>
              <a:t>Zh</a:t>
            </a:r>
            <a:r>
              <a:rPr lang="kk-KZ" dirty="0"/>
              <a:t>ә</a:t>
            </a:r>
            <a:r>
              <a:rPr lang="en-US" dirty="0"/>
              <a:t>did, </a:t>
            </a:r>
            <a:r>
              <a:rPr lang="en-US" dirty="0" err="1"/>
              <a:t>Mazhar</a:t>
            </a:r>
            <a:r>
              <a:rPr lang="en-US" dirty="0"/>
              <a:t>, </a:t>
            </a:r>
            <a:r>
              <a:rPr lang="en-US" dirty="0" err="1"/>
              <a:t>Mamai-Saray</a:t>
            </a:r>
            <a:r>
              <a:rPr lang="en-US" dirty="0"/>
              <a:t>, </a:t>
            </a:r>
            <a:r>
              <a:rPr lang="en-US" dirty="0" err="1"/>
              <a:t>Bel-Zh</a:t>
            </a:r>
            <a:r>
              <a:rPr lang="kk-KZ" dirty="0"/>
              <a:t>ә</a:t>
            </a:r>
            <a:r>
              <a:rPr lang="en-US" dirty="0"/>
              <a:t>men, </a:t>
            </a:r>
            <a:r>
              <a:rPr lang="en-US" dirty="0" err="1"/>
              <a:t>Kopa</a:t>
            </a:r>
            <a:r>
              <a:rPr lang="en-US" dirty="0"/>
              <a:t>, </a:t>
            </a:r>
            <a:r>
              <a:rPr lang="en-US" dirty="0" err="1"/>
              <a:t>Khorezm</a:t>
            </a:r>
            <a:r>
              <a:rPr lang="en-US" dirty="0"/>
              <a:t>, t. </a:t>
            </a:r>
            <a:r>
              <a:rPr lang="en-US" dirty="0" err="1"/>
              <a:t>s.s.</a:t>
            </a:r>
            <a:r>
              <a:rPr lang="en-US" dirty="0"/>
              <a:t> 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dirty="0"/>
              <a:t>38 cities gold and silver coins were minted, in each city there were quarters (</a:t>
            </a:r>
            <a:r>
              <a:rPr lang="en-US" dirty="0" err="1"/>
              <a:t>mahallas</a:t>
            </a:r>
            <a:r>
              <a:rPr lang="en-US" dirty="0"/>
              <a:t>) of gunsmiths, blacksmiths, jewelers, masons, weavers and others</a:t>
            </a:r>
            <a:r>
              <a:rPr lang="en-US" dirty="0" smtClean="0"/>
              <a:t>.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Literary </a:t>
            </a:r>
            <a:r>
              <a:rPr lang="en-US" dirty="0"/>
              <a:t>monuments - </a:t>
            </a:r>
            <a:r>
              <a:rPr lang="kk-KZ" dirty="0"/>
              <a:t>Ә</a:t>
            </a:r>
            <a:r>
              <a:rPr lang="en-US" dirty="0"/>
              <a:t>l-</a:t>
            </a:r>
            <a:r>
              <a:rPr lang="en-US" dirty="0" err="1"/>
              <a:t>Binai</a:t>
            </a:r>
            <a:r>
              <a:rPr lang="en-US" dirty="0"/>
              <a:t> "</a:t>
            </a:r>
            <a:r>
              <a:rPr lang="en-US" dirty="0" err="1"/>
              <a:t>Shaybaninama</a:t>
            </a:r>
            <a:r>
              <a:rPr lang="en-US" dirty="0"/>
              <a:t>", </a:t>
            </a:r>
            <a:r>
              <a:rPr lang="en-US" dirty="0" err="1"/>
              <a:t>M.Khorezmi</a:t>
            </a:r>
            <a:r>
              <a:rPr lang="en-US" dirty="0"/>
              <a:t> "</a:t>
            </a:r>
            <a:r>
              <a:rPr lang="en-US" dirty="0" err="1"/>
              <a:t>Makhabbatnama</a:t>
            </a:r>
            <a:r>
              <a:rPr lang="en-US" dirty="0"/>
              <a:t>", </a:t>
            </a:r>
            <a:r>
              <a:rPr lang="en-US" dirty="0" err="1"/>
              <a:t>Burhanetdin</a:t>
            </a:r>
            <a:r>
              <a:rPr lang="en-US" dirty="0"/>
              <a:t> </a:t>
            </a:r>
            <a:r>
              <a:rPr lang="en-US" dirty="0" err="1"/>
              <a:t>Rabghuzi</a:t>
            </a:r>
            <a:r>
              <a:rPr lang="en-US" dirty="0"/>
              <a:t> "</a:t>
            </a:r>
            <a:r>
              <a:rPr lang="en-US" dirty="0" err="1"/>
              <a:t>Kissa</a:t>
            </a:r>
            <a:r>
              <a:rPr lang="en-US" dirty="0"/>
              <a:t>-</a:t>
            </a:r>
            <a:r>
              <a:rPr lang="en-US" dirty="0" err="1"/>
              <a:t>su</a:t>
            </a:r>
            <a:r>
              <a:rPr lang="en-US" dirty="0"/>
              <a:t>-l </a:t>
            </a:r>
            <a:r>
              <a:rPr lang="en-US" dirty="0" err="1"/>
              <a:t>Anbiya</a:t>
            </a:r>
            <a:r>
              <a:rPr lang="en-US" dirty="0"/>
              <a:t>", </a:t>
            </a:r>
            <a:r>
              <a:rPr lang="kk-KZ" dirty="0"/>
              <a:t>Ұ</a:t>
            </a:r>
            <a:r>
              <a:rPr lang="en-US" dirty="0" err="1"/>
              <a:t>sman</a:t>
            </a:r>
            <a:r>
              <a:rPr lang="en-US" dirty="0"/>
              <a:t> </a:t>
            </a:r>
            <a:r>
              <a:rPr lang="en-US" dirty="0" err="1"/>
              <a:t>Kukhastani</a:t>
            </a:r>
            <a:r>
              <a:rPr lang="en-US" dirty="0"/>
              <a:t> "</a:t>
            </a:r>
            <a:r>
              <a:rPr lang="en-US" dirty="0" err="1"/>
              <a:t>Tarikhi</a:t>
            </a:r>
            <a:r>
              <a:rPr lang="en-US" dirty="0"/>
              <a:t> </a:t>
            </a:r>
            <a:r>
              <a:rPr lang="en-US" dirty="0" err="1"/>
              <a:t>Bilhayyr-khani</a:t>
            </a:r>
            <a:r>
              <a:rPr lang="en-US" dirty="0"/>
              <a:t>", </a:t>
            </a:r>
            <a:r>
              <a:rPr lang="en-US" dirty="0" err="1"/>
              <a:t>Kuteiba</a:t>
            </a:r>
            <a:r>
              <a:rPr lang="en-US" dirty="0"/>
              <a:t> "</a:t>
            </a:r>
            <a:r>
              <a:rPr lang="en-US" dirty="0" err="1"/>
              <a:t>Khusrau</a:t>
            </a:r>
            <a:r>
              <a:rPr lang="en-US" dirty="0"/>
              <a:t> </a:t>
            </a:r>
            <a:r>
              <a:rPr lang="en-US" dirty="0" err="1"/>
              <a:t>ua</a:t>
            </a:r>
            <a:r>
              <a:rPr lang="en-US" dirty="0"/>
              <a:t> </a:t>
            </a:r>
            <a:r>
              <a:rPr lang="en-US" dirty="0" err="1"/>
              <a:t>Shyrin</a:t>
            </a:r>
            <a:r>
              <a:rPr lang="en-US" dirty="0"/>
              <a:t>".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92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550</TotalTime>
  <Words>1473</Words>
  <Application>Microsoft Office PowerPoint</Application>
  <PresentationFormat>Экран (4:3)</PresentationFormat>
  <Paragraphs>112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Тема Office</vt:lpstr>
      <vt:lpstr>1_Тема Office</vt:lpstr>
      <vt:lpstr>Lecture № 3. </vt:lpstr>
      <vt:lpstr>Genghis Khan (1162 (1155)-1227).</vt:lpstr>
      <vt:lpstr>Genghis Khan's campaigns</vt:lpstr>
      <vt:lpstr>Military campaign in Central Asia and Kazakhstan</vt:lpstr>
      <vt:lpstr>Презентация PowerPoint</vt:lpstr>
      <vt:lpstr>The formation of uluses</vt:lpstr>
      <vt:lpstr>Презентация PowerPoint</vt:lpstr>
      <vt:lpstr>Golden Horde</vt:lpstr>
      <vt:lpstr>The system of governance is Steppe and Turkic</vt:lpstr>
      <vt:lpstr>Main KHANS:</vt:lpstr>
      <vt:lpstr>Golden Horde</vt:lpstr>
      <vt:lpstr>Collapse of the Golden Horde (end of 15 century) </vt:lpstr>
      <vt:lpstr> Mongol Successor States (Moghulistan, State of nomadic Uzbeks (Abulkhair Khanate), Nogai Horde, Khanate of Sibir)  </vt:lpstr>
      <vt:lpstr>Ak Horde (XIII - early XV)</vt:lpstr>
      <vt:lpstr>Moghulistan (1318-1514).</vt:lpstr>
      <vt:lpstr>Nogai Horde</vt:lpstr>
      <vt:lpstr>Презентация PowerPoint</vt:lpstr>
      <vt:lpstr>State of nomadic Uzbeks (Abulkhair Khanate)</vt:lpstr>
      <vt:lpstr>Culture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Дәріс № 3.</dc:title>
  <dc:creator>Пользователь Windows</dc:creator>
  <cp:lastModifiedBy>user</cp:lastModifiedBy>
  <cp:revision>42</cp:revision>
  <dcterms:created xsi:type="dcterms:W3CDTF">2022-09-24T03:12:45Z</dcterms:created>
  <dcterms:modified xsi:type="dcterms:W3CDTF">2026-02-02T07:18:26Z</dcterms:modified>
</cp:coreProperties>
</file>