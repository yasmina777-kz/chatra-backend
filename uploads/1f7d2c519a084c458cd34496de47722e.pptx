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ppt/changesInfos/changesInfo1.xml" ContentType="application/vnd.ms-powerpoint.changesinfo+xml"/>
  <Override PartName="/ppt/revisionInfo.xml" ContentType="application/vnd.ms-powerpoint.revisioninfo+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2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9FD6FB-958B-4FC8-986E-96DB236CA1CF}" v="3" dt="2025-11-27T05:54:39.9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72"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microsoft.com/office/2015/10/relationships/revisionInfo" Target="revisionInfo.xml"/><Relationship Id="rId3" Type="http://schemas.openxmlformats.org/officeDocument/2006/relationships/slideMaster" Target="slideMasters/slideMaster1.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 Id="rId27"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Ким Гульнар Амангельдыевна" userId="S::gakim@ku.edu.kz::b72cbb20-62a4-4ce6-b395-6a6528ca72b3" providerId="AD" clId="Web-{0D9FD6FB-958B-4FC8-986E-96DB236CA1CF}"/>
    <pc:docChg chg="modSld">
      <pc:chgData name="Ким Гульнар Амангельдыевна" userId="S::gakim@ku.edu.kz::b72cbb20-62a4-4ce6-b395-6a6528ca72b3" providerId="AD" clId="Web-{0D9FD6FB-958B-4FC8-986E-96DB236CA1CF}" dt="2025-11-27T05:54:38.581" v="1" actId="20577"/>
      <pc:docMkLst>
        <pc:docMk/>
      </pc:docMkLst>
      <pc:sldChg chg="modSp">
        <pc:chgData name="Ким Гульнар Амангельдыевна" userId="S::gakim@ku.edu.kz::b72cbb20-62a4-4ce6-b395-6a6528ca72b3" providerId="AD" clId="Web-{0D9FD6FB-958B-4FC8-986E-96DB236CA1CF}" dt="2025-11-27T05:54:38.581" v="1" actId="20577"/>
        <pc:sldMkLst>
          <pc:docMk/>
          <pc:sldMk cId="270001786" sldId="259"/>
        </pc:sldMkLst>
        <pc:spChg chg="mod">
          <ac:chgData name="Ким Гульнар Амангельдыевна" userId="S::gakim@ku.edu.kz::b72cbb20-62a4-4ce6-b395-6a6528ca72b3" providerId="AD" clId="Web-{0D9FD6FB-958B-4FC8-986E-96DB236CA1CF}" dt="2025-11-27T05:54:38.581" v="1" actId="20577"/>
          <ac:spMkLst>
            <pc:docMk/>
            <pc:sldMk cId="270001786" sldId="25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F1150F-40D3-4D75-849D-2AC852A36CA4}" type="datetimeFigureOut">
              <a:rPr lang="ru-RU" smtClean="0"/>
              <a:t>26.11.2025</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4976-34C2-4B62-921C-A22E374F22BF}" type="slidenum">
              <a:rPr lang="ru-RU" smtClean="0"/>
              <a:t>‹#›</a:t>
            </a:fld>
            <a:endParaRPr lang="ru-RU"/>
          </a:p>
        </p:txBody>
      </p:sp>
    </p:spTree>
    <p:extLst>
      <p:ext uri="{BB962C8B-B14F-4D97-AF65-F5344CB8AC3E}">
        <p14:creationId xmlns:p14="http://schemas.microsoft.com/office/powerpoint/2010/main" val="23663304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EEBD4976-34C2-4B62-921C-A22E374F22BF}" type="slidenum">
              <a:rPr lang="ru-RU" smtClean="0"/>
              <a:t>13</a:t>
            </a:fld>
            <a:endParaRPr lang="ru-RU"/>
          </a:p>
        </p:txBody>
      </p:sp>
    </p:spTree>
    <p:extLst>
      <p:ext uri="{BB962C8B-B14F-4D97-AF65-F5344CB8AC3E}">
        <p14:creationId xmlns:p14="http://schemas.microsoft.com/office/powerpoint/2010/main" val="973911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F1640CCE-5178-47CC-AAE9-6A33F4BE22E5}"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1809178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1640CCE-5178-47CC-AAE9-6A33F4BE22E5}"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3454062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F1640CCE-5178-47CC-AAE9-6A33F4BE22E5}"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163561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F1640CCE-5178-47CC-AAE9-6A33F4BE22E5}" type="datetimeFigureOut">
              <a:rPr lang="ru-RU" smtClean="0"/>
              <a:t>26.11.2025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4283904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F1640CCE-5178-47CC-AAE9-6A33F4BE22E5}" type="datetimeFigureOut">
              <a:rPr lang="ru-RU" smtClean="0"/>
              <a:t>26.11.2025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103932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F1640CCE-5178-47CC-AAE9-6A33F4BE22E5}" type="datetimeFigureOut">
              <a:rPr lang="ru-RU" smtClean="0"/>
              <a:t>26.11.2025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2159743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1640CCE-5178-47CC-AAE9-6A33F4BE22E5}" type="datetimeFigureOut">
              <a:rPr lang="ru-RU" smtClean="0"/>
              <a:t>26.11.2025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2763366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1640CCE-5178-47CC-AAE9-6A33F4BE22E5}" type="datetimeFigureOut">
              <a:rPr lang="ru-RU" smtClean="0"/>
              <a:t>26.11.2025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1850331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1640CCE-5178-47CC-AAE9-6A33F4BE22E5}" type="datetimeFigureOut">
              <a:rPr lang="ru-RU" smtClean="0"/>
              <a:t>26.11.2025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42403186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1640CCE-5178-47CC-AAE9-6A33F4BE22E5}"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3687292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F1640CCE-5178-47CC-AAE9-6A33F4BE22E5}" type="datetimeFigureOut">
              <a:rPr lang="ru-RU" smtClean="0"/>
              <a:t>26.11.2025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4E6DFD-8CF1-4188-B3F2-F864BE32A9C3}" type="slidenum">
              <a:rPr lang="ru-RU" smtClean="0"/>
              <a:t>‹#›</a:t>
            </a:fld>
            <a:endParaRPr lang="ru-RU"/>
          </a:p>
        </p:txBody>
      </p:sp>
    </p:spTree>
    <p:extLst>
      <p:ext uri="{BB962C8B-B14F-4D97-AF65-F5344CB8AC3E}">
        <p14:creationId xmlns:p14="http://schemas.microsoft.com/office/powerpoint/2010/main" val="2642261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640CCE-5178-47CC-AAE9-6A33F4BE22E5}" type="datetimeFigureOut">
              <a:rPr lang="ru-RU" smtClean="0"/>
              <a:t>26.11.2025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4E6DFD-8CF1-4188-B3F2-F864BE32A9C3}" type="slidenum">
              <a:rPr lang="ru-RU" smtClean="0"/>
              <a:t>‹#›</a:t>
            </a:fld>
            <a:endParaRPr lang="ru-RU"/>
          </a:p>
        </p:txBody>
      </p:sp>
    </p:spTree>
    <p:extLst>
      <p:ext uri="{BB962C8B-B14F-4D97-AF65-F5344CB8AC3E}">
        <p14:creationId xmlns:p14="http://schemas.microsoft.com/office/powerpoint/2010/main" val="31975568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367086" y="1808450"/>
            <a:ext cx="5331410" cy="1613623"/>
          </a:xfrm>
          <a:prstGeom prst="rect">
            <a:avLst/>
          </a:prstGeom>
        </p:spPr>
      </p:pic>
      <p:sp>
        <p:nvSpPr>
          <p:cNvPr id="5" name="Прямоугольник 4"/>
          <p:cNvSpPr/>
          <p:nvPr/>
        </p:nvSpPr>
        <p:spPr>
          <a:xfrm>
            <a:off x="4433456" y="885120"/>
            <a:ext cx="3422072" cy="923330"/>
          </a:xfrm>
          <a:prstGeom prst="rect">
            <a:avLst/>
          </a:prstGeom>
        </p:spPr>
        <p:txBody>
          <a:bodyPr wrap="square">
            <a:spAutoFit/>
          </a:bodyPr>
          <a:lstStyle/>
          <a:p>
            <a:r>
              <a:rPr lang="en-US" sz="5400" dirty="0">
                <a:latin typeface="Times New Roman" panose="02020603050405020304" pitchFamily="18" charset="0"/>
                <a:cs typeface="Times New Roman" panose="02020603050405020304" pitchFamily="18" charset="0"/>
              </a:rPr>
              <a:t>Lecture 8</a:t>
            </a:r>
            <a:endParaRPr lang="ru-RU" sz="5400" dirty="0">
              <a:latin typeface="Times New Roman" panose="02020603050405020304" pitchFamily="18" charset="0"/>
              <a:cs typeface="Times New Roman" panose="02020603050405020304" pitchFamily="18" charset="0"/>
            </a:endParaRPr>
          </a:p>
        </p:txBody>
      </p:sp>
      <p:pic>
        <p:nvPicPr>
          <p:cNvPr id="6" name="Рисунок 5"/>
          <p:cNvPicPr>
            <a:picLocks noChangeAspect="1"/>
          </p:cNvPicPr>
          <p:nvPr/>
        </p:nvPicPr>
        <p:blipFill>
          <a:blip r:embed="rId3"/>
          <a:stretch>
            <a:fillRect/>
          </a:stretch>
        </p:blipFill>
        <p:spPr>
          <a:xfrm>
            <a:off x="1049482" y="3907252"/>
            <a:ext cx="9597434" cy="1329765"/>
          </a:xfrm>
          <a:prstGeom prst="rect">
            <a:avLst/>
          </a:prstGeom>
        </p:spPr>
      </p:pic>
    </p:spTree>
    <p:extLst>
      <p:ext uri="{BB962C8B-B14F-4D97-AF65-F5344CB8AC3E}">
        <p14:creationId xmlns:p14="http://schemas.microsoft.com/office/powerpoint/2010/main" val="3629372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620424" y="293975"/>
            <a:ext cx="8471489" cy="1576389"/>
          </a:xfrm>
          <a:prstGeom prst="rect">
            <a:avLst/>
          </a:prstGeom>
        </p:spPr>
      </p:pic>
      <p:sp>
        <p:nvSpPr>
          <p:cNvPr id="6" name="Прямоугольник 5"/>
          <p:cNvSpPr/>
          <p:nvPr/>
        </p:nvSpPr>
        <p:spPr>
          <a:xfrm>
            <a:off x="748146" y="2191573"/>
            <a:ext cx="10640290" cy="923330"/>
          </a:xfrm>
          <a:prstGeom prst="rect">
            <a:avLst/>
          </a:prstGeom>
        </p:spPr>
        <p:txBody>
          <a:bodyPr wrap="square">
            <a:spAutoFit/>
          </a:bodyPr>
          <a:lstStyle/>
          <a:p>
            <a:pPr algn="just"/>
            <a:r>
              <a:rPr lang="en-US" dirty="0"/>
              <a:t>If a program is to retain data between the times it runs, it must have a way of saving it. Data is saved in a file, which is usually stored on a computer’s disk. Once the data is saved in a file, it will remain there after the program stops running. Data stored in a file can be retrieved and used at a later time.</a:t>
            </a:r>
            <a:endParaRPr lang="ru-RU" dirty="0"/>
          </a:p>
        </p:txBody>
      </p:sp>
      <p:sp>
        <p:nvSpPr>
          <p:cNvPr id="7" name="Прямоугольник 6"/>
          <p:cNvSpPr/>
          <p:nvPr/>
        </p:nvSpPr>
        <p:spPr>
          <a:xfrm>
            <a:off x="4977933" y="3562989"/>
            <a:ext cx="1973232" cy="461665"/>
          </a:xfrm>
          <a:prstGeom prst="rect">
            <a:avLst/>
          </a:prstGeom>
        </p:spPr>
        <p:txBody>
          <a:bodyPr wrap="none">
            <a:spAutoFit/>
          </a:bodyPr>
          <a:lstStyle/>
          <a:p>
            <a:r>
              <a:rPr lang="en-US" sz="2400" b="1" dirty="0">
                <a:latin typeface="Times New Roman" panose="02020603050405020304" pitchFamily="18" charset="0"/>
                <a:cs typeface="Times New Roman" panose="02020603050405020304" pitchFamily="18" charset="0"/>
              </a:rPr>
              <a:t>Types of Files</a:t>
            </a:r>
            <a:endParaRPr lang="ru-RU" sz="2400" b="1" dirty="0">
              <a:latin typeface="Times New Roman" panose="02020603050405020304" pitchFamily="18" charset="0"/>
              <a:cs typeface="Times New Roman" panose="02020603050405020304" pitchFamily="18" charset="0"/>
            </a:endParaRPr>
          </a:p>
        </p:txBody>
      </p:sp>
      <p:sp>
        <p:nvSpPr>
          <p:cNvPr id="8" name="Прямоугольник 7"/>
          <p:cNvSpPr/>
          <p:nvPr/>
        </p:nvSpPr>
        <p:spPr>
          <a:xfrm>
            <a:off x="855165" y="4462059"/>
            <a:ext cx="10649650" cy="1200329"/>
          </a:xfrm>
          <a:prstGeom prst="rect">
            <a:avLst/>
          </a:prstGeom>
        </p:spPr>
        <p:txBody>
          <a:bodyPr wrap="square">
            <a:spAutoFit/>
          </a:bodyPr>
          <a:lstStyle/>
          <a:p>
            <a:r>
              <a:rPr lang="en-US" sz="2400" b="1" dirty="0">
                <a:latin typeface="Times New Roman" panose="02020603050405020304" pitchFamily="18" charset="0"/>
                <a:cs typeface="Times New Roman" panose="02020603050405020304" pitchFamily="18" charset="0"/>
              </a:rPr>
              <a:t>A text file </a:t>
            </a:r>
            <a:r>
              <a:rPr lang="en-US" sz="2400" dirty="0">
                <a:latin typeface="Times New Roman" panose="02020603050405020304" pitchFamily="18" charset="0"/>
                <a:cs typeface="Times New Roman" panose="02020603050405020304" pitchFamily="18" charset="0"/>
              </a:rPr>
              <a:t>contains data that has been encoded as text, using a scheme such as ASCII or Unicode.</a:t>
            </a:r>
          </a:p>
          <a:p>
            <a:r>
              <a:rPr lang="en-US" sz="2400" b="1" dirty="0">
                <a:latin typeface="Times New Roman" panose="02020603050405020304" pitchFamily="18" charset="0"/>
                <a:cs typeface="Times New Roman" panose="02020603050405020304" pitchFamily="18" charset="0"/>
              </a:rPr>
              <a:t>A binary file </a:t>
            </a:r>
            <a:r>
              <a:rPr lang="en-US" sz="2400" dirty="0">
                <a:latin typeface="Times New Roman" panose="02020603050405020304" pitchFamily="18" charset="0"/>
                <a:cs typeface="Times New Roman" panose="02020603050405020304" pitchFamily="18" charset="0"/>
              </a:rPr>
              <a:t>contains data that has not been converted to text.</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181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355427" y="517760"/>
            <a:ext cx="3273076"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File Access Methods</a:t>
            </a:r>
            <a:endParaRPr lang="ru-RU" sz="28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965536" y="1543043"/>
            <a:ext cx="10052858" cy="830997"/>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Most programming languages provide two different ways to access data stored in a file: </a:t>
            </a:r>
            <a:r>
              <a:rPr lang="en-US" sz="2400" b="1" dirty="0">
                <a:latin typeface="Times New Roman" panose="02020603050405020304" pitchFamily="18" charset="0"/>
                <a:cs typeface="Times New Roman" panose="02020603050405020304" pitchFamily="18" charset="0"/>
              </a:rPr>
              <a:t>sequential access and direct access. </a:t>
            </a:r>
            <a:endParaRPr lang="ru-RU" sz="2400" b="1" dirty="0">
              <a:latin typeface="Times New Roman" panose="02020603050405020304" pitchFamily="18" charset="0"/>
              <a:cs typeface="Times New Roman" panose="02020603050405020304" pitchFamily="18" charset="0"/>
            </a:endParaRPr>
          </a:p>
        </p:txBody>
      </p:sp>
      <p:sp>
        <p:nvSpPr>
          <p:cNvPr id="6" name="Прямоугольник 5"/>
          <p:cNvSpPr/>
          <p:nvPr/>
        </p:nvSpPr>
        <p:spPr>
          <a:xfrm>
            <a:off x="965536" y="2576169"/>
            <a:ext cx="10256646" cy="2602764"/>
          </a:xfrm>
          <a:prstGeom prst="rect">
            <a:avLst/>
          </a:prstGeom>
        </p:spPr>
        <p:txBody>
          <a:bodyPr wrap="square">
            <a:spAutoFit/>
          </a:bodyPr>
          <a:lstStyle/>
          <a:p>
            <a:pPr algn="just">
              <a:lnSpc>
                <a:spcPct val="107000"/>
              </a:lnSpc>
              <a:spcAft>
                <a:spcPts val="8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A sequential access file: </a:t>
            </a:r>
            <a:r>
              <a:rPr lang="en-US" sz="2000" dirty="0">
                <a:latin typeface="Times New Roman" panose="02020603050405020304" pitchFamily="18" charset="0"/>
                <a:ea typeface="Calibri" panose="020F0502020204030204" pitchFamily="34" charset="0"/>
                <a:cs typeface="Times New Roman" panose="02020603050405020304" pitchFamily="18" charset="0"/>
              </a:rPr>
              <a:t>you access data from the beginning of the file to the end of the file. If you want to read a piece of data that is stored at the very end of the file, you have to read all of the data that comes before it—you cannot jump directly to the desired data. </a:t>
            </a:r>
          </a:p>
          <a:p>
            <a:pPr algn="just">
              <a:lnSpc>
                <a:spcPct val="107000"/>
              </a:lnSpc>
              <a:spcAft>
                <a:spcPts val="8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A direct access file (which is also known as a random access file): </a:t>
            </a:r>
            <a:r>
              <a:rPr lang="en-US" sz="2000" dirty="0">
                <a:latin typeface="Times New Roman" panose="02020603050405020304" pitchFamily="18" charset="0"/>
                <a:ea typeface="Calibri" panose="020F0502020204030204" pitchFamily="34" charset="0"/>
                <a:cs typeface="Times New Roman" panose="02020603050405020304" pitchFamily="18" charset="0"/>
              </a:rPr>
              <a:t>you can jump directly to any piece of data in the file without reading the data that comes before it. </a:t>
            </a: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We will use sequential access files. Sequential access files are easy to work with, and you can use them to gain an understanding of basic file operations.</a:t>
            </a:r>
            <a:endParaRPr lang="ru-RU" sz="20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72401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990156" y="334880"/>
            <a:ext cx="4432624" cy="523220"/>
          </a:xfrm>
          <a:prstGeom prst="rect">
            <a:avLst/>
          </a:prstGeom>
        </p:spPr>
        <p:txBody>
          <a:bodyPr wrap="none" lIns="91440" tIns="45720" rIns="91440" bIns="45720" anchor="t">
            <a:spAutoFit/>
          </a:bodyPr>
          <a:lstStyle/>
          <a:p>
            <a:r>
              <a:rPr lang="en-US" sz="2800" b="1">
                <a:latin typeface="Times New Roman"/>
                <a:cs typeface="Times New Roman"/>
              </a:rPr>
              <a:t>File names and File Objects</a:t>
            </a:r>
            <a:endParaRPr lang="ru-RU" sz="2800" b="1">
              <a:latin typeface="Times New Roman"/>
              <a:cs typeface="Times New Roman"/>
            </a:endParaRPr>
          </a:p>
        </p:txBody>
      </p:sp>
      <p:pic>
        <p:nvPicPr>
          <p:cNvPr id="5" name="Рисунок 4"/>
          <p:cNvPicPr>
            <a:picLocks noChangeAspect="1"/>
          </p:cNvPicPr>
          <p:nvPr/>
        </p:nvPicPr>
        <p:blipFill>
          <a:blip r:embed="rId2"/>
          <a:stretch>
            <a:fillRect/>
          </a:stretch>
        </p:blipFill>
        <p:spPr>
          <a:xfrm>
            <a:off x="2495809" y="985577"/>
            <a:ext cx="6663515" cy="1840750"/>
          </a:xfrm>
          <a:prstGeom prst="rect">
            <a:avLst/>
          </a:prstGeom>
        </p:spPr>
      </p:pic>
      <p:sp>
        <p:nvSpPr>
          <p:cNvPr id="6" name="Прямоугольник 5"/>
          <p:cNvSpPr/>
          <p:nvPr/>
        </p:nvSpPr>
        <p:spPr>
          <a:xfrm>
            <a:off x="5347306" y="2953804"/>
            <a:ext cx="960519"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Figure 1</a:t>
            </a:r>
            <a:endParaRPr lang="ru-RU" dirty="0">
              <a:latin typeface="Times New Roman" panose="02020603050405020304" pitchFamily="18" charset="0"/>
              <a:cs typeface="Times New Roman" panose="02020603050405020304" pitchFamily="18" charset="0"/>
            </a:endParaRPr>
          </a:p>
        </p:txBody>
      </p:sp>
      <p:sp>
        <p:nvSpPr>
          <p:cNvPr id="7" name="Прямоугольник 6"/>
          <p:cNvSpPr/>
          <p:nvPr/>
        </p:nvSpPr>
        <p:spPr>
          <a:xfrm>
            <a:off x="942156" y="3992756"/>
            <a:ext cx="10263400" cy="1200329"/>
          </a:xfrm>
          <a:prstGeom prst="rect">
            <a:avLst/>
          </a:prstGeom>
        </p:spPr>
        <p:txBody>
          <a:bodyPr wrap="square">
            <a:spAutoFit/>
          </a:bodyPr>
          <a:lstStyle/>
          <a:p>
            <a:pPr algn="just"/>
            <a:r>
              <a:rPr lang="en-US" dirty="0"/>
              <a:t>In order for a program to work with a file on the computer’s disk, the program must create a file object in memory. A file object is an object that is associated with a specific file and provides a way for the program to work with that file. In the program, a variable references the file object. This variable is used to carry out any operations that are performed on the file. This concept is shown in Figure 2. </a:t>
            </a:r>
            <a:endParaRPr lang="ru-RU" dirty="0"/>
          </a:p>
        </p:txBody>
      </p:sp>
    </p:spTree>
    <p:extLst>
      <p:ext uri="{BB962C8B-B14F-4D97-AF65-F5344CB8AC3E}">
        <p14:creationId xmlns:p14="http://schemas.microsoft.com/office/powerpoint/2010/main" val="270001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992583" y="719622"/>
            <a:ext cx="6012072" cy="3453367"/>
          </a:xfrm>
          <a:prstGeom prst="rect">
            <a:avLst/>
          </a:prstGeom>
        </p:spPr>
      </p:pic>
      <p:sp>
        <p:nvSpPr>
          <p:cNvPr id="5" name="Прямоугольник 4"/>
          <p:cNvSpPr/>
          <p:nvPr/>
        </p:nvSpPr>
        <p:spPr>
          <a:xfrm>
            <a:off x="5729691" y="4172989"/>
            <a:ext cx="1218603" cy="461665"/>
          </a:xfrm>
          <a:prstGeom prst="rect">
            <a:avLst/>
          </a:prstGeom>
        </p:spPr>
        <p:txBody>
          <a:bodyPr wrap="none">
            <a:spAutoFit/>
          </a:bodyPr>
          <a:lstStyle/>
          <a:p>
            <a:r>
              <a:rPr lang="en-US" sz="2400" dirty="0">
                <a:latin typeface="Times New Roman" panose="02020603050405020304" pitchFamily="18" charset="0"/>
                <a:cs typeface="Times New Roman" panose="02020603050405020304" pitchFamily="18" charset="0"/>
              </a:rPr>
              <a:t>Figure 2</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9062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868900" y="517759"/>
            <a:ext cx="2438488"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Opening a File</a:t>
            </a:r>
            <a:endParaRPr lang="ru-RU" sz="28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753687" y="1510206"/>
            <a:ext cx="10185862" cy="4524315"/>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You use the open function in Python to open a file. The open function creates a file object and associates it with a file on the disk. Here is the general format of how the open function is used:</a:t>
            </a:r>
          </a:p>
          <a:p>
            <a:pPr algn="just"/>
            <a:r>
              <a:rPr lang="en-US" sz="2400" i="1" dirty="0">
                <a:latin typeface="Times New Roman" panose="02020603050405020304" pitchFamily="18" charset="0"/>
                <a:cs typeface="Times New Roman" panose="02020603050405020304" pitchFamily="18" charset="0"/>
              </a:rPr>
              <a:t> </a:t>
            </a:r>
          </a:p>
          <a:p>
            <a:pPr algn="just"/>
            <a:r>
              <a:rPr lang="en-US" sz="2400" i="1" dirty="0" err="1">
                <a:latin typeface="Times New Roman" panose="02020603050405020304" pitchFamily="18" charset="0"/>
                <a:cs typeface="Times New Roman" panose="02020603050405020304" pitchFamily="18" charset="0"/>
              </a:rPr>
              <a:t>file_variable</a:t>
            </a:r>
            <a:r>
              <a:rPr lang="en-US" sz="2400" i="1" dirty="0">
                <a:latin typeface="Times New Roman" panose="02020603050405020304" pitchFamily="18" charset="0"/>
                <a:cs typeface="Times New Roman" panose="02020603050405020304" pitchFamily="18" charset="0"/>
              </a:rPr>
              <a:t> = open(filename, mode)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the general format: </a:t>
            </a:r>
          </a:p>
          <a:p>
            <a:pPr algn="just"/>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file_variable</a:t>
            </a:r>
            <a:r>
              <a:rPr lang="en-US" sz="2400" dirty="0">
                <a:latin typeface="Times New Roman" panose="02020603050405020304" pitchFamily="18" charset="0"/>
                <a:cs typeface="Times New Roman" panose="02020603050405020304" pitchFamily="18" charset="0"/>
              </a:rPr>
              <a:t> is the name of the variable that will reference the file object. </a:t>
            </a:r>
          </a:p>
          <a:p>
            <a:pPr algn="just"/>
            <a:r>
              <a:rPr lang="en-US" sz="2400" dirty="0">
                <a:latin typeface="Times New Roman" panose="02020603050405020304" pitchFamily="18" charset="0"/>
                <a:cs typeface="Times New Roman" panose="02020603050405020304" pitchFamily="18" charset="0"/>
              </a:rPr>
              <a:t>• filename is a string specifying the name of the file. </a:t>
            </a:r>
          </a:p>
          <a:p>
            <a:pPr algn="just"/>
            <a:r>
              <a:rPr lang="en-US" sz="2400" dirty="0">
                <a:latin typeface="Times New Roman" panose="02020603050405020304" pitchFamily="18" charset="0"/>
                <a:cs typeface="Times New Roman" panose="02020603050405020304" pitchFamily="18" charset="0"/>
              </a:rPr>
              <a:t>• mode is a string specifying the mode (reading, writing, etc.) in which the file will be opened. Table 1 shows three of the strings that you can use to specify a mode. </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9633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990107" y="470106"/>
            <a:ext cx="10481743" cy="2958894"/>
          </a:xfrm>
          <a:prstGeom prst="rect">
            <a:avLst/>
          </a:prstGeom>
        </p:spPr>
      </p:pic>
      <p:sp>
        <p:nvSpPr>
          <p:cNvPr id="2" name="Rectangle 1"/>
          <p:cNvSpPr/>
          <p:nvPr/>
        </p:nvSpPr>
        <p:spPr>
          <a:xfrm>
            <a:off x="1156138" y="3853595"/>
            <a:ext cx="10021614" cy="1200329"/>
          </a:xfrm>
          <a:prstGeom prst="rect">
            <a:avLst/>
          </a:prstGeom>
        </p:spPr>
        <p:txBody>
          <a:bodyPr wrap="square">
            <a:spAutoFit/>
          </a:bodyPr>
          <a:lstStyle/>
          <a:p>
            <a:r>
              <a:rPr lang="en-US" dirty="0"/>
              <a:t>For example, suppose the file customers.txt contains customer data, and we want to open it for reading. Here is an example of how we would call the open function:</a:t>
            </a:r>
          </a:p>
          <a:p>
            <a:endParaRPr lang="en-US" dirty="0"/>
          </a:p>
          <a:p>
            <a:r>
              <a:rPr lang="en-US" i="1" dirty="0"/>
              <a:t> </a:t>
            </a:r>
            <a:r>
              <a:rPr lang="en-US" i="1" dirty="0" err="1"/>
              <a:t>customer_file</a:t>
            </a:r>
            <a:r>
              <a:rPr lang="en-US" i="1" dirty="0"/>
              <a:t> = open('customers.txt', 'r')</a:t>
            </a:r>
            <a:endParaRPr lang="ru-RU" i="1" dirty="0"/>
          </a:p>
        </p:txBody>
      </p:sp>
    </p:spTree>
    <p:extLst>
      <p:ext uri="{BB962C8B-B14F-4D97-AF65-F5344CB8AC3E}">
        <p14:creationId xmlns:p14="http://schemas.microsoft.com/office/powerpoint/2010/main" val="3074168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19654" y="985456"/>
            <a:ext cx="10447283" cy="2585323"/>
          </a:xfrm>
          <a:prstGeom prst="rect">
            <a:avLst/>
          </a:prstGeom>
        </p:spPr>
        <p:txBody>
          <a:bodyPr wrap="square">
            <a:spAutoFit/>
          </a:bodyPr>
          <a:lstStyle/>
          <a:p>
            <a:r>
              <a:rPr lang="en-US" dirty="0"/>
              <a:t>After this statement executes, the file named customers.txt will be opened, and the variable </a:t>
            </a:r>
            <a:r>
              <a:rPr lang="en-US" dirty="0" err="1"/>
              <a:t>customer_file</a:t>
            </a:r>
            <a:r>
              <a:rPr lang="en-US" dirty="0"/>
              <a:t> will reference a file object that we can use to read data from the file.</a:t>
            </a:r>
          </a:p>
          <a:p>
            <a:endParaRPr lang="en-US" dirty="0"/>
          </a:p>
          <a:p>
            <a:r>
              <a:rPr lang="en-US" dirty="0"/>
              <a:t> Suppose we want to create a file named sales.txt and write data to it. Here is an example of how we would call the open function: </a:t>
            </a:r>
          </a:p>
          <a:p>
            <a:pPr algn="ctr"/>
            <a:r>
              <a:rPr lang="en-US" i="1" dirty="0" err="1"/>
              <a:t>sales_file</a:t>
            </a:r>
            <a:r>
              <a:rPr lang="en-US" i="1" dirty="0"/>
              <a:t> = open('sales.txt', 'w') </a:t>
            </a:r>
          </a:p>
          <a:p>
            <a:endParaRPr lang="en-US" dirty="0"/>
          </a:p>
          <a:p>
            <a:r>
              <a:rPr lang="en-US" dirty="0"/>
              <a:t>After this statement executes, the file named sales.txt will be created, and the variable </a:t>
            </a:r>
            <a:r>
              <a:rPr lang="en-US" dirty="0" err="1"/>
              <a:t>sales_file</a:t>
            </a:r>
            <a:r>
              <a:rPr lang="en-US" dirty="0"/>
              <a:t> will reference a file object that we can use to write data to the file.</a:t>
            </a:r>
            <a:endParaRPr lang="ru-RU" dirty="0"/>
          </a:p>
        </p:txBody>
      </p:sp>
      <p:pic>
        <p:nvPicPr>
          <p:cNvPr id="5" name="Picture 4"/>
          <p:cNvPicPr>
            <a:picLocks noChangeAspect="1"/>
          </p:cNvPicPr>
          <p:nvPr/>
        </p:nvPicPr>
        <p:blipFill>
          <a:blip r:embed="rId2"/>
          <a:stretch>
            <a:fillRect/>
          </a:stretch>
        </p:blipFill>
        <p:spPr>
          <a:xfrm>
            <a:off x="2021738" y="4382813"/>
            <a:ext cx="7802194" cy="1131391"/>
          </a:xfrm>
          <a:prstGeom prst="rect">
            <a:avLst/>
          </a:prstGeom>
        </p:spPr>
      </p:pic>
    </p:spTree>
    <p:extLst>
      <p:ext uri="{BB962C8B-B14F-4D97-AF65-F5344CB8AC3E}">
        <p14:creationId xmlns:p14="http://schemas.microsoft.com/office/powerpoint/2010/main" val="849624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625302" y="154292"/>
            <a:ext cx="4204997" cy="461665"/>
          </a:xfrm>
          <a:prstGeom prst="rect">
            <a:avLst/>
          </a:prstGeom>
        </p:spPr>
        <p:txBody>
          <a:bodyPr wrap="none">
            <a:spAutoFit/>
          </a:bodyPr>
          <a:lstStyle/>
          <a:p>
            <a:r>
              <a:rPr lang="en-US" sz="2400" b="1" dirty="0"/>
              <a:t>Specifying the Location of a File</a:t>
            </a:r>
            <a:endParaRPr lang="ru-RU" sz="2400" b="1" dirty="0"/>
          </a:p>
        </p:txBody>
      </p:sp>
      <p:sp>
        <p:nvSpPr>
          <p:cNvPr id="5" name="Rectangle 4"/>
          <p:cNvSpPr/>
          <p:nvPr/>
        </p:nvSpPr>
        <p:spPr>
          <a:xfrm>
            <a:off x="340864" y="828188"/>
            <a:ext cx="10773871" cy="5632311"/>
          </a:xfrm>
          <a:prstGeom prst="rect">
            <a:avLst/>
          </a:prstGeom>
        </p:spPr>
        <p:txBody>
          <a:bodyPr wrap="square">
            <a:spAutoFit/>
          </a:bodyPr>
          <a:lstStyle/>
          <a:p>
            <a:pPr algn="just"/>
            <a:r>
              <a:rPr lang="en-US" dirty="0"/>
              <a:t>When you pass a file name that does not contain a path as an argument to the open function, the Python interpreter assumes the file’s location is the same as that of the program. For example, suppose a program is located in the following folder on a Windows computer:</a:t>
            </a:r>
          </a:p>
          <a:p>
            <a:pPr algn="just"/>
            <a:endParaRPr lang="en-US" dirty="0"/>
          </a:p>
          <a:p>
            <a:pPr algn="ctr"/>
            <a:r>
              <a:rPr lang="en-US" dirty="0"/>
              <a:t> </a:t>
            </a:r>
            <a:r>
              <a:rPr lang="en-US" i="1" dirty="0"/>
              <a:t>C:\Users\Blake\Documents\Python </a:t>
            </a:r>
          </a:p>
          <a:p>
            <a:pPr algn="just"/>
            <a:endParaRPr lang="en-US" dirty="0"/>
          </a:p>
          <a:p>
            <a:pPr algn="just"/>
            <a:r>
              <a:rPr lang="en-US" dirty="0"/>
              <a:t>If the program is running and it executes the following statement, the file test.txt is created in the same folder: </a:t>
            </a:r>
          </a:p>
          <a:p>
            <a:pPr algn="just"/>
            <a:endParaRPr lang="en-US" dirty="0"/>
          </a:p>
          <a:p>
            <a:pPr algn="ctr"/>
            <a:r>
              <a:rPr lang="en-US" i="1" dirty="0" err="1"/>
              <a:t>test_file</a:t>
            </a:r>
            <a:r>
              <a:rPr lang="en-US" i="1" dirty="0"/>
              <a:t> = open('test.txt', 'w')</a:t>
            </a:r>
          </a:p>
          <a:p>
            <a:pPr algn="just"/>
            <a:endParaRPr lang="en-US" dirty="0"/>
          </a:p>
          <a:p>
            <a:pPr algn="just"/>
            <a:r>
              <a:rPr lang="en-US" dirty="0"/>
              <a:t> If you want to open a file in a different location, you can specify a path as well as a filename in the argument that you pass to the open function. If you specify a path in a string literal (particularly on a Windows computer), be sure to prefix the string with the letter r. Here is an example: </a:t>
            </a:r>
          </a:p>
          <a:p>
            <a:pPr algn="just"/>
            <a:endParaRPr lang="en-US" dirty="0"/>
          </a:p>
          <a:p>
            <a:pPr algn="ctr"/>
            <a:r>
              <a:rPr lang="en-US" i="1" dirty="0" err="1"/>
              <a:t>test_file</a:t>
            </a:r>
            <a:r>
              <a:rPr lang="en-US" i="1" dirty="0"/>
              <a:t> = open(</a:t>
            </a:r>
            <a:r>
              <a:rPr lang="en-US" i="1" dirty="0" err="1"/>
              <a:t>r'C</a:t>
            </a:r>
            <a:r>
              <a:rPr lang="en-US" i="1" dirty="0"/>
              <a:t>:\Users\Blake\temp\test.txt', 'w') </a:t>
            </a:r>
          </a:p>
          <a:p>
            <a:pPr algn="just"/>
            <a:endParaRPr lang="en-US" dirty="0"/>
          </a:p>
          <a:p>
            <a:pPr algn="just"/>
            <a:r>
              <a:rPr lang="en-US" dirty="0"/>
              <a:t>This statement creates the file test.txt in the folder C:\Users\Blake\temp. The </a:t>
            </a:r>
            <a:r>
              <a:rPr lang="en-US" b="1" dirty="0"/>
              <a:t>r</a:t>
            </a:r>
            <a:r>
              <a:rPr lang="en-US" dirty="0"/>
              <a:t> prefix specifies that the string is a raw string. This causes the Python interpreter to read the backslash characters as literal backslashes. Without the </a:t>
            </a:r>
            <a:r>
              <a:rPr lang="en-US" b="1" dirty="0"/>
              <a:t>r</a:t>
            </a:r>
            <a:r>
              <a:rPr lang="en-US" dirty="0"/>
              <a:t> prefix, the interpreter would assume that the backslash characters were part of escape sequences, and an error would occur.</a:t>
            </a:r>
            <a:endParaRPr lang="ru-RU" dirty="0"/>
          </a:p>
        </p:txBody>
      </p:sp>
    </p:spTree>
    <p:extLst>
      <p:ext uri="{BB962C8B-B14F-4D97-AF65-F5344CB8AC3E}">
        <p14:creationId xmlns:p14="http://schemas.microsoft.com/office/powerpoint/2010/main" val="2981761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81189" y="406540"/>
            <a:ext cx="3333605" cy="523220"/>
          </a:xfrm>
          <a:prstGeom prst="rect">
            <a:avLst/>
          </a:prstGeom>
        </p:spPr>
        <p:txBody>
          <a:bodyPr wrap="none">
            <a:spAutoFit/>
          </a:bodyPr>
          <a:lstStyle/>
          <a:p>
            <a:r>
              <a:rPr lang="en-US" sz="2800" b="1" dirty="0"/>
              <a:t>Writing Data to a File</a:t>
            </a:r>
            <a:endParaRPr lang="ru-RU" sz="2800" b="1" dirty="0"/>
          </a:p>
        </p:txBody>
      </p:sp>
      <p:sp>
        <p:nvSpPr>
          <p:cNvPr id="5" name="Rectangle 4"/>
          <p:cNvSpPr/>
          <p:nvPr/>
        </p:nvSpPr>
        <p:spPr>
          <a:xfrm>
            <a:off x="919927" y="1151898"/>
            <a:ext cx="10399986" cy="646331"/>
          </a:xfrm>
          <a:prstGeom prst="rect">
            <a:avLst/>
          </a:prstGeom>
        </p:spPr>
        <p:txBody>
          <a:bodyPr wrap="square">
            <a:spAutoFit/>
          </a:bodyPr>
          <a:lstStyle/>
          <a:p>
            <a:pPr algn="just"/>
            <a:r>
              <a:rPr lang="en-US" i="1" dirty="0">
                <a:latin typeface="Calibri" panose="020F0502020204030204" pitchFamily="34" charset="0"/>
                <a:ea typeface="Calibri" panose="020F0502020204030204" pitchFamily="34" charset="0"/>
                <a:cs typeface="Times New Roman" panose="02020603050405020304" pitchFamily="18" charset="0"/>
              </a:rPr>
              <a:t>A method</a:t>
            </a:r>
            <a:r>
              <a:rPr lang="en-US" dirty="0">
                <a:latin typeface="Calibri" panose="020F0502020204030204" pitchFamily="34" charset="0"/>
                <a:ea typeface="Calibri" panose="020F0502020204030204" pitchFamily="34" charset="0"/>
                <a:cs typeface="Times New Roman" panose="02020603050405020304" pitchFamily="18" charset="0"/>
              </a:rPr>
              <a:t> is a function that belongs to an object and performs some operation using that object. Once you have opened a file, you use the file object’s methods to perform operations on the file.</a:t>
            </a:r>
            <a:endParaRPr lang="ru-RU" dirty="0"/>
          </a:p>
        </p:txBody>
      </p:sp>
      <p:sp>
        <p:nvSpPr>
          <p:cNvPr id="6" name="Rectangle 5"/>
          <p:cNvSpPr/>
          <p:nvPr/>
        </p:nvSpPr>
        <p:spPr>
          <a:xfrm>
            <a:off x="919927" y="1942158"/>
            <a:ext cx="10399986" cy="923330"/>
          </a:xfrm>
          <a:prstGeom prst="rect">
            <a:avLst/>
          </a:prstGeom>
        </p:spPr>
        <p:txBody>
          <a:bodyPr wrap="square">
            <a:spAutoFit/>
          </a:bodyPr>
          <a:lstStyle/>
          <a:p>
            <a:r>
              <a:rPr lang="en-US" dirty="0"/>
              <a:t>For example, file objects have a method named write that can be used to write data to a file. Here is the general format of how you call the write method:</a:t>
            </a:r>
          </a:p>
          <a:p>
            <a:endParaRPr lang="en-US" dirty="0"/>
          </a:p>
        </p:txBody>
      </p:sp>
      <p:pic>
        <p:nvPicPr>
          <p:cNvPr id="7" name="Picture 6"/>
          <p:cNvPicPr>
            <a:picLocks noChangeAspect="1"/>
          </p:cNvPicPr>
          <p:nvPr/>
        </p:nvPicPr>
        <p:blipFill>
          <a:blip r:embed="rId2"/>
          <a:stretch>
            <a:fillRect/>
          </a:stretch>
        </p:blipFill>
        <p:spPr>
          <a:xfrm>
            <a:off x="5664533" y="2294527"/>
            <a:ext cx="5796998" cy="2363970"/>
          </a:xfrm>
          <a:prstGeom prst="rect">
            <a:avLst/>
          </a:prstGeom>
        </p:spPr>
      </p:pic>
      <p:sp>
        <p:nvSpPr>
          <p:cNvPr id="8" name="Rectangle 7"/>
          <p:cNvSpPr/>
          <p:nvPr/>
        </p:nvSpPr>
        <p:spPr>
          <a:xfrm>
            <a:off x="659796" y="4577119"/>
            <a:ext cx="10920248" cy="2280881"/>
          </a:xfrm>
          <a:prstGeom prst="rect">
            <a:avLst/>
          </a:prstGeom>
        </p:spPr>
        <p:txBody>
          <a:bodyPr wrap="square">
            <a:spAutoFit/>
          </a:bodyPr>
          <a:lstStyle/>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Let’s assume </a:t>
            </a:r>
            <a:r>
              <a:rPr lang="en-US" dirty="0" err="1">
                <a:latin typeface="Calibri" panose="020F0502020204030204" pitchFamily="34" charset="0"/>
                <a:ea typeface="Calibri" panose="020F0502020204030204" pitchFamily="34" charset="0"/>
                <a:cs typeface="Times New Roman" panose="02020603050405020304" pitchFamily="18" charset="0"/>
              </a:rPr>
              <a:t>customer_file</a:t>
            </a:r>
            <a:r>
              <a:rPr lang="en-US" dirty="0">
                <a:latin typeface="Calibri" panose="020F0502020204030204" pitchFamily="34" charset="0"/>
                <a:ea typeface="Calibri" panose="020F0502020204030204" pitchFamily="34" charset="0"/>
                <a:cs typeface="Times New Roman" panose="02020603050405020304" pitchFamily="18" charset="0"/>
              </a:rPr>
              <a:t> references a file object, and the file was opened for writing with the 'w' mode. Here is an example of how we would write the string ‘Charles Pace’ to the file: </a:t>
            </a:r>
          </a:p>
          <a:p>
            <a:pPr algn="just">
              <a:lnSpc>
                <a:spcPct val="107000"/>
              </a:lnSpc>
              <a:spcAft>
                <a:spcPts val="800"/>
              </a:spcAft>
            </a:pPr>
            <a:r>
              <a:rPr lang="en-US" i="1" dirty="0" err="1">
                <a:latin typeface="Calibri" panose="020F0502020204030204" pitchFamily="34" charset="0"/>
                <a:ea typeface="Calibri" panose="020F0502020204030204" pitchFamily="34" charset="0"/>
                <a:cs typeface="Times New Roman" panose="02020603050405020304" pitchFamily="18" charset="0"/>
              </a:rPr>
              <a:t>customer_file.write</a:t>
            </a:r>
            <a:r>
              <a:rPr lang="en-US" i="1" dirty="0">
                <a:latin typeface="Calibri" panose="020F0502020204030204" pitchFamily="34" charset="0"/>
                <a:ea typeface="Calibri" panose="020F0502020204030204" pitchFamily="34" charset="0"/>
                <a:cs typeface="Times New Roman" panose="02020603050405020304" pitchFamily="18" charset="0"/>
              </a:rPr>
              <a:t>('Charles Pace') </a:t>
            </a:r>
          </a:p>
          <a:p>
            <a:pPr algn="just">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The following code shows another example: </a:t>
            </a:r>
          </a:p>
          <a:p>
            <a:pPr algn="just">
              <a:lnSpc>
                <a:spcPct val="107000"/>
              </a:lnSpc>
              <a:spcAft>
                <a:spcPts val="800"/>
              </a:spcAft>
            </a:pPr>
            <a:r>
              <a:rPr lang="en-US" i="1" dirty="0">
                <a:latin typeface="Calibri" panose="020F0502020204030204" pitchFamily="34" charset="0"/>
                <a:ea typeface="Calibri" panose="020F0502020204030204" pitchFamily="34" charset="0"/>
                <a:cs typeface="Times New Roman" panose="02020603050405020304" pitchFamily="18" charset="0"/>
              </a:rPr>
              <a:t>name = 'Charles Pace‘</a:t>
            </a:r>
          </a:p>
          <a:p>
            <a:pPr algn="just">
              <a:lnSpc>
                <a:spcPct val="107000"/>
              </a:lnSpc>
              <a:spcAft>
                <a:spcPts val="800"/>
              </a:spcAft>
            </a:pPr>
            <a:r>
              <a:rPr lang="en-US" i="1" dirty="0" err="1">
                <a:latin typeface="Calibri" panose="020F0502020204030204" pitchFamily="34" charset="0"/>
                <a:ea typeface="Calibri" panose="020F0502020204030204" pitchFamily="34" charset="0"/>
                <a:cs typeface="Times New Roman" panose="02020603050405020304" pitchFamily="18" charset="0"/>
              </a:rPr>
              <a:t>customer_file.write</a:t>
            </a:r>
            <a:r>
              <a:rPr lang="en-US" i="1" dirty="0">
                <a:latin typeface="Calibri" panose="020F0502020204030204" pitchFamily="34" charset="0"/>
                <a:ea typeface="Calibri" panose="020F0502020204030204" pitchFamily="34" charset="0"/>
                <a:cs typeface="Times New Roman" panose="02020603050405020304" pitchFamily="18" charset="0"/>
              </a:rPr>
              <a:t>(name)</a:t>
            </a:r>
            <a:endParaRPr lang="ru-RU" i="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1680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4347" y="929471"/>
            <a:ext cx="4154106" cy="3374515"/>
          </a:xfrm>
          <a:prstGeom prst="rect">
            <a:avLst/>
          </a:prstGeom>
        </p:spPr>
      </p:pic>
      <p:sp>
        <p:nvSpPr>
          <p:cNvPr id="5" name="Rectangle 4"/>
          <p:cNvSpPr/>
          <p:nvPr/>
        </p:nvSpPr>
        <p:spPr>
          <a:xfrm>
            <a:off x="2070537" y="394166"/>
            <a:ext cx="7814441" cy="400110"/>
          </a:xfrm>
          <a:prstGeom prst="rect">
            <a:avLst/>
          </a:prstGeom>
        </p:spPr>
        <p:txBody>
          <a:bodyPr wrap="square">
            <a:spAutoFit/>
          </a:bodyPr>
          <a:lstStyle/>
          <a:p>
            <a:pPr algn="ctr"/>
            <a:r>
              <a:rPr lang="en-US" sz="2000" dirty="0"/>
              <a:t>Python program that opens an output file, writes data to it, then closes it.</a:t>
            </a:r>
            <a:endParaRPr lang="ru-RU" sz="2000" dirty="0"/>
          </a:p>
        </p:txBody>
      </p:sp>
      <p:pic>
        <p:nvPicPr>
          <p:cNvPr id="6" name="Picture 5"/>
          <p:cNvPicPr>
            <a:picLocks noChangeAspect="1"/>
          </p:cNvPicPr>
          <p:nvPr/>
        </p:nvPicPr>
        <p:blipFill>
          <a:blip r:embed="rId3"/>
          <a:stretch>
            <a:fillRect/>
          </a:stretch>
        </p:blipFill>
        <p:spPr>
          <a:xfrm>
            <a:off x="3775794" y="3291808"/>
            <a:ext cx="5551725" cy="1674329"/>
          </a:xfrm>
          <a:prstGeom prst="rect">
            <a:avLst/>
          </a:prstGeom>
        </p:spPr>
      </p:pic>
      <p:pic>
        <p:nvPicPr>
          <p:cNvPr id="7" name="Picture 6"/>
          <p:cNvPicPr>
            <a:picLocks noChangeAspect="1"/>
          </p:cNvPicPr>
          <p:nvPr/>
        </p:nvPicPr>
        <p:blipFill>
          <a:blip r:embed="rId4"/>
          <a:stretch>
            <a:fillRect/>
          </a:stretch>
        </p:blipFill>
        <p:spPr>
          <a:xfrm>
            <a:off x="9108011" y="4966137"/>
            <a:ext cx="2970955" cy="1485478"/>
          </a:xfrm>
          <a:prstGeom prst="rect">
            <a:avLst/>
          </a:prstGeom>
        </p:spPr>
      </p:pic>
    </p:spTree>
    <p:extLst>
      <p:ext uri="{BB962C8B-B14F-4D97-AF65-F5344CB8AC3E}">
        <p14:creationId xmlns:p14="http://schemas.microsoft.com/office/powerpoint/2010/main" val="167961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93783" y="532665"/>
            <a:ext cx="3349250" cy="461665"/>
          </a:xfrm>
          <a:prstGeom prst="rect">
            <a:avLst/>
          </a:prstGeom>
        </p:spPr>
        <p:txBody>
          <a:bodyPr wrap="none">
            <a:spAutoFit/>
          </a:bodyPr>
          <a:lstStyle/>
          <a:p>
            <a:r>
              <a:rPr lang="en-US" sz="2400" b="1" dirty="0"/>
              <a:t>Reading Data From a File</a:t>
            </a:r>
            <a:endParaRPr lang="ru-RU" sz="2400" b="1" dirty="0"/>
          </a:p>
        </p:txBody>
      </p:sp>
      <p:pic>
        <p:nvPicPr>
          <p:cNvPr id="5" name="Picture 4"/>
          <p:cNvPicPr>
            <a:picLocks noChangeAspect="1"/>
          </p:cNvPicPr>
          <p:nvPr/>
        </p:nvPicPr>
        <p:blipFill>
          <a:blip r:embed="rId2"/>
          <a:stretch>
            <a:fillRect/>
          </a:stretch>
        </p:blipFill>
        <p:spPr>
          <a:xfrm>
            <a:off x="1014485" y="1329776"/>
            <a:ext cx="4913349" cy="2118483"/>
          </a:xfrm>
          <a:prstGeom prst="rect">
            <a:avLst/>
          </a:prstGeom>
        </p:spPr>
      </p:pic>
      <p:pic>
        <p:nvPicPr>
          <p:cNvPr id="6" name="Picture 5"/>
          <p:cNvPicPr>
            <a:picLocks noChangeAspect="1"/>
          </p:cNvPicPr>
          <p:nvPr/>
        </p:nvPicPr>
        <p:blipFill>
          <a:blip r:embed="rId3"/>
          <a:stretch>
            <a:fillRect/>
          </a:stretch>
        </p:blipFill>
        <p:spPr>
          <a:xfrm>
            <a:off x="1014485" y="3322135"/>
            <a:ext cx="4913349" cy="3042204"/>
          </a:xfrm>
          <a:prstGeom prst="rect">
            <a:avLst/>
          </a:prstGeom>
        </p:spPr>
      </p:pic>
    </p:spTree>
    <p:extLst>
      <p:ext uri="{BB962C8B-B14F-4D97-AF65-F5344CB8AC3E}">
        <p14:creationId xmlns:p14="http://schemas.microsoft.com/office/powerpoint/2010/main" val="2488787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994700" y="442073"/>
            <a:ext cx="8239758" cy="519624"/>
          </a:xfrm>
          <a:prstGeom prst="rect">
            <a:avLst/>
          </a:prstGeom>
        </p:spPr>
      </p:pic>
      <p:pic>
        <p:nvPicPr>
          <p:cNvPr id="5" name="Picture 4"/>
          <p:cNvPicPr>
            <a:picLocks noChangeAspect="1"/>
          </p:cNvPicPr>
          <p:nvPr/>
        </p:nvPicPr>
        <p:blipFill>
          <a:blip r:embed="rId4"/>
          <a:stretch>
            <a:fillRect/>
          </a:stretch>
        </p:blipFill>
        <p:spPr>
          <a:xfrm>
            <a:off x="667508" y="1152546"/>
            <a:ext cx="3904492" cy="2089245"/>
          </a:xfrm>
          <a:prstGeom prst="rect">
            <a:avLst/>
          </a:prstGeom>
        </p:spPr>
      </p:pic>
      <p:pic>
        <p:nvPicPr>
          <p:cNvPr id="6" name="Picture 5"/>
          <p:cNvPicPr>
            <a:picLocks noChangeAspect="1"/>
          </p:cNvPicPr>
          <p:nvPr/>
        </p:nvPicPr>
        <p:blipFill>
          <a:blip r:embed="rId5"/>
          <a:stretch>
            <a:fillRect/>
          </a:stretch>
        </p:blipFill>
        <p:spPr>
          <a:xfrm>
            <a:off x="667508" y="3085800"/>
            <a:ext cx="4298631" cy="3619900"/>
          </a:xfrm>
          <a:prstGeom prst="rect">
            <a:avLst/>
          </a:prstGeom>
        </p:spPr>
      </p:pic>
      <p:pic>
        <p:nvPicPr>
          <p:cNvPr id="7" name="Picture 6"/>
          <p:cNvPicPr>
            <a:picLocks noChangeAspect="1"/>
          </p:cNvPicPr>
          <p:nvPr/>
        </p:nvPicPr>
        <p:blipFill>
          <a:blip r:embed="rId6"/>
          <a:stretch>
            <a:fillRect/>
          </a:stretch>
        </p:blipFill>
        <p:spPr>
          <a:xfrm>
            <a:off x="6564546" y="1152546"/>
            <a:ext cx="5307399" cy="1034775"/>
          </a:xfrm>
          <a:prstGeom prst="rect">
            <a:avLst/>
          </a:prstGeom>
        </p:spPr>
      </p:pic>
      <p:pic>
        <p:nvPicPr>
          <p:cNvPr id="8" name="Picture 7"/>
          <p:cNvPicPr>
            <a:picLocks noChangeAspect="1"/>
          </p:cNvPicPr>
          <p:nvPr/>
        </p:nvPicPr>
        <p:blipFill>
          <a:blip r:embed="rId7"/>
          <a:stretch>
            <a:fillRect/>
          </a:stretch>
        </p:blipFill>
        <p:spPr>
          <a:xfrm>
            <a:off x="6948574" y="2292785"/>
            <a:ext cx="4539341" cy="1248318"/>
          </a:xfrm>
          <a:prstGeom prst="rect">
            <a:avLst/>
          </a:prstGeom>
        </p:spPr>
      </p:pic>
      <p:pic>
        <p:nvPicPr>
          <p:cNvPr id="9" name="Picture 8"/>
          <p:cNvPicPr>
            <a:picLocks noChangeAspect="1"/>
          </p:cNvPicPr>
          <p:nvPr/>
        </p:nvPicPr>
        <p:blipFill>
          <a:blip r:embed="rId8"/>
          <a:stretch>
            <a:fillRect/>
          </a:stretch>
        </p:blipFill>
        <p:spPr>
          <a:xfrm>
            <a:off x="7041946" y="3646567"/>
            <a:ext cx="4445969" cy="1128081"/>
          </a:xfrm>
          <a:prstGeom prst="rect">
            <a:avLst/>
          </a:prstGeom>
        </p:spPr>
      </p:pic>
      <p:pic>
        <p:nvPicPr>
          <p:cNvPr id="11" name="Picture 10"/>
          <p:cNvPicPr>
            <a:picLocks noChangeAspect="1"/>
          </p:cNvPicPr>
          <p:nvPr/>
        </p:nvPicPr>
        <p:blipFill>
          <a:blip r:embed="rId9"/>
          <a:stretch>
            <a:fillRect/>
          </a:stretch>
        </p:blipFill>
        <p:spPr>
          <a:xfrm>
            <a:off x="7232880" y="4927553"/>
            <a:ext cx="4639065" cy="1046064"/>
          </a:xfrm>
          <a:prstGeom prst="rect">
            <a:avLst/>
          </a:prstGeom>
        </p:spPr>
      </p:pic>
      <p:sp>
        <p:nvSpPr>
          <p:cNvPr id="12" name="Rectangle 11"/>
          <p:cNvSpPr/>
          <p:nvPr/>
        </p:nvSpPr>
        <p:spPr>
          <a:xfrm>
            <a:off x="8664997" y="1992163"/>
            <a:ext cx="936667"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Figure 3</a:t>
            </a:r>
            <a:endParaRPr lang="ru-RU" dirty="0"/>
          </a:p>
        </p:txBody>
      </p:sp>
      <p:sp>
        <p:nvSpPr>
          <p:cNvPr id="13" name="Rectangle 12"/>
          <p:cNvSpPr/>
          <p:nvPr/>
        </p:nvSpPr>
        <p:spPr>
          <a:xfrm>
            <a:off x="8749910" y="3241791"/>
            <a:ext cx="936667"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Figure 4</a:t>
            </a:r>
            <a:endParaRPr lang="ru-RU" dirty="0"/>
          </a:p>
        </p:txBody>
      </p:sp>
      <p:sp>
        <p:nvSpPr>
          <p:cNvPr id="14" name="Rectangle 13"/>
          <p:cNvSpPr/>
          <p:nvPr/>
        </p:nvSpPr>
        <p:spPr>
          <a:xfrm>
            <a:off x="8796596" y="4625426"/>
            <a:ext cx="936667"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Figure 5</a:t>
            </a:r>
            <a:endParaRPr lang="ru-RU" dirty="0"/>
          </a:p>
        </p:txBody>
      </p:sp>
      <p:sp>
        <p:nvSpPr>
          <p:cNvPr id="15" name="Rectangle 14"/>
          <p:cNvSpPr/>
          <p:nvPr/>
        </p:nvSpPr>
        <p:spPr>
          <a:xfrm>
            <a:off x="8796596" y="5788951"/>
            <a:ext cx="936667" cy="369332"/>
          </a:xfrm>
          <a:prstGeom prst="rect">
            <a:avLst/>
          </a:prstGeom>
        </p:spPr>
        <p:txBody>
          <a:bodyPr wrap="none">
            <a:spAutoFit/>
          </a:bodyPr>
          <a:lstStyle/>
          <a:p>
            <a:r>
              <a:rPr lang="en-US" dirty="0">
                <a:latin typeface="Calibri" panose="020F0502020204030204" pitchFamily="34" charset="0"/>
                <a:ea typeface="Calibri" panose="020F0502020204030204" pitchFamily="34" charset="0"/>
                <a:cs typeface="Times New Roman" panose="02020603050405020304" pitchFamily="18" charset="0"/>
              </a:rPr>
              <a:t>Figure 6</a:t>
            </a:r>
            <a:endParaRPr lang="ru-RU" dirty="0"/>
          </a:p>
        </p:txBody>
      </p:sp>
    </p:spTree>
    <p:extLst>
      <p:ext uri="{BB962C8B-B14F-4D97-AF65-F5344CB8AC3E}">
        <p14:creationId xmlns:p14="http://schemas.microsoft.com/office/powerpoint/2010/main" val="1768391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69300" y="2217471"/>
            <a:ext cx="10579556" cy="1235177"/>
          </a:xfrm>
          <a:prstGeom prst="rect">
            <a:avLst/>
          </a:prstGeom>
        </p:spPr>
      </p:pic>
    </p:spTree>
    <p:extLst>
      <p:ext uri="{BB962C8B-B14F-4D97-AF65-F5344CB8AC3E}">
        <p14:creationId xmlns:p14="http://schemas.microsoft.com/office/powerpoint/2010/main" val="2450928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54832" y="453838"/>
            <a:ext cx="4639283" cy="461665"/>
          </a:xfrm>
          <a:prstGeom prst="rect">
            <a:avLst/>
          </a:prstGeom>
        </p:spPr>
        <p:txBody>
          <a:bodyPr wrap="none">
            <a:spAutoFit/>
          </a:bodyPr>
          <a:lstStyle/>
          <a:p>
            <a:r>
              <a:rPr lang="en-US" sz="2400" dirty="0"/>
              <a:t>Concatenating a Newline to a String</a:t>
            </a:r>
            <a:endParaRPr lang="ru-RU" sz="2400" dirty="0"/>
          </a:p>
        </p:txBody>
      </p:sp>
      <p:pic>
        <p:nvPicPr>
          <p:cNvPr id="5" name="Picture 4"/>
          <p:cNvPicPr>
            <a:picLocks noChangeAspect="1"/>
          </p:cNvPicPr>
          <p:nvPr/>
        </p:nvPicPr>
        <p:blipFill>
          <a:blip r:embed="rId2"/>
          <a:stretch>
            <a:fillRect/>
          </a:stretch>
        </p:blipFill>
        <p:spPr>
          <a:xfrm>
            <a:off x="522602" y="1094179"/>
            <a:ext cx="4427769" cy="5770449"/>
          </a:xfrm>
          <a:prstGeom prst="rect">
            <a:avLst/>
          </a:prstGeom>
        </p:spPr>
      </p:pic>
      <p:sp>
        <p:nvSpPr>
          <p:cNvPr id="6" name="Rectangle 5"/>
          <p:cNvSpPr/>
          <p:nvPr/>
        </p:nvSpPr>
        <p:spPr>
          <a:xfrm>
            <a:off x="6921061" y="1671079"/>
            <a:ext cx="4824249" cy="3693319"/>
          </a:xfrm>
          <a:prstGeom prst="rect">
            <a:avLst/>
          </a:prstGeom>
        </p:spPr>
        <p:txBody>
          <a:bodyPr wrap="square">
            <a:spAutoFit/>
          </a:bodyPr>
          <a:lstStyle/>
          <a:p>
            <a:r>
              <a:rPr lang="en-US" b="1" dirty="0"/>
              <a:t>Lines 7 through 9 </a:t>
            </a:r>
            <a:r>
              <a:rPr lang="en-US" dirty="0"/>
              <a:t>prompt the user to enter three names, and those names are assigned to the variables name1, name2, and name3. </a:t>
            </a:r>
          </a:p>
          <a:p>
            <a:r>
              <a:rPr lang="en-US" dirty="0"/>
              <a:t>Line 12 opens a file named friends.txt for writing. Then, </a:t>
            </a:r>
            <a:r>
              <a:rPr lang="en-US" b="1" dirty="0"/>
              <a:t>lines 15 through 17 </a:t>
            </a:r>
            <a:r>
              <a:rPr lang="en-US" dirty="0"/>
              <a:t>write the names entered by the user, each with '\n' concatenated to it.</a:t>
            </a:r>
          </a:p>
          <a:p>
            <a:r>
              <a:rPr lang="en-US" dirty="0"/>
              <a:t> As a result, each name will have the \n escape sequence added to it when written to the file. </a:t>
            </a:r>
          </a:p>
          <a:p>
            <a:endParaRPr lang="en-US" dirty="0"/>
          </a:p>
          <a:p>
            <a:endParaRPr lang="en-US" dirty="0"/>
          </a:p>
          <a:p>
            <a:r>
              <a:rPr lang="en-US" dirty="0"/>
              <a:t>Figure shows the contents of the file with the names entered by the user in the sample run</a:t>
            </a:r>
            <a:endParaRPr lang="ru-RU" dirty="0"/>
          </a:p>
        </p:txBody>
      </p:sp>
      <p:pic>
        <p:nvPicPr>
          <p:cNvPr id="7" name="Picture 6"/>
          <p:cNvPicPr>
            <a:picLocks noChangeAspect="1"/>
          </p:cNvPicPr>
          <p:nvPr/>
        </p:nvPicPr>
        <p:blipFill>
          <a:blip r:embed="rId3"/>
          <a:stretch>
            <a:fillRect/>
          </a:stretch>
        </p:blipFill>
        <p:spPr>
          <a:xfrm>
            <a:off x="7814847" y="5656030"/>
            <a:ext cx="1845401" cy="271803"/>
          </a:xfrm>
          <a:prstGeom prst="rect">
            <a:avLst/>
          </a:prstGeom>
        </p:spPr>
      </p:pic>
    </p:spTree>
    <p:extLst>
      <p:ext uri="{BB962C8B-B14F-4D97-AF65-F5344CB8AC3E}">
        <p14:creationId xmlns:p14="http://schemas.microsoft.com/office/powerpoint/2010/main" val="2095549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68384" y="627258"/>
            <a:ext cx="5527282" cy="400110"/>
          </a:xfrm>
          <a:prstGeom prst="rect">
            <a:avLst/>
          </a:prstGeom>
        </p:spPr>
        <p:txBody>
          <a:bodyPr wrap="none">
            <a:spAutoFit/>
          </a:bodyPr>
          <a:lstStyle/>
          <a:p>
            <a:r>
              <a:rPr lang="en-US" sz="2000" b="1" dirty="0"/>
              <a:t>Reading a String and Stripping the Newline from It</a:t>
            </a:r>
            <a:endParaRPr lang="ru-RU" sz="2000" b="1" dirty="0"/>
          </a:p>
        </p:txBody>
      </p:sp>
      <p:sp>
        <p:nvSpPr>
          <p:cNvPr id="5" name="Rectangle 4"/>
          <p:cNvSpPr/>
          <p:nvPr/>
        </p:nvSpPr>
        <p:spPr>
          <a:xfrm>
            <a:off x="584735" y="1190408"/>
            <a:ext cx="10494580" cy="2308324"/>
          </a:xfrm>
          <a:prstGeom prst="rect">
            <a:avLst/>
          </a:prstGeom>
        </p:spPr>
        <p:txBody>
          <a:bodyPr wrap="square">
            <a:spAutoFit/>
          </a:bodyPr>
          <a:lstStyle/>
          <a:p>
            <a:pPr algn="just"/>
            <a:r>
              <a:rPr lang="en-US" dirty="0"/>
              <a:t>The \n serves a necessary purpose inside a file: it separates the items that are stored in the file. However, in many cases, you want to remove the \n from a string after it is read from a file. Each string in Python has a method named </a:t>
            </a:r>
            <a:r>
              <a:rPr lang="en-US" b="1" dirty="0" err="1"/>
              <a:t>rstrip</a:t>
            </a:r>
            <a:r>
              <a:rPr lang="en-US" dirty="0"/>
              <a:t> that removes, or “strips,” specific characters from the end of a string. (It is named </a:t>
            </a:r>
            <a:r>
              <a:rPr lang="en-US" dirty="0" err="1"/>
              <a:t>rstrip</a:t>
            </a:r>
            <a:r>
              <a:rPr lang="en-US" dirty="0"/>
              <a:t> because it strips characters from the right side of a string.) The following code shows an example of how the </a:t>
            </a:r>
            <a:r>
              <a:rPr lang="en-US" dirty="0" err="1"/>
              <a:t>rstrip</a:t>
            </a:r>
            <a:r>
              <a:rPr lang="en-US" dirty="0"/>
              <a:t> method can be used. </a:t>
            </a:r>
          </a:p>
          <a:p>
            <a:pPr algn="just"/>
            <a:endParaRPr lang="en-US" dirty="0"/>
          </a:p>
          <a:p>
            <a:pPr algn="just"/>
            <a:r>
              <a:rPr lang="en-US" i="1" dirty="0"/>
              <a:t>name = 'Joanne Manchester\n' </a:t>
            </a:r>
          </a:p>
          <a:p>
            <a:pPr algn="just"/>
            <a:r>
              <a:rPr lang="en-US" i="1" dirty="0"/>
              <a:t>name = </a:t>
            </a:r>
            <a:r>
              <a:rPr lang="en-US" i="1" dirty="0" err="1"/>
              <a:t>name.rstrip</a:t>
            </a:r>
            <a:r>
              <a:rPr lang="en-US" i="1" dirty="0"/>
              <a:t>('\n')</a:t>
            </a:r>
            <a:endParaRPr lang="ru-RU" i="1" dirty="0"/>
          </a:p>
        </p:txBody>
      </p:sp>
      <p:pic>
        <p:nvPicPr>
          <p:cNvPr id="6" name="Picture 5"/>
          <p:cNvPicPr>
            <a:picLocks noChangeAspect="1"/>
          </p:cNvPicPr>
          <p:nvPr/>
        </p:nvPicPr>
        <p:blipFill>
          <a:blip r:embed="rId2"/>
          <a:stretch>
            <a:fillRect/>
          </a:stretch>
        </p:blipFill>
        <p:spPr>
          <a:xfrm>
            <a:off x="4217312" y="2590356"/>
            <a:ext cx="3413198" cy="4238809"/>
          </a:xfrm>
          <a:prstGeom prst="rect">
            <a:avLst/>
          </a:prstGeom>
        </p:spPr>
      </p:pic>
      <p:pic>
        <p:nvPicPr>
          <p:cNvPr id="7" name="Picture 6"/>
          <p:cNvPicPr>
            <a:picLocks noChangeAspect="1"/>
          </p:cNvPicPr>
          <p:nvPr/>
        </p:nvPicPr>
        <p:blipFill>
          <a:blip r:embed="rId3"/>
          <a:stretch>
            <a:fillRect/>
          </a:stretch>
        </p:blipFill>
        <p:spPr>
          <a:xfrm>
            <a:off x="7802107" y="2641362"/>
            <a:ext cx="2610214" cy="1714739"/>
          </a:xfrm>
          <a:prstGeom prst="rect">
            <a:avLst/>
          </a:prstGeom>
        </p:spPr>
      </p:pic>
    </p:spTree>
    <p:extLst>
      <p:ext uri="{BB962C8B-B14F-4D97-AF65-F5344CB8AC3E}">
        <p14:creationId xmlns:p14="http://schemas.microsoft.com/office/powerpoint/2010/main" val="230305835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Документ" ma:contentTypeID="0x010100802135AA69994B4F81C202DF52114CF6" ma:contentTypeVersion="4" ma:contentTypeDescription="Создание документа." ma:contentTypeScope="" ma:versionID="2ac36ec037bfd92e828474f0cbc2db4d">
  <xsd:schema xmlns:xsd="http://www.w3.org/2001/XMLSchema" xmlns:xs="http://www.w3.org/2001/XMLSchema" xmlns:p="http://schemas.microsoft.com/office/2006/metadata/properties" xmlns:ns2="a31afbf2-e35a-471f-8fdc-e7b63f74a28f" targetNamespace="http://schemas.microsoft.com/office/2006/metadata/properties" ma:root="true" ma:fieldsID="fc983b21b6cfa4c0ef03a3969f4a23f1" ns2:_="">
    <xsd:import namespace="a31afbf2-e35a-471f-8fdc-e7b63f74a2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1afbf2-e35a-471f-8fdc-e7b63f74a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76C22B-38A3-4DD5-A8E1-8095F1917A44}">
  <ds:schemaRefs>
    <ds:schemaRef ds:uri="http://schemas.microsoft.com/sharepoint/v3/contenttype/forms"/>
  </ds:schemaRefs>
</ds:datastoreItem>
</file>

<file path=customXml/itemProps2.xml><?xml version="1.0" encoding="utf-8"?>
<ds:datastoreItem xmlns:ds="http://schemas.openxmlformats.org/officeDocument/2006/customXml" ds:itemID="{DA242B0F-0CF1-4BC1-A35B-DBB16D6DD266}"/>
</file>

<file path=customXml/itemProps3.xml><?xml version="1.0" encoding="utf-8"?>
<ds:datastoreItem xmlns:ds="http://schemas.openxmlformats.org/officeDocument/2006/customXml" ds:itemID="{8CB6243B-3FD0-43D7-89FC-62F3DDB33268}"/>
</file>

<file path=docProps/app.xml><?xml version="1.0" encoding="utf-8"?>
<Properties xmlns="http://schemas.openxmlformats.org/officeDocument/2006/extended-properties" xmlns:vt="http://schemas.openxmlformats.org/officeDocument/2006/docPropsVTypes">
  <TotalTime>129</TotalTime>
  <Words>1252</Words>
  <Application>Microsoft Office PowerPoint</Application>
  <PresentationFormat>Widescreen</PresentationFormat>
  <Paragraphs>73</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Тема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Ким Гульнар Амангельдыевна </dc:creator>
  <cp:lastModifiedBy>Ким Гульнар Амангельдыевна </cp:lastModifiedBy>
  <cp:revision>15</cp:revision>
  <dcterms:created xsi:type="dcterms:W3CDTF">2024-10-22T08:41:45Z</dcterms:created>
  <dcterms:modified xsi:type="dcterms:W3CDTF">2025-11-27T05:54:49Z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0x010100802135AA69994B4F81C202DF52114CF6</vt:lpwstr>
  </property>
</Properties>
</file>