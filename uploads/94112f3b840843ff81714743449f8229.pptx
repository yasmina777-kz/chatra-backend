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2.xml" ContentType="application/vnd.openxmlformats-officedocument.presentationml.slide+xml"/>
  <Override PartName="/ppt/slides/slide8.xml" ContentType="application/vnd.openxmlformats-officedocument.presentationml.slide+xml"/>
  <Override PartName="/ppt/slides/slide7.xml" ContentType="application/vnd.openxmlformats-officedocument.presentationml.slide+xml"/>
  <Override PartName="/ppt/slides/slide6.xml" ContentType="application/vnd.openxmlformats-officedocument.presentationml.slide+xml"/>
  <Override PartName="/ppt/slides/slide5.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1.xml" ContentType="application/vnd.openxmlformats-officedocument.presentationml.slide+xml"/>
  <Override PartName="/ppt/slides/slide9.xml" ContentType="application/vnd.openxmlformats-officedocument.presentationml.slide+xml"/>
  <Override PartName="/ppt/slides/slide11.xml" ContentType="application/vnd.openxmlformats-officedocument.presentationml.slide+xml"/>
  <Override PartName="/ppt/slides/slide16.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13.xml" ContentType="application/vnd.openxmlformats-officedocument.presentationml.slide+xml"/>
  <Override PartName="/ppt/slides/slide12.xml" ContentType="application/vnd.openxmlformats-officedocument.presentationml.slide+xml"/>
  <Override PartName="/ppt/slides/slide10.xml" ContentType="application/vnd.openxmlformats-officedocument.presentationml.slide+xml"/>
  <Override PartName="/ppt/slideMasters/slideMaster1.xml" ContentType="application/vnd.openxmlformats-officedocument.presentationml.slideMaster+xml"/>
  <Override PartName="/ppt/slideLayouts/slideLayout6.xml" ContentType="application/vnd.openxmlformats-officedocument.presentationml.slideLayout+xml"/>
  <Override PartName="/ppt/slideLayouts/slideLayout5.xml" ContentType="application/vnd.openxmlformats-officedocument.presentationml.slideLayout+xml"/>
  <Override PartName="/ppt/slideLayouts/slideLayout4.xml" ContentType="application/vnd.openxmlformats-officedocument.presentationml.slideLayout+xml"/>
  <Override PartName="/ppt/slideLayouts/slideLayout3.xml" ContentType="application/vnd.openxmlformats-officedocument.presentationml.slideLayout+xml"/>
  <Override PartName="/ppt/slideLayouts/slideLayout2.xml" ContentType="application/vnd.openxmlformats-officedocument.presentationml.slideLayout+xml"/>
  <Override PartName="/ppt/slideLayouts/slideLayout1.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theme/theme1.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viewProps.xml" ContentType="application/vnd.openxmlformats-officedocument.presentationml.viewProps+xml"/>
  <Override PartName="/docProps/app.xml" ContentType="application/vnd.openxmlformats-officedocument.extended-properties+xml"/>
  <Override PartName="/docProps/core.xml" ContentType="application/vnd.openxmlformats-package.core-properties+xml"/>
  <Override PartName="/customXml/itemProps1.xml" ContentType="application/vnd.openxmlformats-officedocument.customXmlProperties+xml"/>
  <Override PartName="/customXml/itemProps2.xml" ContentType="application/vnd.openxmlformats-officedocument.customXml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9144000" cy="6858000" type="screen4x3"/>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264" y="10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customXml" Target="../customXml/item2.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customXml" Target="../customXml/item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685800" y="2130425"/>
            <a:ext cx="7772400" cy="1470025"/>
          </a:xfrm>
        </p:spPr>
        <p:txBody>
          <a:bodyPr/>
          <a:lstStyle/>
          <a:p>
            <a:r>
              <a:rPr lang="ru-RU" smtClean="0"/>
              <a:t>Образец заголовка</a:t>
            </a:r>
            <a:endParaRPr lang="ru-RU"/>
          </a:p>
        </p:txBody>
      </p:sp>
      <p:sp>
        <p:nvSpPr>
          <p:cNvPr id="3" name="Подзаголовок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ru-RU"/>
          </a:p>
        </p:txBody>
      </p:sp>
      <p:sp>
        <p:nvSpPr>
          <p:cNvPr id="4" name="Дата 3"/>
          <p:cNvSpPr>
            <a:spLocks noGrp="1"/>
          </p:cNvSpPr>
          <p:nvPr>
            <p:ph type="dt" sz="half" idx="10"/>
          </p:nvPr>
        </p:nvSpPr>
        <p:spPr/>
        <p:txBody>
          <a:bodyPr/>
          <a:lstStyle/>
          <a:p>
            <a:fld id="{C7C00BBE-C6CC-423F-8611-B09D0FDD41CF}" type="datetimeFigureOut">
              <a:rPr lang="ru-RU" smtClean="0"/>
              <a:t>24.09.2024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8A949E0-EB1C-409B-A435-0F4846EB1D62}" type="slidenum">
              <a:rPr lang="ru-RU" smtClean="0"/>
              <a:t>‹#›</a:t>
            </a:fld>
            <a:endParaRPr lang="ru-RU"/>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C7C00BBE-C6CC-423F-8611-B09D0FDD41CF}" type="datetimeFigureOut">
              <a:rPr lang="ru-RU" smtClean="0"/>
              <a:t>24.09.2024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8A949E0-EB1C-409B-A435-0F4846EB1D62}" type="slidenum">
              <a:rPr lang="ru-RU" smtClean="0"/>
              <a:t>‹#›</a:t>
            </a:fld>
            <a:endParaRPr lang="ru-RU"/>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722313" y="4406900"/>
            <a:ext cx="7772400" cy="1362075"/>
          </a:xfrm>
        </p:spPr>
        <p:txBody>
          <a:bodyPr anchor="t"/>
          <a:lstStyle>
            <a:lvl1pPr algn="l">
              <a:defRPr sz="4000" b="1" cap="all"/>
            </a:lvl1pPr>
          </a:lstStyle>
          <a:p>
            <a:r>
              <a:rPr lang="ru-RU" smtClean="0"/>
              <a:t>Образец заголовка</a:t>
            </a:r>
            <a:endParaRPr lang="ru-RU"/>
          </a:p>
        </p:txBody>
      </p:sp>
      <p:sp>
        <p:nvSpPr>
          <p:cNvPr id="3" name="Текст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Дата 3"/>
          <p:cNvSpPr>
            <a:spLocks noGrp="1"/>
          </p:cNvSpPr>
          <p:nvPr>
            <p:ph type="dt" sz="half" idx="10"/>
          </p:nvPr>
        </p:nvSpPr>
        <p:spPr/>
        <p:txBody>
          <a:bodyPr/>
          <a:lstStyle/>
          <a:p>
            <a:fld id="{C7C00BBE-C6CC-423F-8611-B09D0FDD41CF}" type="datetimeFigureOut">
              <a:rPr lang="ru-RU" smtClean="0"/>
              <a:t>24.09.2024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8A949E0-EB1C-409B-A435-0F4846EB1D62}" type="slidenum">
              <a:rPr lang="ru-RU" smtClean="0"/>
              <a:t>‹#›</a:t>
            </a:fld>
            <a:endParaRPr lang="ru-RU"/>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Содержимое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Содержимое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Дата 4"/>
          <p:cNvSpPr>
            <a:spLocks noGrp="1"/>
          </p:cNvSpPr>
          <p:nvPr>
            <p:ph type="dt" sz="half" idx="10"/>
          </p:nvPr>
        </p:nvSpPr>
        <p:spPr/>
        <p:txBody>
          <a:bodyPr/>
          <a:lstStyle/>
          <a:p>
            <a:fld id="{C7C00BBE-C6CC-423F-8611-B09D0FDD41CF}" type="datetimeFigureOut">
              <a:rPr lang="ru-RU" smtClean="0"/>
              <a:t>24.09.2024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8A949E0-EB1C-409B-A435-0F4846EB1D62}" type="slidenum">
              <a:rPr lang="ru-RU" smtClean="0"/>
              <a:t>‹#›</a:t>
            </a:fld>
            <a:endParaRPr lang="ru-RU"/>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lvl1pPr>
              <a:defRPr/>
            </a:lvl1pPr>
          </a:lstStyle>
          <a:p>
            <a:r>
              <a:rPr lang="ru-RU" smtClean="0"/>
              <a:t>Образец заголовка</a:t>
            </a:r>
            <a:endParaRPr lang="ru-RU"/>
          </a:p>
        </p:txBody>
      </p:sp>
      <p:sp>
        <p:nvSpPr>
          <p:cNvPr id="3" name="Текст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Содержимое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5" name="Текст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Содержимое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7" name="Дата 6"/>
          <p:cNvSpPr>
            <a:spLocks noGrp="1"/>
          </p:cNvSpPr>
          <p:nvPr>
            <p:ph type="dt" sz="half" idx="10"/>
          </p:nvPr>
        </p:nvSpPr>
        <p:spPr/>
        <p:txBody>
          <a:bodyPr/>
          <a:lstStyle/>
          <a:p>
            <a:fld id="{C7C00BBE-C6CC-423F-8611-B09D0FDD41CF}" type="datetimeFigureOut">
              <a:rPr lang="ru-RU" smtClean="0"/>
              <a:t>24.09.2024</a:t>
            </a:fld>
            <a:endParaRPr lang="ru-RU"/>
          </a:p>
        </p:txBody>
      </p:sp>
      <p:sp>
        <p:nvSpPr>
          <p:cNvPr id="8" name="Нижний колонтитул 7"/>
          <p:cNvSpPr>
            <a:spLocks noGrp="1"/>
          </p:cNvSpPr>
          <p:nvPr>
            <p:ph type="ftr" sz="quarter" idx="11"/>
          </p:nvPr>
        </p:nvSpPr>
        <p:spPr/>
        <p:txBody>
          <a:bodyPr/>
          <a:lstStyle/>
          <a:p>
            <a:endParaRPr lang="ru-RU"/>
          </a:p>
        </p:txBody>
      </p:sp>
      <p:sp>
        <p:nvSpPr>
          <p:cNvPr id="9" name="Номер слайда 8"/>
          <p:cNvSpPr>
            <a:spLocks noGrp="1"/>
          </p:cNvSpPr>
          <p:nvPr>
            <p:ph type="sldNum" sz="quarter" idx="12"/>
          </p:nvPr>
        </p:nvSpPr>
        <p:spPr/>
        <p:txBody>
          <a:bodyPr/>
          <a:lstStyle/>
          <a:p>
            <a:fld id="{C8A949E0-EB1C-409B-A435-0F4846EB1D62}" type="slidenum">
              <a:rPr lang="ru-RU" smtClean="0"/>
              <a:t>‹#›</a:t>
            </a:fld>
            <a:endParaRPr lang="ru-RU"/>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Дата 2"/>
          <p:cNvSpPr>
            <a:spLocks noGrp="1"/>
          </p:cNvSpPr>
          <p:nvPr>
            <p:ph type="dt" sz="half" idx="10"/>
          </p:nvPr>
        </p:nvSpPr>
        <p:spPr/>
        <p:txBody>
          <a:bodyPr/>
          <a:lstStyle/>
          <a:p>
            <a:fld id="{C7C00BBE-C6CC-423F-8611-B09D0FDD41CF}" type="datetimeFigureOut">
              <a:rPr lang="ru-RU" smtClean="0"/>
              <a:t>24.09.2024</a:t>
            </a:fld>
            <a:endParaRPr lang="ru-RU"/>
          </a:p>
        </p:txBody>
      </p:sp>
      <p:sp>
        <p:nvSpPr>
          <p:cNvPr id="4" name="Нижний колонтитул 3"/>
          <p:cNvSpPr>
            <a:spLocks noGrp="1"/>
          </p:cNvSpPr>
          <p:nvPr>
            <p:ph type="ftr" sz="quarter" idx="11"/>
          </p:nvPr>
        </p:nvSpPr>
        <p:spPr/>
        <p:txBody>
          <a:bodyPr/>
          <a:lstStyle/>
          <a:p>
            <a:endParaRPr lang="ru-RU"/>
          </a:p>
        </p:txBody>
      </p:sp>
      <p:sp>
        <p:nvSpPr>
          <p:cNvPr id="5" name="Номер слайда 4"/>
          <p:cNvSpPr>
            <a:spLocks noGrp="1"/>
          </p:cNvSpPr>
          <p:nvPr>
            <p:ph type="sldNum" sz="quarter" idx="12"/>
          </p:nvPr>
        </p:nvSpPr>
        <p:spPr/>
        <p:txBody>
          <a:bodyPr/>
          <a:lstStyle/>
          <a:p>
            <a:fld id="{C8A949E0-EB1C-409B-A435-0F4846EB1D62}" type="slidenum">
              <a:rPr lang="ru-RU" smtClean="0"/>
              <a:t>‹#›</a:t>
            </a:fld>
            <a:endParaRPr lang="ru-RU"/>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p:cNvSpPr>
            <a:spLocks noGrp="1"/>
          </p:cNvSpPr>
          <p:nvPr>
            <p:ph type="dt" sz="half" idx="10"/>
          </p:nvPr>
        </p:nvSpPr>
        <p:spPr/>
        <p:txBody>
          <a:bodyPr/>
          <a:lstStyle/>
          <a:p>
            <a:fld id="{C7C00BBE-C6CC-423F-8611-B09D0FDD41CF}" type="datetimeFigureOut">
              <a:rPr lang="ru-RU" smtClean="0"/>
              <a:t>24.09.2024</a:t>
            </a:fld>
            <a:endParaRPr lang="ru-RU"/>
          </a:p>
        </p:txBody>
      </p:sp>
      <p:sp>
        <p:nvSpPr>
          <p:cNvPr id="3" name="Нижний колонтитул 2"/>
          <p:cNvSpPr>
            <a:spLocks noGrp="1"/>
          </p:cNvSpPr>
          <p:nvPr>
            <p:ph type="ftr" sz="quarter" idx="11"/>
          </p:nvPr>
        </p:nvSpPr>
        <p:spPr/>
        <p:txBody>
          <a:bodyPr/>
          <a:lstStyle/>
          <a:p>
            <a:endParaRPr lang="ru-RU"/>
          </a:p>
        </p:txBody>
      </p:sp>
      <p:sp>
        <p:nvSpPr>
          <p:cNvPr id="4" name="Номер слайда 3"/>
          <p:cNvSpPr>
            <a:spLocks noGrp="1"/>
          </p:cNvSpPr>
          <p:nvPr>
            <p:ph type="sldNum" sz="quarter" idx="12"/>
          </p:nvPr>
        </p:nvSpPr>
        <p:spPr/>
        <p:txBody>
          <a:bodyPr/>
          <a:lstStyle/>
          <a:p>
            <a:fld id="{C8A949E0-EB1C-409B-A435-0F4846EB1D62}" type="slidenum">
              <a:rPr lang="ru-RU" smtClean="0"/>
              <a:t>‹#›</a:t>
            </a:fld>
            <a:endParaRPr lang="ru-RU"/>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3050"/>
            <a:ext cx="3008313" cy="1162050"/>
          </a:xfrm>
        </p:spPr>
        <p:txBody>
          <a:bodyPr anchor="b"/>
          <a:lstStyle>
            <a:lvl1pPr algn="l">
              <a:defRPr sz="2000" b="1"/>
            </a:lvl1pPr>
          </a:lstStyle>
          <a:p>
            <a:r>
              <a:rPr lang="ru-RU" smtClean="0"/>
              <a:t>Образец заголовка</a:t>
            </a:r>
            <a:endParaRPr lang="ru-RU"/>
          </a:p>
        </p:txBody>
      </p:sp>
      <p:sp>
        <p:nvSpPr>
          <p:cNvPr id="3" name="Содержимое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Текст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C7C00BBE-C6CC-423F-8611-B09D0FDD41CF}" type="datetimeFigureOut">
              <a:rPr lang="ru-RU" smtClean="0"/>
              <a:t>24.09.2024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8A949E0-EB1C-409B-A435-0F4846EB1D62}" type="slidenum">
              <a:rPr lang="ru-RU" smtClean="0"/>
              <a:t>‹#›</a:t>
            </a:fld>
            <a:endParaRPr lang="ru-RU"/>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792288" y="4800600"/>
            <a:ext cx="5486400" cy="566738"/>
          </a:xfrm>
        </p:spPr>
        <p:txBody>
          <a:bodyPr anchor="b"/>
          <a:lstStyle>
            <a:lvl1pPr algn="l">
              <a:defRPr sz="2000" b="1"/>
            </a:lvl1pPr>
          </a:lstStyle>
          <a:p>
            <a:r>
              <a:rPr lang="ru-RU" smtClean="0"/>
              <a:t>Образец заголовка</a:t>
            </a:r>
            <a:endParaRPr lang="ru-RU"/>
          </a:p>
        </p:txBody>
      </p:sp>
      <p:sp>
        <p:nvSpPr>
          <p:cNvPr id="3" name="Рисунок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Дата 4"/>
          <p:cNvSpPr>
            <a:spLocks noGrp="1"/>
          </p:cNvSpPr>
          <p:nvPr>
            <p:ph type="dt" sz="half" idx="10"/>
          </p:nvPr>
        </p:nvSpPr>
        <p:spPr/>
        <p:txBody>
          <a:bodyPr/>
          <a:lstStyle/>
          <a:p>
            <a:fld id="{C7C00BBE-C6CC-423F-8611-B09D0FDD41CF}" type="datetimeFigureOut">
              <a:rPr lang="ru-RU" smtClean="0"/>
              <a:t>24.09.2024</a:t>
            </a:fld>
            <a:endParaRPr lang="ru-RU"/>
          </a:p>
        </p:txBody>
      </p:sp>
      <p:sp>
        <p:nvSpPr>
          <p:cNvPr id="6" name="Нижний колонтитул 5"/>
          <p:cNvSpPr>
            <a:spLocks noGrp="1"/>
          </p:cNvSpPr>
          <p:nvPr>
            <p:ph type="ftr" sz="quarter" idx="11"/>
          </p:nvPr>
        </p:nvSpPr>
        <p:spPr/>
        <p:txBody>
          <a:bodyPr/>
          <a:lstStyle/>
          <a:p>
            <a:endParaRPr lang="ru-RU"/>
          </a:p>
        </p:txBody>
      </p:sp>
      <p:sp>
        <p:nvSpPr>
          <p:cNvPr id="7" name="Номер слайда 6"/>
          <p:cNvSpPr>
            <a:spLocks noGrp="1"/>
          </p:cNvSpPr>
          <p:nvPr>
            <p:ph type="sldNum" sz="quarter" idx="12"/>
          </p:nvPr>
        </p:nvSpPr>
        <p:spPr/>
        <p:txBody>
          <a:bodyPr/>
          <a:lstStyle/>
          <a:p>
            <a:fld id="{C8A949E0-EB1C-409B-A435-0F4846EB1D62}" type="slidenum">
              <a:rPr lang="ru-RU" smtClean="0"/>
              <a:t>‹#›</a:t>
            </a:fld>
            <a:endParaRPr lang="ru-RU"/>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ru-RU" smtClean="0"/>
              <a:t>Образец заголовка</a:t>
            </a:r>
            <a:endParaRPr lang="ru-RU"/>
          </a:p>
        </p:txBody>
      </p:sp>
      <p:sp>
        <p:nvSpPr>
          <p:cNvPr id="3" name="Вертикальный текст 2"/>
          <p:cNvSpPr>
            <a:spLocks noGrp="1"/>
          </p:cNvSpPr>
          <p:nvPr>
            <p:ph type="body" orient="vert" idx="1"/>
          </p:nvPr>
        </p:nvSpPr>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C7C00BBE-C6CC-423F-8611-B09D0FDD41CF}" type="datetimeFigureOut">
              <a:rPr lang="ru-RU" smtClean="0"/>
              <a:t>24.09.2024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8A949E0-EB1C-409B-A435-0F4846EB1D62}" type="slidenum">
              <a:rPr lang="ru-RU" smtClean="0"/>
              <a:t>‹#›</a:t>
            </a:fld>
            <a:endParaRPr lang="ru-RU"/>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p:cNvSpPr>
            <a:spLocks noGrp="1"/>
          </p:cNvSpPr>
          <p:nvPr>
            <p:ph type="title" orient="vert"/>
          </p:nvPr>
        </p:nvSpPr>
        <p:spPr>
          <a:xfrm>
            <a:off x="6629400" y="274638"/>
            <a:ext cx="2057400" cy="5851525"/>
          </a:xfrm>
        </p:spPr>
        <p:txBody>
          <a:bodyPr vert="eaVert"/>
          <a:lstStyle/>
          <a:p>
            <a:r>
              <a:rPr lang="ru-RU" smtClean="0"/>
              <a:t>Образец заголовка</a:t>
            </a:r>
            <a:endParaRPr lang="ru-RU"/>
          </a:p>
        </p:txBody>
      </p:sp>
      <p:sp>
        <p:nvSpPr>
          <p:cNvPr id="3" name="Вертикальный текст 2"/>
          <p:cNvSpPr>
            <a:spLocks noGrp="1"/>
          </p:cNvSpPr>
          <p:nvPr>
            <p:ph type="body" orient="vert" idx="1"/>
          </p:nvPr>
        </p:nvSpPr>
        <p:spPr>
          <a:xfrm>
            <a:off x="457200" y="274638"/>
            <a:ext cx="6019800" cy="5851525"/>
          </a:xfrm>
        </p:spPr>
        <p:txBody>
          <a:bodyPr vert="eaVe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10"/>
          </p:nvPr>
        </p:nvSpPr>
        <p:spPr/>
        <p:txBody>
          <a:bodyPr/>
          <a:lstStyle/>
          <a:p>
            <a:fld id="{C7C00BBE-C6CC-423F-8611-B09D0FDD41CF}" type="datetimeFigureOut">
              <a:rPr lang="ru-RU" smtClean="0"/>
              <a:t>24.09.2024</a:t>
            </a:fld>
            <a:endParaRPr lang="ru-RU"/>
          </a:p>
        </p:txBody>
      </p:sp>
      <p:sp>
        <p:nvSpPr>
          <p:cNvPr id="5" name="Нижний колонтитул 4"/>
          <p:cNvSpPr>
            <a:spLocks noGrp="1"/>
          </p:cNvSpPr>
          <p:nvPr>
            <p:ph type="ftr" sz="quarter" idx="11"/>
          </p:nvPr>
        </p:nvSpPr>
        <p:spPr/>
        <p:txBody>
          <a:bodyPr/>
          <a:lstStyle/>
          <a:p>
            <a:endParaRPr lang="ru-RU"/>
          </a:p>
        </p:txBody>
      </p:sp>
      <p:sp>
        <p:nvSpPr>
          <p:cNvPr id="6" name="Номер слайда 5"/>
          <p:cNvSpPr>
            <a:spLocks noGrp="1"/>
          </p:cNvSpPr>
          <p:nvPr>
            <p:ph type="sldNum" sz="quarter" idx="12"/>
          </p:nvPr>
        </p:nvSpPr>
        <p:spPr/>
        <p:txBody>
          <a:bodyPr/>
          <a:lstStyle/>
          <a:p>
            <a:fld id="{C8A949E0-EB1C-409B-A435-0F4846EB1D62}" type="slidenum">
              <a:rPr lang="ru-RU" smtClean="0"/>
              <a:t>‹#›</a:t>
            </a:fld>
            <a:endParaRPr lang="ru-RU"/>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ru-RU" smtClean="0"/>
              <a:t>Образец заголовка</a:t>
            </a:r>
            <a:endParaRPr lang="ru-RU"/>
          </a:p>
        </p:txBody>
      </p:sp>
      <p:sp>
        <p:nvSpPr>
          <p:cNvPr id="3" name="Текст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ru-RU"/>
          </a:p>
        </p:txBody>
      </p:sp>
      <p:sp>
        <p:nvSpPr>
          <p:cNvPr id="4" name="Дата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7C00BBE-C6CC-423F-8611-B09D0FDD41CF}" type="datetimeFigureOut">
              <a:rPr lang="ru-RU" smtClean="0"/>
              <a:t>24.09.2024</a:t>
            </a:fld>
            <a:endParaRPr lang="ru-RU"/>
          </a:p>
        </p:txBody>
      </p:sp>
      <p:sp>
        <p:nvSpPr>
          <p:cNvPr id="5" name="Нижний колонтитул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8A949E0-EB1C-409B-A435-0F4846EB1D62}" type="slidenum">
              <a:rPr lang="ru-RU" smtClean="0"/>
              <a:t>‹#›</a:t>
            </a:fld>
            <a:endParaRPr lang="ru-RU"/>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 Id="rId4" Type="http://schemas.openxmlformats.org/officeDocument/2006/relationships/image" Target="../media/image17.png"/></Relationships>
</file>

<file path=ppt/slides/_rels/slide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1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2.xml"/><Relationship Id="rId5" Type="http://schemas.openxmlformats.org/officeDocument/2006/relationships/image" Target="../media/image29.png"/><Relationship Id="rId4" Type="http://schemas.openxmlformats.org/officeDocument/2006/relationships/image" Target="../media/image28.png"/></Relationships>
</file>

<file path=ppt/slides/_rels/slide1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2.xml"/><Relationship Id="rId4" Type="http://schemas.openxmlformats.org/officeDocument/2006/relationships/image" Target="../media/image32.png"/></Relationships>
</file>

<file path=ppt/slides/_rels/slide15.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7" name="Rectangle 3"/>
          <p:cNvSpPr>
            <a:spLocks noChangeArrowheads="1"/>
          </p:cNvSpPr>
          <p:nvPr/>
        </p:nvSpPr>
        <p:spPr bwMode="auto">
          <a:xfrm>
            <a:off x="2285984" y="2214554"/>
            <a:ext cx="4214842" cy="1138773"/>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Lecture 4</a:t>
            </a:r>
          </a:p>
          <a:p>
            <a:pPr marL="0" marR="0" lvl="0" indent="0" algn="ctr" defTabSz="914400" rtl="0" eaLnBrk="1" fontAlgn="base" latinLnBrk="0" hangingPunct="1">
              <a:lnSpc>
                <a:spcPct val="100000"/>
              </a:lnSpc>
              <a:spcBef>
                <a:spcPct val="0"/>
              </a:spcBef>
              <a:spcAft>
                <a:spcPct val="0"/>
              </a:spcAft>
              <a:buClrTx/>
              <a:buSzTx/>
              <a:buFontTx/>
              <a:buNone/>
              <a:tabLst/>
            </a:pPr>
            <a:endParaRPr kumimoji="0" lang="ru-RU" sz="1200" b="1" i="0" u="none" strike="noStrike" cap="none" normalizeH="0" baseline="0" dirty="0" smtClean="0">
              <a:ln>
                <a:noFill/>
              </a:ln>
              <a:solidFill>
                <a:schemeClr val="tx1"/>
              </a:solidFill>
              <a:effectLst/>
              <a:latin typeface="Times New Roman" pitchFamily="18" charset="0"/>
              <a:cs typeface="Times New Roman" pitchFamily="18" charset="0"/>
            </a:endParaRPr>
          </a:p>
          <a:p>
            <a:pPr marL="0" marR="0" lvl="0" indent="0" algn="ctr" defTabSz="914400" rtl="0" eaLnBrk="0" fontAlgn="base" latinLnBrk="0" hangingPunct="0">
              <a:lnSpc>
                <a:spcPct val="100000"/>
              </a:lnSpc>
              <a:spcBef>
                <a:spcPct val="0"/>
              </a:spcBef>
              <a:spcAft>
                <a:spcPct val="0"/>
              </a:spcAft>
              <a:buClrTx/>
              <a:buSzTx/>
              <a:buFontTx/>
              <a:buNone/>
              <a:tabLst/>
            </a:pPr>
            <a:r>
              <a:rPr kumimoji="0" lang="en-US" sz="2800" b="1" i="0" u="none" strike="noStrike" cap="none" normalizeH="0" baseline="0" dirty="0" smtClean="0">
                <a:ln>
                  <a:noFill/>
                </a:ln>
                <a:solidFill>
                  <a:schemeClr val="tx1"/>
                </a:solidFill>
                <a:effectLst/>
                <a:latin typeface="Times New Roman" pitchFamily="18" charset="0"/>
                <a:ea typeface="Times New Roman" pitchFamily="18" charset="0"/>
                <a:cs typeface="Times New Roman" pitchFamily="18" charset="0"/>
              </a:rPr>
              <a:t>Repetition Structures</a:t>
            </a:r>
            <a:endParaRPr kumimoji="0" lang="en-US" sz="4400" b="1" i="0" u="none" strike="noStrike" cap="none" normalizeH="0" baseline="0" dirty="0" smtClean="0">
              <a:ln>
                <a:noFill/>
              </a:ln>
              <a:solidFill>
                <a:schemeClr val="tx1"/>
              </a:solidFill>
              <a:effectLst/>
              <a:latin typeface="Times New Roman" pitchFamily="18" charset="0"/>
              <a:cs typeface="Times New Roman" pitchFamily="18" charset="0"/>
            </a:endParaRPr>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srcRect/>
          <a:stretch>
            <a:fillRect/>
          </a:stretch>
        </p:blipFill>
        <p:spPr bwMode="auto">
          <a:xfrm>
            <a:off x="928662" y="500042"/>
            <a:ext cx="4924425" cy="876300"/>
          </a:xfrm>
          <a:prstGeom prst="rect">
            <a:avLst/>
          </a:prstGeom>
          <a:noFill/>
          <a:ln w="9525">
            <a:noFill/>
            <a:miter lim="800000"/>
            <a:headEnd/>
            <a:tailEnd/>
          </a:ln>
          <a:effectLst/>
        </p:spPr>
      </p:pic>
      <p:pic>
        <p:nvPicPr>
          <p:cNvPr id="4099" name="Picture 3"/>
          <p:cNvPicPr>
            <a:picLocks noChangeAspect="1" noChangeArrowheads="1"/>
          </p:cNvPicPr>
          <p:nvPr/>
        </p:nvPicPr>
        <p:blipFill>
          <a:blip r:embed="rId3"/>
          <a:srcRect/>
          <a:stretch>
            <a:fillRect/>
          </a:stretch>
        </p:blipFill>
        <p:spPr bwMode="auto">
          <a:xfrm>
            <a:off x="928662" y="1643050"/>
            <a:ext cx="6858048" cy="1379272"/>
          </a:xfrm>
          <a:prstGeom prst="rect">
            <a:avLst/>
          </a:prstGeom>
          <a:noFill/>
          <a:ln w="9525">
            <a:noFill/>
            <a:miter lim="800000"/>
            <a:headEnd/>
            <a:tailEnd/>
          </a:ln>
          <a:effectLst/>
        </p:spPr>
      </p:pic>
      <p:pic>
        <p:nvPicPr>
          <p:cNvPr id="4100" name="Picture 4"/>
          <p:cNvPicPr>
            <a:picLocks noChangeAspect="1" noChangeArrowheads="1"/>
          </p:cNvPicPr>
          <p:nvPr/>
        </p:nvPicPr>
        <p:blipFill>
          <a:blip r:embed="rId4"/>
          <a:srcRect/>
          <a:stretch>
            <a:fillRect/>
          </a:stretch>
        </p:blipFill>
        <p:spPr bwMode="auto">
          <a:xfrm>
            <a:off x="1000100" y="3429000"/>
            <a:ext cx="7429552" cy="1071570"/>
          </a:xfrm>
          <a:prstGeom prst="rect">
            <a:avLst/>
          </a:prstGeom>
          <a:noFill/>
          <a:ln w="9525">
            <a:noFill/>
            <a:miter lim="800000"/>
            <a:headEnd/>
            <a:tailEnd/>
          </a:ln>
          <a:effectLst/>
        </p:spPr>
      </p:pic>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3" name="Picture 3"/>
          <p:cNvPicPr>
            <a:picLocks noChangeAspect="1" noChangeArrowheads="1"/>
          </p:cNvPicPr>
          <p:nvPr/>
        </p:nvPicPr>
        <p:blipFill>
          <a:blip r:embed="rId2"/>
          <a:srcRect/>
          <a:stretch>
            <a:fillRect/>
          </a:stretch>
        </p:blipFill>
        <p:spPr bwMode="auto">
          <a:xfrm>
            <a:off x="1142976" y="428603"/>
            <a:ext cx="6215106" cy="1389259"/>
          </a:xfrm>
          <a:prstGeom prst="rect">
            <a:avLst/>
          </a:prstGeom>
          <a:noFill/>
          <a:ln w="9525">
            <a:noFill/>
            <a:miter lim="800000"/>
            <a:headEnd/>
            <a:tailEnd/>
          </a:ln>
          <a:effectLst/>
        </p:spPr>
      </p:pic>
      <p:pic>
        <p:nvPicPr>
          <p:cNvPr id="1026" name="Picture 2"/>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3568" y="1817863"/>
            <a:ext cx="5642474" cy="276326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1027" name="Picture 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12810" y="4581128"/>
            <a:ext cx="4723286" cy="1330503"/>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1"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79512" y="260648"/>
            <a:ext cx="5534025" cy="6076950"/>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2052"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083815" y="116632"/>
            <a:ext cx="5068958" cy="244827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24174212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9552" y="404664"/>
            <a:ext cx="7416824" cy="206098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3076" name="Picture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9552" y="2465646"/>
            <a:ext cx="6675224" cy="36996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540889088"/>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92411" y="0"/>
            <a:ext cx="6552728" cy="1375402"/>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099"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7544" y="1375402"/>
            <a:ext cx="7632848" cy="1786114"/>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7543" y="3147423"/>
            <a:ext cx="7391443" cy="1289689"/>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pic>
        <p:nvPicPr>
          <p:cNvPr id="4101" name="Picture 5"/>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60079" y="4565642"/>
            <a:ext cx="4608512" cy="229235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265127389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2390" y="332656"/>
            <a:ext cx="3943350" cy="314325"/>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4" name="Прямоугольник 3"/>
          <p:cNvSpPr/>
          <p:nvPr/>
        </p:nvSpPr>
        <p:spPr>
          <a:xfrm>
            <a:off x="827584" y="1052736"/>
            <a:ext cx="7344816" cy="1477328"/>
          </a:xfrm>
          <a:prstGeom prst="rect">
            <a:avLst/>
          </a:prstGeom>
        </p:spPr>
        <p:txBody>
          <a:bodyPr wrap="square">
            <a:spAutoFit/>
          </a:bodyPr>
          <a:lstStyle/>
          <a:p>
            <a:pPr algn="just"/>
            <a:r>
              <a:rPr lang="en-US" dirty="0"/>
              <a:t>Python provides a built-in function named range that simplifies the process of writing a count-controlled for loop. The range function creates a type of object known as an </a:t>
            </a:r>
            <a:r>
              <a:rPr lang="en-US" dirty="0" err="1"/>
              <a:t>iterable</a:t>
            </a:r>
            <a:r>
              <a:rPr lang="en-US" dirty="0"/>
              <a:t>. An </a:t>
            </a:r>
            <a:r>
              <a:rPr lang="en-US" dirty="0" err="1"/>
              <a:t>iterable</a:t>
            </a:r>
            <a:r>
              <a:rPr lang="en-US" dirty="0"/>
              <a:t> is an object that is similar to a list. It contains a sequence of values that can be iterated over with something like a loop. Here is an example of a for loop that uses the range function:</a:t>
            </a:r>
            <a:endParaRPr lang="ru-RU" dirty="0"/>
          </a:p>
        </p:txBody>
      </p:sp>
      <p:pic>
        <p:nvPicPr>
          <p:cNvPr id="5123"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7584" y="2708920"/>
            <a:ext cx="2088232" cy="550277"/>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
        <p:nvSpPr>
          <p:cNvPr id="6" name="Горизонтальный свиток 5"/>
          <p:cNvSpPr/>
          <p:nvPr/>
        </p:nvSpPr>
        <p:spPr>
          <a:xfrm>
            <a:off x="557621" y="3140968"/>
            <a:ext cx="7992888" cy="1753979"/>
          </a:xfrm>
          <a:prstGeom prst="horizontalScroll">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ru-RU"/>
          </a:p>
        </p:txBody>
      </p:sp>
      <p:sp>
        <p:nvSpPr>
          <p:cNvPr id="9" name="Прямоугольник 8"/>
          <p:cNvSpPr/>
          <p:nvPr/>
        </p:nvSpPr>
        <p:spPr>
          <a:xfrm>
            <a:off x="1043608" y="3417792"/>
            <a:ext cx="7344816" cy="1200329"/>
          </a:xfrm>
          <a:prstGeom prst="rect">
            <a:avLst/>
          </a:prstGeom>
          <a:ln>
            <a:solidFill>
              <a:schemeClr val="accent1"/>
            </a:solidFill>
          </a:ln>
        </p:spPr>
        <p:txBody>
          <a:bodyPr wrap="square">
            <a:spAutoFit/>
          </a:bodyPr>
          <a:lstStyle/>
          <a:p>
            <a:pPr algn="just"/>
            <a:r>
              <a:rPr lang="en-US" dirty="0" smtClean="0"/>
              <a:t>Instead </a:t>
            </a:r>
            <a:r>
              <a:rPr lang="en-US" dirty="0"/>
              <a:t>of using a list of values, we call to the range function passing 5 as an argument. In this statement, the range function will generate an </a:t>
            </a:r>
            <a:r>
              <a:rPr lang="en-US" dirty="0" err="1"/>
              <a:t>iterable</a:t>
            </a:r>
            <a:r>
              <a:rPr lang="en-US" dirty="0"/>
              <a:t> sequence of integers in the range of 0 up to (but not including) 5. This code works the same as the following:</a:t>
            </a:r>
            <a:endParaRPr lang="ru-RU" dirty="0"/>
          </a:p>
        </p:txBody>
      </p:sp>
      <p:pic>
        <p:nvPicPr>
          <p:cNvPr id="5124"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6577" y="4869723"/>
            <a:ext cx="2376264" cy="486568"/>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3443570236"/>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692696"/>
            <a:ext cx="7008778" cy="4104456"/>
          </a:xfrm>
          <a:prstGeom prst="rect">
            <a:avLst/>
          </a:prstGeom>
          <a:noFill/>
          <a:ln>
            <a:noFill/>
          </a:ln>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Lst>
        </p:spPr>
      </p:pic>
    </p:spTree>
    <p:extLst>
      <p:ext uri="{BB962C8B-B14F-4D97-AF65-F5344CB8AC3E}">
        <p14:creationId xmlns:p14="http://schemas.microsoft.com/office/powerpoint/2010/main" val="12147285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683568" y="1556792"/>
            <a:ext cx="7992888" cy="2578655"/>
          </a:xfrm>
          <a:prstGeom prst="rect">
            <a:avLst/>
          </a:prstGeom>
        </p:spPr>
        <p:txBody>
          <a:bodyPr wrap="square">
            <a:spAutoFit/>
          </a:bodyPr>
          <a:lstStyle/>
          <a:p>
            <a:pPr algn="just">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By default, the range function produces a sequence of numbers that increase by 1 for each successive number in the list. If you pass a third argument to the range function, that argument is used as step value. Instead of increasing by 1, each successive number in the sequence will increase by the step value. Here is an example: </a:t>
            </a:r>
            <a:endParaRPr lang="ru-RU" dirty="0">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for </a:t>
            </a:r>
            <a:r>
              <a:rPr lang="en-US" dirty="0" err="1">
                <a:latin typeface="Calibri" panose="020F0502020204030204" pitchFamily="34" charset="0"/>
                <a:ea typeface="Times New Roman" panose="02020603050405020304" pitchFamily="18" charset="0"/>
                <a:cs typeface="Times New Roman" panose="02020603050405020304" pitchFamily="18" charset="0"/>
              </a:rPr>
              <a:t>num</a:t>
            </a:r>
            <a:r>
              <a:rPr lang="en-US" dirty="0">
                <a:latin typeface="Calibri" panose="020F0502020204030204" pitchFamily="34" charset="0"/>
                <a:ea typeface="Times New Roman" panose="02020603050405020304" pitchFamily="18" charset="0"/>
                <a:cs typeface="Times New Roman" panose="02020603050405020304" pitchFamily="18" charset="0"/>
              </a:rPr>
              <a:t> in range(1, 10, 2): </a:t>
            </a:r>
            <a:endParaRPr lang="ru-RU" dirty="0">
              <a:latin typeface="Calibri" panose="020F0502020204030204" pitchFamily="34" charset="0"/>
              <a:ea typeface="Times New Roman" panose="02020603050405020304" pitchFamily="18" charset="0"/>
              <a:cs typeface="Times New Roman" panose="02020603050405020304" pitchFamily="18" charset="0"/>
            </a:endParaRPr>
          </a:p>
          <a:p>
            <a:pPr algn="just">
              <a:lnSpc>
                <a:spcPct val="115000"/>
              </a:lnSpc>
              <a:spcAft>
                <a:spcPts val="1000"/>
              </a:spcAft>
            </a:pPr>
            <a:r>
              <a:rPr lang="en-US" dirty="0">
                <a:latin typeface="Calibri" panose="020F0502020204030204" pitchFamily="34" charset="0"/>
                <a:ea typeface="Times New Roman" panose="02020603050405020304" pitchFamily="18" charset="0"/>
                <a:cs typeface="Times New Roman" panose="02020603050405020304" pitchFamily="18" charset="0"/>
              </a:rPr>
              <a:t>print(</a:t>
            </a:r>
            <a:r>
              <a:rPr lang="en-US" dirty="0" err="1">
                <a:latin typeface="Calibri" panose="020F0502020204030204" pitchFamily="34" charset="0"/>
                <a:ea typeface="Times New Roman" panose="02020603050405020304" pitchFamily="18" charset="0"/>
                <a:cs typeface="Times New Roman" panose="02020603050405020304" pitchFamily="18" charset="0"/>
              </a:rPr>
              <a:t>num</a:t>
            </a:r>
            <a:r>
              <a:rPr lang="en-US" dirty="0">
                <a:latin typeface="Calibri" panose="020F0502020204030204" pitchFamily="34" charset="0"/>
                <a:ea typeface="Times New Roman" panose="02020603050405020304" pitchFamily="18" charset="0"/>
                <a:cs typeface="Times New Roman" panose="02020603050405020304" pitchFamily="18" charset="0"/>
              </a:rPr>
              <a:t>)</a:t>
            </a:r>
            <a:endParaRPr lang="ru-RU" dirty="0">
              <a:latin typeface="Calibri" panose="020F0502020204030204" pitchFamily="34"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057893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0" y="0"/>
            <a:ext cx="4933310" cy="3384376"/>
          </a:xfrm>
          <a:prstGeom prst="rect">
            <a:avLst/>
          </a:prstGeom>
        </p:spPr>
      </p:pic>
      <p:pic>
        <p:nvPicPr>
          <p:cNvPr id="5" name="Picture 4"/>
          <p:cNvPicPr>
            <a:picLocks noChangeAspect="1"/>
          </p:cNvPicPr>
          <p:nvPr/>
        </p:nvPicPr>
        <p:blipFill>
          <a:blip r:embed="rId3"/>
          <a:stretch>
            <a:fillRect/>
          </a:stretch>
        </p:blipFill>
        <p:spPr>
          <a:xfrm>
            <a:off x="3655260" y="2113888"/>
            <a:ext cx="5477639" cy="4744112"/>
          </a:xfrm>
          <a:prstGeom prst="rect">
            <a:avLst/>
          </a:prstGeom>
        </p:spPr>
      </p:pic>
    </p:spTree>
    <p:extLst>
      <p:ext uri="{BB962C8B-B14F-4D97-AF65-F5344CB8AC3E}">
        <p14:creationId xmlns:p14="http://schemas.microsoft.com/office/powerpoint/2010/main" val="14239932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755576" y="260648"/>
            <a:ext cx="5477639" cy="1267002"/>
          </a:xfrm>
          <a:prstGeom prst="rect">
            <a:avLst/>
          </a:prstGeom>
        </p:spPr>
      </p:pic>
      <p:sp>
        <p:nvSpPr>
          <p:cNvPr id="5" name="Rectangle 4"/>
          <p:cNvSpPr/>
          <p:nvPr/>
        </p:nvSpPr>
        <p:spPr>
          <a:xfrm>
            <a:off x="534410" y="1545807"/>
            <a:ext cx="7704856" cy="830997"/>
          </a:xfrm>
          <a:prstGeom prst="rect">
            <a:avLst/>
          </a:prstGeom>
        </p:spPr>
        <p:txBody>
          <a:bodyPr wrap="square">
            <a:spAutoFit/>
          </a:bodyPr>
          <a:lstStyle/>
          <a:p>
            <a:r>
              <a:rPr lang="en-US" sz="1600" dirty="0"/>
              <a:t>Programs that calculate the total of a series of numbers typically use two elements</a:t>
            </a:r>
            <a:r>
              <a:rPr lang="en-US" sz="1600" dirty="0" smtClean="0"/>
              <a:t>:</a:t>
            </a:r>
          </a:p>
          <a:p>
            <a:r>
              <a:rPr lang="en-US" sz="1600" dirty="0" smtClean="0"/>
              <a:t>• </a:t>
            </a:r>
            <a:r>
              <a:rPr lang="en-US" sz="1600" dirty="0"/>
              <a:t>A loop that reads each number in the series. </a:t>
            </a:r>
            <a:endParaRPr lang="en-US" sz="1600" dirty="0" smtClean="0"/>
          </a:p>
          <a:p>
            <a:r>
              <a:rPr lang="en-US" sz="1600" dirty="0" smtClean="0"/>
              <a:t>• </a:t>
            </a:r>
            <a:r>
              <a:rPr lang="en-US" sz="1600" dirty="0"/>
              <a:t>A variable that accumulates the total of the numbers as they are read.</a:t>
            </a:r>
            <a:endParaRPr lang="ru-RU" sz="1600" dirty="0"/>
          </a:p>
        </p:txBody>
      </p:sp>
      <p:sp>
        <p:nvSpPr>
          <p:cNvPr id="6" name="Rectangle 5"/>
          <p:cNvSpPr/>
          <p:nvPr/>
        </p:nvSpPr>
        <p:spPr>
          <a:xfrm>
            <a:off x="534410" y="2394961"/>
            <a:ext cx="7494791" cy="1077218"/>
          </a:xfrm>
          <a:prstGeom prst="rect">
            <a:avLst/>
          </a:prstGeom>
        </p:spPr>
        <p:txBody>
          <a:bodyPr wrap="square">
            <a:spAutoFit/>
          </a:bodyPr>
          <a:lstStyle/>
          <a:p>
            <a:r>
              <a:rPr lang="en-US" sz="1600" dirty="0"/>
              <a:t>The variable that is used to accumulate the total of the numbers is called an accumulator. It is often said that the loop keeps a running total because it accumulates the total as it reads each number in the series. Figure 4-6 shows the general logic of a loop that calculates a running total.</a:t>
            </a:r>
            <a:endParaRPr lang="ru-RU" sz="1600" dirty="0"/>
          </a:p>
        </p:txBody>
      </p:sp>
      <p:pic>
        <p:nvPicPr>
          <p:cNvPr id="7" name="Picture 6"/>
          <p:cNvPicPr>
            <a:picLocks noChangeAspect="1"/>
          </p:cNvPicPr>
          <p:nvPr/>
        </p:nvPicPr>
        <p:blipFill>
          <a:blip r:embed="rId3"/>
          <a:stretch>
            <a:fillRect/>
          </a:stretch>
        </p:blipFill>
        <p:spPr>
          <a:xfrm>
            <a:off x="1187624" y="3657153"/>
            <a:ext cx="5591955" cy="3200847"/>
          </a:xfrm>
          <a:prstGeom prst="rect">
            <a:avLst/>
          </a:prstGeom>
        </p:spPr>
      </p:pic>
    </p:spTree>
    <p:extLst>
      <p:ext uri="{BB962C8B-B14F-4D97-AF65-F5344CB8AC3E}">
        <p14:creationId xmlns:p14="http://schemas.microsoft.com/office/powerpoint/2010/main" val="670074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683568" y="188640"/>
            <a:ext cx="6264696" cy="3532465"/>
          </a:xfrm>
          <a:prstGeom prst="rect">
            <a:avLst/>
          </a:prstGeom>
        </p:spPr>
      </p:pic>
      <p:pic>
        <p:nvPicPr>
          <p:cNvPr id="5" name="Picture 4"/>
          <p:cNvPicPr>
            <a:picLocks noChangeAspect="1"/>
          </p:cNvPicPr>
          <p:nvPr/>
        </p:nvPicPr>
        <p:blipFill>
          <a:blip r:embed="rId3"/>
          <a:stretch>
            <a:fillRect/>
          </a:stretch>
        </p:blipFill>
        <p:spPr>
          <a:xfrm>
            <a:off x="251520" y="3689775"/>
            <a:ext cx="5801535" cy="1543265"/>
          </a:xfrm>
          <a:prstGeom prst="rect">
            <a:avLst/>
          </a:prstGeom>
        </p:spPr>
      </p:pic>
      <p:pic>
        <p:nvPicPr>
          <p:cNvPr id="6" name="Picture 5"/>
          <p:cNvPicPr>
            <a:picLocks noChangeAspect="1"/>
          </p:cNvPicPr>
          <p:nvPr/>
        </p:nvPicPr>
        <p:blipFill>
          <a:blip r:embed="rId4"/>
          <a:stretch>
            <a:fillRect/>
          </a:stretch>
        </p:blipFill>
        <p:spPr>
          <a:xfrm>
            <a:off x="4139952" y="4725144"/>
            <a:ext cx="4808852" cy="1962958"/>
          </a:xfrm>
          <a:prstGeom prst="rect">
            <a:avLst/>
          </a:prstGeom>
        </p:spPr>
      </p:pic>
    </p:spTree>
    <p:extLst>
      <p:ext uri="{BB962C8B-B14F-4D97-AF65-F5344CB8AC3E}">
        <p14:creationId xmlns:p14="http://schemas.microsoft.com/office/powerpoint/2010/main" val="21357655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755576" y="15707"/>
            <a:ext cx="4429125" cy="752475"/>
          </a:xfrm>
          <a:prstGeom prst="rect">
            <a:avLst/>
          </a:prstGeom>
        </p:spPr>
      </p:pic>
      <p:sp>
        <p:nvSpPr>
          <p:cNvPr id="5" name="Прямоугольник 4"/>
          <p:cNvSpPr/>
          <p:nvPr/>
        </p:nvSpPr>
        <p:spPr>
          <a:xfrm>
            <a:off x="323528" y="812771"/>
            <a:ext cx="7776864" cy="954107"/>
          </a:xfrm>
          <a:prstGeom prst="rect">
            <a:avLst/>
          </a:prstGeom>
        </p:spPr>
        <p:txBody>
          <a:bodyPr wrap="square">
            <a:spAutoFit/>
          </a:bodyPr>
          <a:lstStyle/>
          <a:p>
            <a:pPr algn="just"/>
            <a:r>
              <a:rPr lang="en-US" sz="1400" dirty="0">
                <a:latin typeface="SabonLTPro-Roman"/>
              </a:rPr>
              <a:t>When processing a long sequence of values with a loop, perhaps a better technique is to</a:t>
            </a:r>
          </a:p>
          <a:p>
            <a:pPr algn="just"/>
            <a:r>
              <a:rPr lang="en-US" sz="1400" dirty="0">
                <a:latin typeface="SabonLTPro-Roman"/>
              </a:rPr>
              <a:t>use a sentinel. A </a:t>
            </a:r>
            <a:r>
              <a:rPr lang="en-US" sz="1400" i="1" dirty="0">
                <a:latin typeface="SabonLTPro-Italic"/>
              </a:rPr>
              <a:t>sentinel </a:t>
            </a:r>
            <a:r>
              <a:rPr lang="en-US" sz="1400" dirty="0">
                <a:latin typeface="SabonLTPro-Roman"/>
              </a:rPr>
              <a:t>is a special value that marks the end of a sequence of items. When</a:t>
            </a:r>
          </a:p>
          <a:p>
            <a:pPr algn="just"/>
            <a:r>
              <a:rPr lang="en-US" sz="1400" dirty="0">
                <a:latin typeface="SabonLTPro-Roman"/>
              </a:rPr>
              <a:t>a program reads the sentinel value, it knows it has reached the end of the sequence, so the</a:t>
            </a:r>
          </a:p>
          <a:p>
            <a:pPr algn="just"/>
            <a:r>
              <a:rPr lang="en-US" sz="1400" dirty="0">
                <a:latin typeface="SabonLTPro-Roman"/>
              </a:rPr>
              <a:t>loop terminates.</a:t>
            </a:r>
            <a:endParaRPr lang="en-US" sz="1400" dirty="0"/>
          </a:p>
        </p:txBody>
      </p:sp>
      <p:pic>
        <p:nvPicPr>
          <p:cNvPr id="6" name="Рисунок 5"/>
          <p:cNvPicPr>
            <a:picLocks noChangeAspect="1"/>
          </p:cNvPicPr>
          <p:nvPr/>
        </p:nvPicPr>
        <p:blipFill>
          <a:blip r:embed="rId3"/>
          <a:stretch>
            <a:fillRect/>
          </a:stretch>
        </p:blipFill>
        <p:spPr>
          <a:xfrm>
            <a:off x="4644008" y="1431941"/>
            <a:ext cx="2828925" cy="847725"/>
          </a:xfrm>
          <a:prstGeom prst="rect">
            <a:avLst/>
          </a:prstGeom>
        </p:spPr>
      </p:pic>
      <p:pic>
        <p:nvPicPr>
          <p:cNvPr id="7" name="Рисунок 6"/>
          <p:cNvPicPr>
            <a:picLocks noChangeAspect="1"/>
          </p:cNvPicPr>
          <p:nvPr/>
        </p:nvPicPr>
        <p:blipFill>
          <a:blip r:embed="rId4"/>
          <a:stretch>
            <a:fillRect/>
          </a:stretch>
        </p:blipFill>
        <p:spPr>
          <a:xfrm>
            <a:off x="4716016" y="2276475"/>
            <a:ext cx="4200525" cy="4581525"/>
          </a:xfrm>
          <a:prstGeom prst="rect">
            <a:avLst/>
          </a:prstGeom>
        </p:spPr>
      </p:pic>
      <p:pic>
        <p:nvPicPr>
          <p:cNvPr id="8" name="Рисунок 7"/>
          <p:cNvPicPr>
            <a:picLocks noChangeAspect="1"/>
          </p:cNvPicPr>
          <p:nvPr/>
        </p:nvPicPr>
        <p:blipFill>
          <a:blip r:embed="rId5"/>
          <a:stretch>
            <a:fillRect/>
          </a:stretch>
        </p:blipFill>
        <p:spPr>
          <a:xfrm>
            <a:off x="195049" y="1916832"/>
            <a:ext cx="4492242" cy="2304256"/>
          </a:xfrm>
          <a:prstGeom prst="rect">
            <a:avLst/>
          </a:prstGeom>
        </p:spPr>
      </p:pic>
    </p:spTree>
    <p:extLst>
      <p:ext uri="{BB962C8B-B14F-4D97-AF65-F5344CB8AC3E}">
        <p14:creationId xmlns:p14="http://schemas.microsoft.com/office/powerpoint/2010/main" val="337988185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Рисунок 3"/>
          <p:cNvPicPr>
            <a:picLocks noChangeAspect="1"/>
          </p:cNvPicPr>
          <p:nvPr/>
        </p:nvPicPr>
        <p:blipFill>
          <a:blip r:embed="rId2"/>
          <a:stretch>
            <a:fillRect/>
          </a:stretch>
        </p:blipFill>
        <p:spPr>
          <a:xfrm>
            <a:off x="611560" y="332656"/>
            <a:ext cx="4596511" cy="936104"/>
          </a:xfrm>
          <a:prstGeom prst="rect">
            <a:avLst/>
          </a:prstGeom>
        </p:spPr>
      </p:pic>
      <p:sp>
        <p:nvSpPr>
          <p:cNvPr id="5" name="Прямоугольник 4"/>
          <p:cNvSpPr/>
          <p:nvPr/>
        </p:nvSpPr>
        <p:spPr>
          <a:xfrm>
            <a:off x="395536" y="1412776"/>
            <a:ext cx="7992888" cy="1015663"/>
          </a:xfrm>
          <a:prstGeom prst="rect">
            <a:avLst/>
          </a:prstGeom>
        </p:spPr>
        <p:txBody>
          <a:bodyPr wrap="square">
            <a:spAutoFit/>
          </a:bodyPr>
          <a:lstStyle/>
          <a:p>
            <a:pPr algn="just"/>
            <a:r>
              <a:rPr lang="en-US" sz="1200" dirty="0">
                <a:latin typeface="Times New Roman" panose="02020603050405020304" pitchFamily="18" charset="0"/>
                <a:cs typeface="Times New Roman" panose="02020603050405020304" pitchFamily="18" charset="0"/>
              </a:rPr>
              <a:t>A nested loop is a loop that is inside another loop. A clock is a good example of </a:t>
            </a:r>
            <a:r>
              <a:rPr lang="en-US" sz="1200" dirty="0" smtClean="0">
                <a:latin typeface="Times New Roman" panose="02020603050405020304" pitchFamily="18" charset="0"/>
                <a:cs typeface="Times New Roman" panose="02020603050405020304" pitchFamily="18" charset="0"/>
              </a:rPr>
              <a:t>something that </a:t>
            </a:r>
            <a:r>
              <a:rPr lang="en-US" sz="1200" dirty="0">
                <a:latin typeface="Times New Roman" panose="02020603050405020304" pitchFamily="18" charset="0"/>
                <a:cs typeface="Times New Roman" panose="02020603050405020304" pitchFamily="18" charset="0"/>
              </a:rPr>
              <a:t>works like a nested loop. The second hand, minute hand, and hour hand all </a:t>
            </a:r>
            <a:r>
              <a:rPr lang="en-US" sz="1200" dirty="0" smtClean="0">
                <a:latin typeface="Times New Roman" panose="02020603050405020304" pitchFamily="18" charset="0"/>
                <a:cs typeface="Times New Roman" panose="02020603050405020304" pitchFamily="18" charset="0"/>
              </a:rPr>
              <a:t>spin around </a:t>
            </a:r>
            <a:r>
              <a:rPr lang="en-US" sz="1200" dirty="0">
                <a:latin typeface="Times New Roman" panose="02020603050405020304" pitchFamily="18" charset="0"/>
                <a:cs typeface="Times New Roman" panose="02020603050405020304" pitchFamily="18" charset="0"/>
              </a:rPr>
              <a:t>the face of the clock. The hour hand, however, only makes 1 revolution for </a:t>
            </a:r>
            <a:r>
              <a:rPr lang="en-US" sz="1200" dirty="0" smtClean="0">
                <a:latin typeface="Times New Roman" panose="02020603050405020304" pitchFamily="18" charset="0"/>
                <a:cs typeface="Times New Roman" panose="02020603050405020304" pitchFamily="18" charset="0"/>
              </a:rPr>
              <a:t>every 12 </a:t>
            </a:r>
            <a:r>
              <a:rPr lang="en-US" sz="1200" dirty="0">
                <a:latin typeface="Times New Roman" panose="02020603050405020304" pitchFamily="18" charset="0"/>
                <a:cs typeface="Times New Roman" panose="02020603050405020304" pitchFamily="18" charset="0"/>
              </a:rPr>
              <a:t>of the minute hand’s revolutions. And it takes 60 revolutions of the second hand for </a:t>
            </a:r>
            <a:r>
              <a:rPr lang="en-US" sz="1200" dirty="0" smtClean="0">
                <a:latin typeface="Times New Roman" panose="02020603050405020304" pitchFamily="18" charset="0"/>
                <a:cs typeface="Times New Roman" panose="02020603050405020304" pitchFamily="18" charset="0"/>
              </a:rPr>
              <a:t>the minute </a:t>
            </a:r>
            <a:r>
              <a:rPr lang="en-US" sz="1200" dirty="0">
                <a:latin typeface="Times New Roman" panose="02020603050405020304" pitchFamily="18" charset="0"/>
                <a:cs typeface="Times New Roman" panose="02020603050405020304" pitchFamily="18" charset="0"/>
              </a:rPr>
              <a:t>hand to make 1 revolution. This means that for every complete revolution of </a:t>
            </a:r>
            <a:r>
              <a:rPr lang="en-US" sz="1200" dirty="0" smtClean="0">
                <a:latin typeface="Times New Roman" panose="02020603050405020304" pitchFamily="18" charset="0"/>
                <a:cs typeface="Times New Roman" panose="02020603050405020304" pitchFamily="18" charset="0"/>
              </a:rPr>
              <a:t>the hour </a:t>
            </a:r>
            <a:r>
              <a:rPr lang="en-US" sz="1200" dirty="0">
                <a:latin typeface="Times New Roman" panose="02020603050405020304" pitchFamily="18" charset="0"/>
                <a:cs typeface="Times New Roman" panose="02020603050405020304" pitchFamily="18" charset="0"/>
              </a:rPr>
              <a:t>hand, the second hand has revolved 720 times. Here is a loop that partially </a:t>
            </a:r>
            <a:r>
              <a:rPr lang="en-US" sz="1200" dirty="0" smtClean="0">
                <a:latin typeface="Times New Roman" panose="02020603050405020304" pitchFamily="18" charset="0"/>
                <a:cs typeface="Times New Roman" panose="02020603050405020304" pitchFamily="18" charset="0"/>
              </a:rPr>
              <a:t>simulates a </a:t>
            </a:r>
            <a:r>
              <a:rPr lang="en-US" sz="1200" dirty="0">
                <a:latin typeface="Times New Roman" panose="02020603050405020304" pitchFamily="18" charset="0"/>
                <a:cs typeface="Times New Roman" panose="02020603050405020304" pitchFamily="18" charset="0"/>
              </a:rPr>
              <a:t>digital clock. It displays the seconds from 0 to 59:</a:t>
            </a:r>
          </a:p>
        </p:txBody>
      </p:sp>
      <p:sp>
        <p:nvSpPr>
          <p:cNvPr id="7" name="Прямоугольник 6"/>
          <p:cNvSpPr/>
          <p:nvPr/>
        </p:nvSpPr>
        <p:spPr>
          <a:xfrm>
            <a:off x="395536" y="2982437"/>
            <a:ext cx="7920880" cy="307777"/>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We can add a </a:t>
            </a:r>
            <a:r>
              <a:rPr lang="en-US" sz="1200" dirty="0">
                <a:latin typeface="Times New Roman" panose="02020603050405020304" pitchFamily="18" charset="0"/>
                <a:cs typeface="Times New Roman" panose="02020603050405020304" pitchFamily="18" charset="0"/>
              </a:rPr>
              <a:t>minutes </a:t>
            </a:r>
            <a:r>
              <a:rPr lang="en-US" sz="1400" dirty="0">
                <a:latin typeface="Times New Roman" panose="02020603050405020304" pitchFamily="18" charset="0"/>
                <a:cs typeface="Times New Roman" panose="02020603050405020304" pitchFamily="18" charset="0"/>
              </a:rPr>
              <a:t>variable and nest the loop above inside another loop that </a:t>
            </a:r>
            <a:r>
              <a:rPr lang="en-US" sz="1400" dirty="0" smtClean="0">
                <a:latin typeface="Times New Roman" panose="02020603050405020304" pitchFamily="18" charset="0"/>
                <a:cs typeface="Times New Roman" panose="02020603050405020304" pitchFamily="18" charset="0"/>
              </a:rPr>
              <a:t>cycles through </a:t>
            </a:r>
            <a:r>
              <a:rPr lang="en-US" sz="1400" dirty="0">
                <a:latin typeface="Times New Roman" panose="02020603050405020304" pitchFamily="18" charset="0"/>
                <a:cs typeface="Times New Roman" panose="02020603050405020304" pitchFamily="18" charset="0"/>
              </a:rPr>
              <a:t>60 minutes:</a:t>
            </a:r>
          </a:p>
        </p:txBody>
      </p:sp>
      <p:pic>
        <p:nvPicPr>
          <p:cNvPr id="8" name="Рисунок 7"/>
          <p:cNvPicPr>
            <a:picLocks noChangeAspect="1"/>
          </p:cNvPicPr>
          <p:nvPr/>
        </p:nvPicPr>
        <p:blipFill>
          <a:blip r:embed="rId3"/>
          <a:stretch>
            <a:fillRect/>
          </a:stretch>
        </p:blipFill>
        <p:spPr>
          <a:xfrm>
            <a:off x="611560" y="3332311"/>
            <a:ext cx="2813761" cy="523220"/>
          </a:xfrm>
          <a:prstGeom prst="rect">
            <a:avLst/>
          </a:prstGeom>
        </p:spPr>
      </p:pic>
      <p:sp>
        <p:nvSpPr>
          <p:cNvPr id="9" name="Прямоугольник 8"/>
          <p:cNvSpPr/>
          <p:nvPr/>
        </p:nvSpPr>
        <p:spPr>
          <a:xfrm>
            <a:off x="395536" y="3858402"/>
            <a:ext cx="7883326" cy="276999"/>
          </a:xfrm>
          <a:prstGeom prst="rect">
            <a:avLst/>
          </a:prstGeom>
        </p:spPr>
        <p:txBody>
          <a:bodyPr wrap="square">
            <a:spAutoFit/>
          </a:bodyPr>
          <a:lstStyle/>
          <a:p>
            <a:r>
              <a:rPr lang="en-US" sz="1200" dirty="0">
                <a:latin typeface="Times New Roman" panose="02020603050405020304" pitchFamily="18" charset="0"/>
                <a:cs typeface="Times New Roman" panose="02020603050405020304" pitchFamily="18" charset="0"/>
              </a:rPr>
              <a:t>To make the simulated clock complete, another variable and loop can be added to </a:t>
            </a:r>
            <a:r>
              <a:rPr lang="en-US" sz="1200" dirty="0" smtClean="0">
                <a:latin typeface="Times New Roman" panose="02020603050405020304" pitchFamily="18" charset="0"/>
                <a:cs typeface="Times New Roman" panose="02020603050405020304" pitchFamily="18" charset="0"/>
              </a:rPr>
              <a:t>count the </a:t>
            </a:r>
            <a:r>
              <a:rPr lang="en-US" sz="1200" dirty="0">
                <a:latin typeface="Times New Roman" panose="02020603050405020304" pitchFamily="18" charset="0"/>
                <a:cs typeface="Times New Roman" panose="02020603050405020304" pitchFamily="18" charset="0"/>
              </a:rPr>
              <a:t>hours:</a:t>
            </a:r>
          </a:p>
        </p:txBody>
      </p:sp>
      <p:pic>
        <p:nvPicPr>
          <p:cNvPr id="10" name="Рисунок 9"/>
          <p:cNvPicPr>
            <a:picLocks noChangeAspect="1"/>
          </p:cNvPicPr>
          <p:nvPr/>
        </p:nvPicPr>
        <p:blipFill>
          <a:blip r:embed="rId4"/>
          <a:stretch>
            <a:fillRect/>
          </a:stretch>
        </p:blipFill>
        <p:spPr>
          <a:xfrm>
            <a:off x="545864" y="2428438"/>
            <a:ext cx="1885266" cy="424497"/>
          </a:xfrm>
          <a:prstGeom prst="rect">
            <a:avLst/>
          </a:prstGeom>
        </p:spPr>
      </p:pic>
      <p:sp>
        <p:nvSpPr>
          <p:cNvPr id="11" name="Прямоугольник 10"/>
          <p:cNvSpPr/>
          <p:nvPr/>
        </p:nvSpPr>
        <p:spPr>
          <a:xfrm>
            <a:off x="423344" y="4103424"/>
            <a:ext cx="5588816" cy="830997"/>
          </a:xfrm>
          <a:prstGeom prst="rect">
            <a:avLst/>
          </a:prstGeom>
        </p:spPr>
        <p:txBody>
          <a:bodyPr wrap="square">
            <a:spAutoFit/>
          </a:bodyPr>
          <a:lstStyle/>
          <a:p>
            <a:r>
              <a:rPr lang="en-US" sz="1200" dirty="0">
                <a:latin typeface="Times New Roman" panose="02020603050405020304" pitchFamily="18" charset="0"/>
                <a:cs typeface="Times New Roman" panose="02020603050405020304" pitchFamily="18" charset="0"/>
              </a:rPr>
              <a:t>for hours in range(24):</a:t>
            </a:r>
          </a:p>
          <a:p>
            <a:r>
              <a:rPr lang="en-US" sz="1200" dirty="0">
                <a:latin typeface="Times New Roman" panose="02020603050405020304" pitchFamily="18" charset="0"/>
                <a:cs typeface="Times New Roman" panose="02020603050405020304" pitchFamily="18" charset="0"/>
              </a:rPr>
              <a:t> </a:t>
            </a:r>
            <a:r>
              <a:rPr lang="en-US" sz="1200" dirty="0" smtClean="0">
                <a:latin typeface="Times New Roman" panose="02020603050405020304" pitchFamily="18" charset="0"/>
                <a:cs typeface="Times New Roman" panose="02020603050405020304" pitchFamily="18" charset="0"/>
              </a:rPr>
              <a:t>  for </a:t>
            </a:r>
            <a:r>
              <a:rPr lang="en-US" sz="1200" dirty="0">
                <a:latin typeface="Times New Roman" panose="02020603050405020304" pitchFamily="18" charset="0"/>
                <a:cs typeface="Times New Roman" panose="02020603050405020304" pitchFamily="18" charset="0"/>
              </a:rPr>
              <a:t>minutes in range(60):</a:t>
            </a:r>
          </a:p>
          <a:p>
            <a:r>
              <a:rPr lang="en-US" sz="1200" dirty="0">
                <a:latin typeface="Times New Roman" panose="02020603050405020304" pitchFamily="18" charset="0"/>
                <a:cs typeface="Times New Roman" panose="02020603050405020304" pitchFamily="18" charset="0"/>
              </a:rPr>
              <a:t> </a:t>
            </a:r>
            <a:r>
              <a:rPr lang="en-US" sz="1200" dirty="0" smtClean="0">
                <a:latin typeface="Times New Roman" panose="02020603050405020304" pitchFamily="18" charset="0"/>
                <a:cs typeface="Times New Roman" panose="02020603050405020304" pitchFamily="18" charset="0"/>
              </a:rPr>
              <a:t>     for </a:t>
            </a:r>
            <a:r>
              <a:rPr lang="en-US" sz="1200" dirty="0">
                <a:latin typeface="Times New Roman" panose="02020603050405020304" pitchFamily="18" charset="0"/>
                <a:cs typeface="Times New Roman" panose="02020603050405020304" pitchFamily="18" charset="0"/>
              </a:rPr>
              <a:t>seconds in range(60):</a:t>
            </a:r>
          </a:p>
          <a:p>
            <a:r>
              <a:rPr lang="en-US" sz="1200" dirty="0">
                <a:latin typeface="Times New Roman" panose="02020603050405020304" pitchFamily="18" charset="0"/>
                <a:cs typeface="Times New Roman" panose="02020603050405020304" pitchFamily="18" charset="0"/>
              </a:rPr>
              <a:t> </a:t>
            </a:r>
            <a:r>
              <a:rPr lang="en-US" sz="1200" dirty="0" smtClean="0">
                <a:latin typeface="Times New Roman" panose="02020603050405020304" pitchFamily="18" charset="0"/>
                <a:cs typeface="Times New Roman" panose="02020603050405020304" pitchFamily="18" charset="0"/>
              </a:rPr>
              <a:t>        print(hours</a:t>
            </a:r>
            <a:r>
              <a:rPr lang="en-US" sz="1200" dirty="0">
                <a:latin typeface="Times New Roman" panose="02020603050405020304" pitchFamily="18" charset="0"/>
                <a:cs typeface="Times New Roman" panose="02020603050405020304" pitchFamily="18" charset="0"/>
              </a:rPr>
              <a:t>, ':', minutes, ':', seconds)</a:t>
            </a:r>
          </a:p>
        </p:txBody>
      </p:sp>
      <p:sp>
        <p:nvSpPr>
          <p:cNvPr id="12" name="Прямоугольник 11"/>
          <p:cNvSpPr/>
          <p:nvPr/>
        </p:nvSpPr>
        <p:spPr>
          <a:xfrm>
            <a:off x="395536" y="4985757"/>
            <a:ext cx="8142048" cy="1138773"/>
          </a:xfrm>
          <a:prstGeom prst="rect">
            <a:avLst/>
          </a:prstGeom>
        </p:spPr>
        <p:txBody>
          <a:bodyPr wrap="square">
            <a:spAutoFit/>
          </a:bodyPr>
          <a:lstStyle/>
          <a:p>
            <a:r>
              <a:rPr lang="en-US" sz="1200" dirty="0">
                <a:latin typeface="Times New Roman" panose="02020603050405020304" pitchFamily="18" charset="0"/>
                <a:cs typeface="Times New Roman" panose="02020603050405020304" pitchFamily="18" charset="0"/>
              </a:rPr>
              <a:t>This code’s output would be:</a:t>
            </a:r>
          </a:p>
          <a:p>
            <a:r>
              <a:rPr lang="en-US" sz="1100" dirty="0">
                <a:latin typeface="Times New Roman" panose="02020603050405020304" pitchFamily="18" charset="0"/>
                <a:cs typeface="Times New Roman" panose="02020603050405020304" pitchFamily="18" charset="0"/>
              </a:rPr>
              <a:t>0 : 0 : 0</a:t>
            </a:r>
          </a:p>
          <a:p>
            <a:r>
              <a:rPr lang="en-US" sz="1100" dirty="0">
                <a:latin typeface="Times New Roman" panose="02020603050405020304" pitchFamily="18" charset="0"/>
                <a:cs typeface="Times New Roman" panose="02020603050405020304" pitchFamily="18" charset="0"/>
              </a:rPr>
              <a:t>0 : 0 : 1</a:t>
            </a:r>
          </a:p>
          <a:p>
            <a:r>
              <a:rPr lang="en-US" sz="1100" dirty="0">
                <a:latin typeface="Times New Roman" panose="02020603050405020304" pitchFamily="18" charset="0"/>
                <a:cs typeface="Times New Roman" panose="02020603050405020304" pitchFamily="18" charset="0"/>
              </a:rPr>
              <a:t>0 : 0 : 2</a:t>
            </a:r>
          </a:p>
          <a:p>
            <a:r>
              <a:rPr lang="en-US" sz="1200" i="1" dirty="0">
                <a:latin typeface="Times New Roman" panose="02020603050405020304" pitchFamily="18" charset="0"/>
                <a:cs typeface="Times New Roman" panose="02020603050405020304" pitchFamily="18" charset="0"/>
              </a:rPr>
              <a:t>(The program will count through each second of 24 hours.)</a:t>
            </a:r>
          </a:p>
          <a:p>
            <a:r>
              <a:rPr lang="en-US" sz="1100" dirty="0">
                <a:latin typeface="Times New Roman" panose="02020603050405020304" pitchFamily="18" charset="0"/>
                <a:cs typeface="Times New Roman" panose="02020603050405020304" pitchFamily="18" charset="0"/>
              </a:rPr>
              <a:t>23 : 59 : 59</a:t>
            </a:r>
            <a:endParaRPr lang="en-US" sz="12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4604279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39552" y="548680"/>
            <a:ext cx="7848872" cy="954107"/>
          </a:xfrm>
          <a:prstGeom prst="rect">
            <a:avLst/>
          </a:prstGeom>
        </p:spPr>
        <p:txBody>
          <a:bodyPr wrap="square">
            <a:spAutoFit/>
          </a:bodyPr>
          <a:lstStyle/>
          <a:p>
            <a:r>
              <a:rPr lang="en-US" sz="1400" dirty="0">
                <a:latin typeface="Times New Roman" panose="02020603050405020304" pitchFamily="18" charset="0"/>
                <a:cs typeface="Times New Roman" panose="02020603050405020304" pitchFamily="18" charset="0"/>
              </a:rPr>
              <a:t>The innermost loop will iterate 60 times for each iteration of the middle loop. The </a:t>
            </a:r>
            <a:r>
              <a:rPr lang="en-US" sz="1400" dirty="0" smtClean="0">
                <a:latin typeface="Times New Roman" panose="02020603050405020304" pitchFamily="18" charset="0"/>
                <a:cs typeface="Times New Roman" panose="02020603050405020304" pitchFamily="18" charset="0"/>
              </a:rPr>
              <a:t>middle loop </a:t>
            </a:r>
            <a:r>
              <a:rPr lang="en-US" sz="1400" dirty="0">
                <a:latin typeface="Times New Roman" panose="02020603050405020304" pitchFamily="18" charset="0"/>
                <a:cs typeface="Times New Roman" panose="02020603050405020304" pitchFamily="18" charset="0"/>
              </a:rPr>
              <a:t>will iterate 60 times for each iteration of the outermost loop. When the </a:t>
            </a:r>
            <a:r>
              <a:rPr lang="en-US" sz="1400" dirty="0" smtClean="0">
                <a:latin typeface="Times New Roman" panose="02020603050405020304" pitchFamily="18" charset="0"/>
                <a:cs typeface="Times New Roman" panose="02020603050405020304" pitchFamily="18" charset="0"/>
              </a:rPr>
              <a:t>outermost loop </a:t>
            </a:r>
            <a:r>
              <a:rPr lang="en-US" sz="1400" dirty="0">
                <a:latin typeface="Times New Roman" panose="02020603050405020304" pitchFamily="18" charset="0"/>
                <a:cs typeface="Times New Roman" panose="02020603050405020304" pitchFamily="18" charset="0"/>
              </a:rPr>
              <a:t>has iterated 24 times, the middle loop will have iterated 1,440 times and the </a:t>
            </a:r>
            <a:r>
              <a:rPr lang="en-US" sz="1400" dirty="0" smtClean="0">
                <a:latin typeface="Times New Roman" panose="02020603050405020304" pitchFamily="18" charset="0"/>
                <a:cs typeface="Times New Roman" panose="02020603050405020304" pitchFamily="18" charset="0"/>
              </a:rPr>
              <a:t>innermost loop </a:t>
            </a:r>
            <a:r>
              <a:rPr lang="en-US" sz="1400" dirty="0">
                <a:latin typeface="Times New Roman" panose="02020603050405020304" pitchFamily="18" charset="0"/>
                <a:cs typeface="Times New Roman" panose="02020603050405020304" pitchFamily="18" charset="0"/>
              </a:rPr>
              <a:t>will have iterated 86,400 times! Figure 4-8 shows a flowchart for the complete </a:t>
            </a:r>
            <a:r>
              <a:rPr lang="en-US" sz="1400" dirty="0" smtClean="0">
                <a:latin typeface="Times New Roman" panose="02020603050405020304" pitchFamily="18" charset="0"/>
                <a:cs typeface="Times New Roman" panose="02020603050405020304" pitchFamily="18" charset="0"/>
              </a:rPr>
              <a:t>clock simulation </a:t>
            </a:r>
            <a:r>
              <a:rPr lang="en-US" sz="1400" dirty="0">
                <a:latin typeface="Times New Roman" panose="02020603050405020304" pitchFamily="18" charset="0"/>
                <a:cs typeface="Times New Roman" panose="02020603050405020304" pitchFamily="18" charset="0"/>
              </a:rPr>
              <a:t>program previously shown.</a:t>
            </a:r>
          </a:p>
        </p:txBody>
      </p:sp>
      <p:pic>
        <p:nvPicPr>
          <p:cNvPr id="6" name="Рисунок 5"/>
          <p:cNvPicPr>
            <a:picLocks noChangeAspect="1"/>
          </p:cNvPicPr>
          <p:nvPr/>
        </p:nvPicPr>
        <p:blipFill>
          <a:blip r:embed="rId2"/>
          <a:stretch>
            <a:fillRect/>
          </a:stretch>
        </p:blipFill>
        <p:spPr>
          <a:xfrm>
            <a:off x="971600" y="1502787"/>
            <a:ext cx="4381500" cy="5057775"/>
          </a:xfrm>
          <a:prstGeom prst="rect">
            <a:avLst/>
          </a:prstGeom>
        </p:spPr>
      </p:pic>
    </p:spTree>
    <p:extLst>
      <p:ext uri="{BB962C8B-B14F-4D97-AF65-F5344CB8AC3E}">
        <p14:creationId xmlns:p14="http://schemas.microsoft.com/office/powerpoint/2010/main" val="61314779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Прямоугольник 3"/>
          <p:cNvSpPr/>
          <p:nvPr/>
        </p:nvSpPr>
        <p:spPr>
          <a:xfrm>
            <a:off x="539552" y="692696"/>
            <a:ext cx="7920880" cy="1200329"/>
          </a:xfrm>
          <a:prstGeom prst="rect">
            <a:avLst/>
          </a:prstGeom>
        </p:spPr>
        <p:txBody>
          <a:bodyPr wrap="square">
            <a:spAutoFit/>
          </a:bodyPr>
          <a:lstStyle/>
          <a:p>
            <a:pPr algn="just"/>
            <a:r>
              <a:rPr lang="en-US" dirty="0">
                <a:latin typeface="Times New Roman" panose="02020603050405020304" pitchFamily="18" charset="0"/>
                <a:cs typeface="Times New Roman" panose="02020603050405020304" pitchFamily="18" charset="0"/>
              </a:rPr>
              <a:t>The simulated clock example brings up a few points about nested loops:</a:t>
            </a:r>
          </a:p>
          <a:p>
            <a:pPr algn="just"/>
            <a:r>
              <a:rPr lang="en-US" dirty="0">
                <a:latin typeface="Times New Roman" panose="02020603050405020304" pitchFamily="18" charset="0"/>
                <a:cs typeface="Times New Roman" panose="02020603050405020304" pitchFamily="18" charset="0"/>
              </a:rPr>
              <a:t>• An inner loop goes through all of its iterations for every single iteration of an outer</a:t>
            </a:r>
          </a:p>
          <a:p>
            <a:pPr algn="just"/>
            <a:r>
              <a:rPr lang="en-US" dirty="0">
                <a:latin typeface="Times New Roman" panose="02020603050405020304" pitchFamily="18" charset="0"/>
                <a:cs typeface="Times New Roman" panose="02020603050405020304" pitchFamily="18" charset="0"/>
              </a:rPr>
              <a:t>loop.</a:t>
            </a:r>
          </a:p>
          <a:p>
            <a:pPr algn="just"/>
            <a:r>
              <a:rPr lang="en-US" dirty="0">
                <a:latin typeface="Times New Roman" panose="02020603050405020304" pitchFamily="18" charset="0"/>
                <a:cs typeface="Times New Roman" panose="02020603050405020304" pitchFamily="18" charset="0"/>
              </a:rPr>
              <a:t>• Inner loops complete their iterations faster than outer loops.</a:t>
            </a:r>
          </a:p>
        </p:txBody>
      </p:sp>
      <p:sp>
        <p:nvSpPr>
          <p:cNvPr id="5" name="Прямоугольник 4"/>
          <p:cNvSpPr/>
          <p:nvPr/>
        </p:nvSpPr>
        <p:spPr>
          <a:xfrm>
            <a:off x="539552" y="1893025"/>
            <a:ext cx="7920880" cy="584775"/>
          </a:xfrm>
          <a:prstGeom prst="rect">
            <a:avLst/>
          </a:prstGeom>
        </p:spPr>
        <p:txBody>
          <a:bodyPr wrap="square">
            <a:spAutoFit/>
          </a:bodyPr>
          <a:lstStyle/>
          <a:p>
            <a:r>
              <a:rPr lang="en-US" sz="1600" dirty="0">
                <a:latin typeface="Times New Roman" panose="02020603050405020304" pitchFamily="18" charset="0"/>
                <a:cs typeface="Times New Roman" panose="02020603050405020304" pitchFamily="18" charset="0"/>
              </a:rPr>
              <a:t>• To get the total number of iterations of a nested loop, multiply the number of </a:t>
            </a:r>
            <a:r>
              <a:rPr lang="en-US" sz="1600" dirty="0" smtClean="0">
                <a:latin typeface="Times New Roman" panose="02020603050405020304" pitchFamily="18" charset="0"/>
                <a:cs typeface="Times New Roman" panose="02020603050405020304" pitchFamily="18" charset="0"/>
              </a:rPr>
              <a:t>iterations of </a:t>
            </a:r>
            <a:r>
              <a:rPr lang="en-US" sz="1600" dirty="0">
                <a:latin typeface="Times New Roman" panose="02020603050405020304" pitchFamily="18" charset="0"/>
                <a:cs typeface="Times New Roman" panose="02020603050405020304" pitchFamily="18" charset="0"/>
              </a:rPr>
              <a:t>all the loops.</a:t>
            </a:r>
          </a:p>
        </p:txBody>
      </p:sp>
    </p:spTree>
    <p:extLst>
      <p:ext uri="{BB962C8B-B14F-4D97-AF65-F5344CB8AC3E}">
        <p14:creationId xmlns:p14="http://schemas.microsoft.com/office/powerpoint/2010/main" val="2383826566"/>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Стандартная">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Стандартная">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ct:contentTypeSchema xmlns:ct="http://schemas.microsoft.com/office/2006/metadata/contentType" xmlns:ma="http://schemas.microsoft.com/office/2006/metadata/properties/metaAttributes" ct:_="" ma:_="" ma:contentTypeName="Документ" ma:contentTypeID="0x010100802135AA69994B4F81C202DF52114CF6" ma:contentTypeVersion="4" ma:contentTypeDescription="Создание документа." ma:contentTypeScope="" ma:versionID="b363fc7a49124151e3329434dbeec020">
  <xsd:schema xmlns:xsd="http://www.w3.org/2001/XMLSchema" xmlns:xs="http://www.w3.org/2001/XMLSchema" xmlns:p="http://schemas.microsoft.com/office/2006/metadata/properties" xmlns:ns2="a31afbf2-e35a-471f-8fdc-e7b63f74a28f" targetNamespace="http://schemas.microsoft.com/office/2006/metadata/properties" ma:root="true" ma:fieldsID="a1f15b022357d4555d3a86648043892a" ns2:_="">
    <xsd:import namespace="a31afbf2-e35a-471f-8fdc-e7b63f74a28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31afbf2-e35a-471f-8fdc-e7b63f74a28f"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Тип контента"/>
        <xsd:element ref="dc:title" minOccurs="0" maxOccurs="1" ma:index="4" ma:displayName="Название"/>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5A770332-7390-4E97-B2DD-7B7A636B9EEB}"/>
</file>

<file path=customXml/itemProps2.xml><?xml version="1.0" encoding="utf-8"?>
<ds:datastoreItem xmlns:ds="http://schemas.openxmlformats.org/officeDocument/2006/customXml" ds:itemID="{5D5821DE-E66B-46D3-9293-766AC935727D}"/>
</file>

<file path=docProps/app.xml><?xml version="1.0" encoding="utf-8"?>
<Properties xmlns="http://schemas.openxmlformats.org/officeDocument/2006/extended-properties" xmlns:vt="http://schemas.openxmlformats.org/officeDocument/2006/docPropsVTypes">
  <TotalTime>167</TotalTime>
  <Words>734</Words>
  <Application>Microsoft Office PowerPoint</Application>
  <PresentationFormat>Экран (4:3)</PresentationFormat>
  <Paragraphs>35</Paragraphs>
  <Slides>16</Slides>
  <Notes>0</Notes>
  <HiddenSlides>0</HiddenSlides>
  <MMClips>0</MMClips>
  <ScaleCrop>false</ScaleCrop>
  <HeadingPairs>
    <vt:vector size="6" baseType="variant">
      <vt:variant>
        <vt:lpstr>Использованные шрифты</vt:lpstr>
      </vt:variant>
      <vt:variant>
        <vt:i4>5</vt:i4>
      </vt:variant>
      <vt:variant>
        <vt:lpstr>Тема</vt:lpstr>
      </vt:variant>
      <vt:variant>
        <vt:i4>1</vt:i4>
      </vt:variant>
      <vt:variant>
        <vt:lpstr>Заголовки слайдов</vt:lpstr>
      </vt:variant>
      <vt:variant>
        <vt:i4>16</vt:i4>
      </vt:variant>
    </vt:vector>
  </HeadingPairs>
  <TitlesOfParts>
    <vt:vector size="22" baseType="lpstr">
      <vt:lpstr>Arial</vt:lpstr>
      <vt:lpstr>Calibri</vt:lpstr>
      <vt:lpstr>SabonLTPro-Italic</vt:lpstr>
      <vt:lpstr>SabonLTPro-Roman</vt:lpstr>
      <vt:lpstr>Times New Roman</vt:lpstr>
      <vt:lpstr>Тема Office</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Слайд 1</dc:title>
  <dc:creator>gakim</dc:creator>
  <cp:lastModifiedBy>Ким Гульнар Амангельдыевна </cp:lastModifiedBy>
  <cp:revision>14</cp:revision>
  <dcterms:created xsi:type="dcterms:W3CDTF">2024-09-20T09:24:46Z</dcterms:created>
  <dcterms:modified xsi:type="dcterms:W3CDTF">2024-09-24T12:34:33Z</dcterms:modified>
</cp:coreProperties>
</file>