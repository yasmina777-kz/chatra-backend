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2.xml" ContentType="application/vnd.openxmlformats-officedocument.presentationml.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1" r:id="rId6"/>
    <p:sldId id="265" r:id="rId7"/>
    <p:sldId id="260" r:id="rId8"/>
    <p:sldId id="262" r:id="rId9"/>
    <p:sldId id="263" r:id="rId10"/>
    <p:sldId id="264" r:id="rId11"/>
    <p:sldId id="272" r:id="rId12"/>
    <p:sldId id="273" r:id="rId13"/>
    <p:sldId id="274" r:id="rId14"/>
    <p:sldId id="275" r:id="rId15"/>
    <p:sldId id="277" r:id="rId16"/>
    <p:sldId id="266" r:id="rId17"/>
    <p:sldId id="267" r:id="rId18"/>
    <p:sldId id="268" r:id="rId19"/>
    <p:sldId id="269" r:id="rId20"/>
    <p:sldId id="276" r:id="rId21"/>
    <p:sldId id="270" r:id="rId22"/>
    <p:sldId id="278" r:id="rId23"/>
    <p:sldId id="279" r:id="rId24"/>
    <p:sldId id="280" r:id="rId25"/>
    <p:sldId id="281"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51" d="100"/>
          <a:sy n="51" d="100"/>
        </p:scale>
        <p:origin x="84" y="137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4046609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3148883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2987345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3578815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8" name="Нижний колонтитул 7"/>
          <p:cNvSpPr>
            <a:spLocks noGrp="1"/>
          </p:cNvSpPr>
          <p:nvPr>
            <p:ph type="ftr" sz="quarter" idx="11"/>
          </p:nvPr>
        </p:nvSpPr>
        <p:spPr/>
        <p:txBody>
          <a:bodyPr/>
          <a:lstStyle/>
          <a:p>
            <a:endParaRPr lang="en-US"/>
          </a:p>
        </p:txBody>
      </p:sp>
      <p:sp>
        <p:nvSpPr>
          <p:cNvPr id="9" name="Номер слайда 8"/>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729716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4" name="Нижний колонтитул 3"/>
          <p:cNvSpPr>
            <a:spLocks noGrp="1"/>
          </p:cNvSpPr>
          <p:nvPr>
            <p:ph type="ftr" sz="quarter" idx="11"/>
          </p:nvPr>
        </p:nvSpPr>
        <p:spPr/>
        <p:txBody>
          <a:bodyPr/>
          <a:lstStyle/>
          <a:p>
            <a:endParaRPr lang="en-US"/>
          </a:p>
        </p:txBody>
      </p:sp>
      <p:sp>
        <p:nvSpPr>
          <p:cNvPr id="5" name="Номер слайда 4"/>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1932578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1159026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2201395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1230830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3541455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21A261EF-2302-4BF4-9DAE-2919376105E9}" type="datetimeFigureOut">
              <a:rPr lang="en-US" smtClean="0"/>
              <a:pPr/>
              <a:t>11/11/2024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C53CFF89-5D63-461E-BC0A-C75A5F1823FA}" type="slidenum">
              <a:rPr lang="en-US" smtClean="0"/>
              <a:pPr/>
              <a:t>‹#›</a:t>
            </a:fld>
            <a:endParaRPr lang="en-US"/>
          </a:p>
        </p:txBody>
      </p:sp>
    </p:spTree>
    <p:extLst>
      <p:ext uri="{BB962C8B-B14F-4D97-AF65-F5344CB8AC3E}">
        <p14:creationId xmlns:p14="http://schemas.microsoft.com/office/powerpoint/2010/main" val="661816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A261EF-2302-4BF4-9DAE-2919376105E9}" type="datetimeFigureOut">
              <a:rPr lang="en-US" smtClean="0"/>
              <a:pPr/>
              <a:t>11/11/2024</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3CFF89-5D63-461E-BC0A-C75A5F1823FA}" type="slidenum">
              <a:rPr lang="en-US" smtClean="0"/>
              <a:pPr/>
              <a:t>‹#›</a:t>
            </a:fld>
            <a:endParaRPr lang="en-US"/>
          </a:p>
        </p:txBody>
      </p:sp>
    </p:spTree>
    <p:extLst>
      <p:ext uri="{BB962C8B-B14F-4D97-AF65-F5344CB8AC3E}">
        <p14:creationId xmlns:p14="http://schemas.microsoft.com/office/powerpoint/2010/main" val="4241440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78540" y="1745014"/>
            <a:ext cx="10506635" cy="3108543"/>
          </a:xfrm>
          <a:prstGeom prst="rect">
            <a:avLst/>
          </a:prstGeom>
        </p:spPr>
        <p:txBody>
          <a:bodyPr wrap="square">
            <a:spAutoFit/>
          </a:bodyPr>
          <a:lstStyle/>
          <a:p>
            <a:pPr algn="ctr"/>
            <a:r>
              <a:rPr lang="en-US" sz="2800" b="1" dirty="0" smtClean="0">
                <a:latin typeface="Times New Roman" panose="02020603050405020304" pitchFamily="18" charset="0"/>
                <a:cs typeface="Times New Roman" panose="02020603050405020304" pitchFamily="18" charset="0"/>
              </a:rPr>
              <a:t>Statements and predicates</a:t>
            </a:r>
          </a:p>
          <a:p>
            <a:pPr algn="ctr"/>
            <a:endParaRPr lang="en-US" sz="2800" dirty="0" smtClean="0">
              <a:latin typeface="Times New Roman" panose="02020603050405020304" pitchFamily="18" charset="0"/>
              <a:cs typeface="Times New Roman" panose="02020603050405020304" pitchFamily="18" charset="0"/>
            </a:endParaRPr>
          </a:p>
          <a:p>
            <a:pPr algn="ctr"/>
            <a:r>
              <a:rPr lang="en-US" sz="2800" dirty="0" smtClean="0">
                <a:latin typeface="Times New Roman" panose="02020603050405020304" pitchFamily="18" charset="0"/>
                <a:cs typeface="Times New Roman" panose="02020603050405020304" pitchFamily="18" charset="0"/>
              </a:rPr>
              <a:t>The basic concepts and information of the algebra of propositions and predicates, namely propositions, predicates, axioms, logical expressions and functions, equivalent expressions and reduction to an equivalent expression, other related concepts and facts of logic, as well as </a:t>
            </a:r>
            <a:r>
              <a:rPr lang="en-US" sz="2800" dirty="0" err="1" smtClean="0">
                <a:latin typeface="Times New Roman" pitchFamily="18" charset="0"/>
                <a:cs typeface="Times New Roman" pitchFamily="18" charset="0"/>
              </a:rPr>
              <a:t>infological</a:t>
            </a:r>
            <a:r>
              <a:rPr lang="en-US" sz="2800" dirty="0" smtClean="0">
                <a:latin typeface="Times New Roman" pitchFamily="18" charset="0"/>
                <a:cs typeface="Times New Roman" pitchFamily="18" charset="0"/>
              </a:rPr>
              <a:t> tasks.</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697608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26775" y="1187388"/>
            <a:ext cx="9789459" cy="830997"/>
          </a:xfrm>
          <a:prstGeom prst="rect">
            <a:avLst/>
          </a:prstGeom>
        </p:spPr>
        <p:txBody>
          <a:bodyPr wrap="square">
            <a:spAutoFit/>
          </a:bodyPr>
          <a:lstStyle/>
          <a:p>
            <a:pPr algn="just"/>
            <a:r>
              <a:rPr lang="en-US" sz="2400" b="1" dirty="0" smtClean="0">
                <a:latin typeface="Times New Roman" panose="02020603050405020304" pitchFamily="18" charset="0"/>
                <a:cs typeface="Times New Roman" panose="02020603050405020304" pitchFamily="18" charset="0"/>
              </a:rPr>
              <a:t>A statement</a:t>
            </a:r>
            <a:r>
              <a:rPr lang="en-US" sz="2400" dirty="0" smtClean="0">
                <a:latin typeface="Times New Roman" panose="02020603050405020304" pitchFamily="18" charset="0"/>
                <a:cs typeface="Times New Roman" panose="02020603050405020304" pitchFamily="18" charset="0"/>
              </a:rPr>
              <a:t>, in logical terms, is a declarative sentence that is either true or false, but not both.</a:t>
            </a:r>
            <a:endParaRPr lang="en-US" sz="2400"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1326775" y="2766991"/>
            <a:ext cx="7655860" cy="2677656"/>
          </a:xfrm>
          <a:prstGeom prst="rect">
            <a:avLst/>
          </a:prstGeom>
        </p:spPr>
        <p:txBody>
          <a:bodyPr wrap="square">
            <a:spAutoFit/>
          </a:bodyPr>
          <a:lstStyle/>
          <a:p>
            <a:pPr algn="just"/>
            <a:r>
              <a:rPr lang="en-US" sz="2400" dirty="0" smtClean="0">
                <a:latin typeface="Times New Roman" panose="02020603050405020304" pitchFamily="18" charset="0"/>
                <a:cs typeface="Times New Roman" panose="02020603050405020304" pitchFamily="18" charset="0"/>
              </a:rPr>
              <a:t>For example:</a:t>
            </a: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sky is blue.” (This can be evaluated as true or false.)</a:t>
            </a: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“2 + 2 = 5.” (This is false.)</a:t>
            </a:r>
          </a:p>
          <a:p>
            <a:pPr algn="just"/>
            <a:endParaRPr lang="en-US" sz="2400" dirty="0">
              <a:latin typeface="Times New Roman" panose="02020603050405020304" pitchFamily="18" charset="0"/>
              <a:cs typeface="Times New Roman" panose="02020603050405020304" pitchFamily="18" charset="0"/>
            </a:endParaRPr>
          </a:p>
          <a:p>
            <a:pPr algn="just"/>
            <a:r>
              <a:rPr lang="en-US" sz="2400" i="1" dirty="0" smtClean="0">
                <a:latin typeface="Times New Roman" panose="02020603050405020304" pitchFamily="18" charset="0"/>
                <a:cs typeface="Times New Roman" panose="02020603050405020304" pitchFamily="18" charset="0"/>
              </a:rPr>
              <a:t>Key points to remember about statements:</a:t>
            </a:r>
          </a:p>
          <a:p>
            <a:pPr algn="just">
              <a:buFont typeface="Arial" panose="020B0604020202020204" pitchFamily="34" charset="0"/>
              <a:buChar char="•"/>
            </a:pPr>
            <a:r>
              <a:rPr lang="en-US" sz="2400" i="1" dirty="0" smtClean="0">
                <a:latin typeface="Times New Roman" panose="02020603050405020304" pitchFamily="18" charset="0"/>
                <a:cs typeface="Times New Roman" panose="02020603050405020304" pitchFamily="18" charset="0"/>
              </a:rPr>
              <a:t>They must have a definite truth value.</a:t>
            </a:r>
          </a:p>
          <a:p>
            <a:pPr algn="just">
              <a:buFont typeface="Arial" panose="020B0604020202020204" pitchFamily="34" charset="0"/>
              <a:buChar char="•"/>
            </a:pPr>
            <a:r>
              <a:rPr lang="en-US" sz="2400" i="1" dirty="0" smtClean="0">
                <a:latin typeface="Times New Roman" panose="02020603050405020304" pitchFamily="18" charset="0"/>
                <a:cs typeface="Times New Roman" panose="02020603050405020304" pitchFamily="18" charset="0"/>
              </a:rPr>
              <a:t>They cannot be ambiguous or opinion-based.</a:t>
            </a:r>
            <a:endParaRPr lang="en-US"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6297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477704" y="498725"/>
            <a:ext cx="11130872" cy="5693866"/>
          </a:xfrm>
          <a:prstGeom prst="rect">
            <a:avLst/>
          </a:prstGeom>
          <a:solidFill>
            <a:srgbClr val="F1F9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1" dirty="0" smtClean="0">
                <a:solidFill>
                  <a:srgbClr val="000000"/>
                </a:solidFill>
                <a:latin typeface="Times New Roman" panose="02020603050405020304" pitchFamily="18" charset="0"/>
                <a:cs typeface="Times New Roman" panose="02020603050405020304" pitchFamily="18" charset="0"/>
              </a:rPr>
              <a:t>Examples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1" dirty="0" smtClean="0">
              <a:solidFill>
                <a:srgbClr val="00000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following are statements:</a:t>
            </a:r>
            <a:endPar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Zero times any real number is zero.</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8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1+1=2.</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8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All birds can fly. (This is a false statement. How can you establish that?)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following are not statements:</a:t>
            </a:r>
            <a:endPar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Come here.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8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Who are you?</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8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I am lying right now. (This is a paradox. If I'm lying I'm telling the truth and if I'm telling the truth I'm lying.)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06304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96470" y="1043952"/>
            <a:ext cx="10255623" cy="954107"/>
          </a:xfrm>
          <a:prstGeom prst="rect">
            <a:avLst/>
          </a:prstGeom>
        </p:spPr>
        <p:txBody>
          <a:bodyPr wrap="square">
            <a:spAutoFit/>
          </a:bodyPr>
          <a:lstStyle/>
          <a:p>
            <a:r>
              <a:rPr lang="en-US" sz="2800" b="1" dirty="0" smtClean="0">
                <a:latin typeface="Times New Roman" panose="02020603050405020304" pitchFamily="18" charset="0"/>
                <a:cs typeface="Times New Roman" panose="02020603050405020304" pitchFamily="18" charset="0"/>
              </a:rPr>
              <a:t>A proposition </a:t>
            </a:r>
            <a:r>
              <a:rPr lang="en-US" sz="2800" dirty="0" smtClean="0">
                <a:latin typeface="Times New Roman" panose="02020603050405020304" pitchFamily="18" charset="0"/>
                <a:cs typeface="Times New Roman" panose="02020603050405020304" pitchFamily="18" charset="0"/>
              </a:rPr>
              <a:t>is a statement that is either </a:t>
            </a:r>
            <a:r>
              <a:rPr lang="en-US" sz="2800" i="1" dirty="0" smtClean="0">
                <a:latin typeface="Times New Roman" panose="02020603050405020304" pitchFamily="18" charset="0"/>
                <a:cs typeface="Times New Roman" panose="02020603050405020304" pitchFamily="18" charset="0"/>
              </a:rPr>
              <a:t>true or false</a:t>
            </a:r>
            <a:r>
              <a:rPr lang="en-US" sz="2800" dirty="0" smtClean="0">
                <a:latin typeface="Times New Roman" panose="02020603050405020304" pitchFamily="18" charset="0"/>
                <a:cs typeface="Times New Roman" panose="02020603050405020304" pitchFamily="18" charset="0"/>
              </a:rPr>
              <a:t>, but not both, neither, or sometimes one and sometimes the other.</a:t>
            </a:r>
            <a:endParaRPr lang="en-US" sz="2800"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977152" y="2605625"/>
            <a:ext cx="10094257" cy="3416320"/>
          </a:xfrm>
          <a:prstGeom prst="rect">
            <a:avLst/>
          </a:prstGeom>
        </p:spPr>
        <p:txBody>
          <a:bodyPr wrap="square">
            <a:spAutoFit/>
          </a:bodyPr>
          <a:lstStyle/>
          <a:p>
            <a:pPr algn="just"/>
            <a:r>
              <a:rPr lang="en-US" sz="2400" dirty="0" smtClean="0">
                <a:latin typeface="Times New Roman" panose="02020603050405020304" pitchFamily="18" charset="0"/>
                <a:cs typeface="Times New Roman" panose="02020603050405020304" pitchFamily="18" charset="0"/>
              </a:rPr>
              <a:t>For example:</a:t>
            </a: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(1) </a:t>
            </a:r>
            <a:r>
              <a:rPr lang="ru-RU" sz="240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Williams College is located in Williamstown.</a:t>
            </a:r>
            <a:r>
              <a:rPr lang="ru-RU" sz="240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is a proposition (because it’s true). </a:t>
            </a:r>
          </a:p>
          <a:p>
            <a:pPr algn="just"/>
            <a:r>
              <a:rPr lang="en-US" sz="2400" dirty="0" smtClean="0">
                <a:latin typeface="Times New Roman" panose="02020603050405020304" pitchFamily="18" charset="0"/>
                <a:cs typeface="Times New Roman" panose="02020603050405020304" pitchFamily="18" charset="0"/>
              </a:rPr>
              <a:t>(2) </a:t>
            </a:r>
            <a:r>
              <a:rPr lang="ru-RU" sz="240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Leo is a frog.</a:t>
            </a:r>
            <a:r>
              <a:rPr lang="ru-RU" sz="240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is a propositions (because it’s false). </a:t>
            </a:r>
          </a:p>
          <a:p>
            <a:pPr algn="just"/>
            <a:r>
              <a:rPr lang="en-US" sz="2400" dirty="0" smtClean="0">
                <a:latin typeface="Times New Roman" panose="02020603050405020304" pitchFamily="18" charset="0"/>
                <a:cs typeface="Times New Roman" panose="02020603050405020304" pitchFamily="18" charset="0"/>
              </a:rPr>
              <a:t>(3) </a:t>
            </a:r>
            <a:r>
              <a:rPr lang="ru-RU" sz="240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You are located in Williamstown.</a:t>
            </a:r>
            <a:r>
              <a:rPr lang="ru-RU" sz="240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is not a proposition, because it’s sometimes true and sometimes false. </a:t>
            </a:r>
          </a:p>
          <a:p>
            <a:pPr algn="just"/>
            <a:r>
              <a:rPr lang="en-US" sz="2400" dirty="0" smtClean="0">
                <a:latin typeface="Times New Roman" panose="02020603050405020304" pitchFamily="18" charset="0"/>
                <a:cs typeface="Times New Roman" panose="02020603050405020304" pitchFamily="18" charset="0"/>
              </a:rPr>
              <a:t>(4) </a:t>
            </a:r>
            <a:r>
              <a:rPr lang="ru-RU" sz="240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This statement is false.</a:t>
            </a:r>
            <a:r>
              <a:rPr lang="ru-RU" sz="240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is not a proposition, because it is neither true nor false.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1472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23769" y="680428"/>
            <a:ext cx="8852039" cy="523220"/>
          </a:xfrm>
          <a:prstGeom prst="rect">
            <a:avLst/>
          </a:prstGeom>
        </p:spPr>
        <p:txBody>
          <a:bodyPr wrap="none">
            <a:spAutoFit/>
          </a:bodyPr>
          <a:lstStyle/>
          <a:p>
            <a:pPr algn="just"/>
            <a:r>
              <a:rPr lang="en-US" sz="2800" b="1" dirty="0" smtClean="0">
                <a:latin typeface="Times New Roman" panose="02020603050405020304" pitchFamily="18" charset="0"/>
                <a:cs typeface="Times New Roman" panose="02020603050405020304" pitchFamily="18" charset="0"/>
              </a:rPr>
              <a:t>Compound statements: Sentential or binary Connectives</a:t>
            </a:r>
            <a:endParaRPr lang="en-US" sz="2800" b="1"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190202" y="3834372"/>
            <a:ext cx="11632299" cy="2691934"/>
          </a:xfrm>
          <a:prstGeom prst="rect">
            <a:avLst/>
          </a:prstGeom>
        </p:spPr>
      </p:pic>
      <p:pic>
        <p:nvPicPr>
          <p:cNvPr id="6" name="Рисунок 5"/>
          <p:cNvPicPr>
            <a:picLocks noChangeAspect="1"/>
          </p:cNvPicPr>
          <p:nvPr/>
        </p:nvPicPr>
        <p:blipFill>
          <a:blip r:embed="rId3"/>
          <a:stretch>
            <a:fillRect/>
          </a:stretch>
        </p:blipFill>
        <p:spPr>
          <a:xfrm>
            <a:off x="4540064" y="1443246"/>
            <a:ext cx="7486650" cy="1828800"/>
          </a:xfrm>
          <a:prstGeom prst="rect">
            <a:avLst/>
          </a:prstGeom>
        </p:spPr>
      </p:pic>
    </p:spTree>
    <p:extLst>
      <p:ext uri="{BB962C8B-B14F-4D97-AF65-F5344CB8AC3E}">
        <p14:creationId xmlns:p14="http://schemas.microsoft.com/office/powerpoint/2010/main" val="1711251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971830" y="988638"/>
            <a:ext cx="10090617" cy="4862318"/>
          </a:xfrm>
          <a:prstGeom prst="rect">
            <a:avLst/>
          </a:prstGeom>
        </p:spPr>
      </p:pic>
    </p:spTree>
    <p:extLst>
      <p:ext uri="{BB962C8B-B14F-4D97-AF65-F5344CB8AC3E}">
        <p14:creationId xmlns:p14="http://schemas.microsoft.com/office/powerpoint/2010/main" val="2933662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p:cNvPicPr>
            <a:picLocks noChangeAspect="1"/>
          </p:cNvPicPr>
          <p:nvPr/>
        </p:nvPicPr>
        <p:blipFill>
          <a:blip r:embed="rId2"/>
          <a:stretch>
            <a:fillRect/>
          </a:stretch>
        </p:blipFill>
        <p:spPr>
          <a:xfrm>
            <a:off x="496419" y="847164"/>
            <a:ext cx="11426847" cy="4908176"/>
          </a:xfrm>
          <a:prstGeom prst="rect">
            <a:avLst/>
          </a:prstGeom>
        </p:spPr>
      </p:pic>
    </p:spTree>
    <p:extLst>
      <p:ext uri="{BB962C8B-B14F-4D97-AF65-F5344CB8AC3E}">
        <p14:creationId xmlns:p14="http://schemas.microsoft.com/office/powerpoint/2010/main" val="113853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571499" y="993961"/>
            <a:ext cx="10881133" cy="4546227"/>
          </a:xfrm>
          <a:prstGeom prst="rect">
            <a:avLst/>
          </a:prstGeom>
        </p:spPr>
      </p:pic>
    </p:spTree>
    <p:extLst>
      <p:ext uri="{BB962C8B-B14F-4D97-AF65-F5344CB8AC3E}">
        <p14:creationId xmlns:p14="http://schemas.microsoft.com/office/powerpoint/2010/main" val="48548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417978" y="751635"/>
            <a:ext cx="11417699" cy="4806483"/>
          </a:xfrm>
          <a:prstGeom prst="rect">
            <a:avLst/>
          </a:prstGeom>
        </p:spPr>
      </p:pic>
    </p:spTree>
    <p:extLst>
      <p:ext uri="{BB962C8B-B14F-4D97-AF65-F5344CB8AC3E}">
        <p14:creationId xmlns:p14="http://schemas.microsoft.com/office/powerpoint/2010/main" val="1799592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240926" y="845764"/>
            <a:ext cx="11368187" cy="4550990"/>
          </a:xfrm>
          <a:prstGeom prst="rect">
            <a:avLst/>
          </a:prstGeom>
        </p:spPr>
      </p:pic>
    </p:spTree>
    <p:extLst>
      <p:ext uri="{BB962C8B-B14F-4D97-AF65-F5344CB8AC3E}">
        <p14:creationId xmlns:p14="http://schemas.microsoft.com/office/powerpoint/2010/main" val="106459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39906" y="802813"/>
            <a:ext cx="9932894" cy="1200329"/>
          </a:xfrm>
          <a:prstGeom prst="rect">
            <a:avLst/>
          </a:prstGeom>
        </p:spPr>
        <p:txBody>
          <a:bodyPr wrap="square">
            <a:spAutoFit/>
          </a:bodyPr>
          <a:lstStyle/>
          <a:p>
            <a:pPr algn="just"/>
            <a:r>
              <a:rPr lang="en-US" sz="2400" dirty="0" smtClean="0">
                <a:effectLst/>
                <a:latin typeface="Times New Roman" panose="02020603050405020304" pitchFamily="18" charset="0"/>
                <a:cs typeface="Times New Roman" panose="02020603050405020304" pitchFamily="18" charset="0"/>
              </a:rPr>
              <a:t>Formulas can also be represented using the logic circuit language. In particular, the operations of conjunction, disjunction, negation are represented by corresponding logical circuits (functional elements):</a:t>
            </a:r>
            <a:endParaRPr lang="en-US" sz="2400"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1183342" y="2354356"/>
            <a:ext cx="2743200" cy="1966224"/>
          </a:xfrm>
          <a:prstGeom prst="rect">
            <a:avLst/>
          </a:prstGeom>
        </p:spPr>
      </p:pic>
      <p:pic>
        <p:nvPicPr>
          <p:cNvPr id="6" name="Рисунок 5"/>
          <p:cNvPicPr>
            <a:picLocks noChangeAspect="1"/>
          </p:cNvPicPr>
          <p:nvPr/>
        </p:nvPicPr>
        <p:blipFill>
          <a:blip r:embed="rId3"/>
          <a:stretch>
            <a:fillRect/>
          </a:stretch>
        </p:blipFill>
        <p:spPr>
          <a:xfrm>
            <a:off x="4697226" y="2354356"/>
            <a:ext cx="2475559" cy="1482538"/>
          </a:xfrm>
          <a:prstGeom prst="rect">
            <a:avLst/>
          </a:prstGeom>
        </p:spPr>
      </p:pic>
      <p:pic>
        <p:nvPicPr>
          <p:cNvPr id="7" name="Рисунок 6"/>
          <p:cNvPicPr>
            <a:picLocks noChangeAspect="1"/>
          </p:cNvPicPr>
          <p:nvPr/>
        </p:nvPicPr>
        <p:blipFill>
          <a:blip r:embed="rId4"/>
          <a:stretch>
            <a:fillRect/>
          </a:stretch>
        </p:blipFill>
        <p:spPr>
          <a:xfrm>
            <a:off x="1846558" y="4694797"/>
            <a:ext cx="2850668" cy="1244912"/>
          </a:xfrm>
          <a:prstGeom prst="rect">
            <a:avLst/>
          </a:prstGeom>
        </p:spPr>
      </p:pic>
      <p:pic>
        <p:nvPicPr>
          <p:cNvPr id="8" name="Рисунок 7"/>
          <p:cNvPicPr>
            <a:picLocks noChangeAspect="1"/>
          </p:cNvPicPr>
          <p:nvPr/>
        </p:nvPicPr>
        <p:blipFill>
          <a:blip r:embed="rId5"/>
          <a:stretch>
            <a:fillRect/>
          </a:stretch>
        </p:blipFill>
        <p:spPr>
          <a:xfrm>
            <a:off x="5702573" y="4497574"/>
            <a:ext cx="2833410" cy="1221908"/>
          </a:xfrm>
          <a:prstGeom prst="rect">
            <a:avLst/>
          </a:prstGeom>
        </p:spPr>
      </p:pic>
      <p:sp>
        <p:nvSpPr>
          <p:cNvPr id="9" name="Прямоугольник 8"/>
          <p:cNvSpPr/>
          <p:nvPr/>
        </p:nvSpPr>
        <p:spPr>
          <a:xfrm>
            <a:off x="4896352" y="4846918"/>
            <a:ext cx="607095" cy="523220"/>
          </a:xfrm>
          <a:prstGeom prst="rect">
            <a:avLst/>
          </a:prstGeom>
        </p:spPr>
        <p:txBody>
          <a:bodyPr wrap="square">
            <a:spAutoFit/>
          </a:bodyPr>
          <a:lstStyle/>
          <a:p>
            <a:r>
              <a:rPr lang="en-US" sz="2800" dirty="0" smtClean="0">
                <a:latin typeface="Times New Roman" panose="02020603050405020304" pitchFamily="18" charset="0"/>
                <a:cs typeface="Times New Roman" panose="02020603050405020304" pitchFamily="18" charset="0"/>
              </a:rPr>
              <a:t>or</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394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290917" y="690299"/>
            <a:ext cx="9395012" cy="1200329"/>
          </a:xfrm>
          <a:prstGeom prst="rect">
            <a:avLst/>
          </a:prstGeom>
        </p:spPr>
        <p:txBody>
          <a:bodyPr wrap="square">
            <a:spAutoFit/>
          </a:bodyPr>
          <a:lstStyle/>
          <a:p>
            <a:r>
              <a:rPr lang="en-US" sz="2400" dirty="0" smtClean="0">
                <a:effectLst/>
                <a:latin typeface="Times New Roman" panose="02020603050405020304" pitchFamily="18" charset="0"/>
                <a:cs typeface="Times New Roman" panose="02020603050405020304" pitchFamily="18" charset="0"/>
              </a:rPr>
              <a:t>There are standard technical schemes for these logic circuits. Using these functional elements, you can create computational schemes, for example, for formulas</a:t>
            </a:r>
            <a:endParaRPr lang="en-US" sz="2400"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id="{4AB0AB63-0CE8-D1D8-705C-6004863D66C0}"/>
              </a:ext>
            </a:extLst>
          </p:cNvPr>
          <p:cNvPicPr>
            <a:picLocks noChangeAspect="1"/>
          </p:cNvPicPr>
          <p:nvPr/>
        </p:nvPicPr>
        <p:blipFill>
          <a:blip r:embed="rId2"/>
          <a:stretch>
            <a:fillRect/>
          </a:stretch>
        </p:blipFill>
        <p:spPr>
          <a:xfrm>
            <a:off x="3059337" y="2132133"/>
            <a:ext cx="5369773" cy="1240386"/>
          </a:xfrm>
          <a:prstGeom prst="rect">
            <a:avLst/>
          </a:prstGeom>
        </p:spPr>
      </p:pic>
      <p:pic>
        <p:nvPicPr>
          <p:cNvPr id="6" name="Рисунок 5">
            <a:extLst>
              <a:ext uri="{FF2B5EF4-FFF2-40B4-BE49-F238E27FC236}">
                <a16:creationId xmlns:a16="http://schemas.microsoft.com/office/drawing/2014/main" id="{1AFA00E9-5DE6-8570-107F-A0A6783BD6EC}"/>
              </a:ext>
            </a:extLst>
          </p:cNvPr>
          <p:cNvPicPr>
            <a:picLocks noChangeAspect="1"/>
          </p:cNvPicPr>
          <p:nvPr/>
        </p:nvPicPr>
        <p:blipFill>
          <a:blip r:embed="rId3"/>
          <a:stretch>
            <a:fillRect/>
          </a:stretch>
        </p:blipFill>
        <p:spPr>
          <a:xfrm>
            <a:off x="3011566" y="3372519"/>
            <a:ext cx="5465313" cy="3055144"/>
          </a:xfrm>
          <a:prstGeom prst="rect">
            <a:avLst/>
          </a:prstGeom>
        </p:spPr>
      </p:pic>
    </p:spTree>
    <p:extLst>
      <p:ext uri="{BB962C8B-B14F-4D97-AF65-F5344CB8AC3E}">
        <p14:creationId xmlns:p14="http://schemas.microsoft.com/office/powerpoint/2010/main" val="2054911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33446" y="572852"/>
            <a:ext cx="4878259" cy="461665"/>
          </a:xfrm>
          <a:prstGeom prst="rect">
            <a:avLst/>
          </a:prstGeom>
        </p:spPr>
        <p:txBody>
          <a:bodyPr wrap="none">
            <a:spAutoFit/>
          </a:bodyPr>
          <a:lstStyle/>
          <a:p>
            <a:r>
              <a:rPr lang="en-US" sz="2400" dirty="0" smtClean="0">
                <a:effectLst/>
                <a:latin typeface="Times New Roman" panose="02020603050405020304" pitchFamily="18" charset="0"/>
                <a:cs typeface="Times New Roman" panose="02020603050405020304" pitchFamily="18" charset="0"/>
              </a:rPr>
              <a:t>Build a logical scheme of the function</a:t>
            </a:r>
            <a:endParaRPr lang="en-US" sz="2400"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id="{FC9A4199-7C78-9BE5-3794-8D9946F6642C}"/>
              </a:ext>
            </a:extLst>
          </p:cNvPr>
          <p:cNvPicPr>
            <a:picLocks noChangeAspect="1"/>
          </p:cNvPicPr>
          <p:nvPr/>
        </p:nvPicPr>
        <p:blipFill>
          <a:blip r:embed="rId2"/>
          <a:stretch>
            <a:fillRect/>
          </a:stretch>
        </p:blipFill>
        <p:spPr>
          <a:xfrm>
            <a:off x="3272575" y="1410163"/>
            <a:ext cx="4141541" cy="651714"/>
          </a:xfrm>
          <a:prstGeom prst="rect">
            <a:avLst/>
          </a:prstGeom>
        </p:spPr>
      </p:pic>
      <p:pic>
        <p:nvPicPr>
          <p:cNvPr id="6" name="Рисунок 5">
            <a:extLst>
              <a:ext uri="{FF2B5EF4-FFF2-40B4-BE49-F238E27FC236}">
                <a16:creationId xmlns:a16="http://schemas.microsoft.com/office/drawing/2014/main" id="{892CFB49-F5C4-B48D-399A-DB7F3FE7F291}"/>
              </a:ext>
            </a:extLst>
          </p:cNvPr>
          <p:cNvPicPr>
            <a:picLocks noChangeAspect="1"/>
          </p:cNvPicPr>
          <p:nvPr/>
        </p:nvPicPr>
        <p:blipFill>
          <a:blip r:embed="rId3"/>
          <a:stretch>
            <a:fillRect/>
          </a:stretch>
        </p:blipFill>
        <p:spPr>
          <a:xfrm>
            <a:off x="2078975" y="2397773"/>
            <a:ext cx="7265459" cy="2062453"/>
          </a:xfrm>
          <a:prstGeom prst="rect">
            <a:avLst/>
          </a:prstGeom>
        </p:spPr>
      </p:pic>
      <p:sp>
        <p:nvSpPr>
          <p:cNvPr id="7" name="Прямоугольник 6"/>
          <p:cNvSpPr/>
          <p:nvPr/>
        </p:nvSpPr>
        <p:spPr>
          <a:xfrm>
            <a:off x="887615" y="4796122"/>
            <a:ext cx="6601487" cy="1323439"/>
          </a:xfrm>
          <a:prstGeom prst="rect">
            <a:avLst/>
          </a:prstGeom>
        </p:spPr>
        <p:txBody>
          <a:bodyPr wrap="none">
            <a:spAutoFit/>
          </a:bodyPr>
          <a:lstStyle/>
          <a:p>
            <a:r>
              <a:rPr lang="en-US" sz="2000" dirty="0" smtClean="0">
                <a:effectLst/>
                <a:latin typeface="Times New Roman" panose="02020603050405020304" pitchFamily="18" charset="0"/>
                <a:cs typeface="Times New Roman" panose="02020603050405020304" pitchFamily="18" charset="0"/>
              </a:rPr>
              <a:t>Number of logical variables –</a:t>
            </a:r>
          </a:p>
          <a:p>
            <a:r>
              <a:rPr lang="en-US" sz="2000" dirty="0" smtClean="0">
                <a:effectLst/>
                <a:latin typeface="Times New Roman" panose="02020603050405020304" pitchFamily="18" charset="0"/>
                <a:cs typeface="Times New Roman" panose="02020603050405020304" pitchFamily="18" charset="0"/>
              </a:rPr>
              <a:t>Number of operations-</a:t>
            </a:r>
          </a:p>
          <a:p>
            <a:r>
              <a:rPr lang="en-US" sz="2000" dirty="0" smtClean="0">
                <a:effectLst/>
                <a:latin typeface="Times New Roman" panose="02020603050405020304" pitchFamily="18" charset="0"/>
                <a:cs typeface="Times New Roman" panose="02020603050405020304" pitchFamily="18" charset="0"/>
              </a:rPr>
              <a:t>Inversion is performed first, then conjunction, then disjunction</a:t>
            </a:r>
          </a:p>
          <a:p>
            <a:r>
              <a:rPr lang="en-US" sz="2000" dirty="0" smtClean="0">
                <a:effectLst/>
                <a:latin typeface="Times New Roman" panose="02020603050405020304" pitchFamily="18" charset="0"/>
                <a:cs typeface="Times New Roman" panose="02020603050405020304" pitchFamily="18" charset="0"/>
              </a:rPr>
              <a:t>The circuit consists of 3 inverters, 1 conjuncture, 2 </a:t>
            </a:r>
            <a:r>
              <a:rPr lang="en-US" sz="2000" dirty="0" err="1" smtClean="0">
                <a:effectLst/>
                <a:latin typeface="Times New Roman" panose="02020603050405020304" pitchFamily="18" charset="0"/>
                <a:cs typeface="Times New Roman" panose="02020603050405020304" pitchFamily="18" charset="0"/>
              </a:rPr>
              <a:t>disjunctors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468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53034" y="488141"/>
            <a:ext cx="8695765" cy="1200329"/>
          </a:xfrm>
          <a:prstGeom prst="rect">
            <a:avLst/>
          </a:prstGeom>
        </p:spPr>
        <p:txBody>
          <a:bodyPr wrap="square">
            <a:spAutoFit/>
          </a:bodyPr>
          <a:lstStyle/>
          <a:p>
            <a:r>
              <a:rPr lang="en-US" sz="2400" dirty="0" smtClean="0">
                <a:effectLst/>
                <a:latin typeface="Times New Roman" panose="02020603050405020304" pitchFamily="18" charset="0"/>
                <a:cs typeface="Times New Roman" panose="02020603050405020304" pitchFamily="18" charset="0"/>
              </a:rPr>
              <a:t>According to the given logical scheme </a:t>
            </a:r>
          </a:p>
          <a:p>
            <a:r>
              <a:rPr lang="en-US" sz="2400" dirty="0" smtClean="0">
                <a:effectLst/>
                <a:latin typeface="Times New Roman" panose="02020603050405020304" pitchFamily="18" charset="0"/>
                <a:cs typeface="Times New Roman" panose="02020603050405020304" pitchFamily="18" charset="0"/>
              </a:rPr>
              <a:t>1) write the formula of the logical function</a:t>
            </a:r>
          </a:p>
          <a:p>
            <a:r>
              <a:rPr lang="en-US" sz="2400" dirty="0" smtClean="0">
                <a:effectLst/>
                <a:latin typeface="Times New Roman" panose="02020603050405020304" pitchFamily="18" charset="0"/>
                <a:cs typeface="Times New Roman" panose="02020603050405020304" pitchFamily="18" charset="0"/>
              </a:rPr>
              <a:t>2) Construct a truth table</a:t>
            </a:r>
            <a:endParaRPr lang="en-US" sz="2400" dirty="0">
              <a:latin typeface="Times New Roman" panose="02020603050405020304" pitchFamily="18" charset="0"/>
              <a:cs typeface="Times New Roman" panose="02020603050405020304" pitchFamily="18" charset="0"/>
            </a:endParaRPr>
          </a:p>
        </p:txBody>
      </p:sp>
      <p:grpSp>
        <p:nvGrpSpPr>
          <p:cNvPr id="5" name="Группа 4">
            <a:extLst>
              <a:ext uri="{FF2B5EF4-FFF2-40B4-BE49-F238E27FC236}">
                <a16:creationId xmlns:a16="http://schemas.microsoft.com/office/drawing/2014/main" id="{CC8A7EE1-6F22-C87D-C928-2E5C44B5A4E5}"/>
              </a:ext>
            </a:extLst>
          </p:cNvPr>
          <p:cNvGrpSpPr/>
          <p:nvPr/>
        </p:nvGrpSpPr>
        <p:grpSpPr>
          <a:xfrm>
            <a:off x="1547664" y="1988840"/>
            <a:ext cx="5616624" cy="1971953"/>
            <a:chOff x="1575404" y="4467438"/>
            <a:chExt cx="5687219" cy="1495634"/>
          </a:xfrm>
        </p:grpSpPr>
        <p:pic>
          <p:nvPicPr>
            <p:cNvPr id="6" name="Рисунок 5">
              <a:extLst>
                <a:ext uri="{FF2B5EF4-FFF2-40B4-BE49-F238E27FC236}">
                  <a16:creationId xmlns:a16="http://schemas.microsoft.com/office/drawing/2014/main" id="{0C1CCAB9-6FA7-13F1-B2DC-B3EF9F05D360}"/>
                </a:ext>
              </a:extLst>
            </p:cNvPr>
            <p:cNvPicPr>
              <a:picLocks noChangeAspect="1"/>
            </p:cNvPicPr>
            <p:nvPr/>
          </p:nvPicPr>
          <p:blipFill>
            <a:blip r:embed="rId2"/>
            <a:stretch>
              <a:fillRect/>
            </a:stretch>
          </p:blipFill>
          <p:spPr>
            <a:xfrm>
              <a:off x="1575404" y="4467438"/>
              <a:ext cx="5687219" cy="1495634"/>
            </a:xfrm>
            <a:prstGeom prst="rect">
              <a:avLst/>
            </a:prstGeom>
          </p:spPr>
        </p:pic>
        <p:sp>
          <p:nvSpPr>
            <p:cNvPr id="7" name="TextBox 6">
              <a:extLst>
                <a:ext uri="{FF2B5EF4-FFF2-40B4-BE49-F238E27FC236}">
                  <a16:creationId xmlns:a16="http://schemas.microsoft.com/office/drawing/2014/main" id="{1743A6C7-E6A0-67F7-198B-C83E3335836F}"/>
                </a:ext>
              </a:extLst>
            </p:cNvPr>
            <p:cNvSpPr txBox="1"/>
            <p:nvPr/>
          </p:nvSpPr>
          <p:spPr>
            <a:xfrm>
              <a:off x="3825594" y="4956032"/>
              <a:ext cx="360040" cy="369332"/>
            </a:xfrm>
            <a:prstGeom prst="rect">
              <a:avLst/>
            </a:prstGeom>
            <a:noFill/>
          </p:spPr>
          <p:txBody>
            <a:bodyPr wrap="square" rtlCol="0">
              <a:spAutoFit/>
            </a:bodyPr>
            <a:lstStyle/>
            <a:p>
              <a:r>
                <a:rPr lang="en-US" dirty="0"/>
                <a:t>V</a:t>
              </a:r>
              <a:endParaRPr lang="x-none" dirty="0"/>
            </a:p>
          </p:txBody>
        </p:sp>
        <p:sp>
          <p:nvSpPr>
            <p:cNvPr id="8" name="TextBox 7">
              <a:extLst>
                <a:ext uri="{FF2B5EF4-FFF2-40B4-BE49-F238E27FC236}">
                  <a16:creationId xmlns:a16="http://schemas.microsoft.com/office/drawing/2014/main" id="{A6638D07-6D7C-D7F5-A218-0ACF7325BEC6}"/>
                </a:ext>
              </a:extLst>
            </p:cNvPr>
            <p:cNvSpPr txBox="1"/>
            <p:nvPr/>
          </p:nvSpPr>
          <p:spPr>
            <a:xfrm>
              <a:off x="6228184" y="4956032"/>
              <a:ext cx="360040" cy="369332"/>
            </a:xfrm>
            <a:prstGeom prst="rect">
              <a:avLst/>
            </a:prstGeom>
            <a:noFill/>
          </p:spPr>
          <p:txBody>
            <a:bodyPr wrap="square" rtlCol="0">
              <a:spAutoFit/>
            </a:bodyPr>
            <a:lstStyle/>
            <a:p>
              <a:r>
                <a:rPr lang="en-US" dirty="0"/>
                <a:t>&amp;</a:t>
              </a:r>
              <a:endParaRPr lang="x-none" dirty="0"/>
            </a:p>
          </p:txBody>
        </p:sp>
      </p:grpSp>
    </p:spTree>
    <p:extLst>
      <p:ext uri="{BB962C8B-B14F-4D97-AF65-F5344CB8AC3E}">
        <p14:creationId xmlns:p14="http://schemas.microsoft.com/office/powerpoint/2010/main" val="3887244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23950" y="819835"/>
            <a:ext cx="8839200" cy="1200329"/>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According to the given logical scheme </a:t>
            </a:r>
            <a:endParaRPr lang="ru-RU" sz="2400" dirty="0" smtClean="0">
              <a:latin typeface="Times New Roman" panose="02020603050405020304" pitchFamily="18" charset="0"/>
              <a:cs typeface="Times New Roman" panose="02020603050405020304" pitchFamily="18" charset="0"/>
            </a:endParaRPr>
          </a:p>
          <a:p>
            <a:pPr marL="342900" indent="-342900">
              <a:buAutoNum type="arabicParenR"/>
            </a:pPr>
            <a:r>
              <a:rPr lang="en-US" sz="2400" dirty="0" smtClean="0">
                <a:latin typeface="Times New Roman" panose="02020603050405020304" pitchFamily="18" charset="0"/>
                <a:cs typeface="Times New Roman" panose="02020603050405020304" pitchFamily="18" charset="0"/>
              </a:rPr>
              <a:t>write </a:t>
            </a:r>
            <a:r>
              <a:rPr lang="en-US" sz="2400" dirty="0">
                <a:latin typeface="Times New Roman" panose="02020603050405020304" pitchFamily="18" charset="0"/>
                <a:cs typeface="Times New Roman" panose="02020603050405020304" pitchFamily="18" charset="0"/>
              </a:rPr>
              <a:t>the formula of the logical </a:t>
            </a:r>
            <a:r>
              <a:rPr lang="en-US" sz="2400" dirty="0" smtClean="0">
                <a:latin typeface="Times New Roman" panose="02020603050405020304" pitchFamily="18" charset="0"/>
                <a:cs typeface="Times New Roman" panose="02020603050405020304" pitchFamily="18" charset="0"/>
              </a:rPr>
              <a:t>function</a:t>
            </a:r>
            <a:endParaRPr lang="ru-RU" sz="2400" dirty="0" smtClean="0">
              <a:latin typeface="Times New Roman" panose="02020603050405020304" pitchFamily="18" charset="0"/>
              <a:cs typeface="Times New Roman" panose="02020603050405020304" pitchFamily="18" charset="0"/>
            </a:endParaRPr>
          </a:p>
          <a:p>
            <a:pPr marL="342900" indent="-342900">
              <a:buAutoNum type="arabicParenR"/>
            </a:pPr>
            <a:r>
              <a:rPr lang="en-US" sz="2400" dirty="0" smtClean="0">
                <a:latin typeface="Times New Roman" panose="02020603050405020304" pitchFamily="18" charset="0"/>
                <a:cs typeface="Times New Roman" panose="02020603050405020304" pitchFamily="18" charset="0"/>
              </a:rPr>
              <a:t>build a </a:t>
            </a:r>
            <a:r>
              <a:rPr lang="en-US" sz="2400" dirty="0">
                <a:latin typeface="Times New Roman" panose="02020603050405020304" pitchFamily="18" charset="0"/>
                <a:cs typeface="Times New Roman" panose="02020603050405020304" pitchFamily="18" charset="0"/>
              </a:rPr>
              <a:t>truth table</a:t>
            </a:r>
          </a:p>
        </p:txBody>
      </p:sp>
      <p:pic>
        <p:nvPicPr>
          <p:cNvPr id="5" name="Рисунок 4">
            <a:extLst>
              <a:ext uri="{FF2B5EF4-FFF2-40B4-BE49-F238E27FC236}">
                <a16:creationId xmlns:a16="http://schemas.microsoft.com/office/drawing/2014/main" id="{51539543-4988-C8F0-09F5-BC3F2BADCF04}"/>
              </a:ext>
            </a:extLst>
          </p:cNvPr>
          <p:cNvPicPr>
            <a:picLocks noChangeAspect="1"/>
          </p:cNvPicPr>
          <p:nvPr/>
        </p:nvPicPr>
        <p:blipFill>
          <a:blip r:embed="rId2"/>
          <a:stretch>
            <a:fillRect/>
          </a:stretch>
        </p:blipFill>
        <p:spPr>
          <a:xfrm>
            <a:off x="1702746" y="2433464"/>
            <a:ext cx="8108004" cy="3320832"/>
          </a:xfrm>
          <a:prstGeom prst="rect">
            <a:avLst/>
          </a:prstGeom>
        </p:spPr>
      </p:pic>
    </p:spTree>
    <p:extLst>
      <p:ext uri="{BB962C8B-B14F-4D97-AF65-F5344CB8AC3E}">
        <p14:creationId xmlns:p14="http://schemas.microsoft.com/office/powerpoint/2010/main" val="499172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rotWithShape="1">
          <a:blip r:embed="rId2"/>
          <a:srcRect t="4668"/>
          <a:stretch/>
        </p:blipFill>
        <p:spPr>
          <a:xfrm>
            <a:off x="475969" y="268942"/>
            <a:ext cx="10874282" cy="1918447"/>
          </a:xfrm>
          <a:prstGeom prst="rect">
            <a:avLst/>
          </a:prstGeom>
        </p:spPr>
      </p:pic>
      <p:pic>
        <p:nvPicPr>
          <p:cNvPr id="5" name="Рисунок 4"/>
          <p:cNvPicPr>
            <a:picLocks noChangeAspect="1"/>
          </p:cNvPicPr>
          <p:nvPr/>
        </p:nvPicPr>
        <p:blipFill>
          <a:blip r:embed="rId3"/>
          <a:stretch>
            <a:fillRect/>
          </a:stretch>
        </p:blipFill>
        <p:spPr>
          <a:xfrm>
            <a:off x="475969" y="2187389"/>
            <a:ext cx="9941019" cy="569742"/>
          </a:xfrm>
          <a:prstGeom prst="rect">
            <a:avLst/>
          </a:prstGeom>
        </p:spPr>
      </p:pic>
      <p:pic>
        <p:nvPicPr>
          <p:cNvPr id="6" name="Рисунок 5"/>
          <p:cNvPicPr>
            <a:picLocks noChangeAspect="1"/>
          </p:cNvPicPr>
          <p:nvPr/>
        </p:nvPicPr>
        <p:blipFill>
          <a:blip r:embed="rId4"/>
          <a:stretch>
            <a:fillRect/>
          </a:stretch>
        </p:blipFill>
        <p:spPr>
          <a:xfrm>
            <a:off x="475968" y="2757131"/>
            <a:ext cx="7036455" cy="4034793"/>
          </a:xfrm>
          <a:prstGeom prst="rect">
            <a:avLst/>
          </a:prstGeom>
        </p:spPr>
      </p:pic>
    </p:spTree>
    <p:extLst>
      <p:ext uri="{BB962C8B-B14F-4D97-AF65-F5344CB8AC3E}">
        <p14:creationId xmlns:p14="http://schemas.microsoft.com/office/powerpoint/2010/main" val="4197382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846604" y="303399"/>
            <a:ext cx="7185771" cy="5998423"/>
          </a:xfrm>
          <a:prstGeom prst="rect">
            <a:avLst/>
          </a:prstGeom>
        </p:spPr>
      </p:pic>
    </p:spTree>
    <p:extLst>
      <p:ext uri="{BB962C8B-B14F-4D97-AF65-F5344CB8AC3E}">
        <p14:creationId xmlns:p14="http://schemas.microsoft.com/office/powerpoint/2010/main" val="529303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50158" y="486053"/>
            <a:ext cx="5595257" cy="1880628"/>
          </a:xfrm>
          <a:prstGeom prst="rect">
            <a:avLst/>
          </a:prstGeom>
        </p:spPr>
      </p:pic>
      <p:pic>
        <p:nvPicPr>
          <p:cNvPr id="5" name="Рисунок 4"/>
          <p:cNvPicPr>
            <a:picLocks noChangeAspect="1"/>
          </p:cNvPicPr>
          <p:nvPr/>
        </p:nvPicPr>
        <p:blipFill>
          <a:blip r:embed="rId3"/>
          <a:stretch>
            <a:fillRect/>
          </a:stretch>
        </p:blipFill>
        <p:spPr>
          <a:xfrm>
            <a:off x="5745415" y="1426367"/>
            <a:ext cx="6187840" cy="4667810"/>
          </a:xfrm>
          <a:prstGeom prst="rect">
            <a:avLst/>
          </a:prstGeom>
        </p:spPr>
      </p:pic>
    </p:spTree>
    <p:extLst>
      <p:ext uri="{BB962C8B-B14F-4D97-AF65-F5344CB8AC3E}">
        <p14:creationId xmlns:p14="http://schemas.microsoft.com/office/powerpoint/2010/main" val="2000110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846604" y="815507"/>
            <a:ext cx="9498954" cy="1551176"/>
          </a:xfrm>
          <a:prstGeom prst="rect">
            <a:avLst/>
          </a:prstGeom>
        </p:spPr>
      </p:pic>
    </p:spTree>
    <p:extLst>
      <p:ext uri="{BB962C8B-B14F-4D97-AF65-F5344CB8AC3E}">
        <p14:creationId xmlns:p14="http://schemas.microsoft.com/office/powerpoint/2010/main" val="1704215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8C7DEF69-520D-D8DC-F553-DFB8CD9EA1E9}"/>
              </a:ext>
            </a:extLst>
          </p:cNvPr>
          <p:cNvPicPr>
            <a:picLocks noChangeAspect="1"/>
          </p:cNvPicPr>
          <p:nvPr/>
        </p:nvPicPr>
        <p:blipFill>
          <a:blip r:embed="rId2"/>
          <a:stretch>
            <a:fillRect/>
          </a:stretch>
        </p:blipFill>
        <p:spPr>
          <a:xfrm>
            <a:off x="2714935" y="620688"/>
            <a:ext cx="3714130" cy="786204"/>
          </a:xfrm>
          <a:prstGeom prst="rect">
            <a:avLst/>
          </a:prstGeom>
        </p:spPr>
      </p:pic>
      <p:sp>
        <p:nvSpPr>
          <p:cNvPr id="5" name="Прямоугольник 4"/>
          <p:cNvSpPr/>
          <p:nvPr/>
        </p:nvSpPr>
        <p:spPr>
          <a:xfrm>
            <a:off x="1123950" y="2153335"/>
            <a:ext cx="6096000" cy="646331"/>
          </a:xfrm>
          <a:prstGeom prst="rect">
            <a:avLst/>
          </a:prstGeom>
        </p:spPr>
        <p:txBody>
          <a:bodyPr>
            <a:spAutoFit/>
          </a:bodyPr>
          <a:lstStyle/>
          <a:p>
            <a:r>
              <a:rPr lang="en-US" dirty="0">
                <a:latin typeface="Times New Roman" panose="02020603050405020304" pitchFamily="18" charset="0"/>
                <a:cs typeface="Times New Roman" panose="02020603050405020304" pitchFamily="18" charset="0"/>
              </a:rPr>
              <a:t>Number of logical variables –</a:t>
            </a:r>
          </a:p>
          <a:p>
            <a:r>
              <a:rPr lang="en-US" dirty="0">
                <a:latin typeface="Times New Roman" panose="02020603050405020304" pitchFamily="18" charset="0"/>
                <a:cs typeface="Times New Roman" panose="02020603050405020304" pitchFamily="18" charset="0"/>
              </a:rPr>
              <a:t>Number of operations-</a:t>
            </a:r>
          </a:p>
        </p:txBody>
      </p:sp>
      <p:pic>
        <p:nvPicPr>
          <p:cNvPr id="6" name="Рисунок 5">
            <a:extLst>
              <a:ext uri="{FF2B5EF4-FFF2-40B4-BE49-F238E27FC236}">
                <a16:creationId xmlns:a16="http://schemas.microsoft.com/office/drawing/2014/main" id="{39E713D3-F7A4-2E75-CDF4-8FF61D95C457}"/>
              </a:ext>
            </a:extLst>
          </p:cNvPr>
          <p:cNvPicPr>
            <a:picLocks noChangeAspect="1"/>
          </p:cNvPicPr>
          <p:nvPr/>
        </p:nvPicPr>
        <p:blipFill>
          <a:blip r:embed="rId3"/>
          <a:stretch>
            <a:fillRect/>
          </a:stretch>
        </p:blipFill>
        <p:spPr>
          <a:xfrm>
            <a:off x="1295078" y="3354515"/>
            <a:ext cx="10221341" cy="1903285"/>
          </a:xfrm>
          <a:prstGeom prst="rect">
            <a:avLst/>
          </a:prstGeom>
        </p:spPr>
      </p:pic>
    </p:spTree>
    <p:extLst>
      <p:ext uri="{BB962C8B-B14F-4D97-AF65-F5344CB8AC3E}">
        <p14:creationId xmlns:p14="http://schemas.microsoft.com/office/powerpoint/2010/main" val="846842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32887" y="788003"/>
            <a:ext cx="9957841" cy="1200329"/>
          </a:xfrm>
          <a:prstGeom prst="rect">
            <a:avLst/>
          </a:prstGeom>
        </p:spPr>
        <p:txBody>
          <a:bodyPr wrap="square">
            <a:spAutoFit/>
          </a:bodyPr>
          <a:lstStyle/>
          <a:p>
            <a:r>
              <a:rPr lang="en-US" sz="2400" dirty="0" smtClean="0">
                <a:latin typeface="Times New Roman" panose="02020603050405020304" pitchFamily="18" charset="0"/>
                <a:cs typeface="Times New Roman" panose="02020603050405020304" pitchFamily="18" charset="0"/>
              </a:rPr>
              <a:t>Construct Truth Tables Construct a truth table for the following logical expressions:</a:t>
            </a:r>
          </a:p>
          <a:p>
            <a:endParaRPr lang="en-US" sz="2400" dirty="0">
              <a:latin typeface="Times New Roman" panose="02020603050405020304" pitchFamily="18" charset="0"/>
              <a:cs typeface="Times New Roman" panose="02020603050405020304" pitchFamily="18" charset="0"/>
            </a:endParaRPr>
          </a:p>
        </p:txBody>
      </p:sp>
      <p:pic>
        <p:nvPicPr>
          <p:cNvPr id="6" name="Рисунок 5"/>
          <p:cNvPicPr>
            <a:picLocks noChangeAspect="1"/>
          </p:cNvPicPr>
          <p:nvPr/>
        </p:nvPicPr>
        <p:blipFill>
          <a:blip r:embed="rId2"/>
          <a:stretch>
            <a:fillRect/>
          </a:stretch>
        </p:blipFill>
        <p:spPr>
          <a:xfrm>
            <a:off x="1032887" y="2177583"/>
            <a:ext cx="5869937" cy="3565850"/>
          </a:xfrm>
          <a:prstGeom prst="rect">
            <a:avLst/>
          </a:prstGeom>
        </p:spPr>
      </p:pic>
    </p:spTree>
    <p:extLst>
      <p:ext uri="{BB962C8B-B14F-4D97-AF65-F5344CB8AC3E}">
        <p14:creationId xmlns:p14="http://schemas.microsoft.com/office/powerpoint/2010/main" val="1751558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62000" y="931038"/>
            <a:ext cx="10287000" cy="5693866"/>
          </a:xfrm>
          <a:prstGeom prst="rect">
            <a:avLst/>
          </a:prstGeom>
        </p:spPr>
        <p:txBody>
          <a:bodyPr wrap="square">
            <a:spAutoFit/>
          </a:bodyPr>
          <a:lstStyle/>
          <a:p>
            <a:pPr algn="just"/>
            <a:r>
              <a:rPr lang="en-US" sz="2800" b="1" i="1" dirty="0">
                <a:latin typeface="Times New Roman" panose="02020603050405020304" pitchFamily="18" charset="0"/>
                <a:cs typeface="Times New Roman" panose="02020603050405020304" pitchFamily="18" charset="0"/>
              </a:rPr>
              <a:t>Definition 1: </a:t>
            </a:r>
            <a:r>
              <a:rPr lang="en-US" sz="2800" dirty="0">
                <a:latin typeface="Times New Roman" panose="02020603050405020304" pitchFamily="18" charset="0"/>
                <a:cs typeface="Times New Roman" panose="02020603050405020304" pitchFamily="18" charset="0"/>
              </a:rPr>
              <a:t>A sentence containing variables that, when replaced with possible values, become statements, is called </a:t>
            </a:r>
            <a:r>
              <a:rPr lang="en-US" sz="2800" b="1" dirty="0">
                <a:latin typeface="Times New Roman" panose="02020603050405020304" pitchFamily="18" charset="0"/>
                <a:cs typeface="Times New Roman" panose="02020603050405020304" pitchFamily="18" charset="0"/>
              </a:rPr>
              <a:t>a predicate or an utterance form</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algn="just"/>
            <a:r>
              <a:rPr lang="en-US" sz="2800" b="1" dirty="0" smtClean="0">
                <a:latin typeface="Times New Roman" panose="02020603050405020304" pitchFamily="18" charset="0"/>
                <a:cs typeface="Times New Roman" panose="02020603050405020304" pitchFamily="18" charset="0"/>
              </a:rPr>
              <a:t>Definition </a:t>
            </a:r>
            <a:r>
              <a:rPr lang="en-US" sz="2800" b="1" dirty="0">
                <a:latin typeface="Times New Roman" panose="02020603050405020304" pitchFamily="18" charset="0"/>
                <a:cs typeface="Times New Roman" panose="02020603050405020304" pitchFamily="18" charset="0"/>
              </a:rPr>
              <a:t>2: A predicate </a:t>
            </a:r>
            <a:r>
              <a:rPr lang="en-US" sz="2800" dirty="0">
                <a:latin typeface="Times New Roman" panose="02020603050405020304" pitchFamily="18" charset="0"/>
                <a:cs typeface="Times New Roman" panose="02020603050405020304" pitchFamily="18" charset="0"/>
              </a:rPr>
              <a:t>is a logical function of a certain number of subject elements that defines the properties of an object or the relationship between objects. </a:t>
            </a:r>
            <a:endParaRPr lang="kk-KZ" sz="2800" dirty="0" smtClean="0">
              <a:latin typeface="Times New Roman" panose="02020603050405020304" pitchFamily="18" charset="0"/>
              <a:cs typeface="Times New Roman" panose="02020603050405020304" pitchFamily="18" charset="0"/>
            </a:endParaRPr>
          </a:p>
          <a:p>
            <a:pPr algn="just"/>
            <a:endParaRPr lang="kk-KZ" sz="2800" dirty="0">
              <a:latin typeface="Times New Roman" panose="02020603050405020304" pitchFamily="18" charset="0"/>
              <a:cs typeface="Times New Roman" panose="02020603050405020304" pitchFamily="18" charset="0"/>
            </a:endParaRPr>
          </a:p>
          <a:p>
            <a:pPr algn="just"/>
            <a:r>
              <a:rPr lang="en-US" sz="2800" b="1" dirty="0" smtClean="0">
                <a:latin typeface="Times New Roman" panose="02020603050405020304" pitchFamily="18" charset="0"/>
                <a:cs typeface="Times New Roman" panose="02020603050405020304" pitchFamily="18" charset="0"/>
              </a:rPr>
              <a:t>Definition</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 predicate that depends on a single variable is called </a:t>
            </a:r>
            <a:r>
              <a:rPr lang="en-US" sz="2800" b="1" dirty="0">
                <a:latin typeface="Times New Roman" panose="02020603050405020304" pitchFamily="18" charset="0"/>
                <a:cs typeface="Times New Roman" panose="02020603050405020304" pitchFamily="18" charset="0"/>
              </a:rPr>
              <a:t>a one-place predicate. </a:t>
            </a:r>
            <a:r>
              <a:rPr lang="en-US" sz="2800" dirty="0">
                <a:latin typeface="Times New Roman" panose="02020603050405020304" pitchFamily="18" charset="0"/>
                <a:cs typeface="Times New Roman" panose="02020603050405020304" pitchFamily="18" charset="0"/>
              </a:rPr>
              <a:t>A predicate that depends on n variables is called an </a:t>
            </a:r>
            <a:r>
              <a:rPr lang="en-US" sz="2800" b="1" dirty="0">
                <a:latin typeface="Times New Roman" panose="02020603050405020304" pitchFamily="18" charset="0"/>
                <a:cs typeface="Times New Roman" panose="02020603050405020304" pitchFamily="18" charset="0"/>
              </a:rPr>
              <a:t>n local predicate. </a:t>
            </a:r>
            <a:endParaRPr lang="kk-KZ" sz="2800" b="1" dirty="0" smtClean="0">
              <a:latin typeface="Times New Roman" panose="02020603050405020304" pitchFamily="18" charset="0"/>
              <a:cs typeface="Times New Roman" panose="02020603050405020304" pitchFamily="18" charset="0"/>
            </a:endParaRPr>
          </a:p>
          <a:p>
            <a:pPr algn="just"/>
            <a:endParaRPr lang="kk-KZ" sz="2800" b="1" dirty="0">
              <a:latin typeface="Times New Roman" panose="02020603050405020304" pitchFamily="18" charset="0"/>
              <a:cs typeface="Times New Roman" panose="02020603050405020304" pitchFamily="18" charset="0"/>
            </a:endParaRPr>
          </a:p>
          <a:p>
            <a:pPr algn="just"/>
            <a:r>
              <a:rPr lang="en-US" sz="2800" dirty="0" smtClean="0">
                <a:latin typeface="Times New Roman" panose="02020603050405020304" pitchFamily="18" charset="0"/>
                <a:cs typeface="Times New Roman" panose="02020603050405020304" pitchFamily="18" charset="0"/>
              </a:rPr>
              <a:t>Thus</a:t>
            </a:r>
            <a:r>
              <a:rPr lang="en-US" sz="2800" dirty="0">
                <a:latin typeface="Times New Roman" panose="02020603050405020304" pitchFamily="18" charset="0"/>
                <a:cs typeface="Times New Roman" panose="02020603050405020304" pitchFamily="18" charset="0"/>
              </a:rPr>
              <a:t>, there are double, triple, etc. predicates. Any statement is </a:t>
            </a:r>
            <a:r>
              <a:rPr lang="en-US" sz="2800" i="1" dirty="0">
                <a:latin typeface="Times New Roman" panose="02020603050405020304" pitchFamily="18" charset="0"/>
                <a:cs typeface="Times New Roman" panose="02020603050405020304" pitchFamily="18" charset="0"/>
              </a:rPr>
              <a:t>a null-local predicate.</a:t>
            </a:r>
          </a:p>
        </p:txBody>
      </p:sp>
      <p:sp>
        <p:nvSpPr>
          <p:cNvPr id="5" name="Прямоугольник 4"/>
          <p:cNvSpPr/>
          <p:nvPr/>
        </p:nvSpPr>
        <p:spPr>
          <a:xfrm>
            <a:off x="4984927" y="346263"/>
            <a:ext cx="1841145" cy="584775"/>
          </a:xfrm>
          <a:prstGeom prst="rect">
            <a:avLst/>
          </a:prstGeom>
        </p:spPr>
        <p:txBody>
          <a:bodyPr wrap="none">
            <a:spAutoFit/>
          </a:bodyPr>
          <a:lstStyle/>
          <a:p>
            <a:r>
              <a:rPr lang="en-US" sz="3200" b="1" dirty="0">
                <a:latin typeface="Times New Roman" panose="02020603050405020304" pitchFamily="18" charset="0"/>
                <a:cs typeface="Times New Roman" panose="02020603050405020304" pitchFamily="18" charset="0"/>
              </a:rPr>
              <a:t>Predicate</a:t>
            </a:r>
          </a:p>
        </p:txBody>
      </p:sp>
    </p:spTree>
    <p:extLst>
      <p:ext uri="{BB962C8B-B14F-4D97-AF65-F5344CB8AC3E}">
        <p14:creationId xmlns:p14="http://schemas.microsoft.com/office/powerpoint/2010/main" val="2778824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38200" y="446038"/>
            <a:ext cx="10306050" cy="3539430"/>
          </a:xfrm>
          <a:prstGeom prst="rect">
            <a:avLst/>
          </a:prstGeom>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Example 1. </a:t>
            </a:r>
            <a:r>
              <a:rPr lang="en-US" sz="2800" dirty="0">
                <a:latin typeface="Times New Roman" panose="02020603050405020304" pitchFamily="18" charset="0"/>
                <a:cs typeface="Times New Roman" panose="02020603050405020304" pitchFamily="18" charset="0"/>
              </a:rPr>
              <a:t>The sentence A(x): "|x|=x" is a predicate of one variable (single). </a:t>
            </a:r>
            <a:endParaRPr lang="kk-KZ" sz="2800" dirty="0" smtClean="0">
              <a:latin typeface="Times New Roman" panose="02020603050405020304" pitchFamily="18" charset="0"/>
              <a:cs typeface="Times New Roman" panose="02020603050405020304" pitchFamily="18" charset="0"/>
            </a:endParaRPr>
          </a:p>
          <a:p>
            <a:pPr algn="just"/>
            <a:r>
              <a:rPr lang="en-US" sz="2800" b="1" dirty="0" smtClean="0">
                <a:latin typeface="Times New Roman" panose="02020603050405020304" pitchFamily="18" charset="0"/>
                <a:cs typeface="Times New Roman" panose="02020603050405020304" pitchFamily="18" charset="0"/>
              </a:rPr>
              <a:t>Example </a:t>
            </a:r>
            <a:r>
              <a:rPr lang="en-US" sz="2800" b="1" dirty="0">
                <a:latin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cs typeface="Times New Roman" panose="02020603050405020304" pitchFamily="18" charset="0"/>
              </a:rPr>
              <a:t>The sentence "River x flows into Lake Baikal" is a single predicate defined over the set of all river names. Substituting the name "</a:t>
            </a:r>
            <a:r>
              <a:rPr lang="en-US" sz="2800" dirty="0" err="1">
                <a:latin typeface="Times New Roman" panose="02020603050405020304" pitchFamily="18" charset="0"/>
                <a:cs typeface="Times New Roman" panose="02020603050405020304" pitchFamily="18" charset="0"/>
              </a:rPr>
              <a:t>Barguzin</a:t>
            </a:r>
            <a:r>
              <a:rPr lang="en-US" sz="2800" dirty="0">
                <a:latin typeface="Times New Roman" panose="02020603050405020304" pitchFamily="18" charset="0"/>
                <a:cs typeface="Times New Roman" panose="02020603050405020304" pitchFamily="18" charset="0"/>
              </a:rPr>
              <a:t>" instead of the subject variable x, we get the statement "The </a:t>
            </a:r>
            <a:r>
              <a:rPr lang="en-US" sz="2800" dirty="0" err="1">
                <a:latin typeface="Times New Roman" panose="02020603050405020304" pitchFamily="18" charset="0"/>
                <a:cs typeface="Times New Roman" panose="02020603050405020304" pitchFamily="18" charset="0"/>
              </a:rPr>
              <a:t>Barguzin</a:t>
            </a:r>
            <a:r>
              <a:rPr lang="en-US" sz="2800" dirty="0">
                <a:latin typeface="Times New Roman" panose="02020603050405020304" pitchFamily="18" charset="0"/>
                <a:cs typeface="Times New Roman" panose="02020603050405020304" pitchFamily="18" charset="0"/>
              </a:rPr>
              <a:t> River flows into Lake Baikal." This statement is true. Substituting the name </a:t>
            </a:r>
            <a:r>
              <a:rPr lang="en-US" sz="2800" dirty="0" smtClean="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Dnieper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instead of the subject variable x, we get a false statement "The Dnieper River flows into Lake Baikal."</a:t>
            </a:r>
          </a:p>
        </p:txBody>
      </p:sp>
      <p:sp>
        <p:nvSpPr>
          <p:cNvPr id="5" name="Прямоугольник 4"/>
          <p:cNvSpPr/>
          <p:nvPr/>
        </p:nvSpPr>
        <p:spPr>
          <a:xfrm>
            <a:off x="838200" y="3985468"/>
            <a:ext cx="10306050" cy="2739211"/>
          </a:xfrm>
          <a:prstGeom prst="rect">
            <a:avLst/>
          </a:prstGeom>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Example 3</a:t>
            </a:r>
            <a:r>
              <a:rPr lang="en-US" sz="2800" dirty="0">
                <a:latin typeface="Times New Roman" panose="02020603050405020304" pitchFamily="18" charset="0"/>
                <a:cs typeface="Times New Roman" panose="02020603050405020304" pitchFamily="18" charset="0"/>
              </a:rPr>
              <a:t>. The sentence (expression) "x2+y2≤9" is a double predicate given over the sets R, R. The sets on which the double predicate is given coincide (they say that this is "the double predicate is given on the set </a:t>
            </a:r>
            <a:r>
              <a:rPr lang="en-US" sz="3200" dirty="0"/>
              <a:t>R</a:t>
            </a:r>
            <a:r>
              <a:rPr lang="ru-RU" sz="3200" baseline="30000" dirty="0"/>
              <a:t>2</a:t>
            </a:r>
            <a:r>
              <a:rPr lang="ru-RU" baseline="30000" dirty="0"/>
              <a:t>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 pair of real numbers 2, 2 turns this predicate into a true statement: "22+22≤9", and a pair of numbers 2, 3 — into a false one: "22+32≤9".</a:t>
            </a:r>
          </a:p>
        </p:txBody>
      </p:sp>
    </p:spTree>
    <p:extLst>
      <p:ext uri="{BB962C8B-B14F-4D97-AF65-F5344CB8AC3E}">
        <p14:creationId xmlns:p14="http://schemas.microsoft.com/office/powerpoint/2010/main" val="2472551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838200" y="735390"/>
            <a:ext cx="10439400" cy="5262979"/>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Definition: A predicate given on the set A1, A2, ..., </a:t>
            </a:r>
            <a:r>
              <a:rPr lang="en-US" sz="2800" dirty="0" err="1">
                <a:latin typeface="Times New Roman" panose="02020603050405020304" pitchFamily="18" charset="0"/>
                <a:cs typeface="Times New Roman" panose="02020603050405020304" pitchFamily="18" charset="0"/>
              </a:rPr>
              <a:t>Ap</a:t>
            </a:r>
            <a:r>
              <a:rPr lang="en-US" sz="2800" dirty="0">
                <a:latin typeface="Times New Roman" panose="02020603050405020304" pitchFamily="18" charset="0"/>
                <a:cs typeface="Times New Roman" panose="02020603050405020304" pitchFamily="18" charset="0"/>
              </a:rPr>
              <a:t> is called: </a:t>
            </a:r>
            <a:endParaRPr lang="kk-KZ" sz="2800" dirty="0" smtClean="0">
              <a:latin typeface="Times New Roman" panose="02020603050405020304" pitchFamily="18" charset="0"/>
              <a:cs typeface="Times New Roman" panose="02020603050405020304" pitchFamily="18" charset="0"/>
            </a:endParaRPr>
          </a:p>
          <a:p>
            <a:endParaRPr lang="kk-KZ" sz="2800" dirty="0">
              <a:latin typeface="Times New Roman" panose="02020603050405020304" pitchFamily="18" charset="0"/>
              <a:cs typeface="Times New Roman" panose="02020603050405020304" pitchFamily="18" charset="0"/>
            </a:endParaRPr>
          </a:p>
          <a:p>
            <a:pPr marL="342900" indent="-342900">
              <a:buAutoNum type="arabicPeriod"/>
            </a:pPr>
            <a:r>
              <a:rPr lang="en-US" sz="2800" b="1" dirty="0" smtClean="0">
                <a:latin typeface="Times New Roman" panose="02020603050405020304" pitchFamily="18" charset="0"/>
                <a:cs typeface="Times New Roman" panose="02020603050405020304" pitchFamily="18" charset="0"/>
              </a:rPr>
              <a:t>Identically </a:t>
            </a:r>
            <a:r>
              <a:rPr lang="en-US" sz="2800" b="1" dirty="0">
                <a:latin typeface="Times New Roman" panose="02020603050405020304" pitchFamily="18" charset="0"/>
                <a:cs typeface="Times New Roman" panose="02020603050405020304" pitchFamily="18" charset="0"/>
              </a:rPr>
              <a:t>true </a:t>
            </a:r>
            <a:r>
              <a:rPr lang="en-US" sz="2800" dirty="0">
                <a:latin typeface="Times New Roman" panose="02020603050405020304" pitchFamily="18" charset="0"/>
                <a:cs typeface="Times New Roman" panose="02020603050405020304" pitchFamily="18" charset="0"/>
              </a:rPr>
              <a:t>if, with any substitution instead of variables x1 , x2 , ... , </a:t>
            </a:r>
            <a:r>
              <a:rPr lang="en-US" sz="2800" dirty="0" err="1">
                <a:latin typeface="Times New Roman" panose="02020603050405020304" pitchFamily="18" charset="0"/>
                <a:cs typeface="Times New Roman" panose="02020603050405020304" pitchFamily="18" charset="0"/>
              </a:rPr>
              <a:t>xn</a:t>
            </a:r>
            <a:r>
              <a:rPr lang="en-US" sz="2800" dirty="0">
                <a:latin typeface="Times New Roman" panose="02020603050405020304" pitchFamily="18" charset="0"/>
                <a:cs typeface="Times New Roman" panose="02020603050405020304" pitchFamily="18" charset="0"/>
              </a:rPr>
              <a:t> of any specific objects a1 , a2 , ..., </a:t>
            </a:r>
            <a:r>
              <a:rPr lang="en-US" sz="2800" dirty="0" err="1">
                <a:latin typeface="Times New Roman" panose="02020603050405020304" pitchFamily="18" charset="0"/>
                <a:cs typeface="Times New Roman" panose="02020603050405020304" pitchFamily="18" charset="0"/>
              </a:rPr>
              <a:t>ap</a:t>
            </a:r>
            <a:r>
              <a:rPr lang="en-US" sz="2800" dirty="0">
                <a:latin typeface="Times New Roman" panose="02020603050405020304" pitchFamily="18" charset="0"/>
                <a:cs typeface="Times New Roman" panose="02020603050405020304" pitchFamily="18" charset="0"/>
              </a:rPr>
              <a:t> from the sets A1, A2, ..., </a:t>
            </a:r>
            <a:r>
              <a:rPr lang="en-US" sz="2800" dirty="0" err="1">
                <a:latin typeface="Times New Roman" panose="02020603050405020304" pitchFamily="18" charset="0"/>
                <a:cs typeface="Times New Roman" panose="02020603050405020304" pitchFamily="18" charset="0"/>
              </a:rPr>
              <a:t>Ap</a:t>
            </a:r>
            <a:r>
              <a:rPr lang="en-US" sz="2800" dirty="0">
                <a:latin typeface="Times New Roman" panose="02020603050405020304" pitchFamily="18" charset="0"/>
                <a:cs typeface="Times New Roman" panose="02020603050405020304" pitchFamily="18" charset="0"/>
              </a:rPr>
              <a:t>, it turns into a true statement</a:t>
            </a:r>
            <a:r>
              <a:rPr lang="en-US" sz="2800" dirty="0" smtClean="0">
                <a:latin typeface="Times New Roman" panose="02020603050405020304" pitchFamily="18" charset="0"/>
                <a:cs typeface="Times New Roman" panose="02020603050405020304" pitchFamily="18" charset="0"/>
              </a:rPr>
              <a:t>;</a:t>
            </a:r>
            <a:endParaRPr lang="kk-KZ" sz="2800" dirty="0" smtClean="0">
              <a:latin typeface="Times New Roman" panose="02020603050405020304" pitchFamily="18" charset="0"/>
              <a:cs typeface="Times New Roman" panose="02020603050405020304" pitchFamily="18" charset="0"/>
            </a:endParaRPr>
          </a:p>
          <a:p>
            <a:pPr marL="342900" indent="-342900">
              <a:buAutoNum type="arabicPeriod"/>
            </a:pPr>
            <a:r>
              <a:rPr lang="en-US" sz="2800" b="1" dirty="0" smtClean="0">
                <a:latin typeface="Times New Roman" panose="02020603050405020304" pitchFamily="18" charset="0"/>
                <a:cs typeface="Times New Roman" panose="02020603050405020304" pitchFamily="18" charset="0"/>
              </a:rPr>
              <a:t>Identically </a:t>
            </a:r>
            <a:r>
              <a:rPr lang="en-US" sz="2800" b="1" dirty="0">
                <a:latin typeface="Times New Roman" panose="02020603050405020304" pitchFamily="18" charset="0"/>
                <a:cs typeface="Times New Roman" panose="02020603050405020304" pitchFamily="18" charset="0"/>
              </a:rPr>
              <a:t>false </a:t>
            </a:r>
            <a:r>
              <a:rPr lang="en-US" sz="2800" dirty="0">
                <a:latin typeface="Times New Roman" panose="02020603050405020304" pitchFamily="18" charset="0"/>
                <a:cs typeface="Times New Roman" panose="02020603050405020304" pitchFamily="18" charset="0"/>
              </a:rPr>
              <a:t>if, with any substitution instead of variables x1, x2 , ... , for any specific objects a1 , a2 , ..., </a:t>
            </a:r>
            <a:r>
              <a:rPr lang="en-US" sz="2800" dirty="0" err="1">
                <a:latin typeface="Times New Roman" panose="02020603050405020304" pitchFamily="18" charset="0"/>
                <a:cs typeface="Times New Roman" panose="02020603050405020304" pitchFamily="18" charset="0"/>
              </a:rPr>
              <a:t>ap</a:t>
            </a:r>
            <a:r>
              <a:rPr lang="en-US" sz="2800" dirty="0">
                <a:latin typeface="Times New Roman" panose="02020603050405020304" pitchFamily="18" charset="0"/>
                <a:cs typeface="Times New Roman" panose="02020603050405020304" pitchFamily="18" charset="0"/>
              </a:rPr>
              <a:t> from the sets A1 , A2 , ... , </a:t>
            </a:r>
            <a:r>
              <a:rPr lang="en-US" sz="2800" dirty="0" err="1">
                <a:latin typeface="Times New Roman" panose="02020603050405020304" pitchFamily="18" charset="0"/>
                <a:cs typeface="Times New Roman" panose="02020603050405020304" pitchFamily="18" charset="0"/>
              </a:rPr>
              <a:t>Ap</a:t>
            </a:r>
            <a:r>
              <a:rPr lang="en-US" sz="2800" dirty="0">
                <a:latin typeface="Times New Roman" panose="02020603050405020304" pitchFamily="18" charset="0"/>
                <a:cs typeface="Times New Roman" panose="02020603050405020304" pitchFamily="18" charset="0"/>
              </a:rPr>
              <a:t>, it turns into a false statement</a:t>
            </a:r>
            <a:r>
              <a:rPr lang="en-US" sz="2800" dirty="0" smtClean="0">
                <a:latin typeface="Times New Roman" panose="02020603050405020304" pitchFamily="18" charset="0"/>
                <a:cs typeface="Times New Roman" panose="02020603050405020304" pitchFamily="18" charset="0"/>
              </a:rPr>
              <a:t>;</a:t>
            </a:r>
            <a:endParaRPr lang="kk-KZ" sz="2800" dirty="0" smtClean="0">
              <a:latin typeface="Times New Roman" panose="02020603050405020304" pitchFamily="18" charset="0"/>
              <a:cs typeface="Times New Roman" panose="02020603050405020304" pitchFamily="18" charset="0"/>
            </a:endParaRPr>
          </a:p>
          <a:p>
            <a:pPr marL="342900" indent="-342900">
              <a:buAutoNum type="arabicPeriod"/>
            </a:pPr>
            <a:r>
              <a:rPr lang="en-US" sz="2800" b="1" dirty="0" smtClean="0">
                <a:latin typeface="Times New Roman" panose="02020603050405020304" pitchFamily="18" charset="0"/>
                <a:cs typeface="Times New Roman" panose="02020603050405020304" pitchFamily="18" charset="0"/>
              </a:rPr>
              <a:t>Feasible </a:t>
            </a:r>
            <a:r>
              <a:rPr lang="en-US" sz="2800" b="1" dirty="0">
                <a:latin typeface="Times New Roman" panose="02020603050405020304" pitchFamily="18" charset="0"/>
                <a:cs typeface="Times New Roman" panose="02020603050405020304" pitchFamily="18" charset="0"/>
              </a:rPr>
              <a:t>(refutable)</a:t>
            </a:r>
            <a:r>
              <a:rPr lang="en-US" sz="2800" dirty="0">
                <a:latin typeface="Times New Roman" panose="02020603050405020304" pitchFamily="18" charset="0"/>
                <a:cs typeface="Times New Roman" panose="02020603050405020304" pitchFamily="18" charset="0"/>
              </a:rPr>
              <a:t> if there is at least one set of subjects a1 , a2 , ..., </a:t>
            </a:r>
            <a:r>
              <a:rPr lang="en-US" sz="2800" dirty="0" err="1">
                <a:latin typeface="Times New Roman" panose="02020603050405020304" pitchFamily="18" charset="0"/>
                <a:cs typeface="Times New Roman" panose="02020603050405020304" pitchFamily="18" charset="0"/>
              </a:rPr>
              <a:t>ap</a:t>
            </a:r>
            <a:r>
              <a:rPr lang="en-US" sz="2800" dirty="0">
                <a:latin typeface="Times New Roman" panose="02020603050405020304" pitchFamily="18" charset="0"/>
                <a:cs typeface="Times New Roman" panose="02020603050405020304" pitchFamily="18" charset="0"/>
              </a:rPr>
              <a:t> from the sets A1 , A2 , ... , </a:t>
            </a:r>
            <a:r>
              <a:rPr lang="en-US" sz="2800" dirty="0" err="1">
                <a:latin typeface="Times New Roman" panose="02020603050405020304" pitchFamily="18" charset="0"/>
                <a:cs typeface="Times New Roman" panose="02020603050405020304" pitchFamily="18" charset="0"/>
              </a:rPr>
              <a:t>Ap</a:t>
            </a:r>
            <a:r>
              <a:rPr lang="en-US" sz="2800" dirty="0">
                <a:latin typeface="Times New Roman" panose="02020603050405020304" pitchFamily="18" charset="0"/>
                <a:cs typeface="Times New Roman" panose="02020603050405020304" pitchFamily="18" charset="0"/>
              </a:rPr>
              <a:t>, when substituting which instead of the corresponding subject variables in the predicate, the latter turns into a true (false) statement.</a:t>
            </a:r>
          </a:p>
        </p:txBody>
      </p:sp>
    </p:spTree>
    <p:extLst>
      <p:ext uri="{BB962C8B-B14F-4D97-AF65-F5344CB8AC3E}">
        <p14:creationId xmlns:p14="http://schemas.microsoft.com/office/powerpoint/2010/main" val="488003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819150" y="1158068"/>
            <a:ext cx="10344150" cy="4774064"/>
          </a:xfrm>
          <a:prstGeom prst="rect">
            <a:avLst/>
          </a:prstGeom>
        </p:spPr>
        <p:txBody>
          <a:bodyPr wrap="square">
            <a:spAutoFit/>
          </a:bodyPr>
          <a:lstStyle/>
          <a:p>
            <a:pPr algn="just">
              <a:lnSpc>
                <a:spcPct val="107000"/>
              </a:lnSpc>
              <a:spcAft>
                <a:spcPts val="800"/>
              </a:spcAft>
            </a:pPr>
            <a:r>
              <a:rPr lang="en-US" sz="2800" b="1" dirty="0">
                <a:latin typeface="Times New Roman" panose="02020603050405020304" pitchFamily="18" charset="0"/>
                <a:ea typeface="Calibri" panose="020F0502020204030204" pitchFamily="34" charset="0"/>
                <a:cs typeface="Times New Roman" panose="02020603050405020304" pitchFamily="18" charset="0"/>
              </a:rPr>
              <a:t>Example 4.</a:t>
            </a:r>
            <a:r>
              <a:rPr lang="en-US" sz="2800" dirty="0">
                <a:latin typeface="Times New Roman" panose="02020603050405020304" pitchFamily="18" charset="0"/>
                <a:ea typeface="Calibri" panose="020F0502020204030204" pitchFamily="34" charset="0"/>
                <a:cs typeface="Times New Roman" panose="02020603050405020304" pitchFamily="18" charset="0"/>
              </a:rPr>
              <a:t> The predicate "x</a:t>
            </a:r>
            <a:r>
              <a:rPr lang="en-US" sz="28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2800" dirty="0">
                <a:latin typeface="Times New Roman" panose="02020603050405020304" pitchFamily="18" charset="0"/>
                <a:ea typeface="Calibri" panose="020F0502020204030204" pitchFamily="34" charset="0"/>
                <a:cs typeface="Times New Roman" panose="02020603050405020304" pitchFamily="18" charset="0"/>
              </a:rPr>
              <a:t> -1=(x-1)(x+1)" is one-place identically true on the set of real x, and the predicate "x</a:t>
            </a:r>
            <a:r>
              <a:rPr lang="en-US" sz="2800" baseline="30000" dirty="0">
                <a:latin typeface="Times New Roman" panose="02020603050405020304" pitchFamily="18" charset="0"/>
                <a:ea typeface="Calibri" panose="020F0502020204030204" pitchFamily="34" charset="0"/>
                <a:cs typeface="Times New Roman" panose="02020603050405020304" pitchFamily="18" charset="0"/>
              </a:rPr>
              <a:t>4</a:t>
            </a:r>
            <a:r>
              <a:rPr lang="en-US" sz="2800" dirty="0">
                <a:latin typeface="Times New Roman" panose="02020603050405020304" pitchFamily="18" charset="0"/>
                <a:ea typeface="Calibri" panose="020F0502020204030204" pitchFamily="34" charset="0"/>
                <a:cs typeface="Times New Roman" panose="02020603050405020304" pitchFamily="18" charset="0"/>
              </a:rPr>
              <a:t>+1" is one-place identically false for all real x. </a:t>
            </a:r>
            <a:endParaRPr lang="en-US" sz="28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800" b="1" dirty="0" smtClean="0">
                <a:latin typeface="Times New Roman" panose="02020603050405020304" pitchFamily="18" charset="0"/>
                <a:ea typeface="Calibri" panose="020F0502020204030204" pitchFamily="34" charset="0"/>
                <a:cs typeface="Times New Roman" panose="02020603050405020304" pitchFamily="18" charset="0"/>
              </a:rPr>
              <a:t>Example </a:t>
            </a:r>
            <a:r>
              <a:rPr lang="en-US" sz="2800" b="1" dirty="0">
                <a:latin typeface="Times New Roman" panose="02020603050405020304" pitchFamily="18" charset="0"/>
                <a:ea typeface="Calibri" panose="020F0502020204030204" pitchFamily="34" charset="0"/>
                <a:cs typeface="Times New Roman" panose="02020603050405020304" pitchFamily="18" charset="0"/>
              </a:rPr>
              <a:t>5.</a:t>
            </a:r>
            <a:r>
              <a:rPr lang="en-US" sz="2800" dirty="0">
                <a:latin typeface="Times New Roman" panose="02020603050405020304" pitchFamily="18" charset="0"/>
                <a:ea typeface="Calibri" panose="020F0502020204030204" pitchFamily="34" charset="0"/>
                <a:cs typeface="Times New Roman" panose="02020603050405020304" pitchFamily="18" charset="0"/>
              </a:rPr>
              <a:t> The single predicate "City x is located on the banks of Volga River", defined on a variety of city names. There are cities whose names turn this predicate into a true statement, or, otherwise, satisfy this predicate (for example, Ulyanovsk, Saratov, etc.). But there are cities whose names turn it into a false statement, or, otherwise, do not satisfy this predicate (for example, Prague, Yakutsk, etc.). This predicate is feasible.</a:t>
            </a:r>
          </a:p>
        </p:txBody>
      </p:sp>
    </p:spTree>
    <p:extLst>
      <p:ext uri="{BB962C8B-B14F-4D97-AF65-F5344CB8AC3E}">
        <p14:creationId xmlns:p14="http://schemas.microsoft.com/office/powerpoint/2010/main" val="3599893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143000" y="885106"/>
            <a:ext cx="9677400" cy="4530407"/>
          </a:xfrm>
          <a:prstGeom prst="rect">
            <a:avLst/>
          </a:prstGeom>
        </p:spPr>
        <p:txBody>
          <a:bodyPr wrap="square">
            <a:spAutoFit/>
          </a:bodyPr>
          <a:lstStyle/>
          <a:p>
            <a:pPr algn="just">
              <a:lnSpc>
                <a:spcPct val="107000"/>
              </a:lnSpc>
              <a:spcAft>
                <a:spcPts val="8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Example 6. </a:t>
            </a:r>
            <a:r>
              <a:rPr lang="en-US" sz="2400" dirty="0">
                <a:latin typeface="Times New Roman" panose="02020603050405020304" pitchFamily="18" charset="0"/>
                <a:ea typeface="Calibri" panose="020F0502020204030204" pitchFamily="34" charset="0"/>
                <a:cs typeface="Times New Roman" panose="02020603050405020304" pitchFamily="18" charset="0"/>
              </a:rPr>
              <a:t>The single predicate "sin</a:t>
            </a:r>
            <a:r>
              <a:rPr lang="en-US" sz="24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2400" dirty="0">
                <a:latin typeface="Times New Roman" panose="02020603050405020304" pitchFamily="18" charset="0"/>
                <a:ea typeface="Calibri" panose="020F0502020204030204" pitchFamily="34" charset="0"/>
                <a:cs typeface="Times New Roman" panose="02020603050405020304" pitchFamily="18" charset="0"/>
              </a:rPr>
              <a:t>x+cos</a:t>
            </a:r>
            <a:r>
              <a:rPr lang="en-US" sz="24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2400" dirty="0">
                <a:latin typeface="Times New Roman" panose="02020603050405020304" pitchFamily="18" charset="0"/>
                <a:ea typeface="Calibri" panose="020F0502020204030204" pitchFamily="34" charset="0"/>
                <a:cs typeface="Times New Roman" panose="02020603050405020304" pitchFamily="18" charset="0"/>
              </a:rPr>
              <a:t>x=1", defined on the set of real numbers, is identically true</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Practice: </a:t>
            </a:r>
            <a:r>
              <a:rPr lang="en-US" sz="2400" dirty="0">
                <a:latin typeface="Times New Roman" panose="02020603050405020304" pitchFamily="18" charset="0"/>
                <a:ea typeface="Calibri" panose="020F0502020204030204" pitchFamily="34" charset="0"/>
                <a:cs typeface="Times New Roman" panose="02020603050405020304" pitchFamily="18" charset="0"/>
              </a:rPr>
              <a:t>Independently prove why the predicate in Example 6 is identically true? </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smtClean="0">
                <a:latin typeface="Times New Roman" panose="02020603050405020304" pitchFamily="18" charset="0"/>
                <a:ea typeface="Calibri" panose="020F0502020204030204" pitchFamily="34" charset="0"/>
                <a:cs typeface="Times New Roman" panose="02020603050405020304" pitchFamily="18" charset="0"/>
              </a:rPr>
              <a:t>Example </a:t>
            </a:r>
            <a:r>
              <a:rPr lang="en-US" sz="2400" b="1" dirty="0">
                <a:latin typeface="Times New Roman" panose="02020603050405020304" pitchFamily="18" charset="0"/>
                <a:ea typeface="Calibri" panose="020F0502020204030204" pitchFamily="34" charset="0"/>
                <a:cs typeface="Times New Roman" panose="02020603050405020304" pitchFamily="18" charset="0"/>
              </a:rPr>
              <a:t>7. </a:t>
            </a:r>
            <a:r>
              <a:rPr lang="en-US" sz="2400" dirty="0">
                <a:latin typeface="Times New Roman" panose="02020603050405020304" pitchFamily="18" charset="0"/>
                <a:ea typeface="Calibri" panose="020F0502020204030204" pitchFamily="34" charset="0"/>
                <a:cs typeface="Times New Roman" panose="02020603050405020304" pitchFamily="18" charset="0"/>
              </a:rPr>
              <a:t>Double predicate "x</a:t>
            </a:r>
            <a:r>
              <a:rPr lang="en-US" sz="24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2400" dirty="0">
                <a:latin typeface="Times New Roman" panose="02020603050405020304" pitchFamily="18" charset="0"/>
                <a:ea typeface="Calibri" panose="020F0502020204030204" pitchFamily="34" charset="0"/>
                <a:cs typeface="Times New Roman" panose="02020603050405020304" pitchFamily="18" charset="0"/>
              </a:rPr>
              <a:t>+y</a:t>
            </a:r>
            <a:r>
              <a:rPr lang="en-US" sz="2400" baseline="30000" dirty="0">
                <a:latin typeface="Times New Roman" panose="02020603050405020304" pitchFamily="18" charset="0"/>
                <a:ea typeface="Calibri" panose="020F0502020204030204" pitchFamily="34" charset="0"/>
                <a:cs typeface="Times New Roman" panose="02020603050405020304" pitchFamily="18" charset="0"/>
              </a:rPr>
              <a:t>2 </a:t>
            </a:r>
            <a:r>
              <a:rPr lang="en-US" sz="2400" dirty="0">
                <a:latin typeface="Times New Roman" panose="02020603050405020304" pitchFamily="18" charset="0"/>
                <a:ea typeface="Calibri" panose="020F0502020204030204" pitchFamily="34" charset="0"/>
                <a:cs typeface="Times New Roman" panose="02020603050405020304" pitchFamily="18" charset="0"/>
              </a:rPr>
              <a:t>"</a:t>
            </a:r>
            <a:r>
              <a:rPr lang="en-US" sz="2400" dirty="0" smtClean="0"/>
              <a:t>, </a:t>
            </a:r>
            <a:r>
              <a:rPr lang="en-US" sz="2400" dirty="0"/>
              <a:t>given on a set of real numbers, is an identically false </a:t>
            </a:r>
            <a:r>
              <a:rPr lang="en-US" sz="2400" dirty="0" smtClean="0"/>
              <a:t>predicate</a:t>
            </a:r>
            <a:r>
              <a:rPr lang="ru-RU" sz="2400" dirty="0" smtClean="0"/>
              <a:t>.</a:t>
            </a:r>
          </a:p>
          <a:p>
            <a:pPr algn="just">
              <a:lnSpc>
                <a:spcPct val="107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 Practice: Independently prove why the predicate in Example </a:t>
            </a:r>
            <a:r>
              <a:rPr lang="ru-RU" sz="2400" dirty="0" smtClean="0">
                <a:latin typeface="Times New Roman" panose="02020603050405020304" pitchFamily="18" charset="0"/>
                <a:ea typeface="Calibri" panose="020F0502020204030204" pitchFamily="34" charset="0"/>
                <a:cs typeface="Times New Roman" panose="02020603050405020304" pitchFamily="18" charset="0"/>
              </a:rPr>
              <a:t>7</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400" dirty="0">
                <a:latin typeface="Times New Roman" panose="02020603050405020304" pitchFamily="18" charset="0"/>
                <a:ea typeface="Calibri" panose="020F0502020204030204" pitchFamily="34" charset="0"/>
                <a:cs typeface="Times New Roman" panose="02020603050405020304" pitchFamily="18" charset="0"/>
              </a:rPr>
              <a:t>is identically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false? </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ru-RU"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1788430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66E912E346B2474297E98B983B6B7B1E" ma:contentTypeVersion="4" ma:contentTypeDescription="Создание документа." ma:contentTypeScope="" ma:versionID="6da09faed6b6beed1a9920e761ef9e64">
  <xsd:schema xmlns:xsd="http://www.w3.org/2001/XMLSchema" xmlns:xs="http://www.w3.org/2001/XMLSchema" xmlns:p="http://schemas.microsoft.com/office/2006/metadata/properties" xmlns:ns2="d91a7476-afa8-4b10-9836-4ddd5fa9bd7a" targetNamespace="http://schemas.microsoft.com/office/2006/metadata/properties" ma:root="true" ma:fieldsID="c00886adbc6a801d11f676da9b84085d" ns2:_="">
    <xsd:import namespace="d91a7476-afa8-4b10-9836-4ddd5fa9bd7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1a7476-afa8-4b10-9836-4ddd5fa9bd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262D6D4-FEC9-4DA0-8FBE-D78D1107E289}"/>
</file>

<file path=customXml/itemProps2.xml><?xml version="1.0" encoding="utf-8"?>
<ds:datastoreItem xmlns:ds="http://schemas.openxmlformats.org/officeDocument/2006/customXml" ds:itemID="{4E18DABF-DE74-42CC-A5B1-DF6665860968}"/>
</file>

<file path=customXml/itemProps3.xml><?xml version="1.0" encoding="utf-8"?>
<ds:datastoreItem xmlns:ds="http://schemas.openxmlformats.org/officeDocument/2006/customXml" ds:itemID="{D0231A9F-69B3-42A5-83F1-E635ED985F33}"/>
</file>

<file path=docProps/app.xml><?xml version="1.0" encoding="utf-8"?>
<Properties xmlns="http://schemas.openxmlformats.org/officeDocument/2006/extended-properties" xmlns:vt="http://schemas.openxmlformats.org/officeDocument/2006/docPropsVTypes">
  <TotalTime>252</TotalTime>
  <Words>1148</Words>
  <Application>Microsoft Office PowerPoint</Application>
  <PresentationFormat>Широкоэкранный</PresentationFormat>
  <Paragraphs>71</Paragraphs>
  <Slides>26</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26</vt:i4>
      </vt:variant>
    </vt:vector>
  </HeadingPairs>
  <TitlesOfParts>
    <vt:vector size="31" baseType="lpstr">
      <vt:lpstr>Arial</vt:lpstr>
      <vt:lpstr>Calibri</vt:lpstr>
      <vt:lpstr>Calibri Light</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user</cp:lastModifiedBy>
  <cp:revision>24</cp:revision>
  <dcterms:created xsi:type="dcterms:W3CDTF">2024-11-02T16:18:16Z</dcterms:created>
  <dcterms:modified xsi:type="dcterms:W3CDTF">2024-11-10T19:59:56Z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0x01010066E912E346B2474297E98B983B6B7B1E</vt:lpwstr>
  </property>
</Properties>
</file>